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868680"/>
            <a:ext cx="7315200" cy="310896"/>
          </a:xfrm>
          <a:prstGeom prst="rect">
            <a:avLst/>
          </a:prstGeom>
          <a:noFill/>
        </p:spPr>
        <p:txBody>
          <a:bodyPr wrap="square" lIns="18288" rIns="18288" tIns="0" bIns="0" anchor="t">
            <a:noAutofit/>
          </a:bodyPr>
          <a:lstStyle/>
          <a:p>
            <a:pPr algn="l">
              <a:spcAft>
                <a:spcPts val="0"/>
              </a:spcAft>
            </a:pPr>
            <a:r>
              <a:rPr sz="1500" b="1" i="0">
                <a:solidFill>
                  <a:srgbClr val="2BA8D8"/>
                </a:solidFill>
                <a:latin typeface="Calibri"/>
              </a:rPr>
              <a:t>DEVOPS EASY LEARNING  ·  KUBERNETES MASTERCLASS</a:t>
            </a:r>
          </a:p>
        </p:txBody>
      </p:sp>
      <p:sp>
        <p:nvSpPr>
          <p:cNvPr id="5" name="TextBox 4"/>
          <p:cNvSpPr txBox="1"/>
          <p:nvPr/>
        </p:nvSpPr>
        <p:spPr>
          <a:xfrm>
            <a:off x="1325880" y="1298448"/>
            <a:ext cx="8778240" cy="146304"/>
          </a:xfrm>
          <a:prstGeom prst="rect">
            <a:avLst/>
          </a:prstGeom>
          <a:noFill/>
        </p:spPr>
        <p:txBody>
          <a:bodyPr wrap="square" lIns="18288" rIns="18288" tIns="0" bIns="0" anchor="t">
            <a:noAutofit/>
          </a:bodyPr>
          <a:lstStyle/>
          <a:p>
            <a:pPr algn="l">
              <a:spcAft>
                <a:spcPts val="0"/>
              </a:spcAft>
            </a:pPr>
            <a:r>
              <a:rPr sz="100" b="0" i="0">
                <a:solidFill>
                  <a:srgbClr val="363F4D"/>
                </a:solidFill>
                <a:latin typeface="Calibri"/>
              </a:rPr>
              <a:t/>
            </a:r>
          </a:p>
        </p:txBody>
      </p:sp>
      <p:sp>
        <p:nvSpPr>
          <p:cNvPr id="6" name="Rectangle 5"/>
          <p:cNvSpPr/>
          <p:nvPr/>
        </p:nvSpPr>
        <p:spPr>
          <a:xfrm>
            <a:off x="1353312" y="1353312"/>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325880" y="1691640"/>
            <a:ext cx="8961120" cy="1828800"/>
          </a:xfrm>
          <a:prstGeom prst="rect">
            <a:avLst/>
          </a:prstGeom>
          <a:noFill/>
        </p:spPr>
        <p:txBody>
          <a:bodyPr wrap="square" lIns="18288" rIns="18288" tIns="0" bIns="0" anchor="t">
            <a:noAutofit/>
          </a:bodyPr>
          <a:lstStyle/>
          <a:p>
            <a:pPr algn="l">
              <a:lnSpc>
                <a:spcPct val="100000"/>
              </a:lnSpc>
              <a:spcAft>
                <a:spcPts val="200"/>
              </a:spcAft>
            </a:pPr>
            <a:r>
              <a:rPr sz="4800" b="1" i="0">
                <a:solidFill>
                  <a:srgbClr val="FFFFFF"/>
                </a:solidFill>
                <a:latin typeface="Calibri Light"/>
              </a:rPr>
              <a:t>Secrets, Config</a:t>
            </a:r>
          </a:p>
          <a:p>
            <a:pPr algn="l">
              <a:lnSpc>
                <a:spcPct val="100000"/>
              </a:lnSpc>
              <a:spcAft>
                <a:spcPts val="200"/>
              </a:spcAft>
            </a:pPr>
            <a:r>
              <a:rPr sz="4800" b="1" i="0">
                <a:solidFill>
                  <a:srgbClr val="FFFFFF"/>
                </a:solidFill>
                <a:latin typeface="Calibri Light"/>
              </a:rPr>
              <a:t>and GitOps in Production</a:t>
            </a:r>
          </a:p>
        </p:txBody>
      </p:sp>
      <p:sp>
        <p:nvSpPr>
          <p:cNvPr id="8" name="TextBox 7"/>
          <p:cNvSpPr txBox="1"/>
          <p:nvPr/>
        </p:nvSpPr>
        <p:spPr>
          <a:xfrm>
            <a:off x="1325880" y="3310128"/>
            <a:ext cx="8778240" cy="384048"/>
          </a:xfrm>
          <a:prstGeom prst="rect">
            <a:avLst/>
          </a:prstGeom>
          <a:noFill/>
        </p:spPr>
        <p:txBody>
          <a:bodyPr wrap="square" lIns="18288" rIns="18288" tIns="0" bIns="0" anchor="t">
            <a:noAutofit/>
          </a:bodyPr>
          <a:lstStyle/>
          <a:p>
            <a:pPr algn="l">
              <a:spcAft>
                <a:spcPts val="0"/>
              </a:spcAft>
            </a:pPr>
            <a:r>
              <a:rPr sz="2100" b="0" i="0">
                <a:solidFill>
                  <a:srgbClr val="2BA8D8"/>
                </a:solidFill>
                <a:latin typeface="Calibri"/>
              </a:rPr>
              <a:t>External Secrets Operator  ·  Reloader  ·  Argo CD</a:t>
            </a:r>
          </a:p>
        </p:txBody>
      </p:sp>
      <p:sp>
        <p:nvSpPr>
          <p:cNvPr id="9" name="TextBox 8"/>
          <p:cNvSpPr txBox="1"/>
          <p:nvPr/>
        </p:nvSpPr>
        <p:spPr>
          <a:xfrm>
            <a:off x="1325880" y="3785615"/>
            <a:ext cx="8595360" cy="914400"/>
          </a:xfrm>
          <a:prstGeom prst="rect">
            <a:avLst/>
          </a:prstGeom>
          <a:noFill/>
        </p:spPr>
        <p:txBody>
          <a:bodyPr wrap="square" lIns="18288" rIns="18288" tIns="0" bIns="0" anchor="t">
            <a:noAutofit/>
          </a:bodyPr>
          <a:lstStyle/>
          <a:p>
            <a:pPr algn="l">
              <a:lnSpc>
                <a:spcPct val="128000"/>
              </a:lnSpc>
              <a:spcAft>
                <a:spcPts val="0"/>
              </a:spcAft>
            </a:pPr>
            <a:r>
              <a:rPr sz="1450" b="0" i="0">
                <a:solidFill>
                  <a:srgbClr val="D9E2F0"/>
                </a:solidFill>
                <a:latin typeface="Calibri Light"/>
              </a:rPr>
              <a:t>Three tools that turn a cluster you deploy to by hand into one that delivers itself from Git, pulls its own secrets from a vault, and restarts the right pods when those secrets rotate.</a:t>
            </a:r>
          </a:p>
        </p:txBody>
      </p:sp>
      <p:pic>
        <p:nvPicPr>
          <p:cNvPr id="10"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464040" y="685800"/>
            <a:ext cx="2148840" cy="1074420"/>
          </a:xfrm>
          <a:prstGeom prst="rect">
            <a:avLst/>
          </a:prstGeom>
        </p:spPr>
      </p:pic>
      <p:sp>
        <p:nvSpPr>
          <p:cNvPr id="11"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Masterclass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Learning Journey</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Seven sections. Each one earns the next.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Feel the gaps first; the tools then have somewhere to live.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Masterclass</a:t>
            </a:r>
          </a:p>
        </p:txBody>
      </p:sp>
      <p:sp>
        <p:nvSpPr>
          <p:cNvPr id="13" name="Rounded Rectangle 12"/>
          <p:cNvSpPr/>
          <p:nvPr/>
        </p:nvSpPr>
        <p:spPr>
          <a:xfrm>
            <a:off x="475488" y="1645920"/>
            <a:ext cx="2631940" cy="40416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2631940"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1828800"/>
            <a:ext cx="2302756" cy="475488"/>
          </a:xfrm>
          <a:prstGeom prst="rect">
            <a:avLst/>
          </a:prstGeom>
          <a:noFill/>
        </p:spPr>
        <p:txBody>
          <a:bodyPr wrap="square" lIns="18288" rIns="18288" tIns="0" bIns="0" anchor="t">
            <a:noAutofit/>
          </a:bodyPr>
          <a:lstStyle/>
          <a:p>
            <a:pPr algn="l">
              <a:lnSpc>
                <a:spcPct val="112000"/>
              </a:lnSpc>
              <a:spcAft>
                <a:spcPts val="0"/>
              </a:spcAft>
            </a:pPr>
            <a:r>
              <a:rPr sz="1050" b="1" i="0">
                <a:solidFill>
                  <a:srgbClr val="2E86DE"/>
                </a:solidFill>
                <a:latin typeface="Calibri"/>
              </a:rPr>
              <a:t>WHAT KUBERNETES GIVES YOU</a:t>
            </a:r>
          </a:p>
        </p:txBody>
      </p:sp>
      <p:sp>
        <p:nvSpPr>
          <p:cNvPr id="16" name="Oval 15"/>
          <p:cNvSpPr/>
          <p:nvPr/>
        </p:nvSpPr>
        <p:spPr>
          <a:xfrm>
            <a:off x="640080" y="2487168"/>
            <a:ext cx="310896" cy="310896"/>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01</a:t>
            </a:r>
          </a:p>
        </p:txBody>
      </p:sp>
      <p:sp>
        <p:nvSpPr>
          <p:cNvPr id="17" name="TextBox 16"/>
          <p:cNvSpPr txBox="1"/>
          <p:nvPr/>
        </p:nvSpPr>
        <p:spPr>
          <a:xfrm>
            <a:off x="1042416" y="2468880"/>
            <a:ext cx="1900420" cy="493776"/>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Kubernetes Config and Secrets</a:t>
            </a:r>
          </a:p>
        </p:txBody>
      </p:sp>
      <p:sp>
        <p:nvSpPr>
          <p:cNvPr id="18" name="TextBox 17"/>
          <p:cNvSpPr txBox="1"/>
          <p:nvPr/>
        </p:nvSpPr>
        <p:spPr>
          <a:xfrm>
            <a:off x="1042416" y="3090672"/>
            <a:ext cx="1900420" cy="42062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What the platform gives you, and exactly where it stops.</a:t>
            </a:r>
          </a:p>
        </p:txBody>
      </p:sp>
      <p:sp>
        <p:nvSpPr>
          <p:cNvPr id="19" name="Oval 18"/>
          <p:cNvSpPr/>
          <p:nvPr/>
        </p:nvSpPr>
        <p:spPr>
          <a:xfrm>
            <a:off x="640080" y="3767328"/>
            <a:ext cx="310896" cy="310896"/>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02</a:t>
            </a:r>
          </a:p>
        </p:txBody>
      </p:sp>
      <p:sp>
        <p:nvSpPr>
          <p:cNvPr id="20" name="TextBox 19"/>
          <p:cNvSpPr txBox="1"/>
          <p:nvPr/>
        </p:nvSpPr>
        <p:spPr>
          <a:xfrm>
            <a:off x="1042416" y="3749040"/>
            <a:ext cx="1900420" cy="274320"/>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Three Problems to Solve</a:t>
            </a:r>
          </a:p>
        </p:txBody>
      </p:sp>
      <p:sp>
        <p:nvSpPr>
          <p:cNvPr id="21" name="TextBox 20"/>
          <p:cNvSpPr txBox="1"/>
          <p:nvPr/>
        </p:nvSpPr>
        <p:spPr>
          <a:xfrm>
            <a:off x="1042416" y="4187952"/>
            <a:ext cx="1900420" cy="42062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Each one has a tool. Each tool solves exactly one of them.</a:t>
            </a:r>
          </a:p>
        </p:txBody>
      </p:sp>
      <p:sp>
        <p:nvSpPr>
          <p:cNvPr id="22" name="Rounded Rectangle 21"/>
          <p:cNvSpPr/>
          <p:nvPr/>
        </p:nvSpPr>
        <p:spPr>
          <a:xfrm>
            <a:off x="3345172" y="1645920"/>
            <a:ext cx="2631940" cy="40416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345172" y="1645920"/>
            <a:ext cx="2631940"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09764" y="1828800"/>
            <a:ext cx="2302756" cy="475488"/>
          </a:xfrm>
          <a:prstGeom prst="rect">
            <a:avLst/>
          </a:prstGeom>
          <a:noFill/>
        </p:spPr>
        <p:txBody>
          <a:bodyPr wrap="square" lIns="18288" rIns="18288" tIns="0" bIns="0" anchor="t">
            <a:noAutofit/>
          </a:bodyPr>
          <a:lstStyle/>
          <a:p>
            <a:pPr algn="l">
              <a:lnSpc>
                <a:spcPct val="112000"/>
              </a:lnSpc>
              <a:spcAft>
                <a:spcPts val="0"/>
              </a:spcAft>
            </a:pPr>
            <a:r>
              <a:rPr sz="1050" b="1" i="0">
                <a:solidFill>
                  <a:srgbClr val="7C3AED"/>
                </a:solidFill>
                <a:latin typeface="Calibri"/>
              </a:rPr>
              <a:t>THE DELIVERY ENGINE</a:t>
            </a:r>
          </a:p>
        </p:txBody>
      </p:sp>
      <p:sp>
        <p:nvSpPr>
          <p:cNvPr id="25" name="Oval 24"/>
          <p:cNvSpPr/>
          <p:nvPr/>
        </p:nvSpPr>
        <p:spPr>
          <a:xfrm>
            <a:off x="3509764" y="2487168"/>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03</a:t>
            </a:r>
          </a:p>
        </p:txBody>
      </p:sp>
      <p:sp>
        <p:nvSpPr>
          <p:cNvPr id="26" name="TextBox 25"/>
          <p:cNvSpPr txBox="1"/>
          <p:nvPr/>
        </p:nvSpPr>
        <p:spPr>
          <a:xfrm>
            <a:off x="3912100" y="2468880"/>
            <a:ext cx="1900420" cy="274320"/>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GitOps and Argo CD</a:t>
            </a:r>
          </a:p>
        </p:txBody>
      </p:sp>
      <p:sp>
        <p:nvSpPr>
          <p:cNvPr id="27" name="TextBox 26"/>
          <p:cNvSpPr txBox="1"/>
          <p:nvPr/>
        </p:nvSpPr>
        <p:spPr>
          <a:xfrm>
            <a:off x="3912100" y="2907792"/>
            <a:ext cx="1900420" cy="60350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The delivery engine. Everything else in this course is installed by it.</a:t>
            </a:r>
          </a:p>
        </p:txBody>
      </p:sp>
      <p:sp>
        <p:nvSpPr>
          <p:cNvPr id="28" name="Rounded Rectangle 27"/>
          <p:cNvSpPr/>
          <p:nvPr/>
        </p:nvSpPr>
        <p:spPr>
          <a:xfrm>
            <a:off x="6214856" y="1645920"/>
            <a:ext cx="2631940" cy="40416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14856" y="1645920"/>
            <a:ext cx="2631940" cy="6858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79448" y="1828800"/>
            <a:ext cx="2302756" cy="475488"/>
          </a:xfrm>
          <a:prstGeom prst="rect">
            <a:avLst/>
          </a:prstGeom>
          <a:noFill/>
        </p:spPr>
        <p:txBody>
          <a:bodyPr wrap="square" lIns="18288" rIns="18288" tIns="0" bIns="0" anchor="t">
            <a:noAutofit/>
          </a:bodyPr>
          <a:lstStyle/>
          <a:p>
            <a:pPr algn="l">
              <a:lnSpc>
                <a:spcPct val="112000"/>
              </a:lnSpc>
              <a:spcAft>
                <a:spcPts val="0"/>
              </a:spcAft>
            </a:pPr>
            <a:r>
              <a:rPr sz="1050" b="1" i="0">
                <a:solidFill>
                  <a:srgbClr val="F26522"/>
                </a:solidFill>
                <a:latin typeface="Calibri"/>
              </a:rPr>
              <a:t>THE TWO SECRET TOOLS</a:t>
            </a:r>
          </a:p>
        </p:txBody>
      </p:sp>
      <p:sp>
        <p:nvSpPr>
          <p:cNvPr id="31" name="Oval 30"/>
          <p:cNvSpPr/>
          <p:nvPr/>
        </p:nvSpPr>
        <p:spPr>
          <a:xfrm>
            <a:off x="6379448" y="2487168"/>
            <a:ext cx="310896" cy="31089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04</a:t>
            </a:r>
          </a:p>
        </p:txBody>
      </p:sp>
      <p:sp>
        <p:nvSpPr>
          <p:cNvPr id="32" name="TextBox 31"/>
          <p:cNvSpPr txBox="1"/>
          <p:nvPr/>
        </p:nvSpPr>
        <p:spPr>
          <a:xfrm>
            <a:off x="6781784" y="2468880"/>
            <a:ext cx="1900420" cy="274320"/>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External Secrets Operator</a:t>
            </a:r>
          </a:p>
        </p:txBody>
      </p:sp>
      <p:sp>
        <p:nvSpPr>
          <p:cNvPr id="33" name="TextBox 32"/>
          <p:cNvSpPr txBox="1"/>
          <p:nvPr/>
        </p:nvSpPr>
        <p:spPr>
          <a:xfrm>
            <a:off x="6781784" y="2907792"/>
            <a:ext cx="1900420" cy="60350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Getting the real value out of Git and into the cluster, safely.</a:t>
            </a:r>
          </a:p>
        </p:txBody>
      </p:sp>
      <p:sp>
        <p:nvSpPr>
          <p:cNvPr id="34" name="Oval 33"/>
          <p:cNvSpPr/>
          <p:nvPr/>
        </p:nvSpPr>
        <p:spPr>
          <a:xfrm>
            <a:off x="6379448" y="3767328"/>
            <a:ext cx="310896" cy="31089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05</a:t>
            </a:r>
          </a:p>
        </p:txBody>
      </p:sp>
      <p:sp>
        <p:nvSpPr>
          <p:cNvPr id="35" name="TextBox 34"/>
          <p:cNvSpPr txBox="1"/>
          <p:nvPr/>
        </p:nvSpPr>
        <p:spPr>
          <a:xfrm>
            <a:off x="6781784" y="3749040"/>
            <a:ext cx="1900420" cy="274320"/>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Reloader</a:t>
            </a:r>
          </a:p>
        </p:txBody>
      </p:sp>
      <p:sp>
        <p:nvSpPr>
          <p:cNvPr id="36" name="TextBox 35"/>
          <p:cNvSpPr txBox="1"/>
          <p:nvPr/>
        </p:nvSpPr>
        <p:spPr>
          <a:xfrm>
            <a:off x="6781784" y="4187952"/>
            <a:ext cx="1900420" cy="60350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Closing the last gap: making the running process pick the new value up.</a:t>
            </a:r>
          </a:p>
        </p:txBody>
      </p:sp>
      <p:sp>
        <p:nvSpPr>
          <p:cNvPr id="37" name="Rounded Rectangle 36"/>
          <p:cNvSpPr/>
          <p:nvPr/>
        </p:nvSpPr>
        <p:spPr>
          <a:xfrm>
            <a:off x="9084541" y="1645920"/>
            <a:ext cx="2631940" cy="40416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9084541" y="1645920"/>
            <a:ext cx="2631940"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249133" y="1828800"/>
            <a:ext cx="2302756" cy="475488"/>
          </a:xfrm>
          <a:prstGeom prst="rect">
            <a:avLst/>
          </a:prstGeom>
          <a:noFill/>
        </p:spPr>
        <p:txBody>
          <a:bodyPr wrap="square" lIns="18288" rIns="18288" tIns="0" bIns="0" anchor="t">
            <a:noAutofit/>
          </a:bodyPr>
          <a:lstStyle/>
          <a:p>
            <a:pPr algn="l">
              <a:lnSpc>
                <a:spcPct val="112000"/>
              </a:lnSpc>
              <a:spcAft>
                <a:spcPts val="0"/>
              </a:spcAft>
            </a:pPr>
            <a:r>
              <a:rPr sz="1050" b="1" i="0">
                <a:solidFill>
                  <a:srgbClr val="2EB56B"/>
                </a:solidFill>
                <a:latin typeface="Calibri"/>
              </a:rPr>
              <a:t>PUTTING IT TO WORK</a:t>
            </a:r>
          </a:p>
        </p:txBody>
      </p:sp>
      <p:sp>
        <p:nvSpPr>
          <p:cNvPr id="40" name="Oval 39"/>
          <p:cNvSpPr/>
          <p:nvPr/>
        </p:nvSpPr>
        <p:spPr>
          <a:xfrm>
            <a:off x="9249133" y="2487168"/>
            <a:ext cx="310896" cy="31089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06</a:t>
            </a:r>
          </a:p>
        </p:txBody>
      </p:sp>
      <p:sp>
        <p:nvSpPr>
          <p:cNvPr id="41" name="TextBox 40"/>
          <p:cNvSpPr txBox="1"/>
          <p:nvPr/>
        </p:nvSpPr>
        <p:spPr>
          <a:xfrm>
            <a:off x="9651469" y="2468880"/>
            <a:ext cx="1900420" cy="274320"/>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The Three Together</a:t>
            </a:r>
          </a:p>
        </p:txBody>
      </p:sp>
      <p:sp>
        <p:nvSpPr>
          <p:cNvPr id="42" name="TextBox 41"/>
          <p:cNvSpPr txBox="1"/>
          <p:nvPr/>
        </p:nvSpPr>
        <p:spPr>
          <a:xfrm>
            <a:off x="9651469" y="2907792"/>
            <a:ext cx="1900420" cy="60350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One credential, from the vault to a running process, with nobody in the path.</a:t>
            </a:r>
          </a:p>
        </p:txBody>
      </p:sp>
      <p:sp>
        <p:nvSpPr>
          <p:cNvPr id="43" name="Oval 42"/>
          <p:cNvSpPr/>
          <p:nvPr/>
        </p:nvSpPr>
        <p:spPr>
          <a:xfrm>
            <a:off x="9249133" y="3767328"/>
            <a:ext cx="310896" cy="31089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07</a:t>
            </a:r>
          </a:p>
        </p:txBody>
      </p:sp>
      <p:sp>
        <p:nvSpPr>
          <p:cNvPr id="44" name="TextBox 43"/>
          <p:cNvSpPr txBox="1"/>
          <p:nvPr/>
        </p:nvSpPr>
        <p:spPr>
          <a:xfrm>
            <a:off x="9651469" y="3749040"/>
            <a:ext cx="1900420" cy="274320"/>
          </a:xfrm>
          <a:prstGeom prst="rect">
            <a:avLst/>
          </a:prstGeom>
          <a:noFill/>
        </p:spPr>
        <p:txBody>
          <a:bodyPr wrap="square" lIns="18288" rIns="18288" tIns="0" bIns="0" anchor="t">
            <a:noAutofit/>
          </a:bodyPr>
          <a:lstStyle/>
          <a:p>
            <a:pPr algn="l">
              <a:lnSpc>
                <a:spcPct val="114000"/>
              </a:lnSpc>
              <a:spcAft>
                <a:spcPts val="0"/>
              </a:spcAft>
            </a:pPr>
            <a:r>
              <a:rPr sz="1200" b="1" i="0">
                <a:solidFill>
                  <a:srgbClr val="1F2B3D"/>
                </a:solidFill>
                <a:latin typeface="Calibri"/>
              </a:rPr>
              <a:t>Running It For Real</a:t>
            </a:r>
          </a:p>
        </p:txBody>
      </p:sp>
      <p:sp>
        <p:nvSpPr>
          <p:cNvPr id="45" name="TextBox 44"/>
          <p:cNvSpPr txBox="1"/>
          <p:nvPr/>
        </p:nvSpPr>
        <p:spPr>
          <a:xfrm>
            <a:off x="9651469" y="4187952"/>
            <a:ext cx="1900420" cy="603504"/>
          </a:xfrm>
          <a:prstGeom prst="rect">
            <a:avLst/>
          </a:prstGeom>
          <a:noFill/>
        </p:spPr>
        <p:txBody>
          <a:bodyPr wrap="square" lIns="18288" rIns="18288" tIns="0" bIns="0" anchor="t">
            <a:noAutofit/>
          </a:bodyPr>
          <a:lstStyle/>
          <a:p>
            <a:pPr algn="l">
              <a:lnSpc>
                <a:spcPct val="116000"/>
              </a:lnSpc>
              <a:spcAft>
                <a:spcPts val="0"/>
              </a:spcAft>
            </a:pPr>
            <a:r>
              <a:rPr sz="1000" b="0" i="0">
                <a:solidFill>
                  <a:srgbClr val="6B7A8D"/>
                </a:solidFill>
                <a:latin typeface="Calibri"/>
              </a:rPr>
              <a:t>Multiple clusters, alerting, disaster recovery, and how to adopt any of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01</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139496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Kubernetes Config and</a:t>
            </a:r>
          </a:p>
          <a:p>
            <a:pPr algn="l">
              <a:lnSpc>
                <a:spcPct val="110000"/>
              </a:lnSpc>
              <a:spcAft>
                <a:spcPts val="0"/>
              </a:spcAft>
            </a:pPr>
            <a:r>
              <a:rPr sz="4600" b="1" i="0">
                <a:solidFill>
                  <a:srgbClr val="FFFFFF"/>
                </a:solidFill>
                <a:latin typeface="Calibri Light"/>
              </a:rPr>
              <a:t>Secrets</a:t>
            </a:r>
          </a:p>
        </p:txBody>
      </p:sp>
      <p:sp>
        <p:nvSpPr>
          <p:cNvPr id="7" name="TextBox 6"/>
          <p:cNvSpPr txBox="1"/>
          <p:nvPr/>
        </p:nvSpPr>
        <p:spPr>
          <a:xfrm>
            <a:off x="1325880" y="377240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What the platform gives you, and exactly where it stops.</a:t>
            </a:r>
          </a:p>
        </p:txBody>
      </p:sp>
      <p:sp>
        <p:nvSpPr>
          <p:cNvPr id="8" name="Rectangle 7"/>
          <p:cNvSpPr/>
          <p:nvPr/>
        </p:nvSpPr>
        <p:spPr>
          <a:xfrm>
            <a:off x="1344168" y="4522215"/>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443077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Why configuration leaves the image</a:t>
            </a:r>
          </a:p>
        </p:txBody>
      </p:sp>
      <p:sp>
        <p:nvSpPr>
          <p:cNvPr id="10" name="Rectangle 9"/>
          <p:cNvSpPr/>
          <p:nvPr/>
        </p:nvSpPr>
        <p:spPr>
          <a:xfrm>
            <a:off x="1344168" y="4906263"/>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81482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ConfigMap and Secret, and what a Secret really is</a:t>
            </a:r>
          </a:p>
        </p:txBody>
      </p:sp>
      <p:sp>
        <p:nvSpPr>
          <p:cNvPr id="12" name="Rectangle 11"/>
          <p:cNvSpPr/>
          <p:nvPr/>
        </p:nvSpPr>
        <p:spPr>
          <a:xfrm>
            <a:off x="1344168" y="5290311"/>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519887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Environment variable or mounted file — the choice that decides everything</a:t>
            </a:r>
          </a:p>
        </p:txBody>
      </p:sp>
      <p:sp>
        <p:nvSpPr>
          <p:cNvPr id="14" name="Rectangle 13"/>
          <p:cNvSpPr/>
          <p:nvPr/>
        </p:nvSpPr>
        <p:spPr>
          <a:xfrm>
            <a:off x="1344168" y="5674359"/>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558292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Lab 1: watch a rotation half-arrive</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01</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01  Config and Secrets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Configuration Does Not Belong in the Image</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first rule everything else in this course is built on.</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One image, many environments. What changes between them is configuration, never the build.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ounded Rectangle 12"/>
          <p:cNvSpPr/>
          <p:nvPr/>
        </p:nvSpPr>
        <p:spPr>
          <a:xfrm>
            <a:off x="475488" y="1645920"/>
            <a:ext cx="5428472" cy="3310128"/>
          </a:xfrm>
          <a:prstGeom prst="roundRect">
            <a:avLst>
              <a:gd name="adj" fmla="val 8000"/>
            </a:avLst>
          </a:prstGeom>
          <a:solidFill>
            <a:srgbClr val="FDF0F0"/>
          </a:solidFill>
          <a:ln w="15875">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86460" y="1656892"/>
            <a:ext cx="5406527" cy="47548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BAKED INTO THE IMAGE — A BUILD PER ENVIRONMENT</a:t>
            </a:r>
          </a:p>
        </p:txBody>
      </p:sp>
      <p:sp>
        <p:nvSpPr>
          <p:cNvPr id="15" name="Oval 14"/>
          <p:cNvSpPr/>
          <p:nvPr/>
        </p:nvSpPr>
        <p:spPr>
          <a:xfrm>
            <a:off x="713232" y="2299716"/>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6" name="TextBox 15"/>
          <p:cNvSpPr txBox="1"/>
          <p:nvPr/>
        </p:nvSpPr>
        <p:spPr>
          <a:xfrm>
            <a:off x="1024128" y="228600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Rebuild to change a value.  </a:t>
            </a:r>
            <a:r>
              <a:rPr sz="1250" b="0" i="0">
                <a:solidFill>
                  <a:srgbClr val="363F4D"/>
                </a:solidFill>
                <a:latin typeface="Calibri"/>
              </a:rPr>
              <a:t>A database password change means a new image, a new tag, a new deploy.</a:t>
            </a:r>
          </a:p>
        </p:txBody>
      </p:sp>
      <p:sp>
        <p:nvSpPr>
          <p:cNvPr id="17" name="Oval 16"/>
          <p:cNvSpPr/>
          <p:nvPr/>
        </p:nvSpPr>
        <p:spPr>
          <a:xfrm>
            <a:off x="713232" y="2932176"/>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8" name="TextBox 17"/>
          <p:cNvSpPr txBox="1"/>
          <p:nvPr/>
        </p:nvSpPr>
        <p:spPr>
          <a:xfrm>
            <a:off x="1024128" y="291846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The image is now a secret.  </a:t>
            </a:r>
            <a:r>
              <a:rPr sz="1250" b="0" i="0">
                <a:solidFill>
                  <a:srgbClr val="363F4D"/>
                </a:solidFill>
                <a:latin typeface="Calibri"/>
              </a:rPr>
              <a:t>Anyone who can pull it can read your credentials with docker history.</a:t>
            </a:r>
          </a:p>
        </p:txBody>
      </p:sp>
      <p:sp>
        <p:nvSpPr>
          <p:cNvPr id="19" name="Oval 18"/>
          <p:cNvSpPr/>
          <p:nvPr/>
        </p:nvSpPr>
        <p:spPr>
          <a:xfrm>
            <a:off x="713232" y="3564635"/>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0" name="TextBox 19"/>
          <p:cNvSpPr txBox="1"/>
          <p:nvPr/>
        </p:nvSpPr>
        <p:spPr>
          <a:xfrm>
            <a:off x="1024128" y="355091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Dev, staging and prod diverge.  </a:t>
            </a:r>
            <a:r>
              <a:rPr sz="1250" b="0" i="0">
                <a:solidFill>
                  <a:srgbClr val="363F4D"/>
                </a:solidFill>
                <a:latin typeface="Calibri"/>
              </a:rPr>
              <a:t>Three images that were meant to be identical no longer are.</a:t>
            </a:r>
          </a:p>
        </p:txBody>
      </p:sp>
      <p:sp>
        <p:nvSpPr>
          <p:cNvPr id="21" name="Oval 20"/>
          <p:cNvSpPr/>
          <p:nvPr/>
        </p:nvSpPr>
        <p:spPr>
          <a:xfrm>
            <a:off x="713232" y="4197095"/>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2" name="TextBox 21"/>
          <p:cNvSpPr txBox="1"/>
          <p:nvPr/>
        </p:nvSpPr>
        <p:spPr>
          <a:xfrm>
            <a:off x="1024128" y="418337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Rollback is a lie.  </a:t>
            </a:r>
            <a:r>
              <a:rPr sz="1250" b="0" i="0">
                <a:solidFill>
                  <a:srgbClr val="363F4D"/>
                </a:solidFill>
                <a:latin typeface="Calibri"/>
              </a:rPr>
              <a:t>Rolling back the image rolls back the config with it.</a:t>
            </a:r>
          </a:p>
        </p:txBody>
      </p:sp>
      <p:sp>
        <p:nvSpPr>
          <p:cNvPr id="23" name="Rounded Rectangle 22"/>
          <p:cNvSpPr/>
          <p:nvPr/>
        </p:nvSpPr>
        <p:spPr>
          <a:xfrm>
            <a:off x="6288008" y="1645920"/>
            <a:ext cx="5428472" cy="3310128"/>
          </a:xfrm>
          <a:prstGeom prst="roundRect">
            <a:avLst>
              <a:gd name="adj" fmla="val 8000"/>
            </a:avLst>
          </a:prstGeom>
          <a:solidFill>
            <a:srgbClr val="EBF8F1"/>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98981" y="1656892"/>
            <a:ext cx="5406527" cy="47548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INJECTED AT RUN TIME — ONE ARTEFACT, PROMOTED</a:t>
            </a:r>
          </a:p>
        </p:txBody>
      </p:sp>
      <p:sp>
        <p:nvSpPr>
          <p:cNvPr id="25" name="Oval 24"/>
          <p:cNvSpPr/>
          <p:nvPr/>
        </p:nvSpPr>
        <p:spPr>
          <a:xfrm>
            <a:off x="6525752" y="2299716"/>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6" name="TextBox 25"/>
          <p:cNvSpPr txBox="1"/>
          <p:nvPr/>
        </p:nvSpPr>
        <p:spPr>
          <a:xfrm>
            <a:off x="6836648" y="228600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The image is environment-agnostic.  </a:t>
            </a:r>
            <a:r>
              <a:rPr sz="1250" b="0" i="0">
                <a:solidFill>
                  <a:srgbClr val="363F4D"/>
                </a:solidFill>
                <a:latin typeface="Calibri"/>
              </a:rPr>
              <a:t>The same digest runs in dev, staging and production.</a:t>
            </a:r>
          </a:p>
        </p:txBody>
      </p:sp>
      <p:sp>
        <p:nvSpPr>
          <p:cNvPr id="27" name="Oval 26"/>
          <p:cNvSpPr/>
          <p:nvPr/>
        </p:nvSpPr>
        <p:spPr>
          <a:xfrm>
            <a:off x="6525752" y="2932176"/>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8" name="TextBox 27"/>
          <p:cNvSpPr txBox="1"/>
          <p:nvPr/>
        </p:nvSpPr>
        <p:spPr>
          <a:xfrm>
            <a:off x="6836648" y="291846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Config lives in the cluster.  </a:t>
            </a:r>
            <a:r>
              <a:rPr sz="1250" b="0" i="0">
                <a:solidFill>
                  <a:srgbClr val="363F4D"/>
                </a:solidFill>
                <a:latin typeface="Calibri"/>
              </a:rPr>
              <a:t>ConfigMaps and Secrets are separate, versioned objects.</a:t>
            </a:r>
          </a:p>
        </p:txBody>
      </p:sp>
      <p:sp>
        <p:nvSpPr>
          <p:cNvPr id="29" name="Oval 28"/>
          <p:cNvSpPr/>
          <p:nvPr/>
        </p:nvSpPr>
        <p:spPr>
          <a:xfrm>
            <a:off x="6525752" y="3564635"/>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0" name="TextBox 29"/>
          <p:cNvSpPr txBox="1"/>
          <p:nvPr/>
        </p:nvSpPr>
        <p:spPr>
          <a:xfrm>
            <a:off x="6836648" y="355091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Secrets never enter the build.  </a:t>
            </a:r>
            <a:r>
              <a:rPr sz="1250" b="0" i="0">
                <a:solidFill>
                  <a:srgbClr val="363F4D"/>
                </a:solidFill>
                <a:latin typeface="Calibri"/>
              </a:rPr>
              <a:t>Nothing sensitive is ever written into a layer.</a:t>
            </a:r>
          </a:p>
        </p:txBody>
      </p:sp>
      <p:sp>
        <p:nvSpPr>
          <p:cNvPr id="31" name="Oval 30"/>
          <p:cNvSpPr/>
          <p:nvPr/>
        </p:nvSpPr>
        <p:spPr>
          <a:xfrm>
            <a:off x="6525752" y="4197095"/>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2" name="TextBox 31"/>
          <p:cNvSpPr txBox="1"/>
          <p:nvPr/>
        </p:nvSpPr>
        <p:spPr>
          <a:xfrm>
            <a:off x="6836648" y="418337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You promote a digest, not a rebuild.  </a:t>
            </a:r>
            <a:r>
              <a:rPr sz="1250" b="0" i="0">
                <a:solidFill>
                  <a:srgbClr val="363F4D"/>
                </a:solidFill>
                <a:latin typeface="Calibri"/>
              </a:rPr>
              <a:t>What you tested is bit-for-bit what ships.</a:t>
            </a:r>
          </a:p>
        </p:txBody>
      </p:sp>
      <p:sp>
        <p:nvSpPr>
          <p:cNvPr id="33" name="Rounded Rectangle 32"/>
          <p:cNvSpPr/>
          <p:nvPr/>
        </p:nvSpPr>
        <p:spPr>
          <a:xfrm>
            <a:off x="475488" y="5157216"/>
            <a:ext cx="11240993" cy="512064"/>
          </a:xfrm>
          <a:prstGeom prst="roundRect">
            <a:avLst>
              <a:gd name="adj" fmla="val 7000"/>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5157216"/>
            <a:ext cx="9144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5248655"/>
            <a:ext cx="10555193" cy="329184"/>
          </a:xfrm>
          <a:prstGeom prst="rect">
            <a:avLst/>
          </a:prstGeom>
          <a:noFill/>
        </p:spPr>
        <p:txBody>
          <a:bodyPr wrap="square" lIns="18288" rIns="18288" tIns="0" bIns="0" anchor="ctr">
            <a:noAutofit/>
          </a:bodyPr>
          <a:lstStyle/>
          <a:p>
            <a:pPr algn="l">
              <a:lnSpc>
                <a:spcPct val="120000"/>
              </a:lnSpc>
              <a:spcAft>
                <a:spcPts val="0"/>
              </a:spcAft>
            </a:pPr>
            <a:r>
              <a:rPr sz="1500" b="0" i="1">
                <a:solidFill>
                  <a:srgbClr val="1F2B3D"/>
                </a:solidFill>
                <a:latin typeface="Calibri Light"/>
              </a:rPr>
              <a:t>If you have to rebuild the image to change a value, that value is in the wrong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ConfigMap and Secret — the Two Built-In Objects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Same shape, different intent, and one important difference in how the cluster treats them.</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 Secret is a ConfigMap that the cluster agrees to handle more carefully. Nothing more.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ounded Rectangle 12"/>
          <p:cNvSpPr/>
          <p:nvPr/>
        </p:nvSpPr>
        <p:spPr>
          <a:xfrm>
            <a:off x="475488" y="1645920"/>
            <a:ext cx="5437616" cy="221284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221284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88976" cy="237744"/>
          </a:xfrm>
          <a:prstGeom prst="rect">
            <a:avLst/>
          </a:prstGeom>
          <a:noFill/>
        </p:spPr>
        <p:txBody>
          <a:bodyPr wrap="square" lIns="18288" rIns="18288" tIns="0" bIns="0" anchor="t">
            <a:noAutofit/>
          </a:bodyPr>
          <a:lstStyle/>
          <a:p>
            <a:pPr algn="l">
              <a:spcAft>
                <a:spcPts val="0"/>
              </a:spcAft>
            </a:pPr>
            <a:r>
              <a:rPr sz="1000" b="1" i="0">
                <a:solidFill>
                  <a:srgbClr val="2E86DE"/>
                </a:solidFill>
                <a:latin typeface="Consolas"/>
              </a:rPr>
              <a:t>non-sensitive values, stored as plain text</a:t>
            </a:r>
          </a:p>
        </p:txBody>
      </p:sp>
      <p:sp>
        <p:nvSpPr>
          <p:cNvPr id="16" name="TextBox 15"/>
          <p:cNvSpPr txBox="1"/>
          <p:nvPr/>
        </p:nvSpPr>
        <p:spPr>
          <a:xfrm>
            <a:off x="749808" y="2066543"/>
            <a:ext cx="4888976" cy="225551"/>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apiVersion: v1</a:t>
            </a:r>
          </a:p>
        </p:txBody>
      </p:sp>
      <p:sp>
        <p:nvSpPr>
          <p:cNvPr id="17" name="TextBox 16"/>
          <p:cNvSpPr txBox="1"/>
          <p:nvPr/>
        </p:nvSpPr>
        <p:spPr>
          <a:xfrm>
            <a:off x="749808" y="2255519"/>
            <a:ext cx="4888976" cy="225551"/>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kind: ConfigMap</a:t>
            </a:r>
          </a:p>
        </p:txBody>
      </p:sp>
      <p:sp>
        <p:nvSpPr>
          <p:cNvPr id="18" name="TextBox 17"/>
          <p:cNvSpPr txBox="1"/>
          <p:nvPr/>
        </p:nvSpPr>
        <p:spPr>
          <a:xfrm>
            <a:off x="749808" y="2444495"/>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metadata:</a:t>
            </a:r>
          </a:p>
        </p:txBody>
      </p:sp>
      <p:sp>
        <p:nvSpPr>
          <p:cNvPr id="19" name="TextBox 18"/>
          <p:cNvSpPr txBox="1"/>
          <p:nvPr/>
        </p:nvSpPr>
        <p:spPr>
          <a:xfrm>
            <a:off x="749808" y="2633471"/>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 billing-config</a:t>
            </a:r>
          </a:p>
        </p:txBody>
      </p:sp>
      <p:sp>
        <p:nvSpPr>
          <p:cNvPr id="20" name="TextBox 19"/>
          <p:cNvSpPr txBox="1"/>
          <p:nvPr/>
        </p:nvSpPr>
        <p:spPr>
          <a:xfrm>
            <a:off x="749808" y="2822447"/>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namespace: payments</a:t>
            </a:r>
          </a:p>
        </p:txBody>
      </p:sp>
      <p:sp>
        <p:nvSpPr>
          <p:cNvPr id="21" name="TextBox 20"/>
          <p:cNvSpPr txBox="1"/>
          <p:nvPr/>
        </p:nvSpPr>
        <p:spPr>
          <a:xfrm>
            <a:off x="749808" y="3011423"/>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data:</a:t>
            </a:r>
          </a:p>
        </p:txBody>
      </p:sp>
      <p:sp>
        <p:nvSpPr>
          <p:cNvPr id="22" name="TextBox 21"/>
          <p:cNvSpPr txBox="1"/>
          <p:nvPr/>
        </p:nvSpPr>
        <p:spPr>
          <a:xfrm>
            <a:off x="749808" y="3200399"/>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LOG_LEVEL: "info"</a:t>
            </a:r>
          </a:p>
        </p:txBody>
      </p:sp>
      <p:sp>
        <p:nvSpPr>
          <p:cNvPr id="23" name="TextBox 22"/>
          <p:cNvSpPr txBox="1"/>
          <p:nvPr/>
        </p:nvSpPr>
        <p:spPr>
          <a:xfrm>
            <a:off x="749808" y="3389375"/>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FEATURE_INVOICES: "true"</a:t>
            </a:r>
          </a:p>
        </p:txBody>
      </p:sp>
      <p:sp>
        <p:nvSpPr>
          <p:cNvPr id="24" name="TextBox 23"/>
          <p:cNvSpPr txBox="1"/>
          <p:nvPr/>
        </p:nvSpPr>
        <p:spPr>
          <a:xfrm>
            <a:off x="749808" y="3578351"/>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API_TIMEOUT_SECONDS: "30"</a:t>
            </a:r>
          </a:p>
        </p:txBody>
      </p:sp>
      <p:sp>
        <p:nvSpPr>
          <p:cNvPr id="25" name="Rounded Rectangle 24"/>
          <p:cNvSpPr/>
          <p:nvPr/>
        </p:nvSpPr>
        <p:spPr>
          <a:xfrm>
            <a:off x="6278864" y="1645920"/>
            <a:ext cx="5437616" cy="221284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78864" y="1645920"/>
            <a:ext cx="64008" cy="22128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53184" y="1773936"/>
            <a:ext cx="4888976"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sensitive values — note stringData, not data</a:t>
            </a:r>
          </a:p>
        </p:txBody>
      </p:sp>
      <p:sp>
        <p:nvSpPr>
          <p:cNvPr id="28" name="TextBox 27"/>
          <p:cNvSpPr txBox="1"/>
          <p:nvPr/>
        </p:nvSpPr>
        <p:spPr>
          <a:xfrm>
            <a:off x="6553184" y="2066543"/>
            <a:ext cx="4888976" cy="225551"/>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apiVersion: v1</a:t>
            </a:r>
          </a:p>
        </p:txBody>
      </p:sp>
      <p:sp>
        <p:nvSpPr>
          <p:cNvPr id="29" name="TextBox 28"/>
          <p:cNvSpPr txBox="1"/>
          <p:nvPr/>
        </p:nvSpPr>
        <p:spPr>
          <a:xfrm>
            <a:off x="6553184" y="2255519"/>
            <a:ext cx="4888976" cy="225551"/>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kind: Secret</a:t>
            </a:r>
          </a:p>
        </p:txBody>
      </p:sp>
      <p:sp>
        <p:nvSpPr>
          <p:cNvPr id="30" name="TextBox 29"/>
          <p:cNvSpPr txBox="1"/>
          <p:nvPr/>
        </p:nvSpPr>
        <p:spPr>
          <a:xfrm>
            <a:off x="6553184" y="2444495"/>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metadata:</a:t>
            </a:r>
          </a:p>
        </p:txBody>
      </p:sp>
      <p:sp>
        <p:nvSpPr>
          <p:cNvPr id="31" name="TextBox 30"/>
          <p:cNvSpPr txBox="1"/>
          <p:nvPr/>
        </p:nvSpPr>
        <p:spPr>
          <a:xfrm>
            <a:off x="6553184" y="2633471"/>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 billing-db</a:t>
            </a:r>
          </a:p>
        </p:txBody>
      </p:sp>
      <p:sp>
        <p:nvSpPr>
          <p:cNvPr id="32" name="TextBox 31"/>
          <p:cNvSpPr txBox="1"/>
          <p:nvPr/>
        </p:nvSpPr>
        <p:spPr>
          <a:xfrm>
            <a:off x="6553184" y="2822447"/>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namespace: payments</a:t>
            </a:r>
          </a:p>
        </p:txBody>
      </p:sp>
      <p:sp>
        <p:nvSpPr>
          <p:cNvPr id="33" name="TextBox 32"/>
          <p:cNvSpPr txBox="1"/>
          <p:nvPr/>
        </p:nvSpPr>
        <p:spPr>
          <a:xfrm>
            <a:off x="6553184" y="3011423"/>
            <a:ext cx="4888976" cy="225551"/>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type: Opaque</a:t>
            </a:r>
          </a:p>
        </p:txBody>
      </p:sp>
      <p:sp>
        <p:nvSpPr>
          <p:cNvPr id="34" name="TextBox 33"/>
          <p:cNvSpPr txBox="1"/>
          <p:nvPr/>
        </p:nvSpPr>
        <p:spPr>
          <a:xfrm>
            <a:off x="6553184" y="3200399"/>
            <a:ext cx="4888976" cy="22555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stringData:</a:t>
            </a:r>
          </a:p>
        </p:txBody>
      </p:sp>
      <p:sp>
        <p:nvSpPr>
          <p:cNvPr id="35" name="TextBox 34"/>
          <p:cNvSpPr txBox="1"/>
          <p:nvPr/>
        </p:nvSpPr>
        <p:spPr>
          <a:xfrm>
            <a:off x="6553184" y="3389375"/>
            <a:ext cx="4888976" cy="225551"/>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DB_PASSWORD: "s3cr3t-value"</a:t>
            </a:r>
          </a:p>
        </p:txBody>
      </p:sp>
      <p:sp>
        <p:nvSpPr>
          <p:cNvPr id="36" name="TextBox 35"/>
          <p:cNvSpPr txBox="1"/>
          <p:nvPr/>
        </p:nvSpPr>
        <p:spPr>
          <a:xfrm>
            <a:off x="6553184" y="3578351"/>
            <a:ext cx="4888976" cy="225551"/>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DB_USER: "billing"</a:t>
            </a:r>
          </a:p>
        </p:txBody>
      </p:sp>
      <p:sp>
        <p:nvSpPr>
          <p:cNvPr id="37" name="Rectangle 36"/>
          <p:cNvSpPr/>
          <p:nvPr/>
        </p:nvSpPr>
        <p:spPr>
          <a:xfrm>
            <a:off x="475488" y="4078224"/>
            <a:ext cx="265176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
            </a:r>
          </a:p>
        </p:txBody>
      </p:sp>
      <p:sp>
        <p:nvSpPr>
          <p:cNvPr id="38" name="Rectangle 37"/>
          <p:cNvSpPr/>
          <p:nvPr/>
        </p:nvSpPr>
        <p:spPr>
          <a:xfrm>
            <a:off x="3127248" y="4078224"/>
            <a:ext cx="3977639"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ConfigMap</a:t>
            </a:r>
          </a:p>
        </p:txBody>
      </p:sp>
      <p:sp>
        <p:nvSpPr>
          <p:cNvPr id="39" name="Rectangle 38"/>
          <p:cNvSpPr/>
          <p:nvPr/>
        </p:nvSpPr>
        <p:spPr>
          <a:xfrm>
            <a:off x="7104888" y="4078224"/>
            <a:ext cx="461772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Secret</a:t>
            </a:r>
          </a:p>
        </p:txBody>
      </p:sp>
      <p:sp>
        <p:nvSpPr>
          <p:cNvPr id="40" name="Rectangle 39"/>
          <p:cNvSpPr/>
          <p:nvPr/>
        </p:nvSpPr>
        <p:spPr>
          <a:xfrm>
            <a:off x="475488" y="4498848"/>
            <a:ext cx="2651760" cy="338328"/>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50" b="1" i="0">
                <a:solidFill>
                  <a:srgbClr val="1F2B3D"/>
                </a:solidFill>
                <a:latin typeface="Calibri"/>
              </a:rPr>
              <a:t>Stored as</a:t>
            </a:r>
          </a:p>
        </p:txBody>
      </p:sp>
      <p:sp>
        <p:nvSpPr>
          <p:cNvPr id="41" name="Rectangle 40"/>
          <p:cNvSpPr/>
          <p:nvPr/>
        </p:nvSpPr>
        <p:spPr>
          <a:xfrm>
            <a:off x="3127248" y="4498848"/>
            <a:ext cx="3977639" cy="338328"/>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plain text in etcd</a:t>
            </a:r>
          </a:p>
        </p:txBody>
      </p:sp>
      <p:sp>
        <p:nvSpPr>
          <p:cNvPr id="42" name="Rectangle 41"/>
          <p:cNvSpPr/>
          <p:nvPr/>
        </p:nvSpPr>
        <p:spPr>
          <a:xfrm>
            <a:off x="7104888" y="4498848"/>
            <a:ext cx="4617720" cy="338328"/>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base64 in etcd — encrypted only if you enabled it</a:t>
            </a:r>
          </a:p>
        </p:txBody>
      </p:sp>
      <p:sp>
        <p:nvSpPr>
          <p:cNvPr id="43" name="Rectangle 42"/>
          <p:cNvSpPr/>
          <p:nvPr/>
        </p:nvSpPr>
        <p:spPr>
          <a:xfrm>
            <a:off x="475488" y="4837176"/>
            <a:ext cx="2651760" cy="338328"/>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50" b="1" i="0">
                <a:solidFill>
                  <a:srgbClr val="1F2B3D"/>
                </a:solidFill>
                <a:latin typeface="Calibri"/>
              </a:rPr>
              <a:t>Shown by kubectl get -o yaml</a:t>
            </a:r>
          </a:p>
        </p:txBody>
      </p:sp>
      <p:sp>
        <p:nvSpPr>
          <p:cNvPr id="44" name="Rectangle 43"/>
          <p:cNvSpPr/>
          <p:nvPr/>
        </p:nvSpPr>
        <p:spPr>
          <a:xfrm>
            <a:off x="3127248" y="4837176"/>
            <a:ext cx="3977639" cy="338328"/>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readable</a:t>
            </a:r>
          </a:p>
        </p:txBody>
      </p:sp>
      <p:sp>
        <p:nvSpPr>
          <p:cNvPr id="45" name="Rectangle 44"/>
          <p:cNvSpPr/>
          <p:nvPr/>
        </p:nvSpPr>
        <p:spPr>
          <a:xfrm>
            <a:off x="7104888" y="4837176"/>
            <a:ext cx="4617720" cy="338328"/>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base64, trivially decoded</a:t>
            </a:r>
          </a:p>
        </p:txBody>
      </p:sp>
      <p:sp>
        <p:nvSpPr>
          <p:cNvPr id="46" name="Rectangle 45"/>
          <p:cNvSpPr/>
          <p:nvPr/>
        </p:nvSpPr>
        <p:spPr>
          <a:xfrm>
            <a:off x="475488" y="5175504"/>
            <a:ext cx="2651760" cy="338328"/>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50" b="1" i="0">
                <a:solidFill>
                  <a:srgbClr val="1F2B3D"/>
                </a:solidFill>
                <a:latin typeface="Calibri"/>
              </a:rPr>
              <a:t>Size limit</a:t>
            </a:r>
          </a:p>
        </p:txBody>
      </p:sp>
      <p:sp>
        <p:nvSpPr>
          <p:cNvPr id="47" name="Rectangle 46"/>
          <p:cNvSpPr/>
          <p:nvPr/>
        </p:nvSpPr>
        <p:spPr>
          <a:xfrm>
            <a:off x="3127248" y="5175504"/>
            <a:ext cx="3977639" cy="338328"/>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1 MiB</a:t>
            </a:r>
          </a:p>
        </p:txBody>
      </p:sp>
      <p:sp>
        <p:nvSpPr>
          <p:cNvPr id="48" name="Rectangle 47"/>
          <p:cNvSpPr/>
          <p:nvPr/>
        </p:nvSpPr>
        <p:spPr>
          <a:xfrm>
            <a:off x="7104888" y="5175504"/>
            <a:ext cx="4617720" cy="338328"/>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1 MiB</a:t>
            </a:r>
          </a:p>
        </p:txBody>
      </p:sp>
      <p:sp>
        <p:nvSpPr>
          <p:cNvPr id="49" name="Rectangle 48"/>
          <p:cNvSpPr/>
          <p:nvPr/>
        </p:nvSpPr>
        <p:spPr>
          <a:xfrm>
            <a:off x="475488" y="5513831"/>
            <a:ext cx="2651760" cy="338328"/>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50" b="1" i="0">
                <a:solidFill>
                  <a:srgbClr val="1F2B3D"/>
                </a:solidFill>
                <a:latin typeface="Calibri"/>
              </a:rPr>
              <a:t>Typical RBAC</a:t>
            </a:r>
          </a:p>
        </p:txBody>
      </p:sp>
      <p:sp>
        <p:nvSpPr>
          <p:cNvPr id="50" name="Rectangle 49"/>
          <p:cNvSpPr/>
          <p:nvPr/>
        </p:nvSpPr>
        <p:spPr>
          <a:xfrm>
            <a:off x="3127248" y="5513831"/>
            <a:ext cx="3977639" cy="338328"/>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widely readable</a:t>
            </a:r>
          </a:p>
        </p:txBody>
      </p:sp>
      <p:sp>
        <p:nvSpPr>
          <p:cNvPr id="51" name="Rectangle 50"/>
          <p:cNvSpPr/>
          <p:nvPr/>
        </p:nvSpPr>
        <p:spPr>
          <a:xfrm>
            <a:off x="7104888" y="5513831"/>
            <a:ext cx="4617720" cy="338328"/>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0" i="0">
                <a:solidFill>
                  <a:srgbClr val="363F4D"/>
                </a:solidFill>
                <a:latin typeface="Calibri"/>
              </a:rPr>
              <a:t>restricted, audited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Secret Types, and the One Flag Worth Knowing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 Secret's type tells the cluster what shape to expect. Immutable tells it to stop watching.</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Set immutable: true on Secrets that never change — it removes load and prevents accidental edits.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ectangle 12"/>
          <p:cNvSpPr/>
          <p:nvPr/>
        </p:nvSpPr>
        <p:spPr>
          <a:xfrm>
            <a:off x="475488" y="1645920"/>
            <a:ext cx="37033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type</a:t>
            </a:r>
          </a:p>
        </p:txBody>
      </p:sp>
      <p:sp>
        <p:nvSpPr>
          <p:cNvPr id="14" name="Rectangle 13"/>
          <p:cNvSpPr/>
          <p:nvPr/>
        </p:nvSpPr>
        <p:spPr>
          <a:xfrm>
            <a:off x="4178808" y="1645920"/>
            <a:ext cx="2926080"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Expected keys</a:t>
            </a:r>
          </a:p>
        </p:txBody>
      </p:sp>
      <p:sp>
        <p:nvSpPr>
          <p:cNvPr id="15" name="Rectangle 14"/>
          <p:cNvSpPr/>
          <p:nvPr/>
        </p:nvSpPr>
        <p:spPr>
          <a:xfrm>
            <a:off x="7104888" y="1645920"/>
            <a:ext cx="4608576"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Used for</a:t>
            </a:r>
          </a:p>
        </p:txBody>
      </p:sp>
      <p:sp>
        <p:nvSpPr>
          <p:cNvPr id="16" name="Rectangle 15"/>
          <p:cNvSpPr/>
          <p:nvPr/>
        </p:nvSpPr>
        <p:spPr>
          <a:xfrm>
            <a:off x="475488" y="2066544"/>
            <a:ext cx="3703320"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Opaque</a:t>
            </a:r>
          </a:p>
        </p:txBody>
      </p:sp>
      <p:sp>
        <p:nvSpPr>
          <p:cNvPr id="17" name="Rectangle 16"/>
          <p:cNvSpPr/>
          <p:nvPr/>
        </p:nvSpPr>
        <p:spPr>
          <a:xfrm>
            <a:off x="4178808" y="2066544"/>
            <a:ext cx="2926080"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anything you like</a:t>
            </a:r>
          </a:p>
        </p:txBody>
      </p:sp>
      <p:sp>
        <p:nvSpPr>
          <p:cNvPr id="18" name="Rectangle 17"/>
          <p:cNvSpPr/>
          <p:nvPr/>
        </p:nvSpPr>
        <p:spPr>
          <a:xfrm>
            <a:off x="7104888" y="2066544"/>
            <a:ext cx="4608576"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default. Ordinary application credentials</a:t>
            </a:r>
          </a:p>
        </p:txBody>
      </p:sp>
      <p:sp>
        <p:nvSpPr>
          <p:cNvPr id="19" name="Rectangle 18"/>
          <p:cNvSpPr/>
          <p:nvPr/>
        </p:nvSpPr>
        <p:spPr>
          <a:xfrm>
            <a:off x="475488" y="2424988"/>
            <a:ext cx="3703320" cy="35844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kubernetes.io/tls</a:t>
            </a:r>
          </a:p>
        </p:txBody>
      </p:sp>
      <p:sp>
        <p:nvSpPr>
          <p:cNvPr id="20" name="Rectangle 19"/>
          <p:cNvSpPr/>
          <p:nvPr/>
        </p:nvSpPr>
        <p:spPr>
          <a:xfrm>
            <a:off x="4178808" y="2424988"/>
            <a:ext cx="2926080" cy="35844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tls.crt, tls.key</a:t>
            </a:r>
          </a:p>
        </p:txBody>
      </p:sp>
      <p:sp>
        <p:nvSpPr>
          <p:cNvPr id="21" name="Rectangle 20"/>
          <p:cNvSpPr/>
          <p:nvPr/>
        </p:nvSpPr>
        <p:spPr>
          <a:xfrm>
            <a:off x="7104888" y="2424988"/>
            <a:ext cx="4608576" cy="35844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Ingress and webhook certificates</a:t>
            </a:r>
          </a:p>
        </p:txBody>
      </p:sp>
      <p:sp>
        <p:nvSpPr>
          <p:cNvPr id="22" name="Rectangle 21"/>
          <p:cNvSpPr/>
          <p:nvPr/>
        </p:nvSpPr>
        <p:spPr>
          <a:xfrm>
            <a:off x="475488" y="2783433"/>
            <a:ext cx="3703320"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kubernetes.io/dockerconfigjson</a:t>
            </a:r>
          </a:p>
        </p:txBody>
      </p:sp>
      <p:sp>
        <p:nvSpPr>
          <p:cNvPr id="23" name="Rectangle 22"/>
          <p:cNvSpPr/>
          <p:nvPr/>
        </p:nvSpPr>
        <p:spPr>
          <a:xfrm>
            <a:off x="4178808" y="2783433"/>
            <a:ext cx="2926080"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.dockerconfigjson</a:t>
            </a:r>
          </a:p>
        </p:txBody>
      </p:sp>
      <p:sp>
        <p:nvSpPr>
          <p:cNvPr id="24" name="Rectangle 23"/>
          <p:cNvSpPr/>
          <p:nvPr/>
        </p:nvSpPr>
        <p:spPr>
          <a:xfrm>
            <a:off x="7104888" y="2783433"/>
            <a:ext cx="4608576"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Pulling images from a private registry</a:t>
            </a:r>
          </a:p>
        </p:txBody>
      </p:sp>
      <p:sp>
        <p:nvSpPr>
          <p:cNvPr id="25" name="Rectangle 24"/>
          <p:cNvSpPr/>
          <p:nvPr/>
        </p:nvSpPr>
        <p:spPr>
          <a:xfrm>
            <a:off x="475488" y="3141878"/>
            <a:ext cx="3703320" cy="35844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kubernetes.io/basic-auth</a:t>
            </a:r>
          </a:p>
        </p:txBody>
      </p:sp>
      <p:sp>
        <p:nvSpPr>
          <p:cNvPr id="26" name="Rectangle 25"/>
          <p:cNvSpPr/>
          <p:nvPr/>
        </p:nvSpPr>
        <p:spPr>
          <a:xfrm>
            <a:off x="4178808" y="3141878"/>
            <a:ext cx="2926080" cy="35844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username, password</a:t>
            </a:r>
          </a:p>
        </p:txBody>
      </p:sp>
      <p:sp>
        <p:nvSpPr>
          <p:cNvPr id="27" name="Rectangle 26"/>
          <p:cNvSpPr/>
          <p:nvPr/>
        </p:nvSpPr>
        <p:spPr>
          <a:xfrm>
            <a:off x="7104888" y="3141878"/>
            <a:ext cx="4608576" cy="35844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Anything expecting that pair by convention</a:t>
            </a:r>
          </a:p>
        </p:txBody>
      </p:sp>
      <p:sp>
        <p:nvSpPr>
          <p:cNvPr id="28" name="Rectangle 27"/>
          <p:cNvSpPr/>
          <p:nvPr/>
        </p:nvSpPr>
        <p:spPr>
          <a:xfrm>
            <a:off x="475488" y="3500323"/>
            <a:ext cx="3703320"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kubernetes.io/service-account-token</a:t>
            </a:r>
          </a:p>
        </p:txBody>
      </p:sp>
      <p:sp>
        <p:nvSpPr>
          <p:cNvPr id="29" name="Rectangle 28"/>
          <p:cNvSpPr/>
          <p:nvPr/>
        </p:nvSpPr>
        <p:spPr>
          <a:xfrm>
            <a:off x="4178808" y="3500323"/>
            <a:ext cx="2926080"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token, ca.crt</a:t>
            </a:r>
          </a:p>
        </p:txBody>
      </p:sp>
      <p:sp>
        <p:nvSpPr>
          <p:cNvPr id="30" name="Rectangle 29"/>
          <p:cNvSpPr/>
          <p:nvPr/>
        </p:nvSpPr>
        <p:spPr>
          <a:xfrm>
            <a:off x="7104888" y="3500323"/>
            <a:ext cx="4608576" cy="35844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Legacy. Prefer projected tokens</a:t>
            </a:r>
          </a:p>
        </p:txBody>
      </p:sp>
      <p:sp>
        <p:nvSpPr>
          <p:cNvPr id="31" name="Rounded Rectangle 30"/>
          <p:cNvSpPr/>
          <p:nvPr/>
        </p:nvSpPr>
        <p:spPr>
          <a:xfrm>
            <a:off x="475488" y="4078224"/>
            <a:ext cx="5428472" cy="153619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75488" y="4078224"/>
            <a:ext cx="64008" cy="1536192"/>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49808" y="4206240"/>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typed and immutable</a:t>
            </a:r>
          </a:p>
        </p:txBody>
      </p:sp>
      <p:sp>
        <p:nvSpPr>
          <p:cNvPr id="34" name="TextBox 33"/>
          <p:cNvSpPr txBox="1"/>
          <p:nvPr/>
        </p:nvSpPr>
        <p:spPr>
          <a:xfrm>
            <a:off x="749808" y="4498848"/>
            <a:ext cx="4879832" cy="207264"/>
          </a:xfrm>
          <a:prstGeom prst="rect">
            <a:avLst/>
          </a:prstGeom>
          <a:noFill/>
        </p:spPr>
        <p:txBody>
          <a:bodyPr wrap="square" lIns="18288" rIns="18288" tIns="0" bIns="0" anchor="t">
            <a:noAutofit/>
          </a:bodyPr>
          <a:lstStyle/>
          <a:p>
            <a:pPr algn="l">
              <a:spcAft>
                <a:spcPts val="0"/>
              </a:spcAft>
            </a:pPr>
            <a:r>
              <a:rPr sz="1033" b="0" i="0">
                <a:solidFill>
                  <a:srgbClr val="2BA8D8"/>
                </a:solidFill>
                <a:latin typeface="Consolas"/>
              </a:rPr>
              <a:t>apiVersion: v1</a:t>
            </a:r>
          </a:p>
        </p:txBody>
      </p:sp>
      <p:sp>
        <p:nvSpPr>
          <p:cNvPr id="35" name="TextBox 34"/>
          <p:cNvSpPr txBox="1"/>
          <p:nvPr/>
        </p:nvSpPr>
        <p:spPr>
          <a:xfrm>
            <a:off x="749808" y="4669536"/>
            <a:ext cx="4879832" cy="207264"/>
          </a:xfrm>
          <a:prstGeom prst="rect">
            <a:avLst/>
          </a:prstGeom>
          <a:noFill/>
        </p:spPr>
        <p:txBody>
          <a:bodyPr wrap="square" lIns="18288" rIns="18288" tIns="0" bIns="0" anchor="t">
            <a:noAutofit/>
          </a:bodyPr>
          <a:lstStyle/>
          <a:p>
            <a:pPr algn="l">
              <a:spcAft>
                <a:spcPts val="0"/>
              </a:spcAft>
            </a:pPr>
            <a:r>
              <a:rPr sz="1033" b="0" i="0">
                <a:solidFill>
                  <a:srgbClr val="2BA8D8"/>
                </a:solidFill>
                <a:latin typeface="Consolas"/>
              </a:rPr>
              <a:t>kind: Secret</a:t>
            </a:r>
          </a:p>
        </p:txBody>
      </p:sp>
      <p:sp>
        <p:nvSpPr>
          <p:cNvPr id="36" name="TextBox 35"/>
          <p:cNvSpPr txBox="1"/>
          <p:nvPr/>
        </p:nvSpPr>
        <p:spPr>
          <a:xfrm>
            <a:off x="749808" y="4840224"/>
            <a:ext cx="4879832" cy="207264"/>
          </a:xfrm>
          <a:prstGeom prst="rect">
            <a:avLst/>
          </a:prstGeom>
          <a:noFill/>
        </p:spPr>
        <p:txBody>
          <a:bodyPr wrap="square" lIns="18288" rIns="18288" tIns="0" bIns="0" anchor="t">
            <a:noAutofit/>
          </a:bodyPr>
          <a:lstStyle/>
          <a:p>
            <a:pPr algn="l">
              <a:spcAft>
                <a:spcPts val="0"/>
              </a:spcAft>
            </a:pPr>
            <a:r>
              <a:rPr sz="1033" b="0" i="0">
                <a:solidFill>
                  <a:srgbClr val="D9E2F0"/>
                </a:solidFill>
                <a:latin typeface="Consolas"/>
              </a:rPr>
              <a:t>metadata: { name: tls-billing }</a:t>
            </a:r>
          </a:p>
        </p:txBody>
      </p:sp>
      <p:sp>
        <p:nvSpPr>
          <p:cNvPr id="37" name="TextBox 36"/>
          <p:cNvSpPr txBox="1"/>
          <p:nvPr/>
        </p:nvSpPr>
        <p:spPr>
          <a:xfrm>
            <a:off x="749808" y="5010912"/>
            <a:ext cx="4879832" cy="207264"/>
          </a:xfrm>
          <a:prstGeom prst="rect">
            <a:avLst/>
          </a:prstGeom>
          <a:noFill/>
        </p:spPr>
        <p:txBody>
          <a:bodyPr wrap="square" lIns="18288" rIns="18288" tIns="0" bIns="0" anchor="t">
            <a:noAutofit/>
          </a:bodyPr>
          <a:lstStyle/>
          <a:p>
            <a:pPr algn="l">
              <a:spcAft>
                <a:spcPts val="0"/>
              </a:spcAft>
            </a:pPr>
            <a:r>
              <a:rPr sz="1033" b="0" i="0">
                <a:solidFill>
                  <a:srgbClr val="F59E0B"/>
                </a:solidFill>
                <a:latin typeface="Consolas"/>
              </a:rPr>
              <a:t>type: kubernetes.io/tls</a:t>
            </a:r>
          </a:p>
        </p:txBody>
      </p:sp>
      <p:sp>
        <p:nvSpPr>
          <p:cNvPr id="38" name="TextBox 37"/>
          <p:cNvSpPr txBox="1"/>
          <p:nvPr/>
        </p:nvSpPr>
        <p:spPr>
          <a:xfrm>
            <a:off x="749808" y="5181599"/>
            <a:ext cx="4879832" cy="207264"/>
          </a:xfrm>
          <a:prstGeom prst="rect">
            <a:avLst/>
          </a:prstGeom>
          <a:noFill/>
        </p:spPr>
        <p:txBody>
          <a:bodyPr wrap="square" lIns="18288" rIns="18288" tIns="0" bIns="0" anchor="t">
            <a:noAutofit/>
          </a:bodyPr>
          <a:lstStyle/>
          <a:p>
            <a:pPr algn="l">
              <a:spcAft>
                <a:spcPts val="0"/>
              </a:spcAft>
            </a:pPr>
            <a:r>
              <a:rPr sz="1033" b="0" i="0">
                <a:solidFill>
                  <a:srgbClr val="2EB56B"/>
                </a:solidFill>
                <a:latin typeface="Consolas"/>
              </a:rPr>
              <a:t>immutable: true</a:t>
            </a:r>
          </a:p>
        </p:txBody>
      </p:sp>
      <p:sp>
        <p:nvSpPr>
          <p:cNvPr id="39" name="TextBox 38"/>
          <p:cNvSpPr txBox="1"/>
          <p:nvPr/>
        </p:nvSpPr>
        <p:spPr>
          <a:xfrm>
            <a:off x="749808" y="5352287"/>
            <a:ext cx="4879832" cy="207264"/>
          </a:xfrm>
          <a:prstGeom prst="rect">
            <a:avLst/>
          </a:prstGeom>
          <a:noFill/>
        </p:spPr>
        <p:txBody>
          <a:bodyPr wrap="square" lIns="18288" rIns="18288" tIns="0" bIns="0" anchor="t">
            <a:noAutofit/>
          </a:bodyPr>
          <a:lstStyle/>
          <a:p>
            <a:pPr algn="l">
              <a:spcAft>
                <a:spcPts val="0"/>
              </a:spcAft>
            </a:pPr>
            <a:r>
              <a:rPr sz="1033" b="0" i="0">
                <a:solidFill>
                  <a:srgbClr val="D9E2F0"/>
                </a:solidFill>
                <a:latin typeface="Consolas"/>
              </a:rPr>
              <a:t>data: { tls.crt: ..., tls.key: ... }</a:t>
            </a:r>
          </a:p>
        </p:txBody>
      </p:sp>
      <p:sp>
        <p:nvSpPr>
          <p:cNvPr id="40" name="Rounded Rectangle 39"/>
          <p:cNvSpPr/>
          <p:nvPr/>
        </p:nvSpPr>
        <p:spPr>
          <a:xfrm>
            <a:off x="6288008" y="4078224"/>
            <a:ext cx="5428472" cy="153619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288008" y="4078224"/>
            <a:ext cx="77724" cy="15361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44040" y="4224528"/>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immutable buys you</a:t>
            </a:r>
          </a:p>
        </p:txBody>
      </p:sp>
      <p:sp>
        <p:nvSpPr>
          <p:cNvPr id="43" name="TextBox 42"/>
          <p:cNvSpPr txBox="1"/>
          <p:nvPr/>
        </p:nvSpPr>
        <p:spPr>
          <a:xfrm>
            <a:off x="6544040" y="4626864"/>
            <a:ext cx="4971272" cy="859536"/>
          </a:xfrm>
          <a:prstGeom prst="rect">
            <a:avLst/>
          </a:prstGeom>
          <a:noFill/>
        </p:spPr>
        <p:txBody>
          <a:bodyPr wrap="square" lIns="18288" rIns="18288" tIns="0" bIns="0" anchor="t">
            <a:noAutofit/>
          </a:bodyPr>
          <a:lstStyle/>
          <a:p>
            <a:pPr algn="l">
              <a:lnSpc>
                <a:spcPct val="124000"/>
              </a:lnSpc>
              <a:spcAft>
                <a:spcPts val="0"/>
              </a:spcAft>
            </a:pPr>
            <a:r>
              <a:rPr sz="900" b="0" i="0">
                <a:solidFill>
                  <a:srgbClr val="363F4D"/>
                </a:solidFill>
                <a:latin typeface="Calibri"/>
              </a:rPr>
              <a:t>The kubelet stops watching it, which meaningfully reduces API server load on large clusters. It also makes accidental edits impossible.</a:t>
            </a:r>
          </a:p>
          <a:p>
            <a:pPr algn="l">
              <a:lnSpc>
                <a:spcPct val="124000"/>
              </a:lnSpc>
              <a:spcAft>
                <a:spcPts val="0"/>
              </a:spcAft>
            </a:pPr>
            <a:r>
              <a:rPr sz="900" b="0" i="0">
                <a:solidFill>
                  <a:srgbClr val="363F4D"/>
                </a:solidFill>
                <a:latin typeface="Calibri"/>
              </a:rPr>
              <a:t/>
            </a:r>
          </a:p>
          <a:p>
            <a:pPr algn="l">
              <a:lnSpc>
                <a:spcPct val="124000"/>
              </a:lnSpc>
              <a:spcAft>
                <a:spcPts val="0"/>
              </a:spcAft>
            </a:pPr>
            <a:r>
              <a:rPr sz="900" b="0" i="0">
                <a:solidFill>
                  <a:srgbClr val="363F4D"/>
                </a:solidFill>
                <a:latin typeface="Calibri"/>
              </a:rPr>
              <a:t>The cost: to change it you must delete and recreate it — which is a poor fit for anything ESO refreshes.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 Kubernetes Secret Is Not Encrypted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single most common misunderstanding in the room. Deal with it early.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base64 is encoding, not encryption. Anyone with get secrets can read every value.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ounded Rectangle 12"/>
          <p:cNvSpPr/>
          <p:nvPr/>
        </p:nvSpPr>
        <p:spPr>
          <a:xfrm>
            <a:off x="475488" y="1645920"/>
            <a:ext cx="5806440" cy="148132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148132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257800" cy="237744"/>
          </a:xfrm>
          <a:prstGeom prst="rect">
            <a:avLst/>
          </a:prstGeom>
          <a:noFill/>
        </p:spPr>
        <p:txBody>
          <a:bodyPr wrap="square" lIns="18288" rIns="18288" tIns="0" bIns="0" anchor="t">
            <a:noAutofit/>
          </a:bodyPr>
          <a:lstStyle/>
          <a:p>
            <a:pPr algn="l">
              <a:spcAft>
                <a:spcPts val="0"/>
              </a:spcAft>
            </a:pPr>
            <a:r>
              <a:rPr sz="1000" b="1" i="0">
                <a:solidFill>
                  <a:srgbClr val="D93B3B"/>
                </a:solidFill>
                <a:latin typeface="Consolas"/>
              </a:rPr>
              <a:t>thirty seconds, no special access</a:t>
            </a:r>
          </a:p>
        </p:txBody>
      </p:sp>
      <p:sp>
        <p:nvSpPr>
          <p:cNvPr id="16" name="TextBox 15"/>
          <p:cNvSpPr txBox="1"/>
          <p:nvPr/>
        </p:nvSpPr>
        <p:spPr>
          <a:xfrm>
            <a:off x="749808" y="2066543"/>
            <a:ext cx="5257800" cy="198119"/>
          </a:xfrm>
          <a:prstGeom prst="rect">
            <a:avLst/>
          </a:prstGeom>
          <a:noFill/>
        </p:spPr>
        <p:txBody>
          <a:bodyPr wrap="square" lIns="18288" rIns="18288" tIns="0" bIns="0" anchor="t">
            <a:noAutofit/>
          </a:bodyPr>
          <a:lstStyle/>
          <a:p>
            <a:pPr algn="l">
              <a:spcAft>
                <a:spcPts val="0"/>
              </a:spcAft>
            </a:pPr>
            <a:r>
              <a:rPr sz="978" b="0" i="0">
                <a:solidFill>
                  <a:srgbClr val="FFFFFF"/>
                </a:solidFill>
                <a:latin typeface="Consolas"/>
              </a:rPr>
              <a:t>$ kubectl get secret billing-db \</a:t>
            </a:r>
          </a:p>
        </p:txBody>
      </p:sp>
      <p:sp>
        <p:nvSpPr>
          <p:cNvPr id="17" name="TextBox 16"/>
          <p:cNvSpPr txBox="1"/>
          <p:nvPr/>
        </p:nvSpPr>
        <p:spPr>
          <a:xfrm>
            <a:off x="749808" y="2228088"/>
            <a:ext cx="5257800" cy="198119"/>
          </a:xfrm>
          <a:prstGeom prst="rect">
            <a:avLst/>
          </a:prstGeom>
          <a:noFill/>
        </p:spPr>
        <p:txBody>
          <a:bodyPr wrap="square" lIns="18288" rIns="18288" tIns="0" bIns="0" anchor="t">
            <a:noAutofit/>
          </a:bodyPr>
          <a:lstStyle/>
          <a:p>
            <a:pPr algn="l">
              <a:spcAft>
                <a:spcPts val="0"/>
              </a:spcAft>
            </a:pPr>
            <a:r>
              <a:rPr sz="978" b="0" i="0">
                <a:solidFill>
                  <a:srgbClr val="FFFFFF"/>
                </a:solidFill>
                <a:latin typeface="Consolas"/>
              </a:rPr>
              <a:t>    -o jsonpath='{.data.DB_PASSWORD}'</a:t>
            </a:r>
          </a:p>
        </p:txBody>
      </p:sp>
      <p:sp>
        <p:nvSpPr>
          <p:cNvPr id="18" name="TextBox 17"/>
          <p:cNvSpPr txBox="1"/>
          <p:nvPr/>
        </p:nvSpPr>
        <p:spPr>
          <a:xfrm>
            <a:off x="749808" y="2389632"/>
            <a:ext cx="5257800" cy="198119"/>
          </a:xfrm>
          <a:prstGeom prst="rect">
            <a:avLst/>
          </a:prstGeom>
          <a:noFill/>
        </p:spPr>
        <p:txBody>
          <a:bodyPr wrap="square" lIns="18288" rIns="18288" tIns="0" bIns="0" anchor="t">
            <a:noAutofit/>
          </a:bodyPr>
          <a:lstStyle/>
          <a:p>
            <a:pPr algn="l">
              <a:spcAft>
                <a:spcPts val="0"/>
              </a:spcAft>
            </a:pPr>
            <a:r>
              <a:rPr sz="978" b="0" i="0">
                <a:solidFill>
                  <a:srgbClr val="6B7A8D"/>
                </a:solidFill>
                <a:latin typeface="Consolas"/>
              </a:rPr>
              <a:t>czNjcjN0LXZhbHVl</a:t>
            </a:r>
          </a:p>
        </p:txBody>
      </p:sp>
      <p:sp>
        <p:nvSpPr>
          <p:cNvPr id="19" name="TextBox 18"/>
          <p:cNvSpPr txBox="1"/>
          <p:nvPr/>
        </p:nvSpPr>
        <p:spPr>
          <a:xfrm>
            <a:off x="749808" y="2551176"/>
            <a:ext cx="5257800" cy="198119"/>
          </a:xfrm>
          <a:prstGeom prst="rect">
            <a:avLst/>
          </a:prstGeom>
          <a:noFill/>
        </p:spPr>
        <p:txBody>
          <a:bodyPr wrap="square" lIns="18288" rIns="18288" tIns="0" bIns="0" anchor="t">
            <a:noAutofit/>
          </a:bodyPr>
          <a:lstStyle/>
          <a:p>
            <a:pPr algn="l">
              <a:spcAft>
                <a:spcPts val="0"/>
              </a:spcAft>
            </a:pPr>
            <a:r>
              <a:rPr sz="978" b="0" i="0">
                <a:solidFill>
                  <a:srgbClr val="D9E2F0"/>
                </a:solidFill>
                <a:latin typeface="Consolas"/>
              </a:rPr>
              <a:t/>
            </a:r>
          </a:p>
        </p:txBody>
      </p:sp>
      <p:sp>
        <p:nvSpPr>
          <p:cNvPr id="20" name="TextBox 19"/>
          <p:cNvSpPr txBox="1"/>
          <p:nvPr/>
        </p:nvSpPr>
        <p:spPr>
          <a:xfrm>
            <a:off x="749808" y="2712720"/>
            <a:ext cx="5257800" cy="198119"/>
          </a:xfrm>
          <a:prstGeom prst="rect">
            <a:avLst/>
          </a:prstGeom>
          <a:noFill/>
        </p:spPr>
        <p:txBody>
          <a:bodyPr wrap="square" lIns="18288" rIns="18288" tIns="0" bIns="0" anchor="t">
            <a:noAutofit/>
          </a:bodyPr>
          <a:lstStyle/>
          <a:p>
            <a:pPr algn="l">
              <a:spcAft>
                <a:spcPts val="0"/>
              </a:spcAft>
            </a:pPr>
            <a:r>
              <a:rPr sz="978" b="0" i="0">
                <a:solidFill>
                  <a:srgbClr val="FFFFFF"/>
                </a:solidFill>
                <a:latin typeface="Consolas"/>
              </a:rPr>
              <a:t>$ ... | base64 -d</a:t>
            </a:r>
          </a:p>
        </p:txBody>
      </p:sp>
      <p:sp>
        <p:nvSpPr>
          <p:cNvPr id="21" name="TextBox 20"/>
          <p:cNvSpPr txBox="1"/>
          <p:nvPr/>
        </p:nvSpPr>
        <p:spPr>
          <a:xfrm>
            <a:off x="749808" y="2874264"/>
            <a:ext cx="5257800" cy="198119"/>
          </a:xfrm>
          <a:prstGeom prst="rect">
            <a:avLst/>
          </a:prstGeom>
          <a:noFill/>
        </p:spPr>
        <p:txBody>
          <a:bodyPr wrap="square" lIns="18288" rIns="18288" tIns="0" bIns="0" anchor="t">
            <a:noAutofit/>
          </a:bodyPr>
          <a:lstStyle/>
          <a:p>
            <a:pPr algn="l">
              <a:spcAft>
                <a:spcPts val="0"/>
              </a:spcAft>
            </a:pPr>
            <a:r>
              <a:rPr sz="978" b="0" i="0">
                <a:solidFill>
                  <a:srgbClr val="D93B3B"/>
                </a:solidFill>
                <a:latin typeface="Consolas"/>
              </a:rPr>
              <a:t>s3cr3t-value</a:t>
            </a:r>
          </a:p>
        </p:txBody>
      </p:sp>
      <p:sp>
        <p:nvSpPr>
          <p:cNvPr id="22" name="Rounded Rectangle 21"/>
          <p:cNvSpPr/>
          <p:nvPr/>
        </p:nvSpPr>
        <p:spPr>
          <a:xfrm>
            <a:off x="6510527" y="1645920"/>
            <a:ext cx="5205953" cy="14813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10527" y="1645920"/>
            <a:ext cx="77724" cy="148132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766559" y="1792224"/>
            <a:ext cx="474875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So what does protect it?</a:t>
            </a:r>
          </a:p>
        </p:txBody>
      </p:sp>
      <p:sp>
        <p:nvSpPr>
          <p:cNvPr id="25" name="TextBox 24"/>
          <p:cNvSpPr txBox="1"/>
          <p:nvPr/>
        </p:nvSpPr>
        <p:spPr>
          <a:xfrm>
            <a:off x="6766559" y="2194560"/>
            <a:ext cx="4748753" cy="804672"/>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Three things, and you must turn all three on yourself: RBAC that limits who can read Secrets, encryption at rest in etcd, and an audit trail.</a:t>
            </a:r>
          </a:p>
        </p:txBody>
      </p:sp>
      <p:sp>
        <p:nvSpPr>
          <p:cNvPr id="26" name="Rounded Rectangle 25"/>
          <p:cNvSpPr/>
          <p:nvPr/>
        </p:nvSpPr>
        <p:spPr>
          <a:xfrm>
            <a:off x="475488" y="3383280"/>
            <a:ext cx="3564117" cy="1883664"/>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75488" y="3383280"/>
            <a:ext cx="3564117" cy="685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58368" y="3611880"/>
            <a:ext cx="310896" cy="31089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1</a:t>
            </a:r>
          </a:p>
        </p:txBody>
      </p:sp>
      <p:sp>
        <p:nvSpPr>
          <p:cNvPr id="29" name="TextBox 28"/>
          <p:cNvSpPr txBox="1"/>
          <p:nvPr/>
        </p:nvSpPr>
        <p:spPr>
          <a:xfrm>
            <a:off x="1078992" y="3648456"/>
            <a:ext cx="277773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RBAC first</a:t>
            </a:r>
          </a:p>
        </p:txBody>
      </p:sp>
      <p:sp>
        <p:nvSpPr>
          <p:cNvPr id="30" name="TextBox 29"/>
          <p:cNvSpPr txBox="1"/>
          <p:nvPr/>
        </p:nvSpPr>
        <p:spPr>
          <a:xfrm>
            <a:off x="658368" y="4041648"/>
            <a:ext cx="3198357" cy="1106424"/>
          </a:xfrm>
          <a:prstGeom prst="rect">
            <a:avLst/>
          </a:prstGeom>
          <a:noFill/>
        </p:spPr>
        <p:txBody>
          <a:bodyPr wrap="square" lIns="18288" rIns="18288" tIns="0" bIns="0" anchor="t">
            <a:noAutofit/>
          </a:bodyPr>
          <a:lstStyle/>
          <a:p>
            <a:pPr algn="l">
              <a:lnSpc>
                <a:spcPct val="122000"/>
              </a:lnSpc>
              <a:spcAft>
                <a:spcPts val="0"/>
              </a:spcAft>
            </a:pPr>
            <a:r>
              <a:rPr sz="1200" b="0" i="0">
                <a:solidFill>
                  <a:srgbClr val="363F4D"/>
                </a:solidFill>
                <a:latin typeface="Calibri"/>
              </a:rPr>
              <a:t>Very few identities need get or list on secrets. Most workloads need none at all — the kubelet mounts the Secret for them.</a:t>
            </a:r>
          </a:p>
        </p:txBody>
      </p:sp>
      <p:sp>
        <p:nvSpPr>
          <p:cNvPr id="31" name="Rounded Rectangle 30"/>
          <p:cNvSpPr/>
          <p:nvPr/>
        </p:nvSpPr>
        <p:spPr>
          <a:xfrm>
            <a:off x="4313925" y="3383280"/>
            <a:ext cx="3564117" cy="1883664"/>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313925" y="3383280"/>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Oval 32"/>
          <p:cNvSpPr/>
          <p:nvPr/>
        </p:nvSpPr>
        <p:spPr>
          <a:xfrm>
            <a:off x="4496805" y="3611880"/>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2</a:t>
            </a:r>
          </a:p>
        </p:txBody>
      </p:sp>
      <p:sp>
        <p:nvSpPr>
          <p:cNvPr id="34" name="TextBox 33"/>
          <p:cNvSpPr txBox="1"/>
          <p:nvPr/>
        </p:nvSpPr>
        <p:spPr>
          <a:xfrm>
            <a:off x="4917429" y="3648456"/>
            <a:ext cx="277773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Encryption at rest</a:t>
            </a:r>
          </a:p>
        </p:txBody>
      </p:sp>
      <p:sp>
        <p:nvSpPr>
          <p:cNvPr id="35" name="TextBox 34"/>
          <p:cNvSpPr txBox="1"/>
          <p:nvPr/>
        </p:nvSpPr>
        <p:spPr>
          <a:xfrm>
            <a:off x="4496805" y="4041648"/>
            <a:ext cx="3198357" cy="1106424"/>
          </a:xfrm>
          <a:prstGeom prst="rect">
            <a:avLst/>
          </a:prstGeom>
          <a:noFill/>
        </p:spPr>
        <p:txBody>
          <a:bodyPr wrap="square" lIns="18288" rIns="18288" tIns="0" bIns="0" anchor="t">
            <a:noAutofit/>
          </a:bodyPr>
          <a:lstStyle/>
          <a:p>
            <a:pPr algn="l">
              <a:lnSpc>
                <a:spcPct val="122000"/>
              </a:lnSpc>
              <a:spcAft>
                <a:spcPts val="0"/>
              </a:spcAft>
            </a:pPr>
            <a:r>
              <a:rPr sz="1200" b="0" i="0">
                <a:solidFill>
                  <a:srgbClr val="363F4D"/>
                </a:solidFill>
                <a:latin typeface="Calibri"/>
              </a:rPr>
              <a:t>EncryptionConfiguration on the API server, ideally backed by a KMS provider. Off by default on a self-managed cluster.</a:t>
            </a:r>
          </a:p>
        </p:txBody>
      </p:sp>
      <p:sp>
        <p:nvSpPr>
          <p:cNvPr id="36" name="Rounded Rectangle 35"/>
          <p:cNvSpPr/>
          <p:nvPr/>
        </p:nvSpPr>
        <p:spPr>
          <a:xfrm>
            <a:off x="8152363" y="3383280"/>
            <a:ext cx="3564117" cy="1883664"/>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8152363" y="3383280"/>
            <a:ext cx="3564117"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8335243" y="3611880"/>
            <a:ext cx="310896" cy="31089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3</a:t>
            </a:r>
          </a:p>
        </p:txBody>
      </p:sp>
      <p:sp>
        <p:nvSpPr>
          <p:cNvPr id="39" name="TextBox 38"/>
          <p:cNvSpPr txBox="1"/>
          <p:nvPr/>
        </p:nvSpPr>
        <p:spPr>
          <a:xfrm>
            <a:off x="8755867" y="3648456"/>
            <a:ext cx="277773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Audit the reads</a:t>
            </a:r>
          </a:p>
        </p:txBody>
      </p:sp>
      <p:sp>
        <p:nvSpPr>
          <p:cNvPr id="40" name="TextBox 39"/>
          <p:cNvSpPr txBox="1"/>
          <p:nvPr/>
        </p:nvSpPr>
        <p:spPr>
          <a:xfrm>
            <a:off x="8335243" y="4041648"/>
            <a:ext cx="3198357" cy="1106424"/>
          </a:xfrm>
          <a:prstGeom prst="rect">
            <a:avLst/>
          </a:prstGeom>
          <a:noFill/>
        </p:spPr>
        <p:txBody>
          <a:bodyPr wrap="square" lIns="18288" rIns="18288" tIns="0" bIns="0" anchor="t">
            <a:noAutofit/>
          </a:bodyPr>
          <a:lstStyle/>
          <a:p>
            <a:pPr algn="l">
              <a:lnSpc>
                <a:spcPct val="122000"/>
              </a:lnSpc>
              <a:spcAft>
                <a:spcPts val="0"/>
              </a:spcAft>
            </a:pPr>
            <a:r>
              <a:rPr sz="1200" b="0" i="0">
                <a:solidFill>
                  <a:srgbClr val="363F4D"/>
                </a:solidFill>
                <a:latin typeface="Calibri"/>
              </a:rPr>
              <a:t>A Secret read is an event worth keeping. Without audit logging you cannot answer 'who saw this credential?'</a:t>
            </a:r>
          </a:p>
        </p:txBody>
      </p:sp>
      <p:sp>
        <p:nvSpPr>
          <p:cNvPr id="41" name="Rounded Rectangle 40"/>
          <p:cNvSpPr/>
          <p:nvPr/>
        </p:nvSpPr>
        <p:spPr>
          <a:xfrm>
            <a:off x="475488" y="5431536"/>
            <a:ext cx="11240993" cy="438912"/>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75488" y="5431536"/>
            <a:ext cx="91440" cy="438912"/>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59536" y="5522976"/>
            <a:ext cx="10555193" cy="256031"/>
          </a:xfrm>
          <a:prstGeom prst="rect">
            <a:avLst/>
          </a:prstGeom>
          <a:noFill/>
        </p:spPr>
        <p:txBody>
          <a:bodyPr wrap="square" lIns="18288" rIns="18288" tIns="0" bIns="0" anchor="ctr">
            <a:noAutofit/>
          </a:bodyPr>
          <a:lstStyle/>
          <a:p>
            <a:pPr algn="l">
              <a:lnSpc>
                <a:spcPct val="120000"/>
              </a:lnSpc>
              <a:spcAft>
                <a:spcPts val="0"/>
              </a:spcAft>
            </a:pPr>
            <a:r>
              <a:rPr sz="1100" b="0" i="1">
                <a:solidFill>
                  <a:srgbClr val="1F2B3D"/>
                </a:solidFill>
                <a:latin typeface="Calibri Light"/>
              </a:rPr>
              <a:t>This is exactly why the real value should live in a proper secret manager — which is what section 04 is about.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300" b="1" i="0">
                <a:solidFill>
                  <a:srgbClr val="FFFFFF"/>
                </a:solidFill>
                <a:latin typeface="Calibri"/>
              </a:rPr>
              <a:t>Environment Variable or Mounted File — This Choice Decides Everything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mechanic the rest of the course depends on. Get this one right.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An env var is a snapshot taken at pod start. A mounted file keeps updating. Neither restarts your pod.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ounded Rectangle 12"/>
          <p:cNvSpPr/>
          <p:nvPr/>
        </p:nvSpPr>
        <p:spPr>
          <a:xfrm>
            <a:off x="475488" y="1645920"/>
            <a:ext cx="5437616" cy="3246120"/>
          </a:xfrm>
          <a:prstGeom prst="roundRect">
            <a:avLst>
              <a:gd name="adj" fmla="val 8000"/>
            </a:avLst>
          </a:prstGeom>
          <a:solidFill>
            <a:srgbClr val="FDF0F0"/>
          </a:solidFill>
          <a:ln w="15875">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86460" y="1656892"/>
            <a:ext cx="5415671" cy="45720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400" b="1" i="0">
                <a:solidFill>
                  <a:srgbClr val="FFFFFF"/>
                </a:solidFill>
                <a:latin typeface="Calibri"/>
              </a:rPr>
              <a:t>AS ENVIRONMENT VARIABLES</a:t>
            </a:r>
          </a:p>
        </p:txBody>
      </p:sp>
      <p:sp>
        <p:nvSpPr>
          <p:cNvPr id="15" name="Rounded Rectangle 14"/>
          <p:cNvSpPr/>
          <p:nvPr/>
        </p:nvSpPr>
        <p:spPr>
          <a:xfrm>
            <a:off x="694944" y="2249424"/>
            <a:ext cx="4998704" cy="11887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94944" y="2249424"/>
            <a:ext cx="64008" cy="118872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2377440"/>
            <a:ext cx="4450064"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envFrom:</a:t>
            </a:r>
          </a:p>
        </p:txBody>
      </p:sp>
      <p:sp>
        <p:nvSpPr>
          <p:cNvPr id="18" name="TextBox 17"/>
          <p:cNvSpPr txBox="1"/>
          <p:nvPr/>
        </p:nvSpPr>
        <p:spPr>
          <a:xfrm>
            <a:off x="969264" y="2574036"/>
            <a:ext cx="4450064"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secretRef:</a:t>
            </a:r>
          </a:p>
        </p:txBody>
      </p:sp>
      <p:sp>
        <p:nvSpPr>
          <p:cNvPr id="19" name="TextBox 18"/>
          <p:cNvSpPr txBox="1"/>
          <p:nvPr/>
        </p:nvSpPr>
        <p:spPr>
          <a:xfrm>
            <a:off x="969264" y="2770632"/>
            <a:ext cx="4450064"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name: billing-db</a:t>
            </a:r>
          </a:p>
        </p:txBody>
      </p:sp>
      <p:sp>
        <p:nvSpPr>
          <p:cNvPr id="20" name="TextBox 19"/>
          <p:cNvSpPr txBox="1"/>
          <p:nvPr/>
        </p:nvSpPr>
        <p:spPr>
          <a:xfrm>
            <a:off x="713232" y="3552444"/>
            <a:ext cx="256032" cy="274320"/>
          </a:xfrm>
          <a:prstGeom prst="rect">
            <a:avLst/>
          </a:prstGeom>
          <a:noFill/>
        </p:spPr>
        <p:txBody>
          <a:bodyPr wrap="square" lIns="18288" rIns="18288" tIns="0" bIns="0" anchor="t">
            <a:noAutofit/>
          </a:bodyPr>
          <a:lstStyle/>
          <a:p>
            <a:pPr algn="l">
              <a:spcAft>
                <a:spcPts val="0"/>
              </a:spcAft>
            </a:pPr>
            <a:r>
              <a:rPr sz="1200" b="1" i="0">
                <a:solidFill>
                  <a:srgbClr val="D93B3B"/>
                </a:solidFill>
                <a:latin typeface="Calibri"/>
              </a:rPr>
              <a:t>▸</a:t>
            </a:r>
          </a:p>
        </p:txBody>
      </p:sp>
      <p:sp>
        <p:nvSpPr>
          <p:cNvPr id="21" name="TextBox 20"/>
          <p:cNvSpPr txBox="1"/>
          <p:nvPr/>
        </p:nvSpPr>
        <p:spPr>
          <a:xfrm>
            <a:off x="1024128" y="3566160"/>
            <a:ext cx="4651232" cy="274320"/>
          </a:xfrm>
          <a:prstGeom prst="rect">
            <a:avLst/>
          </a:prstGeom>
          <a:noFill/>
        </p:spPr>
        <p:txBody>
          <a:bodyPr wrap="square" lIns="18288" rIns="18288" tIns="0" bIns="0" anchor="t">
            <a:noAutofit/>
          </a:bodyPr>
          <a:lstStyle/>
          <a:p>
            <a:pPr algn="l">
              <a:lnSpc>
                <a:spcPct val="120000"/>
              </a:lnSpc>
              <a:spcAft>
                <a:spcPts val="0"/>
              </a:spcAft>
            </a:pPr>
            <a:r>
              <a:rPr sz="1000" b="1" i="0">
                <a:solidFill>
                  <a:srgbClr val="1F2B3D"/>
                </a:solidFill>
                <a:latin typeface="Calibri"/>
              </a:rPr>
              <a:t>Read once.  </a:t>
            </a:r>
            <a:r>
              <a:rPr sz="1000" b="0" i="0">
                <a:solidFill>
                  <a:srgbClr val="363F4D"/>
                </a:solidFill>
                <a:latin typeface="Calibri"/>
              </a:rPr>
              <a:t>The value is copied into the process at container start.</a:t>
            </a:r>
          </a:p>
        </p:txBody>
      </p:sp>
      <p:sp>
        <p:nvSpPr>
          <p:cNvPr id="22" name="TextBox 21"/>
          <p:cNvSpPr txBox="1"/>
          <p:nvPr/>
        </p:nvSpPr>
        <p:spPr>
          <a:xfrm>
            <a:off x="713232" y="3872484"/>
            <a:ext cx="256032" cy="274320"/>
          </a:xfrm>
          <a:prstGeom prst="rect">
            <a:avLst/>
          </a:prstGeom>
          <a:noFill/>
        </p:spPr>
        <p:txBody>
          <a:bodyPr wrap="square" lIns="18288" rIns="18288" tIns="0" bIns="0" anchor="t">
            <a:noAutofit/>
          </a:bodyPr>
          <a:lstStyle/>
          <a:p>
            <a:pPr algn="l">
              <a:spcAft>
                <a:spcPts val="0"/>
              </a:spcAft>
            </a:pPr>
            <a:r>
              <a:rPr sz="1200" b="1" i="0">
                <a:solidFill>
                  <a:srgbClr val="D93B3B"/>
                </a:solidFill>
                <a:latin typeface="Calibri"/>
              </a:rPr>
              <a:t>▸</a:t>
            </a:r>
          </a:p>
        </p:txBody>
      </p:sp>
      <p:sp>
        <p:nvSpPr>
          <p:cNvPr id="23" name="TextBox 22"/>
          <p:cNvSpPr txBox="1"/>
          <p:nvPr/>
        </p:nvSpPr>
        <p:spPr>
          <a:xfrm>
            <a:off x="1024128" y="3886200"/>
            <a:ext cx="4651232" cy="317500"/>
          </a:xfrm>
          <a:prstGeom prst="rect">
            <a:avLst/>
          </a:prstGeom>
          <a:noFill/>
        </p:spPr>
        <p:txBody>
          <a:bodyPr wrap="square" lIns="18288" rIns="18288" tIns="0" bIns="0" anchor="t">
            <a:noAutofit/>
          </a:bodyPr>
          <a:lstStyle/>
          <a:p>
            <a:pPr algn="l">
              <a:lnSpc>
                <a:spcPct val="120000"/>
              </a:lnSpc>
              <a:spcAft>
                <a:spcPts val="0"/>
              </a:spcAft>
            </a:pPr>
            <a:r>
              <a:rPr sz="1000" b="1" i="0">
                <a:solidFill>
                  <a:srgbClr val="1F2B3D"/>
                </a:solidFill>
                <a:latin typeface="Calibri"/>
              </a:rPr>
              <a:t>Never changes.  </a:t>
            </a:r>
            <a:r>
              <a:rPr sz="1000" b="0" i="0">
                <a:solidFill>
                  <a:srgbClr val="363F4D"/>
                </a:solidFill>
                <a:latin typeface="Calibri"/>
              </a:rPr>
              <a:t>Update the Secret and the running process keeps the old value forever.</a:t>
            </a:r>
          </a:p>
        </p:txBody>
      </p:sp>
      <p:sp>
        <p:nvSpPr>
          <p:cNvPr id="24" name="TextBox 23"/>
          <p:cNvSpPr txBox="1"/>
          <p:nvPr/>
        </p:nvSpPr>
        <p:spPr>
          <a:xfrm>
            <a:off x="713232" y="4347464"/>
            <a:ext cx="256032" cy="274320"/>
          </a:xfrm>
          <a:prstGeom prst="rect">
            <a:avLst/>
          </a:prstGeom>
          <a:noFill/>
        </p:spPr>
        <p:txBody>
          <a:bodyPr wrap="square" lIns="18288" rIns="18288" tIns="0" bIns="0" anchor="t">
            <a:noAutofit/>
          </a:bodyPr>
          <a:lstStyle/>
          <a:p>
            <a:pPr algn="l">
              <a:spcAft>
                <a:spcPts val="0"/>
              </a:spcAft>
            </a:pPr>
            <a:r>
              <a:rPr sz="1200" b="1" i="0">
                <a:solidFill>
                  <a:srgbClr val="D93B3B"/>
                </a:solidFill>
                <a:latin typeface="Calibri"/>
              </a:rPr>
              <a:t>▸</a:t>
            </a:r>
          </a:p>
        </p:txBody>
      </p:sp>
      <p:sp>
        <p:nvSpPr>
          <p:cNvPr id="25" name="TextBox 24"/>
          <p:cNvSpPr txBox="1"/>
          <p:nvPr/>
        </p:nvSpPr>
        <p:spPr>
          <a:xfrm>
            <a:off x="1024128" y="4361179"/>
            <a:ext cx="4651232" cy="274320"/>
          </a:xfrm>
          <a:prstGeom prst="rect">
            <a:avLst/>
          </a:prstGeom>
          <a:noFill/>
        </p:spPr>
        <p:txBody>
          <a:bodyPr wrap="square" lIns="18288" rIns="18288" tIns="0" bIns="0" anchor="t">
            <a:noAutofit/>
          </a:bodyPr>
          <a:lstStyle/>
          <a:p>
            <a:pPr algn="l">
              <a:lnSpc>
                <a:spcPct val="120000"/>
              </a:lnSpc>
              <a:spcAft>
                <a:spcPts val="0"/>
              </a:spcAft>
            </a:pPr>
            <a:r>
              <a:rPr sz="1000" b="1" i="0">
                <a:solidFill>
                  <a:srgbClr val="1F2B3D"/>
                </a:solidFill>
                <a:latin typeface="Calibri"/>
              </a:rPr>
              <a:t>Only a restart helps.  </a:t>
            </a:r>
            <a:r>
              <a:rPr sz="1000" b="0" i="0">
                <a:solidFill>
                  <a:srgbClr val="363F4D"/>
                </a:solidFill>
                <a:latin typeface="Calibri"/>
              </a:rPr>
              <a:t>Nothing short of a new pod picks up the change.</a:t>
            </a:r>
          </a:p>
        </p:txBody>
      </p:sp>
      <p:sp>
        <p:nvSpPr>
          <p:cNvPr id="26" name="Rounded Rectangle 25"/>
          <p:cNvSpPr/>
          <p:nvPr/>
        </p:nvSpPr>
        <p:spPr>
          <a:xfrm>
            <a:off x="6278864" y="1645920"/>
            <a:ext cx="5437616" cy="3246120"/>
          </a:xfrm>
          <a:prstGeom prst="roundRect">
            <a:avLst>
              <a:gd name="adj" fmla="val 8000"/>
            </a:avLst>
          </a:prstGeom>
          <a:solidFill>
            <a:srgbClr val="EBF8F1"/>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289837" y="1656892"/>
            <a:ext cx="5415671" cy="45720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400" b="1" i="0">
                <a:solidFill>
                  <a:srgbClr val="FFFFFF"/>
                </a:solidFill>
                <a:latin typeface="Calibri"/>
              </a:rPr>
              <a:t>AS A MOUNTED VOLUME</a:t>
            </a:r>
          </a:p>
        </p:txBody>
      </p:sp>
      <p:sp>
        <p:nvSpPr>
          <p:cNvPr id="28" name="Rounded Rectangle 27"/>
          <p:cNvSpPr/>
          <p:nvPr/>
        </p:nvSpPr>
        <p:spPr>
          <a:xfrm>
            <a:off x="6498320" y="2249424"/>
            <a:ext cx="4998704" cy="11887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498320" y="2249424"/>
            <a:ext cx="64008" cy="118872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772640" y="2377440"/>
            <a:ext cx="4450064"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volumes:</a:t>
            </a:r>
          </a:p>
        </p:txBody>
      </p:sp>
      <p:sp>
        <p:nvSpPr>
          <p:cNvPr id="31" name="TextBox 30"/>
          <p:cNvSpPr txBox="1"/>
          <p:nvPr/>
        </p:nvSpPr>
        <p:spPr>
          <a:xfrm>
            <a:off x="6772640" y="2574036"/>
            <a:ext cx="4450064"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name: db</a:t>
            </a:r>
          </a:p>
        </p:txBody>
      </p:sp>
      <p:sp>
        <p:nvSpPr>
          <p:cNvPr id="32" name="TextBox 31"/>
          <p:cNvSpPr txBox="1"/>
          <p:nvPr/>
        </p:nvSpPr>
        <p:spPr>
          <a:xfrm>
            <a:off x="6772640" y="2770632"/>
            <a:ext cx="4450064"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secret: { secretName: billing-db }</a:t>
            </a:r>
          </a:p>
        </p:txBody>
      </p:sp>
      <p:sp>
        <p:nvSpPr>
          <p:cNvPr id="33" name="TextBox 32"/>
          <p:cNvSpPr txBox="1"/>
          <p:nvPr/>
        </p:nvSpPr>
        <p:spPr>
          <a:xfrm>
            <a:off x="6516608" y="3552444"/>
            <a:ext cx="256032" cy="274320"/>
          </a:xfrm>
          <a:prstGeom prst="rect">
            <a:avLst/>
          </a:prstGeom>
          <a:noFill/>
        </p:spPr>
        <p:txBody>
          <a:bodyPr wrap="square" lIns="18288" rIns="18288" tIns="0" bIns="0" anchor="t">
            <a:noAutofit/>
          </a:bodyPr>
          <a:lstStyle/>
          <a:p>
            <a:pPr algn="l">
              <a:spcAft>
                <a:spcPts val="0"/>
              </a:spcAft>
            </a:pPr>
            <a:r>
              <a:rPr sz="1100" b="1" i="0">
                <a:solidFill>
                  <a:srgbClr val="2EB56B"/>
                </a:solidFill>
                <a:latin typeface="Calibri"/>
              </a:rPr>
              <a:t>▸</a:t>
            </a:r>
          </a:p>
        </p:txBody>
      </p:sp>
      <p:sp>
        <p:nvSpPr>
          <p:cNvPr id="34" name="TextBox 33"/>
          <p:cNvSpPr txBox="1"/>
          <p:nvPr/>
        </p:nvSpPr>
        <p:spPr>
          <a:xfrm>
            <a:off x="6827504" y="3566160"/>
            <a:ext cx="4651232" cy="274320"/>
          </a:xfrm>
          <a:prstGeom prst="rect">
            <a:avLst/>
          </a:prstGeom>
          <a:noFill/>
        </p:spPr>
        <p:txBody>
          <a:bodyPr wrap="square" lIns="18288" rIns="18288" tIns="0" bIns="0" anchor="t">
            <a:noAutofit/>
          </a:bodyPr>
          <a:lstStyle/>
          <a:p>
            <a:pPr algn="l">
              <a:lnSpc>
                <a:spcPct val="120000"/>
              </a:lnSpc>
              <a:spcAft>
                <a:spcPts val="0"/>
              </a:spcAft>
            </a:pPr>
            <a:r>
              <a:rPr sz="900" b="1" i="0">
                <a:solidFill>
                  <a:srgbClr val="1F2B3D"/>
                </a:solidFill>
                <a:latin typeface="Calibri"/>
              </a:rPr>
              <a:t>The file is refreshed.  </a:t>
            </a:r>
            <a:r>
              <a:rPr sz="900" b="0" i="0">
                <a:solidFill>
                  <a:srgbClr val="363F4D"/>
                </a:solidFill>
                <a:latin typeface="Calibri"/>
              </a:rPr>
              <a:t>The kubelet updates the mounted file after the Secret changes.</a:t>
            </a:r>
          </a:p>
        </p:txBody>
      </p:sp>
      <p:sp>
        <p:nvSpPr>
          <p:cNvPr id="35" name="TextBox 34"/>
          <p:cNvSpPr txBox="1"/>
          <p:nvPr/>
        </p:nvSpPr>
        <p:spPr>
          <a:xfrm>
            <a:off x="6516608" y="3826764"/>
            <a:ext cx="256032" cy="274320"/>
          </a:xfrm>
          <a:prstGeom prst="rect">
            <a:avLst/>
          </a:prstGeom>
          <a:noFill/>
        </p:spPr>
        <p:txBody>
          <a:bodyPr wrap="square" lIns="18288" rIns="18288" tIns="0" bIns="0" anchor="t">
            <a:noAutofit/>
          </a:bodyPr>
          <a:lstStyle/>
          <a:p>
            <a:pPr algn="l">
              <a:spcAft>
                <a:spcPts val="0"/>
              </a:spcAft>
            </a:pPr>
            <a:r>
              <a:rPr sz="1100" b="1" i="0">
                <a:solidFill>
                  <a:srgbClr val="2EB56B"/>
                </a:solidFill>
                <a:latin typeface="Calibri"/>
              </a:rPr>
              <a:t>▸</a:t>
            </a:r>
          </a:p>
        </p:txBody>
      </p:sp>
      <p:sp>
        <p:nvSpPr>
          <p:cNvPr id="36" name="TextBox 35"/>
          <p:cNvSpPr txBox="1"/>
          <p:nvPr/>
        </p:nvSpPr>
        <p:spPr>
          <a:xfrm>
            <a:off x="6827504" y="3840480"/>
            <a:ext cx="4651232" cy="285750"/>
          </a:xfrm>
          <a:prstGeom prst="rect">
            <a:avLst/>
          </a:prstGeom>
          <a:noFill/>
        </p:spPr>
        <p:txBody>
          <a:bodyPr wrap="square" lIns="18288" rIns="18288" tIns="0" bIns="0" anchor="t">
            <a:noAutofit/>
          </a:bodyPr>
          <a:lstStyle/>
          <a:p>
            <a:pPr algn="l">
              <a:lnSpc>
                <a:spcPct val="120000"/>
              </a:lnSpc>
              <a:spcAft>
                <a:spcPts val="0"/>
              </a:spcAft>
            </a:pPr>
            <a:r>
              <a:rPr sz="900" b="1" i="0">
                <a:solidFill>
                  <a:srgbClr val="1F2B3D"/>
                </a:solidFill>
                <a:latin typeface="Calibri"/>
              </a:rPr>
              <a:t>Not instant.  </a:t>
            </a:r>
            <a:r>
              <a:rPr sz="900" b="0" i="0">
                <a:solidFill>
                  <a:srgbClr val="363F4D"/>
                </a:solidFill>
                <a:latin typeface="Calibri"/>
              </a:rPr>
              <a:t>It follows the kubelet sync period plus its cache TTL — around a minute, not a second.</a:t>
            </a:r>
          </a:p>
        </p:txBody>
      </p:sp>
      <p:sp>
        <p:nvSpPr>
          <p:cNvPr id="37" name="TextBox 36"/>
          <p:cNvSpPr txBox="1"/>
          <p:nvPr/>
        </p:nvSpPr>
        <p:spPr>
          <a:xfrm>
            <a:off x="6516608" y="4240530"/>
            <a:ext cx="256032" cy="274320"/>
          </a:xfrm>
          <a:prstGeom prst="rect">
            <a:avLst/>
          </a:prstGeom>
          <a:noFill/>
        </p:spPr>
        <p:txBody>
          <a:bodyPr wrap="square" lIns="18288" rIns="18288" tIns="0" bIns="0" anchor="t">
            <a:noAutofit/>
          </a:bodyPr>
          <a:lstStyle/>
          <a:p>
            <a:pPr algn="l">
              <a:spcAft>
                <a:spcPts val="0"/>
              </a:spcAft>
            </a:pPr>
            <a:r>
              <a:rPr sz="1100" b="1" i="0">
                <a:solidFill>
                  <a:srgbClr val="2EB56B"/>
                </a:solidFill>
                <a:latin typeface="Calibri"/>
              </a:rPr>
              <a:t>▸</a:t>
            </a:r>
          </a:p>
        </p:txBody>
      </p:sp>
      <p:sp>
        <p:nvSpPr>
          <p:cNvPr id="38" name="TextBox 37"/>
          <p:cNvSpPr txBox="1"/>
          <p:nvPr/>
        </p:nvSpPr>
        <p:spPr>
          <a:xfrm>
            <a:off x="6827504" y="4254246"/>
            <a:ext cx="4651232" cy="285750"/>
          </a:xfrm>
          <a:prstGeom prst="rect">
            <a:avLst/>
          </a:prstGeom>
          <a:noFill/>
        </p:spPr>
        <p:txBody>
          <a:bodyPr wrap="square" lIns="18288" rIns="18288" tIns="0" bIns="0" anchor="t">
            <a:noAutofit/>
          </a:bodyPr>
          <a:lstStyle/>
          <a:p>
            <a:pPr algn="l">
              <a:lnSpc>
                <a:spcPct val="120000"/>
              </a:lnSpc>
              <a:spcAft>
                <a:spcPts val="0"/>
              </a:spcAft>
            </a:pPr>
            <a:r>
              <a:rPr sz="900" b="1" i="0">
                <a:solidFill>
                  <a:srgbClr val="1F2B3D"/>
                </a:solidFill>
                <a:latin typeface="Calibri"/>
              </a:rPr>
              <a:t>The app still has to re-read it.  </a:t>
            </a:r>
            <a:r>
              <a:rPr sz="900" b="0" i="0">
                <a:solidFill>
                  <a:srgbClr val="363F4D"/>
                </a:solidFill>
                <a:latin typeface="Calibri"/>
              </a:rPr>
              <a:t>Most applications read config once at startup and never look again.</a:t>
            </a:r>
          </a:p>
        </p:txBody>
      </p:sp>
      <p:sp>
        <p:nvSpPr>
          <p:cNvPr id="39" name="Rounded Rectangle 38"/>
          <p:cNvSpPr/>
          <p:nvPr/>
        </p:nvSpPr>
        <p:spPr>
          <a:xfrm>
            <a:off x="475488" y="5102352"/>
            <a:ext cx="11240993" cy="512064"/>
          </a:xfrm>
          <a:prstGeom prst="roundRect">
            <a:avLst>
              <a:gd name="adj" fmla="val 7000"/>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75488" y="5102352"/>
            <a:ext cx="9144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59536" y="5193792"/>
            <a:ext cx="10555193" cy="329184"/>
          </a:xfrm>
          <a:prstGeom prst="rect">
            <a:avLst/>
          </a:prstGeom>
          <a:noFill/>
        </p:spPr>
        <p:txBody>
          <a:bodyPr wrap="square" lIns="18288" rIns="18288" tIns="0" bIns="0" anchor="ctr">
            <a:noAutofit/>
          </a:bodyPr>
          <a:lstStyle/>
          <a:p>
            <a:pPr algn="l">
              <a:lnSpc>
                <a:spcPct val="120000"/>
              </a:lnSpc>
              <a:spcAft>
                <a:spcPts val="0"/>
              </a:spcAft>
            </a:pPr>
            <a:r>
              <a:rPr sz="1500" b="0" i="1">
                <a:solidFill>
                  <a:srgbClr val="1F2B3D"/>
                </a:solidFill>
                <a:latin typeface="Calibri Light"/>
              </a:rPr>
              <a:t>Either way the running process keeps serving the old credential. That gap is the reason Reloader exists.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subPath Trap</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 mounted Secret updates itself. A subPath mount does not — and the difference is invisible until it bites.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subPath breaks live updates. If you need the file to refresh, mount the whole volume.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ounded Rectangle 12"/>
          <p:cNvSpPr/>
          <p:nvPr/>
        </p:nvSpPr>
        <p:spPr>
          <a:xfrm>
            <a:off x="475488" y="1645920"/>
            <a:ext cx="5437616" cy="1874519"/>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1874519"/>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88976"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updates — good</a:t>
            </a:r>
          </a:p>
        </p:txBody>
      </p:sp>
      <p:sp>
        <p:nvSpPr>
          <p:cNvPr id="16" name="TextBox 15"/>
          <p:cNvSpPr txBox="1"/>
          <p:nvPr/>
        </p:nvSpPr>
        <p:spPr>
          <a:xfrm>
            <a:off x="749808" y="2066543"/>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volumeMounts:</a:t>
            </a:r>
          </a:p>
        </p:txBody>
      </p:sp>
      <p:sp>
        <p:nvSpPr>
          <p:cNvPr id="17" name="TextBox 16"/>
          <p:cNvSpPr txBox="1"/>
          <p:nvPr/>
        </p:nvSpPr>
        <p:spPr>
          <a:xfrm>
            <a:off x="749808" y="2263139"/>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name: cfg</a:t>
            </a:r>
          </a:p>
        </p:txBody>
      </p:sp>
      <p:sp>
        <p:nvSpPr>
          <p:cNvPr id="18" name="TextBox 17"/>
          <p:cNvSpPr txBox="1"/>
          <p:nvPr/>
        </p:nvSpPr>
        <p:spPr>
          <a:xfrm>
            <a:off x="749808" y="2459735"/>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mountPath: /etc/app</a:t>
            </a:r>
          </a:p>
        </p:txBody>
      </p:sp>
      <p:sp>
        <p:nvSpPr>
          <p:cNvPr id="19" name="TextBox 18"/>
          <p:cNvSpPr txBox="1"/>
          <p:nvPr/>
        </p:nvSpPr>
        <p:spPr>
          <a:xfrm>
            <a:off x="749808" y="2656331"/>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r>
          </a:p>
        </p:txBody>
      </p:sp>
      <p:sp>
        <p:nvSpPr>
          <p:cNvPr id="20" name="TextBox 19"/>
          <p:cNvSpPr txBox="1"/>
          <p:nvPr/>
        </p:nvSpPr>
        <p:spPr>
          <a:xfrm>
            <a:off x="749808" y="2852927"/>
            <a:ext cx="4888976" cy="233172"/>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whole volume mounted</a:t>
            </a:r>
          </a:p>
        </p:txBody>
      </p:sp>
      <p:sp>
        <p:nvSpPr>
          <p:cNvPr id="21" name="TextBox 20"/>
          <p:cNvSpPr txBox="1"/>
          <p:nvPr/>
        </p:nvSpPr>
        <p:spPr>
          <a:xfrm>
            <a:off x="749808" y="3049523"/>
            <a:ext cx="4888976" cy="233172"/>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kubelet keeps the files current</a:t>
            </a:r>
          </a:p>
        </p:txBody>
      </p:sp>
      <p:sp>
        <p:nvSpPr>
          <p:cNvPr id="22" name="Rounded Rectangle 21"/>
          <p:cNvSpPr/>
          <p:nvPr/>
        </p:nvSpPr>
        <p:spPr>
          <a:xfrm>
            <a:off x="6278864" y="1645920"/>
            <a:ext cx="5437616" cy="1874519"/>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78864" y="1645920"/>
            <a:ext cx="64008" cy="1874519"/>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53184" y="1773936"/>
            <a:ext cx="4888976" cy="237744"/>
          </a:xfrm>
          <a:prstGeom prst="rect">
            <a:avLst/>
          </a:prstGeom>
          <a:noFill/>
        </p:spPr>
        <p:txBody>
          <a:bodyPr wrap="square" lIns="18288" rIns="18288" tIns="0" bIns="0" anchor="t">
            <a:noAutofit/>
          </a:bodyPr>
          <a:lstStyle/>
          <a:p>
            <a:pPr algn="l">
              <a:spcAft>
                <a:spcPts val="0"/>
              </a:spcAft>
            </a:pPr>
            <a:r>
              <a:rPr sz="1000" b="1" i="0">
                <a:solidFill>
                  <a:srgbClr val="D93B3B"/>
                </a:solidFill>
                <a:latin typeface="Consolas"/>
              </a:rPr>
              <a:t>never updates — the trap</a:t>
            </a:r>
          </a:p>
        </p:txBody>
      </p:sp>
      <p:sp>
        <p:nvSpPr>
          <p:cNvPr id="25" name="TextBox 24"/>
          <p:cNvSpPr txBox="1"/>
          <p:nvPr/>
        </p:nvSpPr>
        <p:spPr>
          <a:xfrm>
            <a:off x="6553184" y="2066543"/>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volumeMounts:</a:t>
            </a:r>
          </a:p>
        </p:txBody>
      </p:sp>
      <p:sp>
        <p:nvSpPr>
          <p:cNvPr id="26" name="TextBox 25"/>
          <p:cNvSpPr txBox="1"/>
          <p:nvPr/>
        </p:nvSpPr>
        <p:spPr>
          <a:xfrm>
            <a:off x="6553184" y="2263139"/>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name: cfg</a:t>
            </a:r>
          </a:p>
        </p:txBody>
      </p:sp>
      <p:sp>
        <p:nvSpPr>
          <p:cNvPr id="27" name="TextBox 26"/>
          <p:cNvSpPr txBox="1"/>
          <p:nvPr/>
        </p:nvSpPr>
        <p:spPr>
          <a:xfrm>
            <a:off x="6553184" y="2459735"/>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mountPath: /etc/app/app.conf</a:t>
            </a:r>
          </a:p>
        </p:txBody>
      </p:sp>
      <p:sp>
        <p:nvSpPr>
          <p:cNvPr id="28" name="TextBox 27"/>
          <p:cNvSpPr txBox="1"/>
          <p:nvPr/>
        </p:nvSpPr>
        <p:spPr>
          <a:xfrm>
            <a:off x="6553184" y="2656331"/>
            <a:ext cx="4888976" cy="233172"/>
          </a:xfrm>
          <a:prstGeom prst="rect">
            <a:avLst/>
          </a:prstGeom>
          <a:noFill/>
        </p:spPr>
        <p:txBody>
          <a:bodyPr wrap="square" lIns="18288" rIns="18288" tIns="0" bIns="0" anchor="t">
            <a:noAutofit/>
          </a:bodyPr>
          <a:lstStyle/>
          <a:p>
            <a:pPr algn="l">
              <a:spcAft>
                <a:spcPts val="0"/>
              </a:spcAft>
            </a:pPr>
            <a:r>
              <a:rPr sz="1100" b="0" i="0">
                <a:solidFill>
                  <a:srgbClr val="D93B3B"/>
                </a:solidFill>
                <a:latin typeface="Consolas"/>
              </a:rPr>
              <a:t>    subPath: app.conf</a:t>
            </a:r>
          </a:p>
        </p:txBody>
      </p:sp>
      <p:sp>
        <p:nvSpPr>
          <p:cNvPr id="29" name="TextBox 28"/>
          <p:cNvSpPr txBox="1"/>
          <p:nvPr/>
        </p:nvSpPr>
        <p:spPr>
          <a:xfrm>
            <a:off x="6553184" y="2852927"/>
            <a:ext cx="4888976"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r>
          </a:p>
        </p:txBody>
      </p:sp>
      <p:sp>
        <p:nvSpPr>
          <p:cNvPr id="30" name="TextBox 29"/>
          <p:cNvSpPr txBox="1"/>
          <p:nvPr/>
        </p:nvSpPr>
        <p:spPr>
          <a:xfrm>
            <a:off x="6553184" y="3049523"/>
            <a:ext cx="4888976" cy="233172"/>
          </a:xfrm>
          <a:prstGeom prst="rect">
            <a:avLst/>
          </a:prstGeom>
          <a:noFill/>
        </p:spPr>
        <p:txBody>
          <a:bodyPr wrap="square" lIns="18288" rIns="18288" tIns="0" bIns="0" anchor="t">
            <a:noAutofit/>
          </a:bodyPr>
          <a:lstStyle/>
          <a:p>
            <a:pPr algn="l">
              <a:spcAft>
                <a:spcPts val="0"/>
              </a:spcAft>
            </a:pPr>
            <a:r>
              <a:rPr sz="1100" b="0" i="0">
                <a:solidFill>
                  <a:srgbClr val="D93B3B"/>
                </a:solidFill>
                <a:latin typeface="Consolas"/>
              </a:rPr>
              <a:t># frozen at pod start, forever</a:t>
            </a:r>
          </a:p>
        </p:txBody>
      </p:sp>
      <p:sp>
        <p:nvSpPr>
          <p:cNvPr id="31" name="Rounded Rectangle 30"/>
          <p:cNvSpPr/>
          <p:nvPr/>
        </p:nvSpPr>
        <p:spPr>
          <a:xfrm>
            <a:off x="475488" y="3767328"/>
            <a:ext cx="11240993" cy="146304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75488" y="3767328"/>
            <a:ext cx="77724" cy="14630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31520" y="3913632"/>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it happens</a:t>
            </a:r>
          </a:p>
        </p:txBody>
      </p:sp>
      <p:sp>
        <p:nvSpPr>
          <p:cNvPr id="34" name="TextBox 33"/>
          <p:cNvSpPr txBox="1"/>
          <p:nvPr/>
        </p:nvSpPr>
        <p:spPr>
          <a:xfrm>
            <a:off x="731520" y="4315968"/>
            <a:ext cx="10783793" cy="786384"/>
          </a:xfrm>
          <a:prstGeom prst="rect">
            <a:avLst/>
          </a:prstGeom>
          <a:noFill/>
        </p:spPr>
        <p:txBody>
          <a:bodyPr wrap="square" lIns="18288" rIns="18288" tIns="0" bIns="0" anchor="t">
            <a:noAutofit/>
          </a:bodyPr>
          <a:lstStyle/>
          <a:p>
            <a:pPr algn="l">
              <a:lnSpc>
                <a:spcPct val="124000"/>
              </a:lnSpc>
              <a:spcAft>
                <a:spcPts val="0"/>
              </a:spcAft>
            </a:pPr>
            <a:r>
              <a:rPr sz="950" b="0" i="0">
                <a:solidFill>
                  <a:srgbClr val="363F4D"/>
                </a:solidFill>
                <a:latin typeface="Calibri"/>
              </a:rPr>
              <a:t>A normal Secret or ConfigMap volume is a symlink farm. The kubelet swaps the symlink target atomically when the object changes, so the path your app opens always resolves to current data.</a:t>
            </a:r>
          </a:p>
          <a:p>
            <a:pPr algn="l">
              <a:lnSpc>
                <a:spcPct val="124000"/>
              </a:lnSpc>
              <a:spcAft>
                <a:spcPts val="0"/>
              </a:spcAft>
            </a:pPr>
            <a:r>
              <a:rPr sz="950" b="0" i="0">
                <a:solidFill>
                  <a:srgbClr val="363F4D"/>
                </a:solidFill>
                <a:latin typeface="Calibri"/>
              </a:rPr>
              <a:t/>
            </a:r>
          </a:p>
          <a:p>
            <a:pPr algn="l">
              <a:lnSpc>
                <a:spcPct val="124000"/>
              </a:lnSpc>
              <a:spcAft>
                <a:spcPts val="0"/>
              </a:spcAft>
            </a:pPr>
            <a:r>
              <a:rPr sz="950" b="0" i="0">
                <a:solidFill>
                  <a:srgbClr val="363F4D"/>
                </a:solidFill>
                <a:latin typeface="Calibri"/>
              </a:rPr>
              <a:t>subPath copies a single file into the container's filesystem at start-up instead. There is no symlink left to swap, so nothing can update it. People reach for subPath to avoid hiding the other files in a directory — and silently lose live updates in exchange.</a:t>
            </a:r>
          </a:p>
        </p:txBody>
      </p:sp>
      <p:sp>
        <p:nvSpPr>
          <p:cNvPr id="35" name="Rounded Rectangle 34"/>
          <p:cNvSpPr/>
          <p:nvPr/>
        </p:nvSpPr>
        <p:spPr>
          <a:xfrm>
            <a:off x="475488" y="5358384"/>
            <a:ext cx="11240993" cy="420624"/>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75488" y="5358384"/>
            <a:ext cx="91440" cy="42062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59536" y="5449824"/>
            <a:ext cx="10555193" cy="237744"/>
          </a:xfrm>
          <a:prstGeom prst="rect">
            <a:avLst/>
          </a:prstGeom>
          <a:noFill/>
        </p:spPr>
        <p:txBody>
          <a:bodyPr wrap="square" lIns="18288" rIns="18288" tIns="0" bIns="0" anchor="ctr">
            <a:noAutofit/>
          </a:bodyPr>
          <a:lstStyle/>
          <a:p>
            <a:pPr algn="l">
              <a:lnSpc>
                <a:spcPct val="120000"/>
              </a:lnSpc>
              <a:spcAft>
                <a:spcPts val="0"/>
              </a:spcAft>
            </a:pPr>
            <a:r>
              <a:rPr sz="1000" b="0" i="1">
                <a:solidFill>
                  <a:srgbClr val="1F2B3D"/>
                </a:solidFill>
                <a:latin typeface="Calibri Light"/>
              </a:rPr>
              <a:t>If you must use subPath, you have accepted that only a pod restart applies a change. Plan for Reloader.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Lab 1 — Prove It To Yourself</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Fifteen minutes. Everything after this assumes you have watched this happen.</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You cannot design around a behaviour you have not seen with your own eyes.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13" name="Rounded Rectangle 12"/>
          <p:cNvSpPr/>
          <p:nvPr/>
        </p:nvSpPr>
        <p:spPr>
          <a:xfrm>
            <a:off x="475488" y="1645920"/>
            <a:ext cx="6812280" cy="37033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7033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6263640" cy="237744"/>
          </a:xfrm>
          <a:prstGeom prst="rect">
            <a:avLst/>
          </a:prstGeom>
          <a:noFill/>
        </p:spPr>
        <p:txBody>
          <a:bodyPr wrap="square" lIns="18288" rIns="18288" tIns="0" bIns="0" anchor="t">
            <a:noAutofit/>
          </a:bodyPr>
          <a:lstStyle/>
          <a:p>
            <a:pPr algn="l">
              <a:spcAft>
                <a:spcPts val="0"/>
              </a:spcAft>
            </a:pPr>
            <a:r>
              <a:rPr sz="1000" b="1" i="0">
                <a:solidFill>
                  <a:srgbClr val="2BA8D8"/>
                </a:solidFill>
                <a:latin typeface="Consolas"/>
              </a:rPr>
              <a:t>lab-01.sh</a:t>
            </a:r>
          </a:p>
        </p:txBody>
      </p:sp>
      <p:sp>
        <p:nvSpPr>
          <p:cNvPr id="16" name="TextBox 15"/>
          <p:cNvSpPr txBox="1"/>
          <p:nvPr/>
        </p:nvSpPr>
        <p:spPr>
          <a:xfrm>
            <a:off x="749808" y="2066543"/>
            <a:ext cx="6263640" cy="196138"/>
          </a:xfrm>
          <a:prstGeom prst="rect">
            <a:avLst/>
          </a:prstGeom>
          <a:noFill/>
        </p:spPr>
        <p:txBody>
          <a:bodyPr wrap="square" lIns="18288" rIns="18288" tIns="0" bIns="0" anchor="t">
            <a:noAutofit/>
          </a:bodyPr>
          <a:lstStyle/>
          <a:p>
            <a:pPr algn="l">
              <a:spcAft>
                <a:spcPts val="0"/>
              </a:spcAft>
            </a:pPr>
            <a:r>
              <a:rPr sz="966" b="0" i="0">
                <a:solidFill>
                  <a:srgbClr val="2BA8D8"/>
                </a:solidFill>
                <a:latin typeface="Consolas"/>
              </a:rPr>
              <a:t># 1. a secret, consumed both ways</a:t>
            </a:r>
          </a:p>
        </p:txBody>
      </p:sp>
      <p:sp>
        <p:nvSpPr>
          <p:cNvPr id="17" name="TextBox 16"/>
          <p:cNvSpPr txBox="1"/>
          <p:nvPr/>
        </p:nvSpPr>
        <p:spPr>
          <a:xfrm>
            <a:off x="749808" y="2226106"/>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create ns lab</a:t>
            </a:r>
          </a:p>
        </p:txBody>
      </p:sp>
      <p:sp>
        <p:nvSpPr>
          <p:cNvPr id="18" name="TextBox 17"/>
          <p:cNvSpPr txBox="1"/>
          <p:nvPr/>
        </p:nvSpPr>
        <p:spPr>
          <a:xfrm>
            <a:off x="749808" y="2385669"/>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create secret generic demo \</a:t>
            </a:r>
          </a:p>
        </p:txBody>
      </p:sp>
      <p:sp>
        <p:nvSpPr>
          <p:cNvPr id="19" name="TextBox 18"/>
          <p:cNvSpPr txBox="1"/>
          <p:nvPr/>
        </p:nvSpPr>
        <p:spPr>
          <a:xfrm>
            <a:off x="749808" y="2545232"/>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--from-literal=TOKEN=alpha</a:t>
            </a:r>
          </a:p>
        </p:txBody>
      </p:sp>
      <p:sp>
        <p:nvSpPr>
          <p:cNvPr id="20" name="TextBox 19"/>
          <p:cNvSpPr txBox="1"/>
          <p:nvPr/>
        </p:nvSpPr>
        <p:spPr>
          <a:xfrm>
            <a:off x="749808" y="2704795"/>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a:r>
          </a:p>
        </p:txBody>
      </p:sp>
      <p:sp>
        <p:nvSpPr>
          <p:cNvPr id="21" name="TextBox 20"/>
          <p:cNvSpPr txBox="1"/>
          <p:nvPr/>
        </p:nvSpPr>
        <p:spPr>
          <a:xfrm>
            <a:off x="749808" y="2864358"/>
            <a:ext cx="6263640" cy="196138"/>
          </a:xfrm>
          <a:prstGeom prst="rect">
            <a:avLst/>
          </a:prstGeom>
          <a:noFill/>
        </p:spPr>
        <p:txBody>
          <a:bodyPr wrap="square" lIns="18288" rIns="18288" tIns="0" bIns="0" anchor="t">
            <a:noAutofit/>
          </a:bodyPr>
          <a:lstStyle/>
          <a:p>
            <a:pPr algn="l">
              <a:spcAft>
                <a:spcPts val="0"/>
              </a:spcAft>
            </a:pPr>
            <a:r>
              <a:rPr sz="966" b="0" i="0">
                <a:solidFill>
                  <a:srgbClr val="2BA8D8"/>
                </a:solidFill>
                <a:latin typeface="Consolas"/>
              </a:rPr>
              <a:t># 2. run something that shows us both</a:t>
            </a:r>
          </a:p>
        </p:txBody>
      </p:sp>
      <p:sp>
        <p:nvSpPr>
          <p:cNvPr id="22" name="TextBox 21"/>
          <p:cNvSpPr txBox="1"/>
          <p:nvPr/>
        </p:nvSpPr>
        <p:spPr>
          <a:xfrm>
            <a:off x="749808" y="3023920"/>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apply -f demo-deployment.yaml</a:t>
            </a:r>
          </a:p>
        </p:txBody>
      </p:sp>
      <p:sp>
        <p:nvSpPr>
          <p:cNvPr id="23" name="TextBox 22"/>
          <p:cNvSpPr txBox="1"/>
          <p:nvPr/>
        </p:nvSpPr>
        <p:spPr>
          <a:xfrm>
            <a:off x="749808" y="3183483"/>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a:r>
          </a:p>
        </p:txBody>
      </p:sp>
      <p:sp>
        <p:nvSpPr>
          <p:cNvPr id="24" name="TextBox 23"/>
          <p:cNvSpPr txBox="1"/>
          <p:nvPr/>
        </p:nvSpPr>
        <p:spPr>
          <a:xfrm>
            <a:off x="749808" y="3343046"/>
            <a:ext cx="6263640" cy="196138"/>
          </a:xfrm>
          <a:prstGeom prst="rect">
            <a:avLst/>
          </a:prstGeom>
          <a:noFill/>
        </p:spPr>
        <p:txBody>
          <a:bodyPr wrap="square" lIns="18288" rIns="18288" tIns="0" bIns="0" anchor="t">
            <a:noAutofit/>
          </a:bodyPr>
          <a:lstStyle/>
          <a:p>
            <a:pPr algn="l">
              <a:spcAft>
                <a:spcPts val="0"/>
              </a:spcAft>
            </a:pPr>
            <a:r>
              <a:rPr sz="966" b="0" i="0">
                <a:solidFill>
                  <a:srgbClr val="2BA8D8"/>
                </a:solidFill>
                <a:latin typeface="Consolas"/>
              </a:rPr>
              <a:t># 3. read the value two ways</a:t>
            </a:r>
          </a:p>
        </p:txBody>
      </p:sp>
      <p:sp>
        <p:nvSpPr>
          <p:cNvPr id="25" name="TextBox 24"/>
          <p:cNvSpPr txBox="1"/>
          <p:nvPr/>
        </p:nvSpPr>
        <p:spPr>
          <a:xfrm>
            <a:off x="749808" y="3502609"/>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exec deploy/demo -- printenv TOKEN</a:t>
            </a:r>
          </a:p>
        </p:txBody>
      </p:sp>
      <p:sp>
        <p:nvSpPr>
          <p:cNvPr id="26" name="TextBox 25"/>
          <p:cNvSpPr txBox="1"/>
          <p:nvPr/>
        </p:nvSpPr>
        <p:spPr>
          <a:xfrm>
            <a:off x="749808" y="3662172"/>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exec deploy/demo -- cat /etc/demo/TOKEN</a:t>
            </a:r>
          </a:p>
        </p:txBody>
      </p:sp>
      <p:sp>
        <p:nvSpPr>
          <p:cNvPr id="27" name="TextBox 26"/>
          <p:cNvSpPr txBox="1"/>
          <p:nvPr/>
        </p:nvSpPr>
        <p:spPr>
          <a:xfrm>
            <a:off x="749808" y="3821734"/>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a:r>
          </a:p>
        </p:txBody>
      </p:sp>
      <p:sp>
        <p:nvSpPr>
          <p:cNvPr id="28" name="TextBox 27"/>
          <p:cNvSpPr txBox="1"/>
          <p:nvPr/>
        </p:nvSpPr>
        <p:spPr>
          <a:xfrm>
            <a:off x="749808" y="3981297"/>
            <a:ext cx="6263640" cy="196138"/>
          </a:xfrm>
          <a:prstGeom prst="rect">
            <a:avLst/>
          </a:prstGeom>
          <a:noFill/>
        </p:spPr>
        <p:txBody>
          <a:bodyPr wrap="square" lIns="18288" rIns="18288" tIns="0" bIns="0" anchor="t">
            <a:noAutofit/>
          </a:bodyPr>
          <a:lstStyle/>
          <a:p>
            <a:pPr algn="l">
              <a:spcAft>
                <a:spcPts val="0"/>
              </a:spcAft>
            </a:pPr>
            <a:r>
              <a:rPr sz="966" b="0" i="0">
                <a:solidFill>
                  <a:srgbClr val="2BA8D8"/>
                </a:solidFill>
                <a:latin typeface="Consolas"/>
              </a:rPr>
              <a:t># 4. rotate it</a:t>
            </a:r>
          </a:p>
        </p:txBody>
      </p:sp>
      <p:sp>
        <p:nvSpPr>
          <p:cNvPr id="29" name="TextBox 28"/>
          <p:cNvSpPr txBox="1"/>
          <p:nvPr/>
        </p:nvSpPr>
        <p:spPr>
          <a:xfrm>
            <a:off x="749808" y="4140860"/>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create secret generic demo \</a:t>
            </a:r>
          </a:p>
        </p:txBody>
      </p:sp>
      <p:sp>
        <p:nvSpPr>
          <p:cNvPr id="30" name="TextBox 29"/>
          <p:cNvSpPr txBox="1"/>
          <p:nvPr/>
        </p:nvSpPr>
        <p:spPr>
          <a:xfrm>
            <a:off x="749808" y="4300423"/>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--from-literal=TOKEN=bravo \</a:t>
            </a:r>
          </a:p>
        </p:txBody>
      </p:sp>
      <p:sp>
        <p:nvSpPr>
          <p:cNvPr id="31" name="TextBox 30"/>
          <p:cNvSpPr txBox="1"/>
          <p:nvPr/>
        </p:nvSpPr>
        <p:spPr>
          <a:xfrm>
            <a:off x="749808" y="4459986"/>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--dry-run=client -o yaml | kubectl apply -f -</a:t>
            </a:r>
          </a:p>
        </p:txBody>
      </p:sp>
      <p:sp>
        <p:nvSpPr>
          <p:cNvPr id="32" name="TextBox 31"/>
          <p:cNvSpPr txBox="1"/>
          <p:nvPr/>
        </p:nvSpPr>
        <p:spPr>
          <a:xfrm>
            <a:off x="749808" y="4619548"/>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
            </a:r>
          </a:p>
        </p:txBody>
      </p:sp>
      <p:sp>
        <p:nvSpPr>
          <p:cNvPr id="33" name="TextBox 32"/>
          <p:cNvSpPr txBox="1"/>
          <p:nvPr/>
        </p:nvSpPr>
        <p:spPr>
          <a:xfrm>
            <a:off x="749808" y="4779111"/>
            <a:ext cx="6263640" cy="196138"/>
          </a:xfrm>
          <a:prstGeom prst="rect">
            <a:avLst/>
          </a:prstGeom>
          <a:noFill/>
        </p:spPr>
        <p:txBody>
          <a:bodyPr wrap="square" lIns="18288" rIns="18288" tIns="0" bIns="0" anchor="t">
            <a:noAutofit/>
          </a:bodyPr>
          <a:lstStyle/>
          <a:p>
            <a:pPr algn="l">
              <a:spcAft>
                <a:spcPts val="0"/>
              </a:spcAft>
            </a:pPr>
            <a:r>
              <a:rPr sz="966" b="0" i="0">
                <a:solidFill>
                  <a:srgbClr val="2BA8D8"/>
                </a:solidFill>
                <a:latin typeface="Consolas"/>
              </a:rPr>
              <a:t># 5. wait ~90s, then read both again</a:t>
            </a:r>
          </a:p>
        </p:txBody>
      </p:sp>
      <p:sp>
        <p:nvSpPr>
          <p:cNvPr id="34" name="TextBox 33"/>
          <p:cNvSpPr txBox="1"/>
          <p:nvPr/>
        </p:nvSpPr>
        <p:spPr>
          <a:xfrm>
            <a:off x="749808" y="4938674"/>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exec deploy/demo -- printenv TOKEN</a:t>
            </a:r>
          </a:p>
        </p:txBody>
      </p:sp>
      <p:sp>
        <p:nvSpPr>
          <p:cNvPr id="35" name="TextBox 34"/>
          <p:cNvSpPr txBox="1"/>
          <p:nvPr/>
        </p:nvSpPr>
        <p:spPr>
          <a:xfrm>
            <a:off x="749808" y="5098237"/>
            <a:ext cx="6263640" cy="196138"/>
          </a:xfrm>
          <a:prstGeom prst="rect">
            <a:avLst/>
          </a:prstGeom>
          <a:noFill/>
        </p:spPr>
        <p:txBody>
          <a:bodyPr wrap="square" lIns="18288" rIns="18288" tIns="0" bIns="0" anchor="t">
            <a:noAutofit/>
          </a:bodyPr>
          <a:lstStyle/>
          <a:p>
            <a:pPr algn="l">
              <a:spcAft>
                <a:spcPts val="0"/>
              </a:spcAft>
            </a:pPr>
            <a:r>
              <a:rPr sz="966" b="0" i="0">
                <a:solidFill>
                  <a:srgbClr val="D9E2F0"/>
                </a:solidFill>
                <a:latin typeface="Consolas"/>
              </a:rPr>
              <a:t>kubectl -n lab exec deploy/demo -- cat /etc/demo/TOKEN</a:t>
            </a:r>
          </a:p>
        </p:txBody>
      </p:sp>
      <p:sp>
        <p:nvSpPr>
          <p:cNvPr id="36" name="Rounded Rectangle 35"/>
          <p:cNvSpPr/>
          <p:nvPr/>
        </p:nvSpPr>
        <p:spPr>
          <a:xfrm>
            <a:off x="7516368" y="1645920"/>
            <a:ext cx="4200113" cy="17556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516368" y="1645920"/>
            <a:ext cx="77724" cy="1755648"/>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772400" y="1792224"/>
            <a:ext cx="374291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you should see</a:t>
            </a:r>
          </a:p>
        </p:txBody>
      </p:sp>
      <p:sp>
        <p:nvSpPr>
          <p:cNvPr id="39" name="TextBox 38"/>
          <p:cNvSpPr txBox="1"/>
          <p:nvPr/>
        </p:nvSpPr>
        <p:spPr>
          <a:xfrm>
            <a:off x="7772400" y="2194560"/>
            <a:ext cx="3742913" cy="1078992"/>
          </a:xfrm>
          <a:prstGeom prst="rect">
            <a:avLst/>
          </a:prstGeom>
          <a:noFill/>
        </p:spPr>
        <p:txBody>
          <a:bodyPr wrap="square" lIns="18288" rIns="18288" tIns="0" bIns="0" anchor="t">
            <a:noAutofit/>
          </a:bodyPr>
          <a:lstStyle/>
          <a:p>
            <a:pPr algn="l">
              <a:lnSpc>
                <a:spcPct val="124000"/>
              </a:lnSpc>
              <a:spcAft>
                <a:spcPts val="0"/>
              </a:spcAft>
            </a:pPr>
            <a:r>
              <a:rPr sz="1300" b="0" i="0">
                <a:solidFill>
                  <a:srgbClr val="363F4D"/>
                </a:solidFill>
                <a:latin typeface="Calibri"/>
              </a:rPr>
              <a:t>printenv still says alpha.</a:t>
            </a:r>
          </a:p>
          <a:p>
            <a:pPr algn="l">
              <a:lnSpc>
                <a:spcPct val="124000"/>
              </a:lnSpc>
              <a:spcAft>
                <a:spcPts val="0"/>
              </a:spcAft>
            </a:pPr>
            <a:r>
              <a:rPr sz="1300" b="0" i="0">
                <a:solidFill>
                  <a:srgbClr val="363F4D"/>
                </a:solidFill>
                <a:latin typeface="Calibri"/>
              </a:rPr>
              <a:t>The mounted file says bravo.</a:t>
            </a:r>
          </a:p>
          <a:p>
            <a:pPr algn="l">
              <a:lnSpc>
                <a:spcPct val="124000"/>
              </a:lnSpc>
              <a:spcAft>
                <a:spcPts val="0"/>
              </a:spcAft>
            </a:pPr>
            <a:r>
              <a:rPr sz="1300" b="0" i="0">
                <a:solidFill>
                  <a:srgbClr val="363F4D"/>
                </a:solidFill>
                <a:latin typeface="Calibri"/>
              </a:rPr>
              <a:t/>
            </a:r>
          </a:p>
          <a:p>
            <a:pPr algn="l">
              <a:lnSpc>
                <a:spcPct val="124000"/>
              </a:lnSpc>
              <a:spcAft>
                <a:spcPts val="0"/>
              </a:spcAft>
            </a:pPr>
            <a:r>
              <a:rPr sz="1300" b="0" i="0">
                <a:solidFill>
                  <a:srgbClr val="363F4D"/>
                </a:solidFill>
                <a:latin typeface="Calibri"/>
              </a:rPr>
              <a:t>Same Secret. Same pod. Two different answers.</a:t>
            </a:r>
          </a:p>
        </p:txBody>
      </p:sp>
      <p:sp>
        <p:nvSpPr>
          <p:cNvPr id="40" name="Rounded Rectangle 39"/>
          <p:cNvSpPr/>
          <p:nvPr/>
        </p:nvSpPr>
        <p:spPr>
          <a:xfrm>
            <a:off x="7516368" y="3602736"/>
            <a:ext cx="4200113" cy="174650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7516368" y="3602736"/>
            <a:ext cx="77724" cy="174650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772400" y="3749040"/>
            <a:ext cx="374291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Then ask the room</a:t>
            </a:r>
          </a:p>
        </p:txBody>
      </p:sp>
      <p:sp>
        <p:nvSpPr>
          <p:cNvPr id="43" name="TextBox 42"/>
          <p:cNvSpPr txBox="1"/>
          <p:nvPr/>
        </p:nvSpPr>
        <p:spPr>
          <a:xfrm>
            <a:off x="7772400" y="4151376"/>
            <a:ext cx="3742913" cy="1069848"/>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Which of the two is your application actually using?</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And if the answer is the environment variable, how would you ever know the rotation had not taken effect?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Quick Check — Configuration and Secrets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Answer before you turn to the appendix.</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01  Config and Secrets</a:t>
            </a:r>
          </a:p>
        </p:txBody>
      </p:sp>
      <p:sp>
        <p:nvSpPr>
          <p:cNvPr id="9" name="Rounded Rectangle 8"/>
          <p:cNvSpPr/>
          <p:nvPr/>
        </p:nvSpPr>
        <p:spPr>
          <a:xfrm>
            <a:off x="4754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21310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58368" y="2124456"/>
            <a:ext cx="256032" cy="256032"/>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2" name="TextBox 11"/>
          <p:cNvSpPr txBox="1"/>
          <p:nvPr/>
        </p:nvSpPr>
        <p:spPr>
          <a:xfrm>
            <a:off x="10241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A teammate says Kubernetes Secrets are encrypted. What do you correct, and what would you have to turn on for it to become true?</a:t>
            </a:r>
          </a:p>
        </p:txBody>
      </p:sp>
      <p:sp>
        <p:nvSpPr>
          <p:cNvPr id="13" name="Rounded Rectangle 12"/>
          <p:cNvSpPr/>
          <p:nvPr/>
        </p:nvSpPr>
        <p:spPr>
          <a:xfrm>
            <a:off x="62422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2288" y="1645920"/>
            <a:ext cx="64008" cy="121310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425168" y="2124456"/>
            <a:ext cx="256032" cy="256032"/>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6" name="TextBox 15"/>
          <p:cNvSpPr txBox="1"/>
          <p:nvPr/>
        </p:nvSpPr>
        <p:spPr>
          <a:xfrm>
            <a:off x="67909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You rotate a Secret consumed with envFrom. How long until the running pod uses the new value?</a:t>
            </a:r>
          </a:p>
        </p:txBody>
      </p:sp>
      <p:sp>
        <p:nvSpPr>
          <p:cNvPr id="17" name="Rounded Rectangle 16"/>
          <p:cNvSpPr/>
          <p:nvPr/>
        </p:nvSpPr>
        <p:spPr>
          <a:xfrm>
            <a:off x="4754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 y="3005328"/>
            <a:ext cx="64008" cy="121310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8368" y="3483864"/>
            <a:ext cx="256032" cy="25603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0" name="TextBox 19"/>
          <p:cNvSpPr txBox="1"/>
          <p:nvPr/>
        </p:nvSpPr>
        <p:spPr>
          <a:xfrm>
            <a:off x="10241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Which mount style keeps a file current, and which one silently freezes it?</a:t>
            </a:r>
          </a:p>
        </p:txBody>
      </p:sp>
      <p:sp>
        <p:nvSpPr>
          <p:cNvPr id="21" name="Rounded Rectangle 20"/>
          <p:cNvSpPr/>
          <p:nvPr/>
        </p:nvSpPr>
        <p:spPr>
          <a:xfrm>
            <a:off x="62422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42288" y="3005328"/>
            <a:ext cx="64008" cy="121310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25168" y="3483864"/>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TextBox 23"/>
          <p:cNvSpPr txBox="1"/>
          <p:nvPr/>
        </p:nvSpPr>
        <p:spPr>
          <a:xfrm>
            <a:off x="67909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is stringData usually the field you want when writing a Secret manifest by hand?</a:t>
            </a:r>
          </a:p>
        </p:txBody>
      </p:sp>
      <p:sp>
        <p:nvSpPr>
          <p:cNvPr id="25" name="Rounded Rectangle 24"/>
          <p:cNvSpPr/>
          <p:nvPr/>
        </p:nvSpPr>
        <p:spPr>
          <a:xfrm>
            <a:off x="4754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4364736"/>
            <a:ext cx="64008" cy="12131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58368" y="484327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5</a:t>
            </a:r>
          </a:p>
        </p:txBody>
      </p:sp>
      <p:sp>
        <p:nvSpPr>
          <p:cNvPr id="28" name="TextBox 27"/>
          <p:cNvSpPr txBox="1"/>
          <p:nvPr/>
        </p:nvSpPr>
        <p:spPr>
          <a:xfrm>
            <a:off x="10241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Your app reads /etc/app/config.yaml once at startup. The kubelet updates that file. Does the app behaviour change?</a:t>
            </a:r>
          </a:p>
        </p:txBody>
      </p:sp>
      <p:sp>
        <p:nvSpPr>
          <p:cNvPr id="29" name="Rounded Rectangle 28"/>
          <p:cNvSpPr/>
          <p:nvPr/>
        </p:nvSpPr>
        <p:spPr>
          <a:xfrm>
            <a:off x="62422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42288" y="4364736"/>
            <a:ext cx="64008" cy="1213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425168" y="484327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6</a:t>
            </a:r>
          </a:p>
        </p:txBody>
      </p:sp>
      <p:sp>
        <p:nvSpPr>
          <p:cNvPr id="32" name="TextBox 31"/>
          <p:cNvSpPr txBox="1"/>
          <p:nvPr/>
        </p:nvSpPr>
        <p:spPr>
          <a:xfrm>
            <a:off x="67909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Give one reason not to grant a workload get on secrets even when it needs the value.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02</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139496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Three Problems to Solve</a:t>
            </a:r>
          </a:p>
        </p:txBody>
      </p:sp>
      <p:sp>
        <p:nvSpPr>
          <p:cNvPr id="7" name="TextBox 6"/>
          <p:cNvSpPr txBox="1"/>
          <p:nvPr/>
        </p:nvSpPr>
        <p:spPr>
          <a:xfrm>
            <a:off x="1325880" y="377240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Each one has a tool. Each tool solves exactly one of them.</a:t>
            </a:r>
          </a:p>
        </p:txBody>
      </p:sp>
      <p:sp>
        <p:nvSpPr>
          <p:cNvPr id="8" name="Rectangle 7"/>
          <p:cNvSpPr/>
          <p:nvPr/>
        </p:nvSpPr>
        <p:spPr>
          <a:xfrm>
            <a:off x="1344168" y="4522215"/>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443077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Secrets cannot live in Git</a:t>
            </a:r>
          </a:p>
        </p:txBody>
      </p:sp>
      <p:sp>
        <p:nvSpPr>
          <p:cNvPr id="10" name="Rectangle 9"/>
          <p:cNvSpPr/>
          <p:nvPr/>
        </p:nvSpPr>
        <p:spPr>
          <a:xfrm>
            <a:off x="1344168" y="4906263"/>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81482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A rotation reaches the cluster and stops</a:t>
            </a:r>
          </a:p>
        </p:txBody>
      </p:sp>
      <p:sp>
        <p:nvSpPr>
          <p:cNvPr id="12" name="Rectangle 11"/>
          <p:cNvSpPr/>
          <p:nvPr/>
        </p:nvSpPr>
        <p:spPr>
          <a:xfrm>
            <a:off x="1344168" y="5290311"/>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519887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The cluster drifts and nothing says so</a:t>
            </a:r>
          </a:p>
        </p:txBody>
      </p:sp>
      <p:sp>
        <p:nvSpPr>
          <p:cNvPr id="14" name="Rectangle 13"/>
          <p:cNvSpPr/>
          <p:nvPr/>
        </p:nvSpPr>
        <p:spPr>
          <a:xfrm>
            <a:off x="1344168" y="5674359"/>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558292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Where we are going</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02</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02  Three Problems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300" b="1" i="0">
                <a:solidFill>
                  <a:srgbClr val="FFFFFF"/>
                </a:solidFill>
                <a:latin typeface="Calibri"/>
              </a:rPr>
              <a:t>Problem 1 — Your Manifests Belong in Git. Your Secrets Do Not.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GitOps wants every manifest in version control. One kind of manifest cannot go there.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Git is permanent and widely readable. Those are the two properties a secret store must not have.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13" name="Rounded Rectangle 12"/>
          <p:cNvSpPr/>
          <p:nvPr/>
        </p:nvSpPr>
        <p:spPr>
          <a:xfrm>
            <a:off x="475488" y="1645920"/>
            <a:ext cx="11240993" cy="117043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77724" cy="117043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179222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contradiction</a:t>
            </a:r>
          </a:p>
        </p:txBody>
      </p:sp>
      <p:sp>
        <p:nvSpPr>
          <p:cNvPr id="16" name="TextBox 15"/>
          <p:cNvSpPr txBox="1"/>
          <p:nvPr/>
        </p:nvSpPr>
        <p:spPr>
          <a:xfrm>
            <a:off x="731520" y="2194560"/>
            <a:ext cx="10783793" cy="493776"/>
          </a:xfrm>
          <a:prstGeom prst="rect">
            <a:avLst/>
          </a:prstGeom>
          <a:noFill/>
        </p:spPr>
        <p:txBody>
          <a:bodyPr wrap="square" lIns="18288" rIns="18288" tIns="0" bIns="0" anchor="t">
            <a:noAutofit/>
          </a:bodyPr>
          <a:lstStyle/>
          <a:p>
            <a:pPr algn="l">
              <a:lnSpc>
                <a:spcPct val="124000"/>
              </a:lnSpc>
              <a:spcAft>
                <a:spcPts val="0"/>
              </a:spcAft>
            </a:pPr>
            <a:r>
              <a:rPr sz="1300" b="0" i="0">
                <a:solidFill>
                  <a:srgbClr val="363F4D"/>
                </a:solidFill>
                <a:latin typeface="Calibri"/>
              </a:rPr>
              <a:t>GitOps says: the repository is the single source of truth, and anything not in it does not exist. Security says: a credential in a repository is a credential you have already lost. Both are right. The whole of section 04 is how to satisfy them at the same time.</a:t>
            </a:r>
          </a:p>
        </p:txBody>
      </p:sp>
      <p:sp>
        <p:nvSpPr>
          <p:cNvPr id="17" name="Rounded Rectangle 16"/>
          <p:cNvSpPr/>
          <p:nvPr/>
        </p:nvSpPr>
        <p:spPr>
          <a:xfrm>
            <a:off x="475488" y="3035808"/>
            <a:ext cx="2604508" cy="230428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 y="3035808"/>
            <a:ext cx="2604508" cy="685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3282696"/>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Git never forgets</a:t>
            </a:r>
          </a:p>
        </p:txBody>
      </p:sp>
      <p:sp>
        <p:nvSpPr>
          <p:cNvPr id="20" name="TextBox 19"/>
          <p:cNvSpPr txBox="1"/>
          <p:nvPr/>
        </p:nvSpPr>
        <p:spPr>
          <a:xfrm>
            <a:off x="658368" y="3694176"/>
            <a:ext cx="2238748" cy="1527048"/>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Committing a password and deleting it next commit changes nothing. It is in the history, in every clone, in every fork, and in your CI cache.</a:t>
            </a:r>
          </a:p>
        </p:txBody>
      </p:sp>
      <p:sp>
        <p:nvSpPr>
          <p:cNvPr id="21" name="Rounded Rectangle 20"/>
          <p:cNvSpPr/>
          <p:nvPr/>
        </p:nvSpPr>
        <p:spPr>
          <a:xfrm>
            <a:off x="3354316" y="3035808"/>
            <a:ext cx="2604508" cy="230428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354316" y="3035808"/>
            <a:ext cx="2604508" cy="685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37196" y="3282696"/>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Read access is broad</a:t>
            </a:r>
          </a:p>
        </p:txBody>
      </p:sp>
      <p:sp>
        <p:nvSpPr>
          <p:cNvPr id="24" name="TextBox 23"/>
          <p:cNvSpPr txBox="1"/>
          <p:nvPr/>
        </p:nvSpPr>
        <p:spPr>
          <a:xfrm>
            <a:off x="3537196" y="3694176"/>
            <a:ext cx="2238748" cy="1527048"/>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The people who may read your application repo are far more numerous than the people who should read production credentials.</a:t>
            </a:r>
          </a:p>
        </p:txBody>
      </p:sp>
      <p:sp>
        <p:nvSpPr>
          <p:cNvPr id="25" name="Rounded Rectangle 24"/>
          <p:cNvSpPr/>
          <p:nvPr/>
        </p:nvSpPr>
        <p:spPr>
          <a:xfrm>
            <a:off x="6233144" y="3035808"/>
            <a:ext cx="2604508" cy="230428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33144" y="3035808"/>
            <a:ext cx="2604508"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16024" y="3282696"/>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Rotation becomes a pull request</a:t>
            </a:r>
          </a:p>
        </p:txBody>
      </p:sp>
      <p:sp>
        <p:nvSpPr>
          <p:cNvPr id="28" name="TextBox 27"/>
          <p:cNvSpPr txBox="1"/>
          <p:nvPr/>
        </p:nvSpPr>
        <p:spPr>
          <a:xfrm>
            <a:off x="6416024" y="3694176"/>
            <a:ext cx="2238748" cy="1527048"/>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If the secret lives in Git, rotating it is a commit, a review and a deploy — so in practice nobody rotates anything.</a:t>
            </a:r>
          </a:p>
        </p:txBody>
      </p:sp>
      <p:sp>
        <p:nvSpPr>
          <p:cNvPr id="29" name="Rounded Rectangle 28"/>
          <p:cNvSpPr/>
          <p:nvPr/>
        </p:nvSpPr>
        <p:spPr>
          <a:xfrm>
            <a:off x="9111973" y="3035808"/>
            <a:ext cx="2604508" cy="230428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111973" y="3035808"/>
            <a:ext cx="2604508"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294853" y="3282696"/>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Encrypted-in-Git is a half answer</a:t>
            </a:r>
          </a:p>
        </p:txBody>
      </p:sp>
      <p:sp>
        <p:nvSpPr>
          <p:cNvPr id="32" name="TextBox 31"/>
          <p:cNvSpPr txBox="1"/>
          <p:nvPr/>
        </p:nvSpPr>
        <p:spPr>
          <a:xfrm>
            <a:off x="9294853" y="3694176"/>
            <a:ext cx="2238748" cy="1527048"/>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SOPS and Sealed Secrets do work. But you still version ciphertext, still redeploy to rotate, and still hold a key that unlocks the history.</a:t>
            </a:r>
          </a:p>
        </p:txBody>
      </p:sp>
      <p:sp>
        <p:nvSpPr>
          <p:cNvPr id="33" name="Rounded Rectangle 32"/>
          <p:cNvSpPr/>
          <p:nvPr/>
        </p:nvSpPr>
        <p:spPr>
          <a:xfrm>
            <a:off x="475488" y="5449824"/>
            <a:ext cx="11240993" cy="420624"/>
          </a:xfrm>
          <a:prstGeom prst="roundRect">
            <a:avLst>
              <a:gd name="adj" fmla="val 7000"/>
            </a:avLst>
          </a:prstGeom>
          <a:solidFill>
            <a:srgbClr val="E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5449824"/>
            <a:ext cx="91440" cy="42062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5541264"/>
            <a:ext cx="10555193" cy="237744"/>
          </a:xfrm>
          <a:prstGeom prst="rect">
            <a:avLst/>
          </a:prstGeom>
          <a:noFill/>
        </p:spPr>
        <p:txBody>
          <a:bodyPr wrap="square" lIns="18288" rIns="18288" tIns="0" bIns="0" anchor="ctr">
            <a:noAutofit/>
          </a:bodyPr>
          <a:lstStyle/>
          <a:p>
            <a:pPr algn="l">
              <a:lnSpc>
                <a:spcPct val="120000"/>
              </a:lnSpc>
              <a:spcAft>
                <a:spcPts val="0"/>
              </a:spcAft>
            </a:pPr>
            <a:r>
              <a:rPr sz="1000" b="0" i="1">
                <a:solidFill>
                  <a:srgbClr val="1F2B3D"/>
                </a:solidFill>
                <a:latin typeface="Calibri Light"/>
              </a:rPr>
              <a:t>What we want: the manifest in Git says which secret to use. The value itself never appears there.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600" b="1" i="0">
                <a:solidFill>
                  <a:srgbClr val="FFFFFF"/>
                </a:solidFill>
                <a:latin typeface="Calibri"/>
              </a:rPr>
              <a:t>Problem 2 — The Rotation Reaches the Cluster and Stops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You rotated the credential. The vault is current. The pod is not.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Delivering a new secret to the cluster is not the same as delivering it to the process.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13" name="Rounded Rectangle 12"/>
          <p:cNvSpPr/>
          <p:nvPr/>
        </p:nvSpPr>
        <p:spPr>
          <a:xfrm>
            <a:off x="475488" y="1645920"/>
            <a:ext cx="2604508" cy="1051560"/>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Rotated in the vault</a:t>
            </a:r>
          </a:p>
          <a:p>
            <a:pPr algn="ctr"/>
            <a:r>
              <a:rPr sz="400" b="1" i="0">
                <a:solidFill>
                  <a:srgbClr val="FFFFFF"/>
                </a:solidFill>
                <a:latin typeface="Calibri"/>
              </a:rPr>
              <a:t/>
            </a:r>
          </a:p>
          <a:p>
            <a:pPr algn="ctr"/>
            <a:r>
              <a:rPr sz="1100" b="0" i="0">
                <a:solidFill>
                  <a:srgbClr val="DCE6F5"/>
                </a:solidFill>
                <a:latin typeface="Calibri"/>
              </a:rPr>
              <a:t>the new credential exists</a:t>
            </a:r>
          </a:p>
        </p:txBody>
      </p:sp>
      <p:sp>
        <p:nvSpPr>
          <p:cNvPr id="14" name="Oval 13"/>
          <p:cNvSpPr/>
          <p:nvPr/>
        </p:nvSpPr>
        <p:spPr>
          <a:xfrm>
            <a:off x="163143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3121144" y="208940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4316" y="1645920"/>
            <a:ext cx="2604508" cy="1051560"/>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Synced to the cluster</a:t>
            </a:r>
          </a:p>
          <a:p>
            <a:pPr algn="ctr"/>
            <a:r>
              <a:rPr sz="400" b="1" i="0">
                <a:solidFill>
                  <a:srgbClr val="FFFFFF"/>
                </a:solidFill>
                <a:latin typeface="Calibri"/>
              </a:rPr>
              <a:t/>
            </a:r>
          </a:p>
          <a:p>
            <a:pPr algn="ctr"/>
            <a:r>
              <a:rPr sz="1100" b="0" i="0">
                <a:solidFill>
                  <a:srgbClr val="DCE6F5"/>
                </a:solidFill>
                <a:latin typeface="Calibri"/>
              </a:rPr>
              <a:t>the Kubernetes Secret is updated</a:t>
            </a:r>
          </a:p>
        </p:txBody>
      </p:sp>
      <p:sp>
        <p:nvSpPr>
          <p:cNvPr id="17" name="Oval 16"/>
          <p:cNvSpPr/>
          <p:nvPr/>
        </p:nvSpPr>
        <p:spPr>
          <a:xfrm>
            <a:off x="451026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5999972" y="208940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2604508" cy="1051560"/>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Projected to the pod</a:t>
            </a:r>
          </a:p>
          <a:p>
            <a:pPr algn="ctr"/>
            <a:r>
              <a:rPr sz="400" b="1" i="0">
                <a:solidFill>
                  <a:srgbClr val="FFFFFF"/>
                </a:solidFill>
                <a:latin typeface="Calibri"/>
              </a:rPr>
              <a:t/>
            </a:r>
          </a:p>
          <a:p>
            <a:pPr algn="ctr"/>
            <a:r>
              <a:rPr sz="1100" b="0" i="0">
                <a:solidFill>
                  <a:srgbClr val="DCE6F5"/>
                </a:solidFill>
                <a:latin typeface="Calibri"/>
              </a:rPr>
              <a:t>the mounted file changes</a:t>
            </a:r>
          </a:p>
        </p:txBody>
      </p:sp>
      <p:sp>
        <p:nvSpPr>
          <p:cNvPr id="20" name="Oval 19"/>
          <p:cNvSpPr/>
          <p:nvPr/>
        </p:nvSpPr>
        <p:spPr>
          <a:xfrm>
            <a:off x="7389094"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8878801" y="208940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11973" y="1645920"/>
            <a:ext cx="2604508" cy="1051560"/>
          </a:xfrm>
          <a:prstGeom prst="roundRect">
            <a:avLst>
              <a:gd name="adj" fmla="val 12000"/>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Used by the process</a:t>
            </a:r>
          </a:p>
          <a:p>
            <a:pPr algn="ctr"/>
            <a:r>
              <a:rPr sz="400" b="1" i="0">
                <a:solidFill>
                  <a:srgbClr val="FFFFFF"/>
                </a:solidFill>
                <a:latin typeface="Calibri"/>
              </a:rPr>
              <a:t/>
            </a:r>
          </a:p>
          <a:p>
            <a:pPr algn="ctr"/>
            <a:r>
              <a:rPr sz="1100" b="0" i="0">
                <a:solidFill>
                  <a:srgbClr val="DCE6F5"/>
                </a:solidFill>
                <a:latin typeface="Calibri"/>
              </a:rPr>
              <a:t>?</a:t>
            </a:r>
          </a:p>
        </p:txBody>
      </p:sp>
      <p:sp>
        <p:nvSpPr>
          <p:cNvPr id="23" name="Oval 22"/>
          <p:cNvSpPr/>
          <p:nvPr/>
        </p:nvSpPr>
        <p:spPr>
          <a:xfrm>
            <a:off x="1026792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ounded Rectangle 23"/>
          <p:cNvSpPr/>
          <p:nvPr/>
        </p:nvSpPr>
        <p:spPr>
          <a:xfrm>
            <a:off x="475488" y="3127248"/>
            <a:ext cx="5437616" cy="219456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127248"/>
            <a:ext cx="77724" cy="219456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3273552"/>
            <a:ext cx="4980416"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Where it breaks</a:t>
            </a:r>
          </a:p>
        </p:txBody>
      </p:sp>
      <p:sp>
        <p:nvSpPr>
          <p:cNvPr id="27" name="TextBox 26"/>
          <p:cNvSpPr txBox="1"/>
          <p:nvPr/>
        </p:nvSpPr>
        <p:spPr>
          <a:xfrm>
            <a:off x="731520" y="3675887"/>
            <a:ext cx="4980416" cy="151790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A process reads its configuration at start-up. Connection pools are opened once. SDK clients cache credentials in memory.</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None of that re-reads a file because the file changed. The only reliable way to make a process pick up a new credential is to start a new process.</a:t>
            </a:r>
          </a:p>
        </p:txBody>
      </p:sp>
      <p:sp>
        <p:nvSpPr>
          <p:cNvPr id="28" name="Rounded Rectangle 27"/>
          <p:cNvSpPr/>
          <p:nvPr/>
        </p:nvSpPr>
        <p:spPr>
          <a:xfrm>
            <a:off x="6278864" y="3127248"/>
            <a:ext cx="5437616" cy="219456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78864" y="3127248"/>
            <a:ext cx="77724"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34896" y="3273552"/>
            <a:ext cx="4980416"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that costs you</a:t>
            </a:r>
          </a:p>
        </p:txBody>
      </p:sp>
      <p:sp>
        <p:nvSpPr>
          <p:cNvPr id="31" name="TextBox 30"/>
          <p:cNvSpPr txBox="1"/>
          <p:nvPr/>
        </p:nvSpPr>
        <p:spPr>
          <a:xfrm>
            <a:off x="6534896" y="3675887"/>
            <a:ext cx="4980416" cy="151790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The old credential keeps working until someone notices — or until the vault revokes it and your service starts returning 500s at 3am.</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Worse, the failure is delayed and looks unrelated. The deploy that broke production happened days before the outage.</a:t>
            </a:r>
          </a:p>
        </p:txBody>
      </p:sp>
      <p:sp>
        <p:nvSpPr>
          <p:cNvPr id="32" name="Rounded Rectangle 31"/>
          <p:cNvSpPr/>
          <p:nvPr/>
        </p:nvSpPr>
        <p:spPr>
          <a:xfrm>
            <a:off x="475488" y="5449824"/>
            <a:ext cx="11240993" cy="420624"/>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75488" y="5449824"/>
            <a:ext cx="91440" cy="42062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5541264"/>
            <a:ext cx="10555193" cy="237744"/>
          </a:xfrm>
          <a:prstGeom prst="rect">
            <a:avLst/>
          </a:prstGeom>
          <a:noFill/>
        </p:spPr>
        <p:txBody>
          <a:bodyPr wrap="square" lIns="18288" rIns="18288" tIns="0" bIns="0" anchor="ctr">
            <a:noAutofit/>
          </a:bodyPr>
          <a:lstStyle/>
          <a:p>
            <a:pPr algn="l">
              <a:lnSpc>
                <a:spcPct val="120000"/>
              </a:lnSpc>
              <a:spcAft>
                <a:spcPts val="0"/>
              </a:spcAft>
            </a:pPr>
            <a:r>
              <a:rPr sz="1000" b="0" i="1">
                <a:solidFill>
                  <a:srgbClr val="1F2B3D"/>
                </a:solidFill>
                <a:latin typeface="Calibri Light"/>
              </a:rPr>
              <a:t>Something has to notice the Secret changed and roll the workload. That is the whole job of Reloader.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Problem 3 — Nobody Knows What Is Actually Running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cluster has drifted from the repository and there is no alarm for it.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Without continuous reconciliation, 'what is deployed' is a matter of opinion.</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13" name="Rounded Rectangle 12"/>
          <p:cNvSpPr/>
          <p:nvPr/>
        </p:nvSpPr>
        <p:spPr>
          <a:xfrm>
            <a:off x="475488" y="1645920"/>
            <a:ext cx="5114652" cy="832104"/>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The repo is the source of truth.</a:t>
            </a:r>
          </a:p>
        </p:txBody>
      </p:sp>
      <p:sp>
        <p:nvSpPr>
          <p:cNvPr id="14" name="Oval 13"/>
          <p:cNvSpPr/>
          <p:nvPr/>
        </p:nvSpPr>
        <p:spPr>
          <a:xfrm>
            <a:off x="603504" y="1952243"/>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5" name="Right Arrow 14"/>
          <p:cNvSpPr/>
          <p:nvPr/>
        </p:nvSpPr>
        <p:spPr>
          <a:xfrm>
            <a:off x="5645004" y="1993391"/>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74188" y="1645920"/>
            <a:ext cx="5742293" cy="832104"/>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Only if something continuously enforces it. Otherwise the repo is a suggestion and the cluster is the truth.</a:t>
            </a:r>
          </a:p>
        </p:txBody>
      </p:sp>
      <p:sp>
        <p:nvSpPr>
          <p:cNvPr id="17" name="Oval 16"/>
          <p:cNvSpPr/>
          <p:nvPr/>
        </p:nvSpPr>
        <p:spPr>
          <a:xfrm>
            <a:off x="6102204" y="1952243"/>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8" name="Rounded Rectangle 17"/>
          <p:cNvSpPr/>
          <p:nvPr/>
        </p:nvSpPr>
        <p:spPr>
          <a:xfrm>
            <a:off x="475488" y="2624328"/>
            <a:ext cx="5114652" cy="832104"/>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kubectl apply from CI is GitOps.</a:t>
            </a:r>
          </a:p>
        </p:txBody>
      </p:sp>
      <p:sp>
        <p:nvSpPr>
          <p:cNvPr id="19" name="Oval 18"/>
          <p:cNvSpPr/>
          <p:nvPr/>
        </p:nvSpPr>
        <p:spPr>
          <a:xfrm>
            <a:off x="603504" y="2930652"/>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0" name="Right Arrow 19"/>
          <p:cNvSpPr/>
          <p:nvPr/>
        </p:nvSpPr>
        <p:spPr>
          <a:xfrm>
            <a:off x="5645004" y="2971800"/>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74188" y="2624328"/>
            <a:ext cx="5742293" cy="832104"/>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It is push-based delivery. It tells you a deploy ran; it never tells you the cluster still matches afterwards.</a:t>
            </a:r>
          </a:p>
        </p:txBody>
      </p:sp>
      <p:sp>
        <p:nvSpPr>
          <p:cNvPr id="22" name="Oval 21"/>
          <p:cNvSpPr/>
          <p:nvPr/>
        </p:nvSpPr>
        <p:spPr>
          <a:xfrm>
            <a:off x="6102204" y="2930652"/>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3" name="Rounded Rectangle 22"/>
          <p:cNvSpPr/>
          <p:nvPr/>
        </p:nvSpPr>
        <p:spPr>
          <a:xfrm>
            <a:off x="475488" y="3602736"/>
            <a:ext cx="5114652" cy="832104"/>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A hotfix applied by hand is fine, we will tidy it later.</a:t>
            </a:r>
          </a:p>
        </p:txBody>
      </p:sp>
      <p:sp>
        <p:nvSpPr>
          <p:cNvPr id="24" name="Oval 23"/>
          <p:cNvSpPr/>
          <p:nvPr/>
        </p:nvSpPr>
        <p:spPr>
          <a:xfrm>
            <a:off x="603504" y="3909060"/>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5" name="Right Arrow 24"/>
          <p:cNvSpPr/>
          <p:nvPr/>
        </p:nvSpPr>
        <p:spPr>
          <a:xfrm>
            <a:off x="5645004" y="3950208"/>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974188" y="3602736"/>
            <a:ext cx="5742293" cy="832104"/>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The next deploy silently reverts it, or it survives forever and nobody can explain it. Both are bad.</a:t>
            </a:r>
          </a:p>
        </p:txBody>
      </p:sp>
      <p:sp>
        <p:nvSpPr>
          <p:cNvPr id="27" name="Oval 26"/>
          <p:cNvSpPr/>
          <p:nvPr/>
        </p:nvSpPr>
        <p:spPr>
          <a:xfrm>
            <a:off x="6102204" y="3909060"/>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8" name="Rounded Rectangle 27"/>
          <p:cNvSpPr/>
          <p:nvPr/>
        </p:nvSpPr>
        <p:spPr>
          <a:xfrm>
            <a:off x="475488" y="4645152"/>
            <a:ext cx="11240993" cy="1042415"/>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75488" y="4645152"/>
            <a:ext cx="77724" cy="1042415"/>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1520" y="4791456"/>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property we want</a:t>
            </a:r>
          </a:p>
        </p:txBody>
      </p:sp>
      <p:sp>
        <p:nvSpPr>
          <p:cNvPr id="31" name="TextBox 30"/>
          <p:cNvSpPr txBox="1"/>
          <p:nvPr/>
        </p:nvSpPr>
        <p:spPr>
          <a:xfrm>
            <a:off x="731520" y="5193792"/>
            <a:ext cx="10783793" cy="365760"/>
          </a:xfrm>
          <a:prstGeom prst="rect">
            <a:avLst/>
          </a:prstGeom>
          <a:noFill/>
        </p:spPr>
        <p:txBody>
          <a:bodyPr wrap="square" lIns="18288" rIns="18288" tIns="0" bIns="0" anchor="t">
            <a:noAutofit/>
          </a:bodyPr>
          <a:lstStyle/>
          <a:p>
            <a:pPr algn="l">
              <a:lnSpc>
                <a:spcPct val="124000"/>
              </a:lnSpc>
              <a:spcAft>
                <a:spcPts val="0"/>
              </a:spcAft>
            </a:pPr>
            <a:r>
              <a:rPr sz="950" b="0" i="0">
                <a:solidFill>
                  <a:srgbClr val="363F4D"/>
                </a:solidFill>
                <a:latin typeface="Calibri"/>
              </a:rPr>
              <a:t>Not 'a pipeline applied the manifests'. Instead: an agent inside the cluster is permanently comparing live state against Git, showing the difference, and — when you let it — correcting it without being asked. That is Argo CD.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Four Ways to Get a Secret Into a Pod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External Secrets Operator is one answer. Know the others so you can defend the choice.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They differ on where the value rests and what has to happen for a rotation to land.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13" name="Rectangle 12"/>
          <p:cNvSpPr/>
          <p:nvPr/>
        </p:nvSpPr>
        <p:spPr>
          <a:xfrm>
            <a:off x="475488" y="1645920"/>
            <a:ext cx="260604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FFFFFF"/>
                </a:solidFill>
                <a:latin typeface="Calibri"/>
              </a:rPr>
              <a:t>Approach</a:t>
            </a:r>
          </a:p>
        </p:txBody>
      </p:sp>
      <p:sp>
        <p:nvSpPr>
          <p:cNvPr id="14" name="Rectangle 13"/>
          <p:cNvSpPr/>
          <p:nvPr/>
        </p:nvSpPr>
        <p:spPr>
          <a:xfrm>
            <a:off x="3081528" y="1645920"/>
            <a:ext cx="30175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FFFFFF"/>
                </a:solidFill>
                <a:latin typeface="Calibri"/>
              </a:rPr>
              <a:t>Where the value rests</a:t>
            </a:r>
          </a:p>
        </p:txBody>
      </p:sp>
      <p:sp>
        <p:nvSpPr>
          <p:cNvPr id="15" name="Rectangle 14"/>
          <p:cNvSpPr/>
          <p:nvPr/>
        </p:nvSpPr>
        <p:spPr>
          <a:xfrm>
            <a:off x="6099048" y="1645920"/>
            <a:ext cx="23317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FFFFFF"/>
                </a:solidFill>
                <a:latin typeface="Calibri"/>
              </a:rPr>
              <a:t>To rotate you</a:t>
            </a:r>
          </a:p>
        </p:txBody>
      </p:sp>
      <p:sp>
        <p:nvSpPr>
          <p:cNvPr id="16" name="Rectangle 15"/>
          <p:cNvSpPr/>
          <p:nvPr/>
        </p:nvSpPr>
        <p:spPr>
          <a:xfrm>
            <a:off x="8430767" y="1645920"/>
            <a:ext cx="3282696"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FFFFFF"/>
                </a:solidFill>
                <a:latin typeface="Calibri"/>
              </a:rPr>
              <a:t>Trade-off</a:t>
            </a:r>
          </a:p>
        </p:txBody>
      </p:sp>
      <p:sp>
        <p:nvSpPr>
          <p:cNvPr id="17" name="Rectangle 16"/>
          <p:cNvSpPr/>
          <p:nvPr/>
        </p:nvSpPr>
        <p:spPr>
          <a:xfrm>
            <a:off x="475488" y="2066544"/>
            <a:ext cx="2606040"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Sealed Secrets</a:t>
            </a:r>
          </a:p>
        </p:txBody>
      </p:sp>
      <p:sp>
        <p:nvSpPr>
          <p:cNvPr id="18" name="Rectangle 17"/>
          <p:cNvSpPr/>
          <p:nvPr/>
        </p:nvSpPr>
        <p:spPr>
          <a:xfrm>
            <a:off x="3081528" y="2066544"/>
            <a:ext cx="3017520"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ciphertext, in Git</a:t>
            </a:r>
          </a:p>
        </p:txBody>
      </p:sp>
      <p:sp>
        <p:nvSpPr>
          <p:cNvPr id="19" name="Rectangle 18"/>
          <p:cNvSpPr/>
          <p:nvPr/>
        </p:nvSpPr>
        <p:spPr>
          <a:xfrm>
            <a:off x="6099048" y="2066544"/>
            <a:ext cx="2331720"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commit and deploy again</a:t>
            </a:r>
          </a:p>
        </p:txBody>
      </p:sp>
      <p:sp>
        <p:nvSpPr>
          <p:cNvPr id="20" name="Rectangle 19"/>
          <p:cNvSpPr/>
          <p:nvPr/>
        </p:nvSpPr>
        <p:spPr>
          <a:xfrm>
            <a:off x="8430767" y="2066544"/>
            <a:ext cx="3282696"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No external vault needed; history holds every old ciphertext</a:t>
            </a:r>
          </a:p>
        </p:txBody>
      </p:sp>
      <p:sp>
        <p:nvSpPr>
          <p:cNvPr id="21" name="Rectangle 20"/>
          <p:cNvSpPr/>
          <p:nvPr/>
        </p:nvSpPr>
        <p:spPr>
          <a:xfrm>
            <a:off x="475488" y="2567178"/>
            <a:ext cx="2606040"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SOPS / age</a:t>
            </a:r>
          </a:p>
        </p:txBody>
      </p:sp>
      <p:sp>
        <p:nvSpPr>
          <p:cNvPr id="22" name="Rectangle 21"/>
          <p:cNvSpPr/>
          <p:nvPr/>
        </p:nvSpPr>
        <p:spPr>
          <a:xfrm>
            <a:off x="3081528" y="2567178"/>
            <a:ext cx="3017520"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ciphertext, in Git</a:t>
            </a:r>
          </a:p>
        </p:txBody>
      </p:sp>
      <p:sp>
        <p:nvSpPr>
          <p:cNvPr id="23" name="Rectangle 22"/>
          <p:cNvSpPr/>
          <p:nvPr/>
        </p:nvSpPr>
        <p:spPr>
          <a:xfrm>
            <a:off x="6099048" y="2567178"/>
            <a:ext cx="2331720"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commit and deploy again</a:t>
            </a:r>
          </a:p>
        </p:txBody>
      </p:sp>
      <p:sp>
        <p:nvSpPr>
          <p:cNvPr id="24" name="Rectangle 23"/>
          <p:cNvSpPr/>
          <p:nvPr/>
        </p:nvSpPr>
        <p:spPr>
          <a:xfrm>
            <a:off x="8430767" y="2567178"/>
            <a:ext cx="3282696"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Good developer workflow; key management is now yours</a:t>
            </a:r>
          </a:p>
        </p:txBody>
      </p:sp>
      <p:sp>
        <p:nvSpPr>
          <p:cNvPr id="25" name="Rectangle 24"/>
          <p:cNvSpPr/>
          <p:nvPr/>
        </p:nvSpPr>
        <p:spPr>
          <a:xfrm>
            <a:off x="475488" y="3067812"/>
            <a:ext cx="2606040"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Secrets Store CSI Driver</a:t>
            </a:r>
          </a:p>
        </p:txBody>
      </p:sp>
      <p:sp>
        <p:nvSpPr>
          <p:cNvPr id="26" name="Rectangle 25"/>
          <p:cNvSpPr/>
          <p:nvPr/>
        </p:nvSpPr>
        <p:spPr>
          <a:xfrm>
            <a:off x="3081528" y="3067812"/>
            <a:ext cx="3017520"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vault; mounted straight into the pod</a:t>
            </a:r>
          </a:p>
        </p:txBody>
      </p:sp>
      <p:sp>
        <p:nvSpPr>
          <p:cNvPr id="27" name="Rectangle 26"/>
          <p:cNvSpPr/>
          <p:nvPr/>
        </p:nvSpPr>
        <p:spPr>
          <a:xfrm>
            <a:off x="6099048" y="3067812"/>
            <a:ext cx="2331720"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restart the pod</a:t>
            </a:r>
          </a:p>
        </p:txBody>
      </p:sp>
      <p:sp>
        <p:nvSpPr>
          <p:cNvPr id="28" name="Rectangle 27"/>
          <p:cNvSpPr/>
          <p:nvPr/>
        </p:nvSpPr>
        <p:spPr>
          <a:xfrm>
            <a:off x="8430767" y="3067812"/>
            <a:ext cx="3282696" cy="500634"/>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No Kubernetes Secret at all — but no Secret to reuse either</a:t>
            </a:r>
          </a:p>
        </p:txBody>
      </p:sp>
      <p:sp>
        <p:nvSpPr>
          <p:cNvPr id="29" name="Rectangle 28"/>
          <p:cNvSpPr/>
          <p:nvPr/>
        </p:nvSpPr>
        <p:spPr>
          <a:xfrm>
            <a:off x="475488" y="3568446"/>
            <a:ext cx="2606040"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External Secrets Operator</a:t>
            </a:r>
          </a:p>
        </p:txBody>
      </p:sp>
      <p:sp>
        <p:nvSpPr>
          <p:cNvPr id="30" name="Rectangle 29"/>
          <p:cNvSpPr/>
          <p:nvPr/>
        </p:nvSpPr>
        <p:spPr>
          <a:xfrm>
            <a:off x="3081528" y="3568446"/>
            <a:ext cx="3017520"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vault; mirrored into a Secret</a:t>
            </a:r>
          </a:p>
        </p:txBody>
      </p:sp>
      <p:sp>
        <p:nvSpPr>
          <p:cNvPr id="31" name="Rectangle 30"/>
          <p:cNvSpPr/>
          <p:nvPr/>
        </p:nvSpPr>
        <p:spPr>
          <a:xfrm>
            <a:off x="6099048" y="3568446"/>
            <a:ext cx="2331720"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nothing — ESO syncs it</a:t>
            </a:r>
          </a:p>
        </p:txBody>
      </p:sp>
      <p:sp>
        <p:nvSpPr>
          <p:cNvPr id="32" name="Rectangle 31"/>
          <p:cNvSpPr/>
          <p:nvPr/>
        </p:nvSpPr>
        <p:spPr>
          <a:xfrm>
            <a:off x="8430767" y="3568446"/>
            <a:ext cx="3282696" cy="500634"/>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Ordinary Secret semantics; the mirror is still base64</a:t>
            </a:r>
          </a:p>
        </p:txBody>
      </p:sp>
      <p:sp>
        <p:nvSpPr>
          <p:cNvPr id="33" name="Rounded Rectangle 32"/>
          <p:cNvSpPr/>
          <p:nvPr/>
        </p:nvSpPr>
        <p:spPr>
          <a:xfrm>
            <a:off x="475488" y="4297680"/>
            <a:ext cx="5428472" cy="12984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4297680"/>
            <a:ext cx="77724" cy="129844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31520" y="444398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this course teaches ESO</a:t>
            </a:r>
          </a:p>
        </p:txBody>
      </p:sp>
      <p:sp>
        <p:nvSpPr>
          <p:cNvPr id="36" name="TextBox 35"/>
          <p:cNvSpPr txBox="1"/>
          <p:nvPr/>
        </p:nvSpPr>
        <p:spPr>
          <a:xfrm>
            <a:off x="731520" y="4846320"/>
            <a:ext cx="4971272" cy="621792"/>
          </a:xfrm>
          <a:prstGeom prst="rect">
            <a:avLst/>
          </a:prstGeom>
          <a:noFill/>
        </p:spPr>
        <p:txBody>
          <a:bodyPr wrap="square" lIns="18288" rIns="18288" tIns="0" bIns="0" anchor="t">
            <a:noAutofit/>
          </a:bodyPr>
          <a:lstStyle/>
          <a:p>
            <a:pPr algn="l">
              <a:lnSpc>
                <a:spcPct val="124000"/>
              </a:lnSpc>
              <a:spcAft>
                <a:spcPts val="0"/>
              </a:spcAft>
            </a:pPr>
            <a:r>
              <a:rPr sz="1050" b="0" i="0">
                <a:solidFill>
                  <a:srgbClr val="363F4D"/>
                </a:solidFill>
                <a:latin typeface="Calibri"/>
              </a:rPr>
              <a:t>It leaves your workloads unchanged — they still consume a normal Secret — and it is the only one of the four where a rotation reaches the cluster with no deploy at all.</a:t>
            </a:r>
          </a:p>
        </p:txBody>
      </p:sp>
      <p:sp>
        <p:nvSpPr>
          <p:cNvPr id="37" name="Rounded Rectangle 36"/>
          <p:cNvSpPr/>
          <p:nvPr/>
        </p:nvSpPr>
        <p:spPr>
          <a:xfrm>
            <a:off x="6288008" y="4297680"/>
            <a:ext cx="5428472" cy="12984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88008" y="4297680"/>
            <a:ext cx="77724" cy="129844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44040" y="444398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When another one is right</a:t>
            </a:r>
          </a:p>
        </p:txBody>
      </p:sp>
      <p:sp>
        <p:nvSpPr>
          <p:cNvPr id="40" name="TextBox 39"/>
          <p:cNvSpPr txBox="1"/>
          <p:nvPr/>
        </p:nvSpPr>
        <p:spPr>
          <a:xfrm>
            <a:off x="6544040" y="4846320"/>
            <a:ext cx="4971272" cy="621792"/>
          </a:xfrm>
          <a:prstGeom prst="rect">
            <a:avLst/>
          </a:prstGeom>
          <a:noFill/>
        </p:spPr>
        <p:txBody>
          <a:bodyPr wrap="square" lIns="18288" rIns="18288" tIns="0" bIns="0" anchor="t">
            <a:noAutofit/>
          </a:bodyPr>
          <a:lstStyle/>
          <a:p>
            <a:pPr algn="l">
              <a:lnSpc>
                <a:spcPct val="124000"/>
              </a:lnSpc>
              <a:spcAft>
                <a:spcPts val="0"/>
              </a:spcAft>
            </a:pPr>
            <a:r>
              <a:rPr sz="1100" b="0" i="0">
                <a:solidFill>
                  <a:srgbClr val="363F4D"/>
                </a:solidFill>
                <a:latin typeface="Calibri"/>
              </a:rPr>
              <a:t>No external secret manager and no budget for one → Sealed Secrets or SOPS. A hard requirement that no Secret object ever exists → the CSI driver.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Three Problems, Three Tools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Each tool solves exactly one of them. None of them solves another one's problem.</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Learn what each tool refuses to do — that is what tells you when you still need the others.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13" name="Rectangle 12"/>
          <p:cNvSpPr/>
          <p:nvPr/>
        </p:nvSpPr>
        <p:spPr>
          <a:xfrm>
            <a:off x="475488" y="1645920"/>
            <a:ext cx="27889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Problem</a:t>
            </a:r>
          </a:p>
        </p:txBody>
      </p:sp>
      <p:sp>
        <p:nvSpPr>
          <p:cNvPr id="14" name="Rectangle 13"/>
          <p:cNvSpPr/>
          <p:nvPr/>
        </p:nvSpPr>
        <p:spPr>
          <a:xfrm>
            <a:off x="3264408" y="1645920"/>
            <a:ext cx="224028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Tool</a:t>
            </a:r>
          </a:p>
        </p:txBody>
      </p:sp>
      <p:sp>
        <p:nvSpPr>
          <p:cNvPr id="15" name="Rectangle 14"/>
          <p:cNvSpPr/>
          <p:nvPr/>
        </p:nvSpPr>
        <p:spPr>
          <a:xfrm>
            <a:off x="5504688" y="1645920"/>
            <a:ext cx="329184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it does</a:t>
            </a:r>
          </a:p>
        </p:txBody>
      </p:sp>
      <p:sp>
        <p:nvSpPr>
          <p:cNvPr id="16" name="Rectangle 15"/>
          <p:cNvSpPr/>
          <p:nvPr/>
        </p:nvSpPr>
        <p:spPr>
          <a:xfrm>
            <a:off x="8796528" y="1645920"/>
            <a:ext cx="2916936"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it will not do</a:t>
            </a:r>
          </a:p>
        </p:txBody>
      </p:sp>
      <p:sp>
        <p:nvSpPr>
          <p:cNvPr id="17" name="Rectangle 16"/>
          <p:cNvSpPr/>
          <p:nvPr/>
        </p:nvSpPr>
        <p:spPr>
          <a:xfrm>
            <a:off x="475488" y="2066544"/>
            <a:ext cx="2788920"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Secrets cannot live in Git</a:t>
            </a:r>
          </a:p>
        </p:txBody>
      </p:sp>
      <p:sp>
        <p:nvSpPr>
          <p:cNvPr id="18" name="Rectangle 17"/>
          <p:cNvSpPr/>
          <p:nvPr/>
        </p:nvSpPr>
        <p:spPr>
          <a:xfrm>
            <a:off x="3264408" y="2066544"/>
            <a:ext cx="2240280"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External Secrets Operator</a:t>
            </a:r>
          </a:p>
        </p:txBody>
      </p:sp>
      <p:sp>
        <p:nvSpPr>
          <p:cNvPr id="19" name="Rectangle 18"/>
          <p:cNvSpPr/>
          <p:nvPr/>
        </p:nvSpPr>
        <p:spPr>
          <a:xfrm>
            <a:off x="5504688" y="2066544"/>
            <a:ext cx="3291840"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Pulls the value from a real secret manager into a Kubernetes Secret</a:t>
            </a:r>
          </a:p>
        </p:txBody>
      </p:sp>
      <p:sp>
        <p:nvSpPr>
          <p:cNvPr id="20" name="Rectangle 19"/>
          <p:cNvSpPr/>
          <p:nvPr/>
        </p:nvSpPr>
        <p:spPr>
          <a:xfrm>
            <a:off x="8796528" y="2066544"/>
            <a:ext cx="2916936"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Restart anything that is using it</a:t>
            </a:r>
          </a:p>
        </p:txBody>
      </p:sp>
      <p:sp>
        <p:nvSpPr>
          <p:cNvPr id="21" name="Rectangle 20"/>
          <p:cNvSpPr/>
          <p:nvPr/>
        </p:nvSpPr>
        <p:spPr>
          <a:xfrm>
            <a:off x="475488" y="2627376"/>
            <a:ext cx="2788920" cy="56083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 rotated secret never reaches the process</a:t>
            </a:r>
          </a:p>
        </p:txBody>
      </p:sp>
      <p:sp>
        <p:nvSpPr>
          <p:cNvPr id="22" name="Rectangle 21"/>
          <p:cNvSpPr/>
          <p:nvPr/>
        </p:nvSpPr>
        <p:spPr>
          <a:xfrm>
            <a:off x="3264408" y="2627376"/>
            <a:ext cx="2240280" cy="56083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Reloader</a:t>
            </a:r>
          </a:p>
        </p:txBody>
      </p:sp>
      <p:sp>
        <p:nvSpPr>
          <p:cNvPr id="23" name="Rectangle 22"/>
          <p:cNvSpPr/>
          <p:nvPr/>
        </p:nvSpPr>
        <p:spPr>
          <a:xfrm>
            <a:off x="5504688" y="2627376"/>
            <a:ext cx="3291840" cy="56083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Watches Secrets and ConfigMaps and rolls the workloads that use them</a:t>
            </a:r>
          </a:p>
        </p:txBody>
      </p:sp>
      <p:sp>
        <p:nvSpPr>
          <p:cNvPr id="24" name="Rectangle 23"/>
          <p:cNvSpPr/>
          <p:nvPr/>
        </p:nvSpPr>
        <p:spPr>
          <a:xfrm>
            <a:off x="8796528" y="2627376"/>
            <a:ext cx="2916936" cy="56083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Fetch a secret, or know where it came from</a:t>
            </a:r>
          </a:p>
        </p:txBody>
      </p:sp>
      <p:sp>
        <p:nvSpPr>
          <p:cNvPr id="25" name="Rectangle 24"/>
          <p:cNvSpPr/>
          <p:nvPr/>
        </p:nvSpPr>
        <p:spPr>
          <a:xfrm>
            <a:off x="475488" y="3188208"/>
            <a:ext cx="2788920"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cluster drifts from the repository</a:t>
            </a:r>
          </a:p>
        </p:txBody>
      </p:sp>
      <p:sp>
        <p:nvSpPr>
          <p:cNvPr id="26" name="Rectangle 25"/>
          <p:cNvSpPr/>
          <p:nvPr/>
        </p:nvSpPr>
        <p:spPr>
          <a:xfrm>
            <a:off x="3264408" y="3188208"/>
            <a:ext cx="2240280"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Argo CD</a:t>
            </a:r>
          </a:p>
        </p:txBody>
      </p:sp>
      <p:sp>
        <p:nvSpPr>
          <p:cNvPr id="27" name="Rectangle 26"/>
          <p:cNvSpPr/>
          <p:nvPr/>
        </p:nvSpPr>
        <p:spPr>
          <a:xfrm>
            <a:off x="5504688" y="3188208"/>
            <a:ext cx="3291840"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Continuously reconciles live state against Git and reports the difference</a:t>
            </a:r>
          </a:p>
        </p:txBody>
      </p:sp>
      <p:sp>
        <p:nvSpPr>
          <p:cNvPr id="28" name="Rectangle 27"/>
          <p:cNvSpPr/>
          <p:nvPr/>
        </p:nvSpPr>
        <p:spPr>
          <a:xfrm>
            <a:off x="8796528" y="3188208"/>
            <a:ext cx="2916936" cy="56083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Hold a secret value, or restart a pod on a data change</a:t>
            </a:r>
          </a:p>
        </p:txBody>
      </p:sp>
      <p:sp>
        <p:nvSpPr>
          <p:cNvPr id="29" name="Rounded Rectangle 28"/>
          <p:cNvSpPr/>
          <p:nvPr/>
        </p:nvSpPr>
        <p:spPr>
          <a:xfrm>
            <a:off x="475488" y="3986784"/>
            <a:ext cx="3564117" cy="162763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75488" y="3986784"/>
            <a:ext cx="3564117"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4233672"/>
            <a:ext cx="3198357"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They are independent</a:t>
            </a:r>
          </a:p>
        </p:txBody>
      </p:sp>
      <p:sp>
        <p:nvSpPr>
          <p:cNvPr id="32" name="TextBox 31"/>
          <p:cNvSpPr txBox="1"/>
          <p:nvPr/>
        </p:nvSpPr>
        <p:spPr>
          <a:xfrm>
            <a:off x="658368" y="4645152"/>
            <a:ext cx="3198357" cy="850392"/>
          </a:xfrm>
          <a:prstGeom prst="rect">
            <a:avLst/>
          </a:prstGeom>
          <a:noFill/>
        </p:spPr>
        <p:txBody>
          <a:bodyPr wrap="square" lIns="18288" rIns="18288" tIns="0" bIns="0" anchor="t">
            <a:noAutofit/>
          </a:bodyPr>
          <a:lstStyle/>
          <a:p>
            <a:pPr algn="l">
              <a:lnSpc>
                <a:spcPct val="122000"/>
              </a:lnSpc>
              <a:spcAft>
                <a:spcPts val="0"/>
              </a:spcAft>
            </a:pPr>
            <a:r>
              <a:rPr sz="1200" b="0" i="0">
                <a:solidFill>
                  <a:srgbClr val="363F4D"/>
                </a:solidFill>
                <a:latin typeface="Calibri"/>
              </a:rPr>
              <a:t>Each one is useful on its own and none of them requires the other two. You can adopt them in any order.</a:t>
            </a:r>
          </a:p>
        </p:txBody>
      </p:sp>
      <p:sp>
        <p:nvSpPr>
          <p:cNvPr id="33" name="Rounded Rectangle 32"/>
          <p:cNvSpPr/>
          <p:nvPr/>
        </p:nvSpPr>
        <p:spPr>
          <a:xfrm>
            <a:off x="4313925" y="3986784"/>
            <a:ext cx="3564117" cy="162763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313925" y="3986784"/>
            <a:ext cx="3564117"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496805" y="4233672"/>
            <a:ext cx="3198357"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They are complementary</a:t>
            </a:r>
          </a:p>
        </p:txBody>
      </p:sp>
      <p:sp>
        <p:nvSpPr>
          <p:cNvPr id="36" name="TextBox 35"/>
          <p:cNvSpPr txBox="1"/>
          <p:nvPr/>
        </p:nvSpPr>
        <p:spPr>
          <a:xfrm>
            <a:off x="4496805" y="4645152"/>
            <a:ext cx="3198357" cy="850392"/>
          </a:xfrm>
          <a:prstGeom prst="rect">
            <a:avLst/>
          </a:prstGeom>
          <a:noFill/>
        </p:spPr>
        <p:txBody>
          <a:bodyPr wrap="square" lIns="18288" rIns="18288" tIns="0" bIns="0" anchor="t">
            <a:noAutofit/>
          </a:bodyPr>
          <a:lstStyle/>
          <a:p>
            <a:pPr algn="l">
              <a:lnSpc>
                <a:spcPct val="122000"/>
              </a:lnSpc>
              <a:spcAft>
                <a:spcPts val="0"/>
              </a:spcAft>
            </a:pPr>
            <a:r>
              <a:rPr sz="1200" b="0" i="0">
                <a:solidFill>
                  <a:srgbClr val="363F4D"/>
                </a:solidFill>
                <a:latin typeface="Calibri"/>
              </a:rPr>
              <a:t>Used together they close the loop: Git holds the intent, the vault holds the value, and the workload restarts when the value moves.</a:t>
            </a:r>
          </a:p>
        </p:txBody>
      </p:sp>
      <p:sp>
        <p:nvSpPr>
          <p:cNvPr id="37" name="Rounded Rectangle 36"/>
          <p:cNvSpPr/>
          <p:nvPr/>
        </p:nvSpPr>
        <p:spPr>
          <a:xfrm>
            <a:off x="8152363" y="3986784"/>
            <a:ext cx="3564117" cy="162763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152363" y="3986784"/>
            <a:ext cx="3564117"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35243" y="4233672"/>
            <a:ext cx="3198357"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They overlap nowhere</a:t>
            </a:r>
          </a:p>
        </p:txBody>
      </p:sp>
      <p:sp>
        <p:nvSpPr>
          <p:cNvPr id="40" name="TextBox 39"/>
          <p:cNvSpPr txBox="1"/>
          <p:nvPr/>
        </p:nvSpPr>
        <p:spPr>
          <a:xfrm>
            <a:off x="8335243" y="4645152"/>
            <a:ext cx="3198357" cy="85039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There is no feature you have to choose between. If you find yourself picking one over another, you have mis-stated the problem.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Where We Are Going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finished picture. Every section from here adds one piece of it.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Git holds intent. The vault holds truth. The operators do the joining up.</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13" name="Rounded Rectangle 12"/>
          <p:cNvSpPr/>
          <p:nvPr/>
        </p:nvSpPr>
        <p:spPr>
          <a:xfrm>
            <a:off x="475488" y="1645920"/>
            <a:ext cx="2331720" cy="1051560"/>
          </a:xfrm>
          <a:prstGeom prst="roundRect">
            <a:avLst>
              <a:gd name="adj" fmla="val 10000"/>
            </a:avLst>
          </a:prstGeom>
          <a:solidFill>
            <a:srgbClr val="ECF4FE"/>
          </a:solidFill>
          <a:ln w="17780">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1792" y="1792224"/>
            <a:ext cx="2039112" cy="274320"/>
          </a:xfrm>
          <a:prstGeom prst="rect">
            <a:avLst/>
          </a:prstGeom>
          <a:noFill/>
        </p:spPr>
        <p:txBody>
          <a:bodyPr wrap="square" lIns="18288" rIns="18288" tIns="0" bIns="0" anchor="t">
            <a:noAutofit/>
          </a:bodyPr>
          <a:lstStyle/>
          <a:p>
            <a:pPr algn="ctr">
              <a:spcAft>
                <a:spcPts val="0"/>
              </a:spcAft>
            </a:pPr>
            <a:r>
              <a:rPr sz="1350" b="1" i="0">
                <a:solidFill>
                  <a:srgbClr val="1F2B3D"/>
                </a:solidFill>
                <a:latin typeface="Calibri"/>
              </a:rPr>
              <a:t>Git repository</a:t>
            </a:r>
          </a:p>
        </p:txBody>
      </p:sp>
      <p:sp>
        <p:nvSpPr>
          <p:cNvPr id="15" name="TextBox 14"/>
          <p:cNvSpPr txBox="1"/>
          <p:nvPr/>
        </p:nvSpPr>
        <p:spPr>
          <a:xfrm>
            <a:off x="621792" y="2121408"/>
            <a:ext cx="2039112" cy="475488"/>
          </a:xfrm>
          <a:prstGeom prst="rect">
            <a:avLst/>
          </a:prstGeom>
          <a:noFill/>
        </p:spPr>
        <p:txBody>
          <a:bodyPr wrap="square" lIns="18288" rIns="18288" tIns="0" bIns="0" anchor="t">
            <a:noAutofit/>
          </a:bodyPr>
          <a:lstStyle/>
          <a:p>
            <a:pPr algn="ctr">
              <a:lnSpc>
                <a:spcPct val="114000"/>
              </a:lnSpc>
              <a:spcAft>
                <a:spcPts val="0"/>
              </a:spcAft>
            </a:pPr>
            <a:r>
              <a:rPr sz="1100" b="0" i="0">
                <a:solidFill>
                  <a:srgbClr val="6B7A8D"/>
                </a:solidFill>
                <a:latin typeface="Calibri"/>
              </a:rPr>
              <a:t>manifests, no secret values</a:t>
            </a:r>
          </a:p>
        </p:txBody>
      </p:sp>
      <p:sp>
        <p:nvSpPr>
          <p:cNvPr id="16" name="Rounded Rectangle 15"/>
          <p:cNvSpPr/>
          <p:nvPr/>
        </p:nvSpPr>
        <p:spPr>
          <a:xfrm>
            <a:off x="475488" y="3017520"/>
            <a:ext cx="2331720" cy="1051560"/>
          </a:xfrm>
          <a:prstGeom prst="roundRect">
            <a:avLst>
              <a:gd name="adj" fmla="val 10000"/>
            </a:avLst>
          </a:prstGeom>
          <a:solidFill>
            <a:srgbClr val="FEF6E7"/>
          </a:solidFill>
          <a:ln w="1778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1792" y="3163824"/>
            <a:ext cx="2039112" cy="274320"/>
          </a:xfrm>
          <a:prstGeom prst="rect">
            <a:avLst/>
          </a:prstGeom>
          <a:noFill/>
        </p:spPr>
        <p:txBody>
          <a:bodyPr wrap="square" lIns="18288" rIns="18288" tIns="0" bIns="0" anchor="t">
            <a:noAutofit/>
          </a:bodyPr>
          <a:lstStyle/>
          <a:p>
            <a:pPr algn="ctr">
              <a:spcAft>
                <a:spcPts val="0"/>
              </a:spcAft>
            </a:pPr>
            <a:r>
              <a:rPr sz="1350" b="1" i="0">
                <a:solidFill>
                  <a:srgbClr val="1F2B3D"/>
                </a:solidFill>
                <a:latin typeface="Calibri"/>
              </a:rPr>
              <a:t>Secret manager</a:t>
            </a:r>
          </a:p>
        </p:txBody>
      </p:sp>
      <p:sp>
        <p:nvSpPr>
          <p:cNvPr id="18" name="TextBox 17"/>
          <p:cNvSpPr txBox="1"/>
          <p:nvPr/>
        </p:nvSpPr>
        <p:spPr>
          <a:xfrm>
            <a:off x="621792" y="3493008"/>
            <a:ext cx="2039112" cy="475488"/>
          </a:xfrm>
          <a:prstGeom prst="rect">
            <a:avLst/>
          </a:prstGeom>
          <a:noFill/>
        </p:spPr>
        <p:txBody>
          <a:bodyPr wrap="square" lIns="18288" rIns="18288" tIns="0" bIns="0" anchor="t">
            <a:noAutofit/>
          </a:bodyPr>
          <a:lstStyle/>
          <a:p>
            <a:pPr algn="ctr">
              <a:lnSpc>
                <a:spcPct val="114000"/>
              </a:lnSpc>
              <a:spcAft>
                <a:spcPts val="0"/>
              </a:spcAft>
            </a:pPr>
            <a:r>
              <a:rPr sz="1100" b="0" i="0">
                <a:solidFill>
                  <a:srgbClr val="6B7A8D"/>
                </a:solidFill>
                <a:latin typeface="Calibri"/>
              </a:rPr>
              <a:t>AWS · Azure · GCP · Vault</a:t>
            </a:r>
          </a:p>
        </p:txBody>
      </p:sp>
      <p:sp>
        <p:nvSpPr>
          <p:cNvPr id="19" name="Rounded Rectangle 18"/>
          <p:cNvSpPr/>
          <p:nvPr/>
        </p:nvSpPr>
        <p:spPr>
          <a:xfrm>
            <a:off x="3538728" y="1536192"/>
            <a:ext cx="8177753" cy="3931920"/>
          </a:xfrm>
          <a:prstGeom prst="roundRect">
            <a:avLst>
              <a:gd name="adj" fmla="val 10000"/>
            </a:avLst>
          </a:prstGeom>
          <a:solidFill>
            <a:srgbClr val="F6F8FB"/>
          </a:solidFill>
          <a:ln w="1587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39896" y="1609344"/>
            <a:ext cx="2743200" cy="256032"/>
          </a:xfrm>
          <a:prstGeom prst="rect">
            <a:avLst/>
          </a:prstGeom>
          <a:noFill/>
        </p:spPr>
        <p:txBody>
          <a:bodyPr wrap="square" lIns="18288" rIns="18288" tIns="0" bIns="0" anchor="t">
            <a:noAutofit/>
          </a:bodyPr>
          <a:lstStyle/>
          <a:p>
            <a:pPr algn="l">
              <a:spcAft>
                <a:spcPts val="0"/>
              </a:spcAft>
            </a:pPr>
            <a:r>
              <a:rPr sz="1050" b="1" i="0">
                <a:solidFill>
                  <a:srgbClr val="6B7A8D"/>
                </a:solidFill>
                <a:latin typeface="Calibri"/>
              </a:rPr>
              <a:t>KUBERNETES CLUSTER</a:t>
            </a:r>
          </a:p>
        </p:txBody>
      </p:sp>
      <p:sp>
        <p:nvSpPr>
          <p:cNvPr id="21" name="Right Arrow 20"/>
          <p:cNvSpPr/>
          <p:nvPr/>
        </p:nvSpPr>
        <p:spPr>
          <a:xfrm>
            <a:off x="2871216" y="2084832"/>
            <a:ext cx="603504" cy="164592"/>
          </a:xfrm>
          <a:prstGeom prst="rightArrow">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2871216" y="3456432"/>
            <a:ext cx="603504" cy="164592"/>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13048" y="1901952"/>
            <a:ext cx="2331720" cy="914400"/>
          </a:xfrm>
          <a:prstGeom prst="roundRect">
            <a:avLst>
              <a:gd name="adj" fmla="val 10000"/>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813048" y="1901952"/>
            <a:ext cx="233172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941063" y="2048256"/>
            <a:ext cx="207568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Argo CD</a:t>
            </a:r>
          </a:p>
        </p:txBody>
      </p:sp>
      <p:sp>
        <p:nvSpPr>
          <p:cNvPr id="26" name="TextBox 25"/>
          <p:cNvSpPr txBox="1"/>
          <p:nvPr/>
        </p:nvSpPr>
        <p:spPr>
          <a:xfrm>
            <a:off x="3904487" y="2322576"/>
            <a:ext cx="214883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reconciles Git → cluster</a:t>
            </a:r>
          </a:p>
        </p:txBody>
      </p:sp>
      <p:sp>
        <p:nvSpPr>
          <p:cNvPr id="27" name="Rounded Rectangle 26"/>
          <p:cNvSpPr/>
          <p:nvPr/>
        </p:nvSpPr>
        <p:spPr>
          <a:xfrm>
            <a:off x="3813048" y="3127248"/>
            <a:ext cx="2331720" cy="91440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813048" y="3127248"/>
            <a:ext cx="233172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941063" y="3273552"/>
            <a:ext cx="207568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External Secrets</a:t>
            </a:r>
          </a:p>
        </p:txBody>
      </p:sp>
      <p:sp>
        <p:nvSpPr>
          <p:cNvPr id="30" name="TextBox 29"/>
          <p:cNvSpPr txBox="1"/>
          <p:nvPr/>
        </p:nvSpPr>
        <p:spPr>
          <a:xfrm>
            <a:off x="3904487" y="3547872"/>
            <a:ext cx="214883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vault → Kubernetes Secret</a:t>
            </a:r>
          </a:p>
        </p:txBody>
      </p:sp>
      <p:sp>
        <p:nvSpPr>
          <p:cNvPr id="31" name="Rounded Rectangle 30"/>
          <p:cNvSpPr/>
          <p:nvPr/>
        </p:nvSpPr>
        <p:spPr>
          <a:xfrm>
            <a:off x="3813048" y="4352544"/>
            <a:ext cx="2331720" cy="914400"/>
          </a:xfrm>
          <a:prstGeom prst="roundRect">
            <a:avLst>
              <a:gd name="adj" fmla="val 10000"/>
            </a:avLst>
          </a:prstGeom>
          <a:solidFill>
            <a:srgbClr val="FFFFFF"/>
          </a:solidFill>
          <a:ln w="19050">
            <a:solidFill>
              <a:srgbClr val="2BA8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813048" y="4352544"/>
            <a:ext cx="2331720" cy="5486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941063" y="4498848"/>
            <a:ext cx="207568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Reloader</a:t>
            </a:r>
          </a:p>
        </p:txBody>
      </p:sp>
      <p:sp>
        <p:nvSpPr>
          <p:cNvPr id="34" name="TextBox 33"/>
          <p:cNvSpPr txBox="1"/>
          <p:nvPr/>
        </p:nvSpPr>
        <p:spPr>
          <a:xfrm>
            <a:off x="3904487" y="4773168"/>
            <a:ext cx="214883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Secret change → rolling restart</a:t>
            </a:r>
          </a:p>
        </p:txBody>
      </p:sp>
      <p:sp>
        <p:nvSpPr>
          <p:cNvPr id="35" name="Rounded Rectangle 34"/>
          <p:cNvSpPr/>
          <p:nvPr/>
        </p:nvSpPr>
        <p:spPr>
          <a:xfrm>
            <a:off x="6601968" y="2468880"/>
            <a:ext cx="1965960" cy="960120"/>
          </a:xfrm>
          <a:prstGeom prst="roundRect">
            <a:avLst>
              <a:gd name="adj" fmla="val 10000"/>
            </a:avLst>
          </a:prstGeom>
          <a:solidFill>
            <a:srgbClr val="FFFFFF"/>
          </a:solidFill>
          <a:ln w="1905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693408" y="2670048"/>
            <a:ext cx="1783080" cy="274320"/>
          </a:xfrm>
          <a:prstGeom prst="rect">
            <a:avLst/>
          </a:prstGeom>
          <a:noFill/>
        </p:spPr>
        <p:txBody>
          <a:bodyPr wrap="square" lIns="18288" rIns="18288" tIns="0" bIns="0" anchor="t">
            <a:noAutofit/>
          </a:bodyPr>
          <a:lstStyle/>
          <a:p>
            <a:pPr algn="ctr">
              <a:spcAft>
                <a:spcPts val="0"/>
              </a:spcAft>
            </a:pPr>
            <a:r>
              <a:rPr sz="1300" b="1" i="0">
                <a:solidFill>
                  <a:srgbClr val="1F2B3D"/>
                </a:solidFill>
                <a:latin typeface="Calibri"/>
              </a:rPr>
              <a:t>Secret</a:t>
            </a:r>
          </a:p>
        </p:txBody>
      </p:sp>
      <p:sp>
        <p:nvSpPr>
          <p:cNvPr id="37" name="TextBox 36"/>
          <p:cNvSpPr txBox="1"/>
          <p:nvPr/>
        </p:nvSpPr>
        <p:spPr>
          <a:xfrm>
            <a:off x="6693408" y="2980944"/>
            <a:ext cx="1783080" cy="292608"/>
          </a:xfrm>
          <a:prstGeom prst="rect">
            <a:avLst/>
          </a:prstGeom>
          <a:noFill/>
        </p:spPr>
        <p:txBody>
          <a:bodyPr wrap="square" lIns="18288" rIns="18288" tIns="0" bIns="0" anchor="t">
            <a:noAutofit/>
          </a:bodyPr>
          <a:lstStyle/>
          <a:p>
            <a:pPr algn="ctr">
              <a:spcAft>
                <a:spcPts val="0"/>
              </a:spcAft>
            </a:pPr>
            <a:r>
              <a:rPr sz="1000" b="0" i="0">
                <a:solidFill>
                  <a:srgbClr val="6B7A8D"/>
                </a:solidFill>
                <a:latin typeface="Calibri"/>
              </a:rPr>
              <a:t>generated, not committed</a:t>
            </a:r>
          </a:p>
        </p:txBody>
      </p:sp>
      <p:sp>
        <p:nvSpPr>
          <p:cNvPr id="38" name="Rounded Rectangle 37"/>
          <p:cNvSpPr/>
          <p:nvPr/>
        </p:nvSpPr>
        <p:spPr>
          <a:xfrm>
            <a:off x="6601968" y="3977639"/>
            <a:ext cx="1965960" cy="1051560"/>
          </a:xfrm>
          <a:prstGeom prst="roundRect">
            <a:avLst>
              <a:gd name="adj" fmla="val 10000"/>
            </a:avLst>
          </a:prstGeom>
          <a:solidFill>
            <a:srgbClr val="FFFFFF"/>
          </a:solidFill>
          <a:ln w="19050">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693408" y="4206240"/>
            <a:ext cx="1783080" cy="274320"/>
          </a:xfrm>
          <a:prstGeom prst="rect">
            <a:avLst/>
          </a:prstGeom>
          <a:noFill/>
        </p:spPr>
        <p:txBody>
          <a:bodyPr wrap="square" lIns="18288" rIns="18288" tIns="0" bIns="0" anchor="t">
            <a:noAutofit/>
          </a:bodyPr>
          <a:lstStyle/>
          <a:p>
            <a:pPr algn="ctr">
              <a:spcAft>
                <a:spcPts val="0"/>
              </a:spcAft>
            </a:pPr>
            <a:r>
              <a:rPr sz="1300" b="1" i="0">
                <a:solidFill>
                  <a:srgbClr val="1F2B3D"/>
                </a:solidFill>
                <a:latin typeface="Calibri"/>
              </a:rPr>
              <a:t>Your workload</a:t>
            </a:r>
          </a:p>
        </p:txBody>
      </p:sp>
      <p:sp>
        <p:nvSpPr>
          <p:cNvPr id="40" name="TextBox 39"/>
          <p:cNvSpPr txBox="1"/>
          <p:nvPr/>
        </p:nvSpPr>
        <p:spPr>
          <a:xfrm>
            <a:off x="6693408" y="4517136"/>
            <a:ext cx="1783080" cy="402336"/>
          </a:xfrm>
          <a:prstGeom prst="rect">
            <a:avLst/>
          </a:prstGeom>
          <a:noFill/>
        </p:spPr>
        <p:txBody>
          <a:bodyPr wrap="square" lIns="18288" rIns="18288" tIns="0" bIns="0" anchor="t">
            <a:noAutofit/>
          </a:bodyPr>
          <a:lstStyle/>
          <a:p>
            <a:pPr algn="ctr">
              <a:lnSpc>
                <a:spcPct val="114000"/>
              </a:lnSpc>
              <a:spcAft>
                <a:spcPts val="0"/>
              </a:spcAft>
            </a:pPr>
            <a:r>
              <a:rPr sz="1000" b="0" i="0">
                <a:solidFill>
                  <a:srgbClr val="6B7A8D"/>
                </a:solidFill>
                <a:latin typeface="Calibri"/>
              </a:rPr>
              <a:t>restarted with the</a:t>
            </a:r>
          </a:p>
          <a:p>
            <a:pPr algn="ctr">
              <a:lnSpc>
                <a:spcPct val="114000"/>
              </a:lnSpc>
              <a:spcAft>
                <a:spcPts val="0"/>
              </a:spcAft>
            </a:pPr>
            <a:r>
              <a:rPr sz="1000" b="0" i="0">
                <a:solidFill>
                  <a:srgbClr val="6B7A8D"/>
                </a:solidFill>
                <a:latin typeface="Calibri"/>
              </a:rPr>
              <a:t>new credential</a:t>
            </a:r>
          </a:p>
        </p:txBody>
      </p:sp>
      <p:sp>
        <p:nvSpPr>
          <p:cNvPr id="41" name="Right Arrow 40"/>
          <p:cNvSpPr/>
          <p:nvPr/>
        </p:nvSpPr>
        <p:spPr>
          <a:xfrm>
            <a:off x="6208776" y="3520439"/>
            <a:ext cx="329184" cy="146304"/>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own Arrow 41"/>
          <p:cNvSpPr/>
          <p:nvPr/>
        </p:nvSpPr>
        <p:spPr>
          <a:xfrm>
            <a:off x="7516367" y="3493008"/>
            <a:ext cx="164592" cy="420624"/>
          </a:xfrm>
          <a:prstGeom prst="downArrow">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ight Arrow 42"/>
          <p:cNvSpPr/>
          <p:nvPr/>
        </p:nvSpPr>
        <p:spPr>
          <a:xfrm>
            <a:off x="6208776" y="4736592"/>
            <a:ext cx="329184" cy="146304"/>
          </a:xfrm>
          <a:prstGeom prst="rightArrow">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own Arrow 43"/>
          <p:cNvSpPr/>
          <p:nvPr/>
        </p:nvSpPr>
        <p:spPr>
          <a:xfrm>
            <a:off x="4956048" y="2852928"/>
            <a:ext cx="164592" cy="256032"/>
          </a:xfrm>
          <a:prstGeom prst="down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wn Arrow 44"/>
          <p:cNvSpPr/>
          <p:nvPr/>
        </p:nvSpPr>
        <p:spPr>
          <a:xfrm>
            <a:off x="4956048" y="4078224"/>
            <a:ext cx="164592" cy="256032"/>
          </a:xfrm>
          <a:prstGeom prst="down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Quick Check — The Three Problems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Answer before you turn to the appendix.</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02  Three Problems</a:t>
            </a:r>
          </a:p>
        </p:txBody>
      </p:sp>
      <p:sp>
        <p:nvSpPr>
          <p:cNvPr id="9" name="Rounded Rectangle 8"/>
          <p:cNvSpPr/>
          <p:nvPr/>
        </p:nvSpPr>
        <p:spPr>
          <a:xfrm>
            <a:off x="4754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21310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58368" y="2124456"/>
            <a:ext cx="256032" cy="256032"/>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2" name="TextBox 11"/>
          <p:cNvSpPr txBox="1"/>
          <p:nvPr/>
        </p:nvSpPr>
        <p:spPr>
          <a:xfrm>
            <a:off x="10241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is deleting a committed password in the next commit not a fix?</a:t>
            </a:r>
          </a:p>
        </p:txBody>
      </p:sp>
      <p:sp>
        <p:nvSpPr>
          <p:cNvPr id="13" name="Rounded Rectangle 12"/>
          <p:cNvSpPr/>
          <p:nvPr/>
        </p:nvSpPr>
        <p:spPr>
          <a:xfrm>
            <a:off x="62422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2288" y="1645920"/>
            <a:ext cx="64008" cy="121310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425168" y="2124456"/>
            <a:ext cx="256032" cy="256032"/>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6" name="TextBox 15"/>
          <p:cNvSpPr txBox="1"/>
          <p:nvPr/>
        </p:nvSpPr>
        <p:spPr>
          <a:xfrm>
            <a:off x="67909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Name the step between 'the Kubernetes Secret is updated' and 'the application uses the new value'. What fills it?</a:t>
            </a:r>
          </a:p>
        </p:txBody>
      </p:sp>
      <p:sp>
        <p:nvSpPr>
          <p:cNvPr id="17" name="Rounded Rectangle 16"/>
          <p:cNvSpPr/>
          <p:nvPr/>
        </p:nvSpPr>
        <p:spPr>
          <a:xfrm>
            <a:off x="4754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 y="3005328"/>
            <a:ext cx="64008" cy="121310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8368" y="3483864"/>
            <a:ext cx="256032" cy="25603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0" name="TextBox 19"/>
          <p:cNvSpPr txBox="1"/>
          <p:nvPr/>
        </p:nvSpPr>
        <p:spPr>
          <a:xfrm>
            <a:off x="10241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What does a CI pipeline running kubectl apply fail to tell you that Argo CD tells you continuously?</a:t>
            </a:r>
          </a:p>
        </p:txBody>
      </p:sp>
      <p:sp>
        <p:nvSpPr>
          <p:cNvPr id="21" name="Rounded Rectangle 20"/>
          <p:cNvSpPr/>
          <p:nvPr/>
        </p:nvSpPr>
        <p:spPr>
          <a:xfrm>
            <a:off x="62422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42288" y="3005328"/>
            <a:ext cx="64008" cy="121310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25168" y="3483864"/>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TextBox 23"/>
          <p:cNvSpPr txBox="1"/>
          <p:nvPr/>
        </p:nvSpPr>
        <p:spPr>
          <a:xfrm>
            <a:off x="67909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Sealed Secrets keeps ciphertext in Git. Give one advantage and one disadvantage versus External Secrets Operator.</a:t>
            </a:r>
          </a:p>
        </p:txBody>
      </p:sp>
      <p:sp>
        <p:nvSpPr>
          <p:cNvPr id="25" name="Rounded Rectangle 24"/>
          <p:cNvSpPr/>
          <p:nvPr/>
        </p:nvSpPr>
        <p:spPr>
          <a:xfrm>
            <a:off x="4754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4364736"/>
            <a:ext cx="64008" cy="12131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58368" y="484327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5</a:t>
            </a:r>
          </a:p>
        </p:txBody>
      </p:sp>
      <p:sp>
        <p:nvSpPr>
          <p:cNvPr id="28" name="TextBox 27"/>
          <p:cNvSpPr txBox="1"/>
          <p:nvPr/>
        </p:nvSpPr>
        <p:spPr>
          <a:xfrm>
            <a:off x="10241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Which of the three tools would you adopt first in a team with no GitOps at all, and why?</a:t>
            </a:r>
          </a:p>
        </p:txBody>
      </p:sp>
      <p:sp>
        <p:nvSpPr>
          <p:cNvPr id="29" name="Rounded Rectangle 28"/>
          <p:cNvSpPr/>
          <p:nvPr/>
        </p:nvSpPr>
        <p:spPr>
          <a:xfrm>
            <a:off x="62422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42288" y="4364736"/>
            <a:ext cx="64008" cy="1213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425168" y="484327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6</a:t>
            </a:r>
          </a:p>
        </p:txBody>
      </p:sp>
      <p:sp>
        <p:nvSpPr>
          <p:cNvPr id="32" name="TextBox 31"/>
          <p:cNvSpPr txBox="1"/>
          <p:nvPr/>
        </p:nvSpPr>
        <p:spPr>
          <a:xfrm>
            <a:off x="67909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A colleague suggests Argo CD can restart pods when a Secret changes. Is that true?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03</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75234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GitOps and Argo CD</a:t>
            </a:r>
          </a:p>
        </p:txBody>
      </p:sp>
      <p:sp>
        <p:nvSpPr>
          <p:cNvPr id="7" name="TextBox 6"/>
          <p:cNvSpPr txBox="1"/>
          <p:nvPr/>
        </p:nvSpPr>
        <p:spPr>
          <a:xfrm>
            <a:off x="1325880" y="312978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The delivery engine. Everything else in this course is installed by it.</a:t>
            </a:r>
          </a:p>
        </p:txBody>
      </p:sp>
      <p:sp>
        <p:nvSpPr>
          <p:cNvPr id="8" name="Rectangle 7"/>
          <p:cNvSpPr/>
          <p:nvPr/>
        </p:nvSpPr>
        <p:spPr>
          <a:xfrm>
            <a:off x="1344168" y="3879596"/>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378815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What GitOps actually requires</a:t>
            </a:r>
          </a:p>
        </p:txBody>
      </p:sp>
      <p:sp>
        <p:nvSpPr>
          <p:cNvPr id="10" name="Rectangle 9"/>
          <p:cNvSpPr/>
          <p:nvPr/>
        </p:nvSpPr>
        <p:spPr>
          <a:xfrm>
            <a:off x="1344168" y="4263644"/>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17220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Application, sync policy, waves and Projects</a:t>
            </a:r>
          </a:p>
        </p:txBody>
      </p:sp>
      <p:sp>
        <p:nvSpPr>
          <p:cNvPr id="12" name="Rectangle 11"/>
          <p:cNvSpPr/>
          <p:nvPr/>
        </p:nvSpPr>
        <p:spPr>
          <a:xfrm>
            <a:off x="1344168" y="4647692"/>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455625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App of Apps and ApplicationSet</a:t>
            </a:r>
          </a:p>
        </p:txBody>
      </p:sp>
      <p:sp>
        <p:nvSpPr>
          <p:cNvPr id="14" name="Rectangle 13"/>
          <p:cNvSpPr/>
          <p:nvPr/>
        </p:nvSpPr>
        <p:spPr>
          <a:xfrm>
            <a:off x="1344168" y="5031740"/>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494030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Lab 2: deploy from Git, then try to fight it</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03</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03  GitOps and Argo CD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GitOps Actually Requires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Four properties. A pipeline that runs kubectl apply satisfies at most two of them.</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GitOps is not 'the manifests are in Git'. It is continuous reconciliation against Git.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2604508"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2604508"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58368" y="1874519"/>
            <a:ext cx="310896" cy="310896"/>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1</a:t>
            </a:r>
          </a:p>
        </p:txBody>
      </p:sp>
      <p:sp>
        <p:nvSpPr>
          <p:cNvPr id="16" name="TextBox 15"/>
          <p:cNvSpPr txBox="1"/>
          <p:nvPr/>
        </p:nvSpPr>
        <p:spPr>
          <a:xfrm>
            <a:off x="1078992" y="1911095"/>
            <a:ext cx="1818124" cy="292608"/>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Declarative</a:t>
            </a:r>
          </a:p>
        </p:txBody>
      </p:sp>
      <p:sp>
        <p:nvSpPr>
          <p:cNvPr id="17" name="TextBox 16"/>
          <p:cNvSpPr txBox="1"/>
          <p:nvPr/>
        </p:nvSpPr>
        <p:spPr>
          <a:xfrm>
            <a:off x="658368" y="2304288"/>
            <a:ext cx="2238748" cy="758952"/>
          </a:xfrm>
          <a:prstGeom prst="rect">
            <a:avLst/>
          </a:prstGeom>
          <a:noFill/>
        </p:spPr>
        <p:txBody>
          <a:bodyPr wrap="square" lIns="18288" rIns="18288" tIns="0" bIns="0" anchor="t">
            <a:noAutofit/>
          </a:bodyPr>
          <a:lstStyle/>
          <a:p>
            <a:pPr algn="l">
              <a:lnSpc>
                <a:spcPct val="122000"/>
              </a:lnSpc>
              <a:spcAft>
                <a:spcPts val="0"/>
              </a:spcAft>
            </a:pPr>
            <a:r>
              <a:rPr sz="950" b="0" i="0">
                <a:solidFill>
                  <a:srgbClr val="363F4D"/>
                </a:solidFill>
                <a:latin typeface="Calibri"/>
              </a:rPr>
              <a:t>The whole system is described as data, not as a sequence of commands. You state the end result; you never script the steps to reach it.</a:t>
            </a:r>
          </a:p>
        </p:txBody>
      </p:sp>
      <p:sp>
        <p:nvSpPr>
          <p:cNvPr id="18" name="Rounded Rectangle 17"/>
          <p:cNvSpPr/>
          <p:nvPr/>
        </p:nvSpPr>
        <p:spPr>
          <a:xfrm>
            <a:off x="3354316" y="1645920"/>
            <a:ext cx="2604508"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354316" y="1645920"/>
            <a:ext cx="2604508" cy="6858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537196" y="1874519"/>
            <a:ext cx="310896" cy="310896"/>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2</a:t>
            </a:r>
          </a:p>
        </p:txBody>
      </p:sp>
      <p:sp>
        <p:nvSpPr>
          <p:cNvPr id="21" name="TextBox 20"/>
          <p:cNvSpPr txBox="1"/>
          <p:nvPr/>
        </p:nvSpPr>
        <p:spPr>
          <a:xfrm>
            <a:off x="3957820" y="1911095"/>
            <a:ext cx="1818124" cy="292608"/>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Versioned and immutable</a:t>
            </a:r>
          </a:p>
        </p:txBody>
      </p:sp>
      <p:sp>
        <p:nvSpPr>
          <p:cNvPr id="22" name="TextBox 21"/>
          <p:cNvSpPr txBox="1"/>
          <p:nvPr/>
        </p:nvSpPr>
        <p:spPr>
          <a:xfrm>
            <a:off x="3537196" y="2304288"/>
            <a:ext cx="2238748" cy="758952"/>
          </a:xfrm>
          <a:prstGeom prst="rect">
            <a:avLst/>
          </a:prstGeom>
          <a:noFill/>
        </p:spPr>
        <p:txBody>
          <a:bodyPr wrap="square" lIns="18288" rIns="18288" tIns="0" bIns="0" anchor="t">
            <a:noAutofit/>
          </a:bodyPr>
          <a:lstStyle/>
          <a:p>
            <a:pPr algn="l">
              <a:lnSpc>
                <a:spcPct val="122000"/>
              </a:lnSpc>
              <a:spcAft>
                <a:spcPts val="0"/>
              </a:spcAft>
            </a:pPr>
            <a:r>
              <a:rPr sz="950" b="0" i="0">
                <a:solidFill>
                  <a:srgbClr val="363F4D"/>
                </a:solidFill>
                <a:latin typeface="Calibri"/>
              </a:rPr>
              <a:t>That description lives in Git. Every change is a commit, with an author, a review and a revert that actually works.</a:t>
            </a:r>
          </a:p>
        </p:txBody>
      </p:sp>
      <p:sp>
        <p:nvSpPr>
          <p:cNvPr id="23" name="Rounded Rectangle 22"/>
          <p:cNvSpPr/>
          <p:nvPr/>
        </p:nvSpPr>
        <p:spPr>
          <a:xfrm>
            <a:off x="6233144" y="1645920"/>
            <a:ext cx="2604508"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33144" y="1645920"/>
            <a:ext cx="2604508" cy="685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416024" y="1874519"/>
            <a:ext cx="310896" cy="310896"/>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3</a:t>
            </a:r>
          </a:p>
        </p:txBody>
      </p:sp>
      <p:sp>
        <p:nvSpPr>
          <p:cNvPr id="26" name="TextBox 25"/>
          <p:cNvSpPr txBox="1"/>
          <p:nvPr/>
        </p:nvSpPr>
        <p:spPr>
          <a:xfrm>
            <a:off x="6836648" y="1911095"/>
            <a:ext cx="1818124" cy="292608"/>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Pulled automatically</a:t>
            </a:r>
          </a:p>
        </p:txBody>
      </p:sp>
      <p:sp>
        <p:nvSpPr>
          <p:cNvPr id="27" name="TextBox 26"/>
          <p:cNvSpPr txBox="1"/>
          <p:nvPr/>
        </p:nvSpPr>
        <p:spPr>
          <a:xfrm>
            <a:off x="6416024" y="2304288"/>
            <a:ext cx="2238748" cy="758952"/>
          </a:xfrm>
          <a:prstGeom prst="rect">
            <a:avLst/>
          </a:prstGeom>
          <a:noFill/>
        </p:spPr>
        <p:txBody>
          <a:bodyPr wrap="square" lIns="18288" rIns="18288" tIns="0" bIns="0" anchor="t">
            <a:noAutofit/>
          </a:bodyPr>
          <a:lstStyle/>
          <a:p>
            <a:pPr algn="l">
              <a:lnSpc>
                <a:spcPct val="122000"/>
              </a:lnSpc>
              <a:spcAft>
                <a:spcPts val="0"/>
              </a:spcAft>
            </a:pPr>
            <a:r>
              <a:rPr sz="950" b="0" i="0">
                <a:solidFill>
                  <a:srgbClr val="363F4D"/>
                </a:solidFill>
                <a:latin typeface="Calibri"/>
              </a:rPr>
              <a:t>An agent inside the cluster fetches the desired state. Nothing outside the cluster needs credentials to write to it.</a:t>
            </a:r>
          </a:p>
        </p:txBody>
      </p:sp>
      <p:sp>
        <p:nvSpPr>
          <p:cNvPr id="28" name="Rounded Rectangle 27"/>
          <p:cNvSpPr/>
          <p:nvPr/>
        </p:nvSpPr>
        <p:spPr>
          <a:xfrm>
            <a:off x="9111973" y="1645920"/>
            <a:ext cx="2604508"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111973" y="1645920"/>
            <a:ext cx="2604508"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294853" y="187451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4</a:t>
            </a:r>
          </a:p>
        </p:txBody>
      </p:sp>
      <p:sp>
        <p:nvSpPr>
          <p:cNvPr id="31" name="TextBox 30"/>
          <p:cNvSpPr txBox="1"/>
          <p:nvPr/>
        </p:nvSpPr>
        <p:spPr>
          <a:xfrm>
            <a:off x="9715477" y="1911095"/>
            <a:ext cx="1818124" cy="292608"/>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Continuously reconciled</a:t>
            </a:r>
          </a:p>
        </p:txBody>
      </p:sp>
      <p:sp>
        <p:nvSpPr>
          <p:cNvPr id="32" name="TextBox 31"/>
          <p:cNvSpPr txBox="1"/>
          <p:nvPr/>
        </p:nvSpPr>
        <p:spPr>
          <a:xfrm>
            <a:off x="9294853" y="2304288"/>
            <a:ext cx="2238748" cy="758952"/>
          </a:xfrm>
          <a:prstGeom prst="rect">
            <a:avLst/>
          </a:prstGeom>
          <a:noFill/>
        </p:spPr>
        <p:txBody>
          <a:bodyPr wrap="square" lIns="18288" rIns="18288" tIns="0" bIns="0" anchor="t">
            <a:noAutofit/>
          </a:bodyPr>
          <a:lstStyle/>
          <a:p>
            <a:pPr algn="l">
              <a:lnSpc>
                <a:spcPct val="122000"/>
              </a:lnSpc>
              <a:spcAft>
                <a:spcPts val="0"/>
              </a:spcAft>
            </a:pPr>
            <a:r>
              <a:rPr sz="1000" b="0" i="0">
                <a:solidFill>
                  <a:srgbClr val="363F4D"/>
                </a:solidFill>
                <a:latin typeface="Calibri"/>
              </a:rPr>
              <a:t>The agent keeps comparing live state to desired state and reports — or corrects — every difference, forever.</a:t>
            </a:r>
          </a:p>
        </p:txBody>
      </p:sp>
      <p:sp>
        <p:nvSpPr>
          <p:cNvPr id="33" name="Rounded Rectangle 32"/>
          <p:cNvSpPr/>
          <p:nvPr/>
        </p:nvSpPr>
        <p:spPr>
          <a:xfrm>
            <a:off x="475488" y="3401568"/>
            <a:ext cx="5428472" cy="2450592"/>
          </a:xfrm>
          <a:prstGeom prst="roundRect">
            <a:avLst>
              <a:gd name="adj" fmla="val 8000"/>
            </a:avLst>
          </a:prstGeom>
          <a:solidFill>
            <a:srgbClr val="FEF6E7"/>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86460" y="3412540"/>
            <a:ext cx="540652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CI PIPELINE RUNNING kubectl apply</a:t>
            </a:r>
          </a:p>
        </p:txBody>
      </p:sp>
      <p:sp>
        <p:nvSpPr>
          <p:cNvPr id="35" name="Oval 34"/>
          <p:cNvSpPr/>
          <p:nvPr/>
        </p:nvSpPr>
        <p:spPr>
          <a:xfrm>
            <a:off x="713232" y="4055363"/>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6" name="TextBox 35"/>
          <p:cNvSpPr txBox="1"/>
          <p:nvPr/>
        </p:nvSpPr>
        <p:spPr>
          <a:xfrm>
            <a:off x="1024128" y="4041648"/>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Declarative  </a:t>
            </a:r>
            <a:r>
              <a:rPr sz="1250" b="0" i="0">
                <a:solidFill>
                  <a:srgbClr val="363F4D"/>
                </a:solidFill>
                <a:latin typeface="Calibri"/>
              </a:rPr>
              <a:t>usually yes</a:t>
            </a:r>
          </a:p>
        </p:txBody>
      </p:sp>
      <p:sp>
        <p:nvSpPr>
          <p:cNvPr id="37" name="Oval 36"/>
          <p:cNvSpPr/>
          <p:nvPr/>
        </p:nvSpPr>
        <p:spPr>
          <a:xfrm>
            <a:off x="713232" y="4463033"/>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8" name="TextBox 37"/>
          <p:cNvSpPr txBox="1"/>
          <p:nvPr/>
        </p:nvSpPr>
        <p:spPr>
          <a:xfrm>
            <a:off x="1024128" y="4449317"/>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Versioned  </a:t>
            </a:r>
            <a:r>
              <a:rPr sz="1250" b="0" i="0">
                <a:solidFill>
                  <a:srgbClr val="363F4D"/>
                </a:solidFill>
                <a:latin typeface="Calibri"/>
              </a:rPr>
              <a:t>yes</a:t>
            </a:r>
          </a:p>
        </p:txBody>
      </p:sp>
      <p:sp>
        <p:nvSpPr>
          <p:cNvPr id="39" name="Oval 38"/>
          <p:cNvSpPr/>
          <p:nvPr/>
        </p:nvSpPr>
        <p:spPr>
          <a:xfrm>
            <a:off x="713232" y="4870703"/>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40" name="TextBox 39"/>
          <p:cNvSpPr txBox="1"/>
          <p:nvPr/>
        </p:nvSpPr>
        <p:spPr>
          <a:xfrm>
            <a:off x="1024128" y="4856987"/>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Pulled  </a:t>
            </a:r>
            <a:r>
              <a:rPr sz="1250" b="0" i="0">
                <a:solidFill>
                  <a:srgbClr val="363F4D"/>
                </a:solidFill>
                <a:latin typeface="Calibri"/>
              </a:rPr>
              <a:t>no — pushed, with cluster credentials in CI</a:t>
            </a:r>
          </a:p>
        </p:txBody>
      </p:sp>
      <p:sp>
        <p:nvSpPr>
          <p:cNvPr id="41" name="Oval 40"/>
          <p:cNvSpPr/>
          <p:nvPr/>
        </p:nvSpPr>
        <p:spPr>
          <a:xfrm>
            <a:off x="713232" y="5278373"/>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42" name="TextBox 41"/>
          <p:cNvSpPr txBox="1"/>
          <p:nvPr/>
        </p:nvSpPr>
        <p:spPr>
          <a:xfrm>
            <a:off x="1024128" y="5264657"/>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Reconciled  </a:t>
            </a:r>
            <a:r>
              <a:rPr sz="1250" b="0" i="0">
                <a:solidFill>
                  <a:srgbClr val="363F4D"/>
                </a:solidFill>
                <a:latin typeface="Calibri"/>
              </a:rPr>
              <a:t>no — it knows the apply ran, nothing more</a:t>
            </a:r>
          </a:p>
        </p:txBody>
      </p:sp>
      <p:sp>
        <p:nvSpPr>
          <p:cNvPr id="43" name="Rounded Rectangle 42"/>
          <p:cNvSpPr/>
          <p:nvPr/>
        </p:nvSpPr>
        <p:spPr>
          <a:xfrm>
            <a:off x="6288008" y="3401568"/>
            <a:ext cx="5428472" cy="2450592"/>
          </a:xfrm>
          <a:prstGeom prst="roundRect">
            <a:avLst>
              <a:gd name="adj" fmla="val 8000"/>
            </a:avLst>
          </a:prstGeom>
          <a:solidFill>
            <a:srgbClr val="EBF8F1"/>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298981" y="3412540"/>
            <a:ext cx="5406527" cy="47548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ARGO CD</a:t>
            </a:r>
          </a:p>
        </p:txBody>
      </p:sp>
      <p:sp>
        <p:nvSpPr>
          <p:cNvPr id="45" name="Oval 44"/>
          <p:cNvSpPr/>
          <p:nvPr/>
        </p:nvSpPr>
        <p:spPr>
          <a:xfrm>
            <a:off x="6525752" y="4055363"/>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46" name="TextBox 45"/>
          <p:cNvSpPr txBox="1"/>
          <p:nvPr/>
        </p:nvSpPr>
        <p:spPr>
          <a:xfrm>
            <a:off x="6836648" y="4041648"/>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Declarative  </a:t>
            </a:r>
            <a:r>
              <a:rPr sz="1250" b="0" i="0">
                <a:solidFill>
                  <a:srgbClr val="363F4D"/>
                </a:solidFill>
                <a:latin typeface="Calibri"/>
              </a:rPr>
              <a:t>yes</a:t>
            </a:r>
          </a:p>
        </p:txBody>
      </p:sp>
      <p:sp>
        <p:nvSpPr>
          <p:cNvPr id="47" name="Oval 46"/>
          <p:cNvSpPr/>
          <p:nvPr/>
        </p:nvSpPr>
        <p:spPr>
          <a:xfrm>
            <a:off x="6525752" y="4463033"/>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48" name="TextBox 47"/>
          <p:cNvSpPr txBox="1"/>
          <p:nvPr/>
        </p:nvSpPr>
        <p:spPr>
          <a:xfrm>
            <a:off x="6836648" y="4449317"/>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Versioned  </a:t>
            </a:r>
            <a:r>
              <a:rPr sz="1250" b="0" i="0">
                <a:solidFill>
                  <a:srgbClr val="363F4D"/>
                </a:solidFill>
                <a:latin typeface="Calibri"/>
              </a:rPr>
              <a:t>yes</a:t>
            </a:r>
          </a:p>
        </p:txBody>
      </p:sp>
      <p:sp>
        <p:nvSpPr>
          <p:cNvPr id="49" name="Oval 48"/>
          <p:cNvSpPr/>
          <p:nvPr/>
        </p:nvSpPr>
        <p:spPr>
          <a:xfrm>
            <a:off x="6525752" y="4870703"/>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50" name="TextBox 49"/>
          <p:cNvSpPr txBox="1"/>
          <p:nvPr/>
        </p:nvSpPr>
        <p:spPr>
          <a:xfrm>
            <a:off x="6836648" y="4856987"/>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Pulled  </a:t>
            </a:r>
            <a:r>
              <a:rPr sz="1250" b="0" i="0">
                <a:solidFill>
                  <a:srgbClr val="363F4D"/>
                </a:solidFill>
                <a:latin typeface="Calibri"/>
              </a:rPr>
              <a:t>yes — the agent runs in the cluster</a:t>
            </a:r>
          </a:p>
        </p:txBody>
      </p:sp>
      <p:sp>
        <p:nvSpPr>
          <p:cNvPr id="51" name="Oval 50"/>
          <p:cNvSpPr/>
          <p:nvPr/>
        </p:nvSpPr>
        <p:spPr>
          <a:xfrm>
            <a:off x="6525752" y="5278373"/>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52" name="TextBox 51"/>
          <p:cNvSpPr txBox="1"/>
          <p:nvPr/>
        </p:nvSpPr>
        <p:spPr>
          <a:xfrm>
            <a:off x="6836648" y="5264657"/>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Reconciled  </a:t>
            </a:r>
            <a:r>
              <a:rPr sz="1250" b="0" i="0">
                <a:solidFill>
                  <a:srgbClr val="363F4D"/>
                </a:solidFill>
                <a:latin typeface="Calibri"/>
              </a:rPr>
              <a:t>yes — every three minutes by default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Push and Pull — Why the Direction Matters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This is a security argument as much as an operational one.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Push means your CI system holds cluster-admin. Pull means it holds nothing.</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5391896" cy="2697480"/>
          </a:xfrm>
          <a:prstGeom prst="roundRect">
            <a:avLst>
              <a:gd name="adj" fmla="val 8000"/>
            </a:avLst>
          </a:prstGeom>
          <a:solidFill>
            <a:srgbClr val="FDF0F0"/>
          </a:solidFill>
          <a:ln w="15875">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86460" y="1656892"/>
            <a:ext cx="5369951" cy="45720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50" b="1" i="0">
                <a:solidFill>
                  <a:srgbClr val="FFFFFF"/>
                </a:solidFill>
                <a:latin typeface="Calibri"/>
              </a:rPr>
              <a:t>PUSH  ·  CI DEPLOYS INTO THE CLUSTER</a:t>
            </a:r>
          </a:p>
        </p:txBody>
      </p:sp>
      <p:sp>
        <p:nvSpPr>
          <p:cNvPr id="15" name="Rounded Rectangle 14"/>
          <p:cNvSpPr/>
          <p:nvPr/>
        </p:nvSpPr>
        <p:spPr>
          <a:xfrm>
            <a:off x="704088" y="2340864"/>
            <a:ext cx="1486402" cy="566928"/>
          </a:xfrm>
          <a:prstGeom prst="roundRect">
            <a:avLst>
              <a:gd name="adj" fmla="val 14000"/>
            </a:avLst>
          </a:prstGeom>
          <a:solidFill>
            <a:srgbClr val="FFFFFF"/>
          </a:solidFill>
          <a:ln w="15875">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1F2B3D"/>
                </a:solidFill>
                <a:latin typeface="Calibri"/>
              </a:rPr>
              <a:t>Git</a:t>
            </a:r>
          </a:p>
        </p:txBody>
      </p:sp>
      <p:sp>
        <p:nvSpPr>
          <p:cNvPr id="16" name="Right Arrow 15"/>
          <p:cNvSpPr/>
          <p:nvPr/>
        </p:nvSpPr>
        <p:spPr>
          <a:xfrm>
            <a:off x="2222494" y="2555748"/>
            <a:ext cx="173736" cy="137160"/>
          </a:xfrm>
          <a:prstGeom prst="rightArrow">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428234" y="2340864"/>
            <a:ext cx="1486402" cy="566928"/>
          </a:xfrm>
          <a:prstGeom prst="roundRect">
            <a:avLst>
              <a:gd name="adj" fmla="val 14000"/>
            </a:avLst>
          </a:prstGeom>
          <a:solidFill>
            <a:srgbClr val="FFFFFF"/>
          </a:solidFill>
          <a:ln w="15875">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1F2B3D"/>
                </a:solidFill>
                <a:latin typeface="Calibri"/>
              </a:rPr>
              <a:t>CI runner</a:t>
            </a:r>
          </a:p>
        </p:txBody>
      </p:sp>
      <p:sp>
        <p:nvSpPr>
          <p:cNvPr id="18" name="Right Arrow 17"/>
          <p:cNvSpPr/>
          <p:nvPr/>
        </p:nvSpPr>
        <p:spPr>
          <a:xfrm>
            <a:off x="3946641" y="2555748"/>
            <a:ext cx="173736" cy="137160"/>
          </a:xfrm>
          <a:prstGeom prst="rightArrow">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52381" y="2340864"/>
            <a:ext cx="1486402" cy="566928"/>
          </a:xfrm>
          <a:prstGeom prst="roundRect">
            <a:avLst>
              <a:gd name="adj" fmla="val 14000"/>
            </a:avLst>
          </a:prstGeom>
          <a:solidFill>
            <a:srgbClr val="FFFFFF"/>
          </a:solidFill>
          <a:ln w="15875">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50" b="1" i="0">
                <a:solidFill>
                  <a:srgbClr val="1F2B3D"/>
                </a:solidFill>
                <a:latin typeface="Calibri"/>
              </a:rPr>
              <a:t>Cluster</a:t>
            </a:r>
          </a:p>
        </p:txBody>
      </p:sp>
      <p:sp>
        <p:nvSpPr>
          <p:cNvPr id="20" name="TextBox 19"/>
          <p:cNvSpPr txBox="1"/>
          <p:nvPr/>
        </p:nvSpPr>
        <p:spPr>
          <a:xfrm>
            <a:off x="731520" y="3113532"/>
            <a:ext cx="256032" cy="274320"/>
          </a:xfrm>
          <a:prstGeom prst="rect">
            <a:avLst/>
          </a:prstGeom>
          <a:noFill/>
        </p:spPr>
        <p:txBody>
          <a:bodyPr wrap="square" lIns="18288" rIns="18288" tIns="0" bIns="0" anchor="t">
            <a:noAutofit/>
          </a:bodyPr>
          <a:lstStyle/>
          <a:p>
            <a:pPr algn="l">
              <a:spcAft>
                <a:spcPts val="0"/>
              </a:spcAft>
            </a:pPr>
            <a:r>
              <a:rPr sz="1100" b="1" i="0">
                <a:solidFill>
                  <a:srgbClr val="D93B3B"/>
                </a:solidFill>
                <a:latin typeface="Calibri"/>
              </a:rPr>
              <a:t>▸</a:t>
            </a:r>
          </a:p>
        </p:txBody>
      </p:sp>
      <p:sp>
        <p:nvSpPr>
          <p:cNvPr id="21" name="TextBox 20"/>
          <p:cNvSpPr txBox="1"/>
          <p:nvPr/>
        </p:nvSpPr>
        <p:spPr>
          <a:xfrm>
            <a:off x="1042416" y="3127248"/>
            <a:ext cx="4568936" cy="274320"/>
          </a:xfrm>
          <a:prstGeom prst="rect">
            <a:avLst/>
          </a:prstGeom>
          <a:noFill/>
        </p:spPr>
        <p:txBody>
          <a:bodyPr wrap="square" lIns="18288" rIns="18288" tIns="0" bIns="0" anchor="t">
            <a:noAutofit/>
          </a:bodyPr>
          <a:lstStyle/>
          <a:p>
            <a:pPr algn="l">
              <a:lnSpc>
                <a:spcPct val="120000"/>
              </a:lnSpc>
              <a:spcAft>
                <a:spcPts val="0"/>
              </a:spcAft>
            </a:pPr>
            <a:r>
              <a:rPr sz="900" b="1" i="0">
                <a:solidFill>
                  <a:srgbClr val="1F2B3D"/>
                </a:solidFill>
                <a:latin typeface="Calibri"/>
              </a:rPr>
              <a:t>Credentials point inward.  </a:t>
            </a:r>
            <a:r>
              <a:rPr sz="900" b="0" i="0">
                <a:solidFill>
                  <a:srgbClr val="363F4D"/>
                </a:solidFill>
                <a:latin typeface="Calibri"/>
              </a:rPr>
              <a:t>The runner holds a kubeconfig with write access to production.</a:t>
            </a:r>
          </a:p>
        </p:txBody>
      </p:sp>
      <p:sp>
        <p:nvSpPr>
          <p:cNvPr id="22" name="TextBox 21"/>
          <p:cNvSpPr txBox="1"/>
          <p:nvPr/>
        </p:nvSpPr>
        <p:spPr>
          <a:xfrm>
            <a:off x="731520" y="3387851"/>
            <a:ext cx="256032" cy="274320"/>
          </a:xfrm>
          <a:prstGeom prst="rect">
            <a:avLst/>
          </a:prstGeom>
          <a:noFill/>
        </p:spPr>
        <p:txBody>
          <a:bodyPr wrap="square" lIns="18288" rIns="18288" tIns="0" bIns="0" anchor="t">
            <a:noAutofit/>
          </a:bodyPr>
          <a:lstStyle/>
          <a:p>
            <a:pPr algn="l">
              <a:spcAft>
                <a:spcPts val="0"/>
              </a:spcAft>
            </a:pPr>
            <a:r>
              <a:rPr sz="1100" b="1" i="0">
                <a:solidFill>
                  <a:srgbClr val="D93B3B"/>
                </a:solidFill>
                <a:latin typeface="Calibri"/>
              </a:rPr>
              <a:t>▸</a:t>
            </a:r>
          </a:p>
        </p:txBody>
      </p:sp>
      <p:sp>
        <p:nvSpPr>
          <p:cNvPr id="23" name="TextBox 22"/>
          <p:cNvSpPr txBox="1"/>
          <p:nvPr/>
        </p:nvSpPr>
        <p:spPr>
          <a:xfrm>
            <a:off x="1042416" y="3401568"/>
            <a:ext cx="4568936" cy="285750"/>
          </a:xfrm>
          <a:prstGeom prst="rect">
            <a:avLst/>
          </a:prstGeom>
          <a:noFill/>
        </p:spPr>
        <p:txBody>
          <a:bodyPr wrap="square" lIns="18288" rIns="18288" tIns="0" bIns="0" anchor="t">
            <a:noAutofit/>
          </a:bodyPr>
          <a:lstStyle/>
          <a:p>
            <a:pPr algn="l">
              <a:lnSpc>
                <a:spcPct val="120000"/>
              </a:lnSpc>
              <a:spcAft>
                <a:spcPts val="0"/>
              </a:spcAft>
            </a:pPr>
            <a:r>
              <a:rPr sz="900" b="1" i="0">
                <a:solidFill>
                  <a:srgbClr val="1F2B3D"/>
                </a:solidFill>
                <a:latin typeface="Calibri"/>
              </a:rPr>
              <a:t>The cluster must be reachable.  </a:t>
            </a:r>
            <a:r>
              <a:rPr sz="900" b="0" i="0">
                <a:solidFill>
                  <a:srgbClr val="363F4D"/>
                </a:solidFill>
                <a:latin typeface="Calibri"/>
              </a:rPr>
              <a:t>From your CI network, which usually means exposing the API server.</a:t>
            </a:r>
          </a:p>
        </p:txBody>
      </p:sp>
      <p:sp>
        <p:nvSpPr>
          <p:cNvPr id="24" name="TextBox 23"/>
          <p:cNvSpPr txBox="1"/>
          <p:nvPr/>
        </p:nvSpPr>
        <p:spPr>
          <a:xfrm>
            <a:off x="731520" y="3801618"/>
            <a:ext cx="256032" cy="274320"/>
          </a:xfrm>
          <a:prstGeom prst="rect">
            <a:avLst/>
          </a:prstGeom>
          <a:noFill/>
        </p:spPr>
        <p:txBody>
          <a:bodyPr wrap="square" lIns="18288" rIns="18288" tIns="0" bIns="0" anchor="t">
            <a:noAutofit/>
          </a:bodyPr>
          <a:lstStyle/>
          <a:p>
            <a:pPr algn="l">
              <a:spcAft>
                <a:spcPts val="0"/>
              </a:spcAft>
            </a:pPr>
            <a:r>
              <a:rPr sz="1100" b="1" i="0">
                <a:solidFill>
                  <a:srgbClr val="D93B3B"/>
                </a:solidFill>
                <a:latin typeface="Calibri"/>
              </a:rPr>
              <a:t>▸</a:t>
            </a:r>
          </a:p>
        </p:txBody>
      </p:sp>
      <p:sp>
        <p:nvSpPr>
          <p:cNvPr id="25" name="TextBox 24"/>
          <p:cNvSpPr txBox="1"/>
          <p:nvPr/>
        </p:nvSpPr>
        <p:spPr>
          <a:xfrm>
            <a:off x="1042416" y="3815333"/>
            <a:ext cx="4568936" cy="274320"/>
          </a:xfrm>
          <a:prstGeom prst="rect">
            <a:avLst/>
          </a:prstGeom>
          <a:noFill/>
        </p:spPr>
        <p:txBody>
          <a:bodyPr wrap="square" lIns="18288" rIns="18288" tIns="0" bIns="0" anchor="t">
            <a:noAutofit/>
          </a:bodyPr>
          <a:lstStyle/>
          <a:p>
            <a:pPr algn="l">
              <a:lnSpc>
                <a:spcPct val="120000"/>
              </a:lnSpc>
              <a:spcAft>
                <a:spcPts val="0"/>
              </a:spcAft>
            </a:pPr>
            <a:r>
              <a:rPr sz="900" b="1" i="0">
                <a:solidFill>
                  <a:srgbClr val="1F2B3D"/>
                </a:solidFill>
                <a:latin typeface="Calibri"/>
              </a:rPr>
              <a:t>It is a one-shot.  </a:t>
            </a:r>
            <a:r>
              <a:rPr sz="900" b="0" i="0">
                <a:solidFill>
                  <a:srgbClr val="363F4D"/>
                </a:solidFill>
                <a:latin typeface="Calibri"/>
              </a:rPr>
              <a:t>After the job finishes nothing is watching.</a:t>
            </a:r>
          </a:p>
        </p:txBody>
      </p:sp>
      <p:sp>
        <p:nvSpPr>
          <p:cNvPr id="26" name="Rounded Rectangle 25"/>
          <p:cNvSpPr/>
          <p:nvPr/>
        </p:nvSpPr>
        <p:spPr>
          <a:xfrm>
            <a:off x="6324584" y="1645920"/>
            <a:ext cx="5391896" cy="2697480"/>
          </a:xfrm>
          <a:prstGeom prst="roundRect">
            <a:avLst>
              <a:gd name="adj" fmla="val 8000"/>
            </a:avLst>
          </a:prstGeom>
          <a:solidFill>
            <a:srgbClr val="EBF8F1"/>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335557" y="1656892"/>
            <a:ext cx="5369951" cy="45720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50" b="1" i="0">
                <a:solidFill>
                  <a:srgbClr val="FFFFFF"/>
                </a:solidFill>
                <a:latin typeface="Calibri"/>
              </a:rPr>
              <a:t>PULL  ·  THE CLUSTER FETCHES FOR ITSELF</a:t>
            </a:r>
          </a:p>
        </p:txBody>
      </p:sp>
      <p:sp>
        <p:nvSpPr>
          <p:cNvPr id="28" name="Rounded Rectangle 27"/>
          <p:cNvSpPr/>
          <p:nvPr/>
        </p:nvSpPr>
        <p:spPr>
          <a:xfrm>
            <a:off x="6553184" y="2340864"/>
            <a:ext cx="1486402" cy="566928"/>
          </a:xfrm>
          <a:prstGeom prst="roundRect">
            <a:avLst>
              <a:gd name="adj" fmla="val 14000"/>
            </a:avLst>
          </a:prstGeom>
          <a:solidFill>
            <a:srgbClr val="FFFFFF"/>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1" i="0">
                <a:solidFill>
                  <a:srgbClr val="1F2B3D"/>
                </a:solidFill>
                <a:latin typeface="Calibri"/>
              </a:rPr>
              <a:t>Git</a:t>
            </a:r>
          </a:p>
        </p:txBody>
      </p:sp>
      <p:sp>
        <p:nvSpPr>
          <p:cNvPr id="29" name="Right Arrow 28"/>
          <p:cNvSpPr/>
          <p:nvPr/>
        </p:nvSpPr>
        <p:spPr>
          <a:xfrm>
            <a:off x="8071591" y="2555748"/>
            <a:ext cx="173736" cy="137160"/>
          </a:xfrm>
          <a:prstGeom prst="rightArrow">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77331" y="2340864"/>
            <a:ext cx="1486402" cy="566928"/>
          </a:xfrm>
          <a:prstGeom prst="roundRect">
            <a:avLst>
              <a:gd name="adj" fmla="val 14000"/>
            </a:avLst>
          </a:prstGeom>
          <a:solidFill>
            <a:srgbClr val="FFFFFF"/>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1" i="0">
                <a:solidFill>
                  <a:srgbClr val="1F2B3D"/>
                </a:solidFill>
                <a:latin typeface="Calibri"/>
              </a:rPr>
              <a:t>Argo CD in cluster</a:t>
            </a:r>
          </a:p>
        </p:txBody>
      </p:sp>
      <p:sp>
        <p:nvSpPr>
          <p:cNvPr id="31" name="Right Arrow 30"/>
          <p:cNvSpPr/>
          <p:nvPr/>
        </p:nvSpPr>
        <p:spPr>
          <a:xfrm>
            <a:off x="9795738" y="2555748"/>
            <a:ext cx="173736" cy="137160"/>
          </a:xfrm>
          <a:prstGeom prst="rightArrow">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01478" y="2340864"/>
            <a:ext cx="1486402" cy="566928"/>
          </a:xfrm>
          <a:prstGeom prst="roundRect">
            <a:avLst>
              <a:gd name="adj" fmla="val 14000"/>
            </a:avLst>
          </a:prstGeom>
          <a:solidFill>
            <a:srgbClr val="FFFFFF"/>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1" i="0">
                <a:solidFill>
                  <a:srgbClr val="1F2B3D"/>
                </a:solidFill>
                <a:latin typeface="Calibri"/>
              </a:rPr>
              <a:t>Cluster</a:t>
            </a:r>
          </a:p>
        </p:txBody>
      </p:sp>
      <p:sp>
        <p:nvSpPr>
          <p:cNvPr id="33" name="TextBox 32"/>
          <p:cNvSpPr txBox="1"/>
          <p:nvPr/>
        </p:nvSpPr>
        <p:spPr>
          <a:xfrm>
            <a:off x="6580616" y="3113532"/>
            <a:ext cx="256032" cy="274320"/>
          </a:xfrm>
          <a:prstGeom prst="rect">
            <a:avLst/>
          </a:prstGeom>
          <a:noFill/>
        </p:spPr>
        <p:txBody>
          <a:bodyPr wrap="square" lIns="18288" rIns="18288" tIns="0" bIns="0" anchor="t">
            <a:noAutofit/>
          </a:bodyPr>
          <a:lstStyle/>
          <a:p>
            <a:pPr algn="l">
              <a:spcAft>
                <a:spcPts val="0"/>
              </a:spcAft>
            </a:pPr>
            <a:r>
              <a:rPr sz="1150" b="1" i="0">
                <a:solidFill>
                  <a:srgbClr val="2EB56B"/>
                </a:solidFill>
                <a:latin typeface="Calibri"/>
              </a:rPr>
              <a:t>▸</a:t>
            </a:r>
          </a:p>
        </p:txBody>
      </p:sp>
      <p:sp>
        <p:nvSpPr>
          <p:cNvPr id="34" name="TextBox 33"/>
          <p:cNvSpPr txBox="1"/>
          <p:nvPr/>
        </p:nvSpPr>
        <p:spPr>
          <a:xfrm>
            <a:off x="6891512" y="3127248"/>
            <a:ext cx="4568936" cy="301625"/>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Credentials point outward.  </a:t>
            </a:r>
            <a:r>
              <a:rPr sz="950" b="0" i="0">
                <a:solidFill>
                  <a:srgbClr val="363F4D"/>
                </a:solidFill>
                <a:latin typeface="Calibri"/>
              </a:rPr>
              <a:t>Argo CD needs read access to Git. Nothing needs write access to the cluster.</a:t>
            </a:r>
          </a:p>
        </p:txBody>
      </p:sp>
      <p:sp>
        <p:nvSpPr>
          <p:cNvPr id="35" name="TextBox 34"/>
          <p:cNvSpPr txBox="1"/>
          <p:nvPr/>
        </p:nvSpPr>
        <p:spPr>
          <a:xfrm>
            <a:off x="6580616" y="3535045"/>
            <a:ext cx="256032" cy="274320"/>
          </a:xfrm>
          <a:prstGeom prst="rect">
            <a:avLst/>
          </a:prstGeom>
          <a:noFill/>
        </p:spPr>
        <p:txBody>
          <a:bodyPr wrap="square" lIns="18288" rIns="18288" tIns="0" bIns="0" anchor="t">
            <a:noAutofit/>
          </a:bodyPr>
          <a:lstStyle/>
          <a:p>
            <a:pPr algn="l">
              <a:spcAft>
                <a:spcPts val="0"/>
              </a:spcAft>
            </a:pPr>
            <a:r>
              <a:rPr sz="1150" b="1" i="0">
                <a:solidFill>
                  <a:srgbClr val="2EB56B"/>
                </a:solidFill>
                <a:latin typeface="Calibri"/>
              </a:rPr>
              <a:t>▸</a:t>
            </a:r>
          </a:p>
        </p:txBody>
      </p:sp>
      <p:sp>
        <p:nvSpPr>
          <p:cNvPr id="36" name="TextBox 35"/>
          <p:cNvSpPr txBox="1"/>
          <p:nvPr/>
        </p:nvSpPr>
        <p:spPr>
          <a:xfrm>
            <a:off x="6891512" y="3548761"/>
            <a:ext cx="4568936" cy="274320"/>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No inbound path required.  </a:t>
            </a:r>
            <a:r>
              <a:rPr sz="950" b="0" i="0">
                <a:solidFill>
                  <a:srgbClr val="363F4D"/>
                </a:solidFill>
                <a:latin typeface="Calibri"/>
              </a:rPr>
              <a:t>A private cluster with no exposed API server still works.</a:t>
            </a:r>
          </a:p>
        </p:txBody>
      </p:sp>
      <p:sp>
        <p:nvSpPr>
          <p:cNvPr id="37" name="TextBox 36"/>
          <p:cNvSpPr txBox="1"/>
          <p:nvPr/>
        </p:nvSpPr>
        <p:spPr>
          <a:xfrm>
            <a:off x="6580616" y="3809365"/>
            <a:ext cx="256032" cy="274320"/>
          </a:xfrm>
          <a:prstGeom prst="rect">
            <a:avLst/>
          </a:prstGeom>
          <a:noFill/>
        </p:spPr>
        <p:txBody>
          <a:bodyPr wrap="square" lIns="18288" rIns="18288" tIns="0" bIns="0" anchor="t">
            <a:noAutofit/>
          </a:bodyPr>
          <a:lstStyle/>
          <a:p>
            <a:pPr algn="l">
              <a:spcAft>
                <a:spcPts val="0"/>
              </a:spcAft>
            </a:pPr>
            <a:r>
              <a:rPr sz="1150" b="1" i="0">
                <a:solidFill>
                  <a:srgbClr val="2EB56B"/>
                </a:solidFill>
                <a:latin typeface="Calibri"/>
              </a:rPr>
              <a:t>▸</a:t>
            </a:r>
          </a:p>
        </p:txBody>
      </p:sp>
      <p:sp>
        <p:nvSpPr>
          <p:cNvPr id="38" name="TextBox 37"/>
          <p:cNvSpPr txBox="1"/>
          <p:nvPr/>
        </p:nvSpPr>
        <p:spPr>
          <a:xfrm>
            <a:off x="6891512" y="3823081"/>
            <a:ext cx="4568936" cy="274320"/>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It never stops watching.  </a:t>
            </a:r>
            <a:r>
              <a:rPr sz="950" b="0" i="0">
                <a:solidFill>
                  <a:srgbClr val="363F4D"/>
                </a:solidFill>
                <a:latin typeface="Calibri"/>
              </a:rPr>
              <a:t>Reconciliation continues after the deploy.</a:t>
            </a:r>
          </a:p>
        </p:txBody>
      </p:sp>
      <p:sp>
        <p:nvSpPr>
          <p:cNvPr id="39" name="Rounded Rectangle 38"/>
          <p:cNvSpPr/>
          <p:nvPr/>
        </p:nvSpPr>
        <p:spPr>
          <a:xfrm>
            <a:off x="475488" y="4572000"/>
            <a:ext cx="11240993" cy="566928"/>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75488" y="4572000"/>
            <a:ext cx="91440" cy="56692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59536" y="4663440"/>
            <a:ext cx="10555193" cy="384048"/>
          </a:xfrm>
          <a:prstGeom prst="rect">
            <a:avLst/>
          </a:prstGeom>
          <a:noFill/>
        </p:spPr>
        <p:txBody>
          <a:bodyPr wrap="square" lIns="18288" rIns="18288" tIns="0" bIns="0" anchor="ctr">
            <a:noAutofit/>
          </a:bodyPr>
          <a:lstStyle/>
          <a:p>
            <a:pPr algn="l">
              <a:lnSpc>
                <a:spcPct val="120000"/>
              </a:lnSpc>
              <a:spcAft>
                <a:spcPts val="0"/>
              </a:spcAft>
            </a:pPr>
            <a:r>
              <a:rPr sz="1400" b="0" i="1">
                <a:solidFill>
                  <a:srgbClr val="1F2B3D"/>
                </a:solidFill>
                <a:latin typeface="Calibri Light"/>
              </a:rPr>
              <a:t>Ask your security team which they would rather sign off: a build runner with production write access, or a read-only Git token.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Inside Argo CD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Three controllers and a cache. Knowing which one is unhappy is most of troubleshooting.</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Repo-server renders, application-controller reconciles, API server serves the UI. Redis is only a cache.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2604508" cy="21945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2604508"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2238748"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API server</a:t>
            </a:r>
          </a:p>
        </p:txBody>
      </p:sp>
      <p:sp>
        <p:nvSpPr>
          <p:cNvPr id="16" name="TextBox 15"/>
          <p:cNvSpPr txBox="1"/>
          <p:nvPr/>
        </p:nvSpPr>
        <p:spPr>
          <a:xfrm>
            <a:off x="658368" y="2304288"/>
            <a:ext cx="2238748" cy="1417319"/>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gRPC/REST, the web UI and the CLI. Authentication, RBAC, and the place you trigger a sync from. Holds no state of its own.</a:t>
            </a:r>
          </a:p>
        </p:txBody>
      </p:sp>
      <p:sp>
        <p:nvSpPr>
          <p:cNvPr id="17" name="Rounded Rectangle 16"/>
          <p:cNvSpPr/>
          <p:nvPr/>
        </p:nvSpPr>
        <p:spPr>
          <a:xfrm>
            <a:off x="3354316" y="1645920"/>
            <a:ext cx="2604508" cy="21945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354316" y="1645920"/>
            <a:ext cx="2604508" cy="685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37196" y="1892808"/>
            <a:ext cx="2238748"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Repository server</a:t>
            </a:r>
          </a:p>
        </p:txBody>
      </p:sp>
      <p:sp>
        <p:nvSpPr>
          <p:cNvPr id="20" name="TextBox 19"/>
          <p:cNvSpPr txBox="1"/>
          <p:nvPr/>
        </p:nvSpPr>
        <p:spPr>
          <a:xfrm>
            <a:off x="3537196" y="2304288"/>
            <a:ext cx="2238748" cy="1417319"/>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Clones the Git repo and renders the manifests — helm template, kustomize build, or plain YAML. The slowest part, and where most 'why is my chart not rendering' problems live.</a:t>
            </a:r>
          </a:p>
        </p:txBody>
      </p:sp>
      <p:sp>
        <p:nvSpPr>
          <p:cNvPr id="21" name="Rounded Rectangle 20"/>
          <p:cNvSpPr/>
          <p:nvPr/>
        </p:nvSpPr>
        <p:spPr>
          <a:xfrm>
            <a:off x="6233144" y="1645920"/>
            <a:ext cx="2604508" cy="21945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33144" y="1645920"/>
            <a:ext cx="2604508"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16024" y="1892808"/>
            <a:ext cx="2238748"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Application controller</a:t>
            </a:r>
          </a:p>
        </p:txBody>
      </p:sp>
      <p:sp>
        <p:nvSpPr>
          <p:cNvPr id="24" name="TextBox 23"/>
          <p:cNvSpPr txBox="1"/>
          <p:nvPr/>
        </p:nvSpPr>
        <p:spPr>
          <a:xfrm>
            <a:off x="6416024" y="2304288"/>
            <a:ext cx="2238748" cy="1417319"/>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The engine. Compares rendered manifests with live cluster state, decides Synced or OutOfSync, applies changes when allowed, and reports Health.</a:t>
            </a:r>
          </a:p>
        </p:txBody>
      </p:sp>
      <p:sp>
        <p:nvSpPr>
          <p:cNvPr id="25" name="Rounded Rectangle 24"/>
          <p:cNvSpPr/>
          <p:nvPr/>
        </p:nvSpPr>
        <p:spPr>
          <a:xfrm>
            <a:off x="9111973" y="1645920"/>
            <a:ext cx="2604508" cy="21945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111973" y="1645920"/>
            <a:ext cx="2604508" cy="68580"/>
          </a:xfrm>
          <a:prstGeom prst="rect">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94853" y="1892808"/>
            <a:ext cx="2238748" cy="310896"/>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Redis</a:t>
            </a:r>
          </a:p>
        </p:txBody>
      </p:sp>
      <p:sp>
        <p:nvSpPr>
          <p:cNvPr id="28" name="TextBox 27"/>
          <p:cNvSpPr txBox="1"/>
          <p:nvPr/>
        </p:nvSpPr>
        <p:spPr>
          <a:xfrm>
            <a:off x="9294853" y="2304288"/>
            <a:ext cx="2238748" cy="1417319"/>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A cache of rendered manifests and resource trees. Safe to lose — Argo CD rebuilds it. Never the source of truth.</a:t>
            </a:r>
          </a:p>
        </p:txBody>
      </p:sp>
      <p:sp>
        <p:nvSpPr>
          <p:cNvPr id="29" name="Rounded Rectangle 28"/>
          <p:cNvSpPr/>
          <p:nvPr/>
        </p:nvSpPr>
        <p:spPr>
          <a:xfrm>
            <a:off x="475488" y="4096512"/>
            <a:ext cx="11240993" cy="151790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75488" y="4096512"/>
            <a:ext cx="77724" cy="151790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31520" y="4242816"/>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reconciliation loop, in one sentence each time it runs</a:t>
            </a:r>
          </a:p>
        </p:txBody>
      </p:sp>
      <p:sp>
        <p:nvSpPr>
          <p:cNvPr id="32" name="TextBox 31"/>
          <p:cNvSpPr txBox="1"/>
          <p:nvPr/>
        </p:nvSpPr>
        <p:spPr>
          <a:xfrm>
            <a:off x="731520" y="4645152"/>
            <a:ext cx="10783793" cy="841248"/>
          </a:xfrm>
          <a:prstGeom prst="rect">
            <a:avLst/>
          </a:prstGeom>
          <a:noFill/>
        </p:spPr>
        <p:txBody>
          <a:bodyPr wrap="square" lIns="18288" rIns="18288" tIns="0" bIns="0" anchor="t">
            <a:noAutofit/>
          </a:bodyPr>
          <a:lstStyle/>
          <a:p>
            <a:pPr algn="l">
              <a:lnSpc>
                <a:spcPct val="124000"/>
              </a:lnSpc>
              <a:spcAft>
                <a:spcPts val="0"/>
              </a:spcAft>
            </a:pPr>
            <a:r>
              <a:rPr sz="900" b="0" i="0">
                <a:solidFill>
                  <a:srgbClr val="363F4D"/>
                </a:solidFill>
                <a:latin typeface="Calibri"/>
              </a:rPr>
              <a:t>Fetch the target revision from Git  →  render the manifests  →  read the live objects from the cluster  →  diff them  →  report OutOfSync if they differ  →  if the sync policy allows it, apply the difference  →  wait for the resources to become Healthy.</a:t>
            </a:r>
          </a:p>
          <a:p>
            <a:pPr algn="l">
              <a:lnSpc>
                <a:spcPct val="124000"/>
              </a:lnSpc>
              <a:spcAft>
                <a:spcPts val="0"/>
              </a:spcAft>
            </a:pPr>
            <a:r>
              <a:rPr sz="900" b="0" i="0">
                <a:solidFill>
                  <a:srgbClr val="363F4D"/>
                </a:solidFill>
                <a:latin typeface="Calibri"/>
              </a:rPr>
              <a:t/>
            </a:r>
          </a:p>
          <a:p>
            <a:pPr algn="l">
              <a:lnSpc>
                <a:spcPct val="124000"/>
              </a:lnSpc>
              <a:spcAft>
                <a:spcPts val="0"/>
              </a:spcAft>
            </a:pPr>
            <a:r>
              <a:rPr sz="900" b="0" i="0">
                <a:solidFill>
                  <a:srgbClr val="363F4D"/>
                </a:solidFill>
                <a:latin typeface="Calibri"/>
              </a:rPr>
              <a:t>By default this runs every three minutes, and immediately when a webhook tells it Git changed. Configure the webhook — polling every three minutes is fine for correctness and terrible for a demo.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Application — Argo CD's One Essential Object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Where the manifests come from, where they go, and how much autonomy the controller has.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An Application is a pointer to a folder in Git plus a destination and a policy.</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6675120" cy="395020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502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6126480"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application.yaml</a:t>
            </a:r>
          </a:p>
        </p:txBody>
      </p:sp>
      <p:sp>
        <p:nvSpPr>
          <p:cNvPr id="16" name="TextBox 15"/>
          <p:cNvSpPr txBox="1"/>
          <p:nvPr/>
        </p:nvSpPr>
        <p:spPr>
          <a:xfrm>
            <a:off x="749808" y="2066543"/>
            <a:ext cx="6126480" cy="208483"/>
          </a:xfrm>
          <a:prstGeom prst="rect">
            <a:avLst/>
          </a:prstGeom>
          <a:noFill/>
        </p:spPr>
        <p:txBody>
          <a:bodyPr wrap="square" lIns="18288" rIns="18288" tIns="0" bIns="0" anchor="t">
            <a:noAutofit/>
          </a:bodyPr>
          <a:lstStyle/>
          <a:p>
            <a:pPr algn="l">
              <a:spcAft>
                <a:spcPts val="0"/>
              </a:spcAft>
            </a:pPr>
            <a:r>
              <a:rPr sz="1041" b="0" i="0">
                <a:solidFill>
                  <a:srgbClr val="2BA8D8"/>
                </a:solidFill>
                <a:latin typeface="Consolas"/>
              </a:rPr>
              <a:t>apiVersion: argoproj.io/v1alpha1</a:t>
            </a:r>
          </a:p>
        </p:txBody>
      </p:sp>
      <p:sp>
        <p:nvSpPr>
          <p:cNvPr id="17" name="TextBox 16"/>
          <p:cNvSpPr txBox="1"/>
          <p:nvPr/>
        </p:nvSpPr>
        <p:spPr>
          <a:xfrm>
            <a:off x="749808" y="2238451"/>
            <a:ext cx="6126480" cy="208483"/>
          </a:xfrm>
          <a:prstGeom prst="rect">
            <a:avLst/>
          </a:prstGeom>
          <a:noFill/>
        </p:spPr>
        <p:txBody>
          <a:bodyPr wrap="square" lIns="18288" rIns="18288" tIns="0" bIns="0" anchor="t">
            <a:noAutofit/>
          </a:bodyPr>
          <a:lstStyle/>
          <a:p>
            <a:pPr algn="l">
              <a:spcAft>
                <a:spcPts val="0"/>
              </a:spcAft>
            </a:pPr>
            <a:r>
              <a:rPr sz="1041" b="0" i="0">
                <a:solidFill>
                  <a:srgbClr val="2BA8D8"/>
                </a:solidFill>
                <a:latin typeface="Consolas"/>
              </a:rPr>
              <a:t>kind: Application</a:t>
            </a:r>
          </a:p>
        </p:txBody>
      </p:sp>
      <p:sp>
        <p:nvSpPr>
          <p:cNvPr id="18" name="TextBox 17"/>
          <p:cNvSpPr txBox="1"/>
          <p:nvPr/>
        </p:nvSpPr>
        <p:spPr>
          <a:xfrm>
            <a:off x="749808" y="2410358"/>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metadata:</a:t>
            </a:r>
          </a:p>
        </p:txBody>
      </p:sp>
      <p:sp>
        <p:nvSpPr>
          <p:cNvPr id="19" name="TextBox 18"/>
          <p:cNvSpPr txBox="1"/>
          <p:nvPr/>
        </p:nvSpPr>
        <p:spPr>
          <a:xfrm>
            <a:off x="749808" y="2582265"/>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name: billing</a:t>
            </a:r>
          </a:p>
        </p:txBody>
      </p:sp>
      <p:sp>
        <p:nvSpPr>
          <p:cNvPr id="20" name="TextBox 19"/>
          <p:cNvSpPr txBox="1"/>
          <p:nvPr/>
        </p:nvSpPr>
        <p:spPr>
          <a:xfrm>
            <a:off x="749808" y="2754172"/>
            <a:ext cx="6126480" cy="208483"/>
          </a:xfrm>
          <a:prstGeom prst="rect">
            <a:avLst/>
          </a:prstGeom>
          <a:noFill/>
        </p:spPr>
        <p:txBody>
          <a:bodyPr wrap="square" lIns="18288" rIns="18288" tIns="0" bIns="0" anchor="t">
            <a:noAutofit/>
          </a:bodyPr>
          <a:lstStyle/>
          <a:p>
            <a:pPr algn="l">
              <a:spcAft>
                <a:spcPts val="0"/>
              </a:spcAft>
            </a:pPr>
            <a:r>
              <a:rPr sz="1041" b="0" i="0">
                <a:solidFill>
                  <a:srgbClr val="6B7A8D"/>
                </a:solidFill>
                <a:latin typeface="Consolas"/>
              </a:rPr>
              <a:t>  namespace: argocd</a:t>
            </a:r>
          </a:p>
        </p:txBody>
      </p:sp>
      <p:sp>
        <p:nvSpPr>
          <p:cNvPr id="21" name="TextBox 20"/>
          <p:cNvSpPr txBox="1"/>
          <p:nvPr/>
        </p:nvSpPr>
        <p:spPr>
          <a:xfrm>
            <a:off x="749808" y="2926080"/>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spec:</a:t>
            </a:r>
          </a:p>
        </p:txBody>
      </p:sp>
      <p:sp>
        <p:nvSpPr>
          <p:cNvPr id="22" name="TextBox 21"/>
          <p:cNvSpPr txBox="1"/>
          <p:nvPr/>
        </p:nvSpPr>
        <p:spPr>
          <a:xfrm>
            <a:off x="749808" y="3097987"/>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project: payments</a:t>
            </a:r>
          </a:p>
        </p:txBody>
      </p:sp>
      <p:sp>
        <p:nvSpPr>
          <p:cNvPr id="23" name="TextBox 22"/>
          <p:cNvSpPr txBox="1"/>
          <p:nvPr/>
        </p:nvSpPr>
        <p:spPr>
          <a:xfrm>
            <a:off x="749808" y="3269894"/>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source:</a:t>
            </a:r>
          </a:p>
        </p:txBody>
      </p:sp>
      <p:sp>
        <p:nvSpPr>
          <p:cNvPr id="24" name="TextBox 23"/>
          <p:cNvSpPr txBox="1"/>
          <p:nvPr/>
        </p:nvSpPr>
        <p:spPr>
          <a:xfrm>
            <a:off x="749808" y="3441801"/>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repoURL: https://github.com/acme/platform.git</a:t>
            </a:r>
          </a:p>
        </p:txBody>
      </p:sp>
      <p:sp>
        <p:nvSpPr>
          <p:cNvPr id="25" name="TextBox 24"/>
          <p:cNvSpPr txBox="1"/>
          <p:nvPr/>
        </p:nvSpPr>
        <p:spPr>
          <a:xfrm>
            <a:off x="749808" y="3613708"/>
            <a:ext cx="6126480" cy="208483"/>
          </a:xfrm>
          <a:prstGeom prst="rect">
            <a:avLst/>
          </a:prstGeom>
          <a:noFill/>
        </p:spPr>
        <p:txBody>
          <a:bodyPr wrap="square" lIns="18288" rIns="18288" tIns="0" bIns="0" anchor="t">
            <a:noAutofit/>
          </a:bodyPr>
          <a:lstStyle/>
          <a:p>
            <a:pPr algn="l">
              <a:spcAft>
                <a:spcPts val="0"/>
              </a:spcAft>
            </a:pPr>
            <a:r>
              <a:rPr sz="1041" b="0" i="0">
                <a:solidFill>
                  <a:srgbClr val="F59E0B"/>
                </a:solidFill>
                <a:latin typeface="Consolas"/>
              </a:rPr>
              <a:t>    targetRevision: main</a:t>
            </a:r>
          </a:p>
        </p:txBody>
      </p:sp>
      <p:sp>
        <p:nvSpPr>
          <p:cNvPr id="26" name="TextBox 25"/>
          <p:cNvSpPr txBox="1"/>
          <p:nvPr/>
        </p:nvSpPr>
        <p:spPr>
          <a:xfrm>
            <a:off x="749808" y="3785616"/>
            <a:ext cx="6126480" cy="208483"/>
          </a:xfrm>
          <a:prstGeom prst="rect">
            <a:avLst/>
          </a:prstGeom>
          <a:noFill/>
        </p:spPr>
        <p:txBody>
          <a:bodyPr wrap="square" lIns="18288" rIns="18288" tIns="0" bIns="0" anchor="t">
            <a:noAutofit/>
          </a:bodyPr>
          <a:lstStyle/>
          <a:p>
            <a:pPr algn="l">
              <a:spcAft>
                <a:spcPts val="0"/>
              </a:spcAft>
            </a:pPr>
            <a:r>
              <a:rPr sz="1041" b="0" i="0">
                <a:solidFill>
                  <a:srgbClr val="F59E0B"/>
                </a:solidFill>
                <a:latin typeface="Consolas"/>
              </a:rPr>
              <a:t>    path: apps/billing/overlays/prod</a:t>
            </a:r>
          </a:p>
        </p:txBody>
      </p:sp>
      <p:sp>
        <p:nvSpPr>
          <p:cNvPr id="27" name="TextBox 26"/>
          <p:cNvSpPr txBox="1"/>
          <p:nvPr/>
        </p:nvSpPr>
        <p:spPr>
          <a:xfrm>
            <a:off x="749808" y="3957523"/>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destination:</a:t>
            </a:r>
          </a:p>
        </p:txBody>
      </p:sp>
      <p:sp>
        <p:nvSpPr>
          <p:cNvPr id="28" name="TextBox 27"/>
          <p:cNvSpPr txBox="1"/>
          <p:nvPr/>
        </p:nvSpPr>
        <p:spPr>
          <a:xfrm>
            <a:off x="749808" y="4129430"/>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server: https://kubernetes.default.svc</a:t>
            </a:r>
          </a:p>
        </p:txBody>
      </p:sp>
      <p:sp>
        <p:nvSpPr>
          <p:cNvPr id="29" name="TextBox 28"/>
          <p:cNvSpPr txBox="1"/>
          <p:nvPr/>
        </p:nvSpPr>
        <p:spPr>
          <a:xfrm>
            <a:off x="749808" y="4301337"/>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namespace: payments</a:t>
            </a:r>
          </a:p>
        </p:txBody>
      </p:sp>
      <p:sp>
        <p:nvSpPr>
          <p:cNvPr id="30" name="TextBox 29"/>
          <p:cNvSpPr txBox="1"/>
          <p:nvPr/>
        </p:nvSpPr>
        <p:spPr>
          <a:xfrm>
            <a:off x="749808" y="4473244"/>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syncPolicy:</a:t>
            </a:r>
          </a:p>
        </p:txBody>
      </p:sp>
      <p:sp>
        <p:nvSpPr>
          <p:cNvPr id="31" name="TextBox 30"/>
          <p:cNvSpPr txBox="1"/>
          <p:nvPr/>
        </p:nvSpPr>
        <p:spPr>
          <a:xfrm>
            <a:off x="749808" y="4645152"/>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automated:</a:t>
            </a:r>
          </a:p>
        </p:txBody>
      </p:sp>
      <p:sp>
        <p:nvSpPr>
          <p:cNvPr id="32" name="TextBox 31"/>
          <p:cNvSpPr txBox="1"/>
          <p:nvPr/>
        </p:nvSpPr>
        <p:spPr>
          <a:xfrm>
            <a:off x="749808" y="4817059"/>
            <a:ext cx="6126480" cy="208483"/>
          </a:xfrm>
          <a:prstGeom prst="rect">
            <a:avLst/>
          </a:prstGeom>
          <a:noFill/>
        </p:spPr>
        <p:txBody>
          <a:bodyPr wrap="square" lIns="18288" rIns="18288" tIns="0" bIns="0" anchor="t">
            <a:noAutofit/>
          </a:bodyPr>
          <a:lstStyle/>
          <a:p>
            <a:pPr algn="l">
              <a:spcAft>
                <a:spcPts val="0"/>
              </a:spcAft>
            </a:pPr>
            <a:r>
              <a:rPr sz="1041" b="0" i="0">
                <a:solidFill>
                  <a:srgbClr val="2EB56B"/>
                </a:solidFill>
                <a:latin typeface="Consolas"/>
              </a:rPr>
              <a:t>      prune: true</a:t>
            </a:r>
          </a:p>
        </p:txBody>
      </p:sp>
      <p:sp>
        <p:nvSpPr>
          <p:cNvPr id="33" name="TextBox 32"/>
          <p:cNvSpPr txBox="1"/>
          <p:nvPr/>
        </p:nvSpPr>
        <p:spPr>
          <a:xfrm>
            <a:off x="749808" y="4988966"/>
            <a:ext cx="6126480" cy="208483"/>
          </a:xfrm>
          <a:prstGeom prst="rect">
            <a:avLst/>
          </a:prstGeom>
          <a:noFill/>
        </p:spPr>
        <p:txBody>
          <a:bodyPr wrap="square" lIns="18288" rIns="18288" tIns="0" bIns="0" anchor="t">
            <a:noAutofit/>
          </a:bodyPr>
          <a:lstStyle/>
          <a:p>
            <a:pPr algn="l">
              <a:spcAft>
                <a:spcPts val="0"/>
              </a:spcAft>
            </a:pPr>
            <a:r>
              <a:rPr sz="1041" b="0" i="0">
                <a:solidFill>
                  <a:srgbClr val="2EB56B"/>
                </a:solidFill>
                <a:latin typeface="Consolas"/>
              </a:rPr>
              <a:t>      selfHeal: true</a:t>
            </a:r>
          </a:p>
        </p:txBody>
      </p:sp>
      <p:sp>
        <p:nvSpPr>
          <p:cNvPr id="34" name="TextBox 33"/>
          <p:cNvSpPr txBox="1"/>
          <p:nvPr/>
        </p:nvSpPr>
        <p:spPr>
          <a:xfrm>
            <a:off x="749808" y="5160873"/>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syncOptions:</a:t>
            </a:r>
          </a:p>
        </p:txBody>
      </p:sp>
      <p:sp>
        <p:nvSpPr>
          <p:cNvPr id="35" name="TextBox 34"/>
          <p:cNvSpPr txBox="1"/>
          <p:nvPr/>
        </p:nvSpPr>
        <p:spPr>
          <a:xfrm>
            <a:off x="749808" y="5332780"/>
            <a:ext cx="6126480" cy="208483"/>
          </a:xfrm>
          <a:prstGeom prst="rect">
            <a:avLst/>
          </a:prstGeom>
          <a:noFill/>
        </p:spPr>
        <p:txBody>
          <a:bodyPr wrap="square" lIns="18288" rIns="18288" tIns="0" bIns="0" anchor="t">
            <a:noAutofit/>
          </a:bodyPr>
          <a:lstStyle/>
          <a:p>
            <a:pPr algn="l">
              <a:spcAft>
                <a:spcPts val="0"/>
              </a:spcAft>
            </a:pPr>
            <a:r>
              <a:rPr sz="1041" b="0" i="0">
                <a:solidFill>
                  <a:srgbClr val="D9E2F0"/>
                </a:solidFill>
                <a:latin typeface="Consolas"/>
              </a:rPr>
              <a:t>      - CreateNamespace=true</a:t>
            </a:r>
          </a:p>
        </p:txBody>
      </p:sp>
      <p:sp>
        <p:nvSpPr>
          <p:cNvPr id="36" name="Rounded Rectangle 35"/>
          <p:cNvSpPr/>
          <p:nvPr/>
        </p:nvSpPr>
        <p:spPr>
          <a:xfrm>
            <a:off x="7379208" y="1645920"/>
            <a:ext cx="4337273" cy="192024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379208" y="1645920"/>
            <a:ext cx="77724" cy="192024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635240" y="1792224"/>
            <a:ext cx="388007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Read it top to bottom</a:t>
            </a:r>
          </a:p>
        </p:txBody>
      </p:sp>
      <p:sp>
        <p:nvSpPr>
          <p:cNvPr id="39" name="TextBox 38"/>
          <p:cNvSpPr txBox="1"/>
          <p:nvPr/>
        </p:nvSpPr>
        <p:spPr>
          <a:xfrm>
            <a:off x="7635240" y="2194560"/>
            <a:ext cx="3880073" cy="1243584"/>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project — which guard rails apply</a:t>
            </a:r>
          </a:p>
          <a:p>
            <a:pPr algn="l">
              <a:lnSpc>
                <a:spcPct val="124000"/>
              </a:lnSpc>
              <a:spcAft>
                <a:spcPts val="0"/>
              </a:spcAft>
            </a:pPr>
            <a:r>
              <a:rPr sz="1200" b="0" i="0">
                <a:solidFill>
                  <a:srgbClr val="363F4D"/>
                </a:solidFill>
                <a:latin typeface="Calibri"/>
              </a:rPr>
              <a:t>source — which repo, which branch or tag, which folder</a:t>
            </a:r>
          </a:p>
          <a:p>
            <a:pPr algn="l">
              <a:lnSpc>
                <a:spcPct val="124000"/>
              </a:lnSpc>
              <a:spcAft>
                <a:spcPts val="0"/>
              </a:spcAft>
            </a:pPr>
            <a:r>
              <a:rPr sz="1200" b="0" i="0">
                <a:solidFill>
                  <a:srgbClr val="363F4D"/>
                </a:solidFill>
                <a:latin typeface="Calibri"/>
              </a:rPr>
              <a:t>destination — which cluster and namespace</a:t>
            </a:r>
          </a:p>
          <a:p>
            <a:pPr algn="l">
              <a:lnSpc>
                <a:spcPct val="124000"/>
              </a:lnSpc>
              <a:spcAft>
                <a:spcPts val="0"/>
              </a:spcAft>
            </a:pPr>
            <a:r>
              <a:rPr sz="1200" b="0" i="0">
                <a:solidFill>
                  <a:srgbClr val="363F4D"/>
                </a:solidFill>
                <a:latin typeface="Calibri"/>
              </a:rPr>
              <a:t>syncPolicy — how much it may do without you</a:t>
            </a:r>
          </a:p>
        </p:txBody>
      </p:sp>
      <p:sp>
        <p:nvSpPr>
          <p:cNvPr id="40" name="Rounded Rectangle 39"/>
          <p:cNvSpPr/>
          <p:nvPr/>
        </p:nvSpPr>
        <p:spPr>
          <a:xfrm>
            <a:off x="7379208" y="3767328"/>
            <a:ext cx="4337273" cy="182880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7379208" y="3767328"/>
            <a:ext cx="77724"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635240" y="3913632"/>
            <a:ext cx="388007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targetRevision is a decision</a:t>
            </a:r>
          </a:p>
        </p:txBody>
      </p:sp>
      <p:sp>
        <p:nvSpPr>
          <p:cNvPr id="43" name="TextBox 42"/>
          <p:cNvSpPr txBox="1"/>
          <p:nvPr/>
        </p:nvSpPr>
        <p:spPr>
          <a:xfrm>
            <a:off x="7635240" y="4315968"/>
            <a:ext cx="3880073" cy="1152144"/>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main gives you continuous delivery and no way to pin a release.</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A tag or a digest gives you a deliberate promotion step. Production usually wants the second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Sync Status and Health Are Not the Same Thing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Two independent signals. Confusing them is the most common Argo CD misreading.</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Synced means the cluster matches Git. Healthy means the workload actually works.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5428472" cy="1874519"/>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77724"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179222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SYNC STATUS  ·  does live match Git?</a:t>
            </a:r>
          </a:p>
        </p:txBody>
      </p:sp>
      <p:sp>
        <p:nvSpPr>
          <p:cNvPr id="16" name="TextBox 15"/>
          <p:cNvSpPr txBox="1"/>
          <p:nvPr/>
        </p:nvSpPr>
        <p:spPr>
          <a:xfrm>
            <a:off x="731520" y="2194560"/>
            <a:ext cx="4971272" cy="119786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Synced — every rendered manifest matches the live object.</a:t>
            </a:r>
          </a:p>
          <a:p>
            <a:pPr algn="l">
              <a:lnSpc>
                <a:spcPct val="124000"/>
              </a:lnSpc>
              <a:spcAft>
                <a:spcPts val="0"/>
              </a:spcAft>
            </a:pPr>
            <a:r>
              <a:rPr sz="1250" b="0" i="0">
                <a:solidFill>
                  <a:srgbClr val="363F4D"/>
                </a:solidFill>
                <a:latin typeface="Calibri"/>
              </a:rPr>
              <a:t>OutOfSync — at least one differs, or does not exist yet.</a:t>
            </a:r>
          </a:p>
          <a:p>
            <a:pPr algn="l">
              <a:lnSpc>
                <a:spcPct val="124000"/>
              </a:lnSpc>
              <a:spcAft>
                <a:spcPts val="0"/>
              </a:spcAft>
            </a:pPr>
            <a:r>
              <a:rPr sz="1250" b="0" i="0">
                <a:solidFill>
                  <a:srgbClr val="363F4D"/>
                </a:solidFill>
                <a:latin typeface="Calibri"/>
              </a:rPr>
              <a:t>Unknown — Argo CD could not render or could not read the cluster.</a:t>
            </a:r>
          </a:p>
        </p:txBody>
      </p:sp>
      <p:sp>
        <p:nvSpPr>
          <p:cNvPr id="17" name="Rounded Rectangle 16"/>
          <p:cNvSpPr/>
          <p:nvPr/>
        </p:nvSpPr>
        <p:spPr>
          <a:xfrm>
            <a:off x="6288008" y="1645920"/>
            <a:ext cx="5428472" cy="1874519"/>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88008" y="1645920"/>
            <a:ext cx="77724" cy="1874519"/>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44040" y="179222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HEALTH  ·  is the workload working?</a:t>
            </a:r>
          </a:p>
        </p:txBody>
      </p:sp>
      <p:sp>
        <p:nvSpPr>
          <p:cNvPr id="20" name="TextBox 19"/>
          <p:cNvSpPr txBox="1"/>
          <p:nvPr/>
        </p:nvSpPr>
        <p:spPr>
          <a:xfrm>
            <a:off x="6544040" y="2194560"/>
            <a:ext cx="4971272" cy="119786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Healthy — the resource reports itself ready.</a:t>
            </a:r>
          </a:p>
          <a:p>
            <a:pPr algn="l">
              <a:lnSpc>
                <a:spcPct val="124000"/>
              </a:lnSpc>
              <a:spcAft>
                <a:spcPts val="0"/>
              </a:spcAft>
            </a:pPr>
            <a:r>
              <a:rPr sz="1250" b="0" i="0">
                <a:solidFill>
                  <a:srgbClr val="363F4D"/>
                </a:solidFill>
                <a:latin typeface="Calibri"/>
              </a:rPr>
              <a:t>Progressing — still rolling out.</a:t>
            </a:r>
          </a:p>
          <a:p>
            <a:pPr algn="l">
              <a:lnSpc>
                <a:spcPct val="124000"/>
              </a:lnSpc>
              <a:spcAft>
                <a:spcPts val="0"/>
              </a:spcAft>
            </a:pPr>
            <a:r>
              <a:rPr sz="1250" b="0" i="0">
                <a:solidFill>
                  <a:srgbClr val="363F4D"/>
                </a:solidFill>
                <a:latin typeface="Calibri"/>
              </a:rPr>
              <a:t>Degraded — failed, crash-looping or timed out.</a:t>
            </a:r>
          </a:p>
          <a:p>
            <a:pPr algn="l">
              <a:lnSpc>
                <a:spcPct val="124000"/>
              </a:lnSpc>
              <a:spcAft>
                <a:spcPts val="0"/>
              </a:spcAft>
            </a:pPr>
            <a:r>
              <a:rPr sz="1250" b="0" i="0">
                <a:solidFill>
                  <a:srgbClr val="363F4D"/>
                </a:solidFill>
                <a:latin typeface="Calibri"/>
              </a:rPr>
              <a:t>Missing — expected, not present.</a:t>
            </a:r>
          </a:p>
        </p:txBody>
      </p:sp>
      <p:sp>
        <p:nvSpPr>
          <p:cNvPr id="21" name="Rectangle 20"/>
          <p:cNvSpPr/>
          <p:nvPr/>
        </p:nvSpPr>
        <p:spPr>
          <a:xfrm>
            <a:off x="475488" y="3749039"/>
            <a:ext cx="160020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Sync</a:t>
            </a:r>
          </a:p>
        </p:txBody>
      </p:sp>
      <p:sp>
        <p:nvSpPr>
          <p:cNvPr id="22" name="Rectangle 21"/>
          <p:cNvSpPr/>
          <p:nvPr/>
        </p:nvSpPr>
        <p:spPr>
          <a:xfrm>
            <a:off x="2075688" y="3749039"/>
            <a:ext cx="1600200" cy="42062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Health</a:t>
            </a:r>
          </a:p>
        </p:txBody>
      </p:sp>
      <p:sp>
        <p:nvSpPr>
          <p:cNvPr id="23" name="Rectangle 22"/>
          <p:cNvSpPr/>
          <p:nvPr/>
        </p:nvSpPr>
        <p:spPr>
          <a:xfrm>
            <a:off x="3675887" y="3749039"/>
            <a:ext cx="489204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it means</a:t>
            </a:r>
          </a:p>
        </p:txBody>
      </p:sp>
      <p:sp>
        <p:nvSpPr>
          <p:cNvPr id="24" name="Rectangle 23"/>
          <p:cNvSpPr/>
          <p:nvPr/>
        </p:nvSpPr>
        <p:spPr>
          <a:xfrm>
            <a:off x="8567928" y="3749039"/>
            <a:ext cx="3145536"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to do</a:t>
            </a:r>
          </a:p>
        </p:txBody>
      </p:sp>
      <p:sp>
        <p:nvSpPr>
          <p:cNvPr id="25" name="Rectangle 24"/>
          <p:cNvSpPr/>
          <p:nvPr/>
        </p:nvSpPr>
        <p:spPr>
          <a:xfrm>
            <a:off x="475488" y="4169663"/>
            <a:ext cx="1600200"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Synced</a:t>
            </a:r>
          </a:p>
        </p:txBody>
      </p:sp>
      <p:sp>
        <p:nvSpPr>
          <p:cNvPr id="26" name="Rectangle 25"/>
          <p:cNvSpPr/>
          <p:nvPr/>
        </p:nvSpPr>
        <p:spPr>
          <a:xfrm>
            <a:off x="2075688" y="4169663"/>
            <a:ext cx="1600200"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Healthy</a:t>
            </a:r>
          </a:p>
        </p:txBody>
      </p:sp>
      <p:sp>
        <p:nvSpPr>
          <p:cNvPr id="27" name="Rectangle 26"/>
          <p:cNvSpPr/>
          <p:nvPr/>
        </p:nvSpPr>
        <p:spPr>
          <a:xfrm>
            <a:off x="3675887" y="4169663"/>
            <a:ext cx="4892040"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Normal. The cluster matches Git and the app is running.</a:t>
            </a:r>
          </a:p>
        </p:txBody>
      </p:sp>
      <p:sp>
        <p:nvSpPr>
          <p:cNvPr id="28" name="Rectangle 27"/>
          <p:cNvSpPr/>
          <p:nvPr/>
        </p:nvSpPr>
        <p:spPr>
          <a:xfrm>
            <a:off x="8567928" y="4169663"/>
            <a:ext cx="3145536"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Nothing</a:t>
            </a:r>
          </a:p>
        </p:txBody>
      </p:sp>
      <p:sp>
        <p:nvSpPr>
          <p:cNvPr id="29" name="Rectangle 28"/>
          <p:cNvSpPr/>
          <p:nvPr/>
        </p:nvSpPr>
        <p:spPr>
          <a:xfrm>
            <a:off x="475488" y="4526279"/>
            <a:ext cx="1600200"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Synced</a:t>
            </a:r>
          </a:p>
        </p:txBody>
      </p:sp>
      <p:sp>
        <p:nvSpPr>
          <p:cNvPr id="30" name="Rectangle 29"/>
          <p:cNvSpPr/>
          <p:nvPr/>
        </p:nvSpPr>
        <p:spPr>
          <a:xfrm>
            <a:off x="2075688" y="4526279"/>
            <a:ext cx="1600200"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Degraded</a:t>
            </a:r>
          </a:p>
        </p:txBody>
      </p:sp>
      <p:sp>
        <p:nvSpPr>
          <p:cNvPr id="31" name="Rectangle 30"/>
          <p:cNvSpPr/>
          <p:nvPr/>
        </p:nvSpPr>
        <p:spPr>
          <a:xfrm>
            <a:off x="3675887" y="4526279"/>
            <a:ext cx="4892040"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00" b="0" i="0">
                <a:solidFill>
                  <a:srgbClr val="363F4D"/>
                </a:solidFill>
                <a:latin typeface="Calibri"/>
              </a:rPr>
              <a:t>Argo CD delivered exactly what Git asked for, and what Git asked for is broken.</a:t>
            </a:r>
          </a:p>
        </p:txBody>
      </p:sp>
      <p:sp>
        <p:nvSpPr>
          <p:cNvPr id="32" name="Rectangle 31"/>
          <p:cNvSpPr/>
          <p:nvPr/>
        </p:nvSpPr>
        <p:spPr>
          <a:xfrm>
            <a:off x="8567928" y="4526279"/>
            <a:ext cx="3145536"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Fix the manifest, not Argo CD</a:t>
            </a:r>
          </a:p>
        </p:txBody>
      </p:sp>
      <p:sp>
        <p:nvSpPr>
          <p:cNvPr id="33" name="Rectangle 32"/>
          <p:cNvSpPr/>
          <p:nvPr/>
        </p:nvSpPr>
        <p:spPr>
          <a:xfrm>
            <a:off x="475488" y="4882896"/>
            <a:ext cx="1600200"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OutOfSync</a:t>
            </a:r>
          </a:p>
        </p:txBody>
      </p:sp>
      <p:sp>
        <p:nvSpPr>
          <p:cNvPr id="34" name="Rectangle 33"/>
          <p:cNvSpPr/>
          <p:nvPr/>
        </p:nvSpPr>
        <p:spPr>
          <a:xfrm>
            <a:off x="2075688" y="4882896"/>
            <a:ext cx="1600200"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Healthy</a:t>
            </a:r>
          </a:p>
        </p:txBody>
      </p:sp>
      <p:sp>
        <p:nvSpPr>
          <p:cNvPr id="35" name="Rectangle 34"/>
          <p:cNvSpPr/>
          <p:nvPr/>
        </p:nvSpPr>
        <p:spPr>
          <a:xfrm>
            <a:off x="3675887" y="4882896"/>
            <a:ext cx="4892040"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Someone changed the cluster by hand, or Git moved on.</a:t>
            </a:r>
          </a:p>
        </p:txBody>
      </p:sp>
      <p:sp>
        <p:nvSpPr>
          <p:cNvPr id="36" name="Rectangle 35"/>
          <p:cNvSpPr/>
          <p:nvPr/>
        </p:nvSpPr>
        <p:spPr>
          <a:xfrm>
            <a:off x="8567928" y="4882896"/>
            <a:ext cx="3145536" cy="35661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Diff it, then sync or revert</a:t>
            </a:r>
          </a:p>
        </p:txBody>
      </p:sp>
      <p:sp>
        <p:nvSpPr>
          <p:cNvPr id="37" name="Rectangle 36"/>
          <p:cNvSpPr/>
          <p:nvPr/>
        </p:nvSpPr>
        <p:spPr>
          <a:xfrm>
            <a:off x="475488" y="5239512"/>
            <a:ext cx="1600200"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Unknown</a:t>
            </a:r>
          </a:p>
        </p:txBody>
      </p:sp>
      <p:sp>
        <p:nvSpPr>
          <p:cNvPr id="38" name="Rectangle 37"/>
          <p:cNvSpPr/>
          <p:nvPr/>
        </p:nvSpPr>
        <p:spPr>
          <a:xfrm>
            <a:off x="2075688" y="5239512"/>
            <a:ext cx="1600200"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39" name="Rectangle 38"/>
          <p:cNvSpPr/>
          <p:nvPr/>
        </p:nvSpPr>
        <p:spPr>
          <a:xfrm>
            <a:off x="3675887" y="5239512"/>
            <a:ext cx="4892040"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Render failed or the repo is unreachable.</a:t>
            </a:r>
          </a:p>
        </p:txBody>
      </p:sp>
      <p:sp>
        <p:nvSpPr>
          <p:cNvPr id="40" name="Rectangle 39"/>
          <p:cNvSpPr/>
          <p:nvPr/>
        </p:nvSpPr>
        <p:spPr>
          <a:xfrm>
            <a:off x="8567928" y="5239512"/>
            <a:ext cx="3145536" cy="35661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Read the repo-server logs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Sync Policy — How Much Autonomy You Grant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Three switches. Each one is a genuine operational decision, not a default to copy.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selfHeal makes the cluster un-editable by hand. That is the point, and it will surprise someone.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11240993" cy="7162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8580" cy="7162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13232" y="1848612"/>
            <a:ext cx="310896" cy="310896"/>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1</a:t>
            </a:r>
          </a:p>
        </p:txBody>
      </p:sp>
      <p:sp>
        <p:nvSpPr>
          <p:cNvPr id="16" name="TextBox 15"/>
          <p:cNvSpPr txBox="1"/>
          <p:nvPr/>
        </p:nvSpPr>
        <p:spPr>
          <a:xfrm>
            <a:off x="1152144" y="1764792"/>
            <a:ext cx="10326593" cy="274320"/>
          </a:xfrm>
          <a:prstGeom prst="rect">
            <a:avLst/>
          </a:prstGeom>
          <a:noFill/>
        </p:spPr>
        <p:txBody>
          <a:bodyPr wrap="square" lIns="18288" rIns="18288" tIns="0" bIns="0" anchor="t">
            <a:noAutofit/>
          </a:bodyPr>
          <a:lstStyle/>
          <a:p>
            <a:pPr algn="l">
              <a:spcAft>
                <a:spcPts val="0"/>
              </a:spcAft>
            </a:pPr>
            <a:r>
              <a:rPr sz="1400" b="1" i="0">
                <a:solidFill>
                  <a:srgbClr val="1F2B3D"/>
                </a:solidFill>
                <a:latin typeface="Calibri"/>
              </a:rPr>
              <a:t>automated</a:t>
            </a:r>
          </a:p>
        </p:txBody>
      </p:sp>
      <p:sp>
        <p:nvSpPr>
          <p:cNvPr id="17" name="TextBox 16"/>
          <p:cNvSpPr txBox="1"/>
          <p:nvPr/>
        </p:nvSpPr>
        <p:spPr>
          <a:xfrm>
            <a:off x="1152144" y="2029968"/>
            <a:ext cx="10326593" cy="304799"/>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Argo CD syncs on its own when Git changes. Without it, every change waits for a human to press Sync. Start manual in production, move to automated once trust is earned.</a:t>
            </a:r>
          </a:p>
        </p:txBody>
      </p:sp>
      <p:sp>
        <p:nvSpPr>
          <p:cNvPr id="18" name="Rounded Rectangle 17"/>
          <p:cNvSpPr/>
          <p:nvPr/>
        </p:nvSpPr>
        <p:spPr>
          <a:xfrm>
            <a:off x="475488" y="2453640"/>
            <a:ext cx="11240993" cy="7162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75488" y="2453640"/>
            <a:ext cx="68580" cy="7162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13232" y="265633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2</a:t>
            </a:r>
          </a:p>
        </p:txBody>
      </p:sp>
      <p:sp>
        <p:nvSpPr>
          <p:cNvPr id="21" name="TextBox 20"/>
          <p:cNvSpPr txBox="1"/>
          <p:nvPr/>
        </p:nvSpPr>
        <p:spPr>
          <a:xfrm>
            <a:off x="1152144" y="2572512"/>
            <a:ext cx="10326593" cy="274320"/>
          </a:xfrm>
          <a:prstGeom prst="rect">
            <a:avLst/>
          </a:prstGeom>
          <a:noFill/>
        </p:spPr>
        <p:txBody>
          <a:bodyPr wrap="square" lIns="18288" rIns="18288" tIns="0" bIns="0" anchor="t">
            <a:noAutofit/>
          </a:bodyPr>
          <a:lstStyle/>
          <a:p>
            <a:pPr algn="l">
              <a:spcAft>
                <a:spcPts val="0"/>
              </a:spcAft>
            </a:pPr>
            <a:r>
              <a:rPr sz="1400" b="1" i="0">
                <a:solidFill>
                  <a:srgbClr val="1F2B3D"/>
                </a:solidFill>
                <a:latin typeface="Calibri"/>
              </a:rPr>
              <a:t>prune: true</a:t>
            </a:r>
          </a:p>
        </p:txBody>
      </p:sp>
      <p:sp>
        <p:nvSpPr>
          <p:cNvPr id="22" name="TextBox 21"/>
          <p:cNvSpPr txBox="1"/>
          <p:nvPr/>
        </p:nvSpPr>
        <p:spPr>
          <a:xfrm>
            <a:off x="1152144" y="2837688"/>
            <a:ext cx="10326593" cy="304799"/>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Delete live resources that no longer exist in Git. Without it, removing a manifest leaves the object running forever. With it, a bad refactor deletes production.</a:t>
            </a:r>
          </a:p>
        </p:txBody>
      </p:sp>
      <p:sp>
        <p:nvSpPr>
          <p:cNvPr id="23" name="Rounded Rectangle 22"/>
          <p:cNvSpPr/>
          <p:nvPr/>
        </p:nvSpPr>
        <p:spPr>
          <a:xfrm>
            <a:off x="475488" y="3261360"/>
            <a:ext cx="11240993" cy="7162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75488" y="3261360"/>
            <a:ext cx="68580" cy="7162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13232" y="3464052"/>
            <a:ext cx="310896" cy="31089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3</a:t>
            </a:r>
          </a:p>
        </p:txBody>
      </p:sp>
      <p:sp>
        <p:nvSpPr>
          <p:cNvPr id="26" name="TextBox 25"/>
          <p:cNvSpPr txBox="1"/>
          <p:nvPr/>
        </p:nvSpPr>
        <p:spPr>
          <a:xfrm>
            <a:off x="1152144" y="3380231"/>
            <a:ext cx="10326593" cy="274320"/>
          </a:xfrm>
          <a:prstGeom prst="rect">
            <a:avLst/>
          </a:prstGeom>
          <a:noFill/>
        </p:spPr>
        <p:txBody>
          <a:bodyPr wrap="square" lIns="18288" rIns="18288" tIns="0" bIns="0" anchor="t">
            <a:noAutofit/>
          </a:bodyPr>
          <a:lstStyle/>
          <a:p>
            <a:pPr algn="l">
              <a:spcAft>
                <a:spcPts val="0"/>
              </a:spcAft>
            </a:pPr>
            <a:r>
              <a:rPr sz="1400" b="1" i="0">
                <a:solidFill>
                  <a:srgbClr val="1F2B3D"/>
                </a:solidFill>
                <a:latin typeface="Calibri"/>
              </a:rPr>
              <a:t>selfHeal: true</a:t>
            </a:r>
          </a:p>
        </p:txBody>
      </p:sp>
      <p:sp>
        <p:nvSpPr>
          <p:cNvPr id="27" name="TextBox 26"/>
          <p:cNvSpPr txBox="1"/>
          <p:nvPr/>
        </p:nvSpPr>
        <p:spPr>
          <a:xfrm>
            <a:off x="1152144" y="3645407"/>
            <a:ext cx="10326593" cy="304799"/>
          </a:xfrm>
          <a:prstGeom prst="rect">
            <a:avLst/>
          </a:prstGeom>
          <a:noFill/>
        </p:spPr>
        <p:txBody>
          <a:bodyPr wrap="square" lIns="18288" rIns="18288" tIns="0" bIns="0" anchor="t">
            <a:noAutofit/>
          </a:bodyPr>
          <a:lstStyle/>
          <a:p>
            <a:pPr algn="l">
              <a:lnSpc>
                <a:spcPct val="120000"/>
              </a:lnSpc>
              <a:spcAft>
                <a:spcPts val="0"/>
              </a:spcAft>
            </a:pPr>
            <a:r>
              <a:rPr sz="1200" b="0" i="0">
                <a:solidFill>
                  <a:srgbClr val="363F4D"/>
                </a:solidFill>
                <a:latin typeface="Calibri"/>
              </a:rPr>
              <a:t>Revert any manual change back to Git within seconds. This is drift prevention, and it means kubectl edit no longer works — by design.</a:t>
            </a:r>
          </a:p>
        </p:txBody>
      </p:sp>
      <p:sp>
        <p:nvSpPr>
          <p:cNvPr id="28" name="Rounded Rectangle 27"/>
          <p:cNvSpPr/>
          <p:nvPr/>
        </p:nvSpPr>
        <p:spPr>
          <a:xfrm>
            <a:off x="475488" y="4315968"/>
            <a:ext cx="5428472" cy="129844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75488" y="4315968"/>
            <a:ext cx="64008"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49808" y="4443983"/>
            <a:ext cx="4879832"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learning to trust it — deploys, never deletes</a:t>
            </a:r>
          </a:p>
        </p:txBody>
      </p:sp>
      <p:sp>
        <p:nvSpPr>
          <p:cNvPr id="31" name="TextBox 30"/>
          <p:cNvSpPr txBox="1"/>
          <p:nvPr/>
        </p:nvSpPr>
        <p:spPr>
          <a:xfrm>
            <a:off x="749808" y="4736592"/>
            <a:ext cx="4879832" cy="23317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syncPolicy:</a:t>
            </a:r>
          </a:p>
        </p:txBody>
      </p:sp>
      <p:sp>
        <p:nvSpPr>
          <p:cNvPr id="32" name="TextBox 31"/>
          <p:cNvSpPr txBox="1"/>
          <p:nvPr/>
        </p:nvSpPr>
        <p:spPr>
          <a:xfrm>
            <a:off x="749808" y="4933188"/>
            <a:ext cx="4879832" cy="23317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automated:</a:t>
            </a:r>
          </a:p>
        </p:txBody>
      </p:sp>
      <p:sp>
        <p:nvSpPr>
          <p:cNvPr id="33" name="TextBox 32"/>
          <p:cNvSpPr txBox="1"/>
          <p:nvPr/>
        </p:nvSpPr>
        <p:spPr>
          <a:xfrm>
            <a:off x="749808" y="5129783"/>
            <a:ext cx="4879832" cy="233171"/>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prune: false</a:t>
            </a:r>
          </a:p>
        </p:txBody>
      </p:sp>
      <p:sp>
        <p:nvSpPr>
          <p:cNvPr id="34" name="TextBox 33"/>
          <p:cNvSpPr txBox="1"/>
          <p:nvPr/>
        </p:nvSpPr>
        <p:spPr>
          <a:xfrm>
            <a:off x="749808" y="5326379"/>
            <a:ext cx="4879832" cy="233171"/>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selfHeal: false</a:t>
            </a:r>
          </a:p>
        </p:txBody>
      </p:sp>
      <p:sp>
        <p:nvSpPr>
          <p:cNvPr id="35" name="Rounded Rectangle 34"/>
          <p:cNvSpPr/>
          <p:nvPr/>
        </p:nvSpPr>
        <p:spPr>
          <a:xfrm>
            <a:off x="6288008" y="4315968"/>
            <a:ext cx="5428472" cy="129844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288008" y="4315968"/>
            <a:ext cx="64008" cy="129844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62328" y="4443983"/>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steady state — Git is genuinely the truth</a:t>
            </a:r>
          </a:p>
        </p:txBody>
      </p:sp>
      <p:sp>
        <p:nvSpPr>
          <p:cNvPr id="38" name="TextBox 37"/>
          <p:cNvSpPr txBox="1"/>
          <p:nvPr/>
        </p:nvSpPr>
        <p:spPr>
          <a:xfrm>
            <a:off x="6562328" y="4736592"/>
            <a:ext cx="4879832" cy="23317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syncPolicy:</a:t>
            </a:r>
          </a:p>
        </p:txBody>
      </p:sp>
      <p:sp>
        <p:nvSpPr>
          <p:cNvPr id="39" name="TextBox 38"/>
          <p:cNvSpPr txBox="1"/>
          <p:nvPr/>
        </p:nvSpPr>
        <p:spPr>
          <a:xfrm>
            <a:off x="6562328" y="4933188"/>
            <a:ext cx="4879832" cy="233171"/>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automated:</a:t>
            </a:r>
          </a:p>
        </p:txBody>
      </p:sp>
      <p:sp>
        <p:nvSpPr>
          <p:cNvPr id="40" name="TextBox 39"/>
          <p:cNvSpPr txBox="1"/>
          <p:nvPr/>
        </p:nvSpPr>
        <p:spPr>
          <a:xfrm>
            <a:off x="6562328" y="5129783"/>
            <a:ext cx="4879832" cy="233171"/>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prune: true</a:t>
            </a:r>
          </a:p>
        </p:txBody>
      </p:sp>
      <p:sp>
        <p:nvSpPr>
          <p:cNvPr id="41" name="TextBox 40"/>
          <p:cNvSpPr txBox="1"/>
          <p:nvPr/>
        </p:nvSpPr>
        <p:spPr>
          <a:xfrm>
            <a:off x="6562328" y="5326379"/>
            <a:ext cx="4879832" cy="233171"/>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selfHeal: true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Sync Waves — Making Things Happen in Order</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Argo CD applies everything at once unless you tell it otherwise. Often you must.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Lower waves finish and become healthy before higher waves start. Negative numbers are allowed.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2028742" cy="1005840"/>
          </a:xfrm>
          <a:prstGeom prst="roundRect">
            <a:avLst>
              <a:gd name="adj" fmla="val 12000"/>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Wave -1</a:t>
            </a:r>
          </a:p>
          <a:p>
            <a:pPr algn="ctr"/>
            <a:r>
              <a:rPr sz="400" b="1" i="0">
                <a:solidFill>
                  <a:srgbClr val="FFFFFF"/>
                </a:solidFill>
                <a:latin typeface="Calibri"/>
              </a:rPr>
              <a:t/>
            </a:r>
          </a:p>
          <a:p>
            <a:pPr algn="ctr"/>
            <a:r>
              <a:rPr sz="1100" b="0" i="0">
                <a:solidFill>
                  <a:srgbClr val="DCE6F5"/>
                </a:solidFill>
                <a:latin typeface="Calibri"/>
              </a:rPr>
              <a:t>namespace, CRDs</a:t>
            </a:r>
          </a:p>
        </p:txBody>
      </p:sp>
      <p:sp>
        <p:nvSpPr>
          <p:cNvPr id="14" name="Oval 13"/>
          <p:cNvSpPr/>
          <p:nvPr/>
        </p:nvSpPr>
        <p:spPr>
          <a:xfrm>
            <a:off x="1343555"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2545378"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78550" y="1645920"/>
            <a:ext cx="2028742" cy="1005840"/>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Wave 0</a:t>
            </a:r>
          </a:p>
          <a:p>
            <a:pPr algn="ctr"/>
            <a:r>
              <a:rPr sz="400" b="1" i="0">
                <a:solidFill>
                  <a:srgbClr val="FFFFFF"/>
                </a:solidFill>
                <a:latin typeface="Calibri"/>
              </a:rPr>
              <a:t/>
            </a:r>
          </a:p>
          <a:p>
            <a:pPr algn="ctr"/>
            <a:r>
              <a:rPr sz="1100" b="0" i="0">
                <a:solidFill>
                  <a:srgbClr val="DCE6F5"/>
                </a:solidFill>
                <a:latin typeface="Calibri"/>
              </a:rPr>
              <a:t>SecretStore, RBAC</a:t>
            </a:r>
          </a:p>
        </p:txBody>
      </p:sp>
      <p:sp>
        <p:nvSpPr>
          <p:cNvPr id="17" name="Oval 16"/>
          <p:cNvSpPr/>
          <p:nvPr/>
        </p:nvSpPr>
        <p:spPr>
          <a:xfrm>
            <a:off x="364661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4848441"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81613" y="1645920"/>
            <a:ext cx="2028742" cy="1005840"/>
          </a:xfrm>
          <a:prstGeom prst="roundRect">
            <a:avLst>
              <a:gd name="adj" fmla="val 12000"/>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Wave 1</a:t>
            </a:r>
          </a:p>
          <a:p>
            <a:pPr algn="ctr"/>
            <a:r>
              <a:rPr sz="400" b="1" i="0">
                <a:solidFill>
                  <a:srgbClr val="FFFFFF"/>
                </a:solidFill>
                <a:latin typeface="Calibri"/>
              </a:rPr>
              <a:t/>
            </a:r>
          </a:p>
          <a:p>
            <a:pPr algn="ctr"/>
            <a:r>
              <a:rPr sz="1100" b="0" i="0">
                <a:solidFill>
                  <a:srgbClr val="DCE6F5"/>
                </a:solidFill>
                <a:latin typeface="Calibri"/>
              </a:rPr>
              <a:t>ExternalSecret</a:t>
            </a:r>
          </a:p>
        </p:txBody>
      </p:sp>
      <p:sp>
        <p:nvSpPr>
          <p:cNvPr id="20" name="Oval 19"/>
          <p:cNvSpPr/>
          <p:nvPr/>
        </p:nvSpPr>
        <p:spPr>
          <a:xfrm>
            <a:off x="5949680"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7151504"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84676" y="1645920"/>
            <a:ext cx="2028742" cy="1005840"/>
          </a:xfrm>
          <a:prstGeom prst="roundRect">
            <a:avLst>
              <a:gd name="adj" fmla="val 12000"/>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Wave 2</a:t>
            </a:r>
          </a:p>
          <a:p>
            <a:pPr algn="ctr"/>
            <a:r>
              <a:rPr sz="400" b="1" i="0">
                <a:solidFill>
                  <a:srgbClr val="FFFFFF"/>
                </a:solidFill>
                <a:latin typeface="Calibri"/>
              </a:rPr>
              <a:t/>
            </a:r>
          </a:p>
          <a:p>
            <a:pPr algn="ctr"/>
            <a:r>
              <a:rPr sz="1100" b="0" i="0">
                <a:solidFill>
                  <a:srgbClr val="DCE6F5"/>
                </a:solidFill>
                <a:latin typeface="Calibri"/>
              </a:rPr>
              <a:t>Deployment, Service</a:t>
            </a:r>
          </a:p>
        </p:txBody>
      </p:sp>
      <p:sp>
        <p:nvSpPr>
          <p:cNvPr id="23" name="Oval 22"/>
          <p:cNvSpPr/>
          <p:nvPr/>
        </p:nvSpPr>
        <p:spPr>
          <a:xfrm>
            <a:off x="825274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ight Arrow 23"/>
          <p:cNvSpPr/>
          <p:nvPr/>
        </p:nvSpPr>
        <p:spPr>
          <a:xfrm>
            <a:off x="9454566"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687738" y="1645920"/>
            <a:ext cx="2028742" cy="1005840"/>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Wave 3</a:t>
            </a:r>
          </a:p>
          <a:p>
            <a:pPr algn="ctr"/>
            <a:r>
              <a:rPr sz="400" b="1" i="0">
                <a:solidFill>
                  <a:srgbClr val="FFFFFF"/>
                </a:solidFill>
                <a:latin typeface="Calibri"/>
              </a:rPr>
              <a:t/>
            </a:r>
          </a:p>
          <a:p>
            <a:pPr algn="ctr"/>
            <a:r>
              <a:rPr sz="1100" b="0" i="0">
                <a:solidFill>
                  <a:srgbClr val="DCE6F5"/>
                </a:solidFill>
                <a:latin typeface="Calibri"/>
              </a:rPr>
              <a:t>Ingress, jobs</a:t>
            </a:r>
          </a:p>
        </p:txBody>
      </p:sp>
      <p:sp>
        <p:nvSpPr>
          <p:cNvPr id="26" name="Oval 25"/>
          <p:cNvSpPr/>
          <p:nvPr/>
        </p:nvSpPr>
        <p:spPr>
          <a:xfrm>
            <a:off x="1055580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5</a:t>
            </a:r>
          </a:p>
        </p:txBody>
      </p:sp>
      <p:sp>
        <p:nvSpPr>
          <p:cNvPr id="27" name="Rounded Rectangle 26"/>
          <p:cNvSpPr/>
          <p:nvPr/>
        </p:nvSpPr>
        <p:spPr>
          <a:xfrm>
            <a:off x="475488" y="3035808"/>
            <a:ext cx="5428472" cy="148132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75488" y="3035808"/>
            <a:ext cx="64008" cy="148132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9808" y="3163824"/>
            <a:ext cx="4879832" cy="237744"/>
          </a:xfrm>
          <a:prstGeom prst="rect">
            <a:avLst/>
          </a:prstGeom>
          <a:noFill/>
        </p:spPr>
        <p:txBody>
          <a:bodyPr wrap="square" lIns="18288" rIns="18288" tIns="0" bIns="0" anchor="t">
            <a:noAutofit/>
          </a:bodyPr>
          <a:lstStyle/>
          <a:p>
            <a:pPr algn="l">
              <a:spcAft>
                <a:spcPts val="0"/>
              </a:spcAft>
            </a:pPr>
            <a:r>
              <a:rPr sz="1000" b="1" i="0">
                <a:solidFill>
                  <a:srgbClr val="2BA8D8"/>
                </a:solidFill>
                <a:latin typeface="Consolas"/>
              </a:rPr>
              <a:t>one annotation, on any resource</a:t>
            </a:r>
          </a:p>
        </p:txBody>
      </p:sp>
      <p:sp>
        <p:nvSpPr>
          <p:cNvPr id="30" name="TextBox 29"/>
          <p:cNvSpPr txBox="1"/>
          <p:nvPr/>
        </p:nvSpPr>
        <p:spPr>
          <a:xfrm>
            <a:off x="749808" y="3456432"/>
            <a:ext cx="4879832"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metadata:</a:t>
            </a:r>
          </a:p>
        </p:txBody>
      </p:sp>
      <p:sp>
        <p:nvSpPr>
          <p:cNvPr id="31" name="TextBox 30"/>
          <p:cNvSpPr txBox="1"/>
          <p:nvPr/>
        </p:nvSpPr>
        <p:spPr>
          <a:xfrm>
            <a:off x="749808" y="3653028"/>
            <a:ext cx="4879832" cy="233172"/>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annotations:</a:t>
            </a:r>
          </a:p>
        </p:txBody>
      </p:sp>
      <p:sp>
        <p:nvSpPr>
          <p:cNvPr id="32" name="TextBox 31"/>
          <p:cNvSpPr txBox="1"/>
          <p:nvPr/>
        </p:nvSpPr>
        <p:spPr>
          <a:xfrm>
            <a:off x="749808" y="3849624"/>
            <a:ext cx="4879832" cy="233172"/>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    argocd.argoproj.io/sync-wave: "1"</a:t>
            </a:r>
          </a:p>
        </p:txBody>
      </p:sp>
      <p:sp>
        <p:nvSpPr>
          <p:cNvPr id="33" name="Rounded Rectangle 32"/>
          <p:cNvSpPr/>
          <p:nvPr/>
        </p:nvSpPr>
        <p:spPr>
          <a:xfrm>
            <a:off x="6288008" y="3035808"/>
            <a:ext cx="5428472" cy="14813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88008" y="3035808"/>
            <a:ext cx="77724" cy="1481328"/>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44040" y="3182112"/>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this matters here</a:t>
            </a:r>
          </a:p>
        </p:txBody>
      </p:sp>
      <p:sp>
        <p:nvSpPr>
          <p:cNvPr id="36" name="TextBox 35"/>
          <p:cNvSpPr txBox="1"/>
          <p:nvPr/>
        </p:nvSpPr>
        <p:spPr>
          <a:xfrm>
            <a:off x="6544040" y="3584448"/>
            <a:ext cx="4971272" cy="804672"/>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An ExternalSecret cannot produce a Secret until its SecretStore exists and can authenticate. A Deployment that mounts that Secret will crash-loop if it starts first.</a:t>
            </a:r>
          </a:p>
        </p:txBody>
      </p:sp>
      <p:sp>
        <p:nvSpPr>
          <p:cNvPr id="37" name="Rounded Rectangle 36"/>
          <p:cNvSpPr/>
          <p:nvPr/>
        </p:nvSpPr>
        <p:spPr>
          <a:xfrm>
            <a:off x="475488" y="4754880"/>
            <a:ext cx="11240993" cy="107899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475488" y="4754880"/>
            <a:ext cx="77724"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31520" y="490118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Waves are not a scheduler</a:t>
            </a:r>
          </a:p>
        </p:txBody>
      </p:sp>
      <p:sp>
        <p:nvSpPr>
          <p:cNvPr id="40" name="TextBox 39"/>
          <p:cNvSpPr txBox="1"/>
          <p:nvPr/>
        </p:nvSpPr>
        <p:spPr>
          <a:xfrm>
            <a:off x="731520" y="5303520"/>
            <a:ext cx="10783793" cy="402336"/>
          </a:xfrm>
          <a:prstGeom prst="rect">
            <a:avLst/>
          </a:prstGeom>
          <a:noFill/>
        </p:spPr>
        <p:txBody>
          <a:bodyPr wrap="square" lIns="18288" rIns="18288" tIns="0" bIns="0" anchor="t">
            <a:noAutofit/>
          </a:bodyPr>
          <a:lstStyle/>
          <a:p>
            <a:pPr algn="l">
              <a:lnSpc>
                <a:spcPct val="124000"/>
              </a:lnSpc>
              <a:spcAft>
                <a:spcPts val="0"/>
              </a:spcAft>
            </a:pPr>
            <a:r>
              <a:rPr sz="1050" b="0" i="0">
                <a:solidFill>
                  <a:srgbClr val="363F4D"/>
                </a:solidFill>
                <a:latin typeface="Calibri"/>
              </a:rPr>
              <a:t>Argo CD waits for the resources in a wave to report Healthy before it starts the next one. It does not wait for your application to be *ready in the business sense*, and it does not retry a wave indefinitely — a resource stuck Progressing will stall the whole sync until it times out. Use waves for ordering, and readiness probes for readiness.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Hooks — For Work That Is Not a Manifest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Waves order resources. Hooks run jobs at defined points in the sync.</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Use a wave to order things that exist. Use a hook to run something that has to happen.</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2604508" cy="1005840"/>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PreSync</a:t>
            </a:r>
          </a:p>
          <a:p>
            <a:pPr algn="ctr"/>
            <a:r>
              <a:rPr sz="400" b="1" i="0">
                <a:solidFill>
                  <a:srgbClr val="FFFFFF"/>
                </a:solidFill>
                <a:latin typeface="Calibri"/>
              </a:rPr>
              <a:t/>
            </a:r>
          </a:p>
          <a:p>
            <a:pPr algn="ctr"/>
            <a:r>
              <a:rPr sz="1100" b="0" i="0">
                <a:solidFill>
                  <a:srgbClr val="DCE6F5"/>
                </a:solidFill>
                <a:latin typeface="Calibri"/>
              </a:rPr>
              <a:t>database migration, backup</a:t>
            </a:r>
          </a:p>
        </p:txBody>
      </p:sp>
      <p:sp>
        <p:nvSpPr>
          <p:cNvPr id="14" name="Oval 13"/>
          <p:cNvSpPr/>
          <p:nvPr/>
        </p:nvSpPr>
        <p:spPr>
          <a:xfrm>
            <a:off x="163143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3121144"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4316" y="1645920"/>
            <a:ext cx="2604508" cy="1005840"/>
          </a:xfrm>
          <a:prstGeom prst="roundRect">
            <a:avLst>
              <a:gd name="adj" fmla="val 12000"/>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Sync</a:t>
            </a:r>
          </a:p>
          <a:p>
            <a:pPr algn="ctr"/>
            <a:r>
              <a:rPr sz="400" b="1" i="0">
                <a:solidFill>
                  <a:srgbClr val="FFFFFF"/>
                </a:solidFill>
                <a:latin typeface="Calibri"/>
              </a:rPr>
              <a:t/>
            </a:r>
          </a:p>
          <a:p>
            <a:pPr algn="ctr"/>
            <a:r>
              <a:rPr sz="1100" b="0" i="0">
                <a:solidFill>
                  <a:srgbClr val="DCE6F5"/>
                </a:solidFill>
                <a:latin typeface="Calibri"/>
              </a:rPr>
              <a:t>the main apply</a:t>
            </a:r>
          </a:p>
        </p:txBody>
      </p:sp>
      <p:sp>
        <p:nvSpPr>
          <p:cNvPr id="17" name="Oval 16"/>
          <p:cNvSpPr/>
          <p:nvPr/>
        </p:nvSpPr>
        <p:spPr>
          <a:xfrm>
            <a:off x="451026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5999972"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2604508" cy="1005840"/>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PostSync</a:t>
            </a:r>
          </a:p>
          <a:p>
            <a:pPr algn="ctr"/>
            <a:r>
              <a:rPr sz="400" b="1" i="0">
                <a:solidFill>
                  <a:srgbClr val="FFFFFF"/>
                </a:solidFill>
                <a:latin typeface="Calibri"/>
              </a:rPr>
              <a:t/>
            </a:r>
          </a:p>
          <a:p>
            <a:pPr algn="ctr"/>
            <a:r>
              <a:rPr sz="1100" b="0" i="0">
                <a:solidFill>
                  <a:srgbClr val="DCE6F5"/>
                </a:solidFill>
                <a:latin typeface="Calibri"/>
              </a:rPr>
              <a:t>smoke test, cache warm</a:t>
            </a:r>
          </a:p>
        </p:txBody>
      </p:sp>
      <p:sp>
        <p:nvSpPr>
          <p:cNvPr id="20" name="Oval 19"/>
          <p:cNvSpPr/>
          <p:nvPr/>
        </p:nvSpPr>
        <p:spPr>
          <a:xfrm>
            <a:off x="7389094"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8878801" y="206654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11973" y="1645920"/>
            <a:ext cx="2604508" cy="1005840"/>
          </a:xfrm>
          <a:prstGeom prst="roundRect">
            <a:avLst>
              <a:gd name="adj" fmla="val 12000"/>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SyncFail</a:t>
            </a:r>
          </a:p>
          <a:p>
            <a:pPr algn="ctr"/>
            <a:r>
              <a:rPr sz="400" b="1" i="0">
                <a:solidFill>
                  <a:srgbClr val="FFFFFF"/>
                </a:solidFill>
                <a:latin typeface="Calibri"/>
              </a:rPr>
              <a:t/>
            </a:r>
          </a:p>
          <a:p>
            <a:pPr algn="ctr"/>
            <a:r>
              <a:rPr sz="1100" b="0" i="0">
                <a:solidFill>
                  <a:srgbClr val="DCE6F5"/>
                </a:solidFill>
                <a:latin typeface="Calibri"/>
              </a:rPr>
              <a:t>alert, clean up</a:t>
            </a:r>
          </a:p>
        </p:txBody>
      </p:sp>
      <p:sp>
        <p:nvSpPr>
          <p:cNvPr id="23" name="Oval 22"/>
          <p:cNvSpPr/>
          <p:nvPr/>
        </p:nvSpPr>
        <p:spPr>
          <a:xfrm>
            <a:off x="1026792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ounded Rectangle 23"/>
          <p:cNvSpPr/>
          <p:nvPr/>
        </p:nvSpPr>
        <p:spPr>
          <a:xfrm>
            <a:off x="475488" y="3063240"/>
            <a:ext cx="5428472" cy="20116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063240"/>
            <a:ext cx="64008" cy="20116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9808" y="3191256"/>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a migration that must finish before the deploy</a:t>
            </a:r>
          </a:p>
        </p:txBody>
      </p:sp>
      <p:sp>
        <p:nvSpPr>
          <p:cNvPr id="27" name="TextBox 26"/>
          <p:cNvSpPr txBox="1"/>
          <p:nvPr/>
        </p:nvSpPr>
        <p:spPr>
          <a:xfrm>
            <a:off x="749808" y="3483864"/>
            <a:ext cx="4879832" cy="224028"/>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apiVersion: batch/v1</a:t>
            </a:r>
          </a:p>
        </p:txBody>
      </p:sp>
      <p:sp>
        <p:nvSpPr>
          <p:cNvPr id="28" name="TextBox 27"/>
          <p:cNvSpPr txBox="1"/>
          <p:nvPr/>
        </p:nvSpPr>
        <p:spPr>
          <a:xfrm>
            <a:off x="749808" y="3671315"/>
            <a:ext cx="4879832" cy="224028"/>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kind: Job</a:t>
            </a:r>
          </a:p>
        </p:txBody>
      </p:sp>
      <p:sp>
        <p:nvSpPr>
          <p:cNvPr id="29" name="TextBox 28"/>
          <p:cNvSpPr txBox="1"/>
          <p:nvPr/>
        </p:nvSpPr>
        <p:spPr>
          <a:xfrm>
            <a:off x="749808" y="3858768"/>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metadata:</a:t>
            </a:r>
          </a:p>
        </p:txBody>
      </p:sp>
      <p:sp>
        <p:nvSpPr>
          <p:cNvPr id="30" name="TextBox 29"/>
          <p:cNvSpPr txBox="1"/>
          <p:nvPr/>
        </p:nvSpPr>
        <p:spPr>
          <a:xfrm>
            <a:off x="749808" y="4046220"/>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name: db-migrate</a:t>
            </a:r>
          </a:p>
        </p:txBody>
      </p:sp>
      <p:sp>
        <p:nvSpPr>
          <p:cNvPr id="31" name="TextBox 30"/>
          <p:cNvSpPr txBox="1"/>
          <p:nvPr/>
        </p:nvSpPr>
        <p:spPr>
          <a:xfrm>
            <a:off x="749808" y="4233672"/>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annotations:</a:t>
            </a:r>
          </a:p>
        </p:txBody>
      </p:sp>
      <p:sp>
        <p:nvSpPr>
          <p:cNvPr id="32" name="TextBox 31"/>
          <p:cNvSpPr txBox="1"/>
          <p:nvPr/>
        </p:nvSpPr>
        <p:spPr>
          <a:xfrm>
            <a:off x="749808" y="4421124"/>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argocd.argoproj.io/hook: PreSync</a:t>
            </a:r>
          </a:p>
        </p:txBody>
      </p:sp>
      <p:sp>
        <p:nvSpPr>
          <p:cNvPr id="33" name="TextBox 32"/>
          <p:cNvSpPr txBox="1"/>
          <p:nvPr/>
        </p:nvSpPr>
        <p:spPr>
          <a:xfrm>
            <a:off x="749808" y="4608576"/>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argocd.argoproj.io/hook-delete-policy: \</a:t>
            </a:r>
          </a:p>
        </p:txBody>
      </p:sp>
      <p:sp>
        <p:nvSpPr>
          <p:cNvPr id="34" name="TextBox 33"/>
          <p:cNvSpPr txBox="1"/>
          <p:nvPr/>
        </p:nvSpPr>
        <p:spPr>
          <a:xfrm>
            <a:off x="749808" y="4796028"/>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HookSucceeded</a:t>
            </a:r>
          </a:p>
        </p:txBody>
      </p:sp>
      <p:sp>
        <p:nvSpPr>
          <p:cNvPr id="35" name="Rounded Rectangle 34"/>
          <p:cNvSpPr/>
          <p:nvPr/>
        </p:nvSpPr>
        <p:spPr>
          <a:xfrm>
            <a:off x="6288008" y="3063240"/>
            <a:ext cx="5428472" cy="20116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288008" y="3063240"/>
            <a:ext cx="77724" cy="2011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44040" y="320954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Set a delete policy, always</a:t>
            </a:r>
          </a:p>
        </p:txBody>
      </p:sp>
      <p:sp>
        <p:nvSpPr>
          <p:cNvPr id="38" name="TextBox 37"/>
          <p:cNvSpPr txBox="1"/>
          <p:nvPr/>
        </p:nvSpPr>
        <p:spPr>
          <a:xfrm>
            <a:off x="6544040" y="3611880"/>
            <a:ext cx="4971272" cy="1335024"/>
          </a:xfrm>
          <a:prstGeom prst="rect">
            <a:avLst/>
          </a:prstGeom>
          <a:noFill/>
        </p:spPr>
        <p:txBody>
          <a:bodyPr wrap="square" lIns="18288" rIns="18288" tIns="0" bIns="0" anchor="t">
            <a:noAutofit/>
          </a:bodyPr>
          <a:lstStyle/>
          <a:p>
            <a:pPr algn="l">
              <a:lnSpc>
                <a:spcPct val="124000"/>
              </a:lnSpc>
              <a:spcAft>
                <a:spcPts val="0"/>
              </a:spcAft>
            </a:pPr>
            <a:r>
              <a:rPr sz="1050" b="0" i="0">
                <a:solidFill>
                  <a:srgbClr val="363F4D"/>
                </a:solidFill>
                <a:latin typeface="Calibri"/>
              </a:rPr>
              <a:t>Without hook-delete-policy the Job objects accumulate on every single sync, and a busy application ends up with hundreds of completed Jobs cluttering the namespace.</a:t>
            </a:r>
          </a:p>
          <a:p>
            <a:pPr algn="l">
              <a:lnSpc>
                <a:spcPct val="124000"/>
              </a:lnSpc>
              <a:spcAft>
                <a:spcPts val="0"/>
              </a:spcAft>
            </a:pPr>
            <a:r>
              <a:rPr sz="1050" b="0" i="0">
                <a:solidFill>
                  <a:srgbClr val="363F4D"/>
                </a:solidFill>
                <a:latin typeface="Calibri"/>
              </a:rPr>
              <a:t/>
            </a:r>
          </a:p>
          <a:p>
            <a:pPr algn="l">
              <a:lnSpc>
                <a:spcPct val="124000"/>
              </a:lnSpc>
              <a:spcAft>
                <a:spcPts val="0"/>
              </a:spcAft>
            </a:pPr>
            <a:r>
              <a:rPr sz="1050" b="0" i="0">
                <a:solidFill>
                  <a:srgbClr val="363F4D"/>
                </a:solidFill>
                <a:latin typeface="Calibri"/>
              </a:rPr>
              <a:t>HookSucceeded deletes it once it worked. BeforeHookCreation deletes the previous one as the next starts — useful when you want to inspect the last failure.</a:t>
            </a:r>
          </a:p>
        </p:txBody>
      </p:sp>
      <p:sp>
        <p:nvSpPr>
          <p:cNvPr id="39" name="Rounded Rectangle 38"/>
          <p:cNvSpPr/>
          <p:nvPr/>
        </p:nvSpPr>
        <p:spPr>
          <a:xfrm>
            <a:off x="475488" y="5276088"/>
            <a:ext cx="11240993" cy="420624"/>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75488" y="5276088"/>
            <a:ext cx="91440" cy="42062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59536" y="5367527"/>
            <a:ext cx="10555193" cy="237744"/>
          </a:xfrm>
          <a:prstGeom prst="rect">
            <a:avLst/>
          </a:prstGeom>
          <a:noFill/>
        </p:spPr>
        <p:txBody>
          <a:bodyPr wrap="square" lIns="18288" rIns="18288" tIns="0" bIns="0" anchor="ctr">
            <a:noAutofit/>
          </a:bodyPr>
          <a:lstStyle/>
          <a:p>
            <a:pPr algn="l">
              <a:lnSpc>
                <a:spcPct val="120000"/>
              </a:lnSpc>
              <a:spcAft>
                <a:spcPts val="0"/>
              </a:spcAft>
            </a:pPr>
            <a:r>
              <a:rPr sz="1000" b="0" i="1">
                <a:solidFill>
                  <a:srgbClr val="1F2B3D"/>
                </a:solidFill>
                <a:latin typeface="Calibri Light"/>
              </a:rPr>
              <a:t>A PreSync hook that never succeeds blocks the entire sync. Give it a deadline.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App of Apps — One Application That Creates the Others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standard way to bootstrap a whole cluster from a single object.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Bootstrap once by hand, then everything else — including Argo CD's own add-ons — comes from Git.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5414756" cy="3063240"/>
          </a:xfrm>
          <a:prstGeom prst="roundRect">
            <a:avLst>
              <a:gd name="adj" fmla="val 8000"/>
            </a:avLst>
          </a:prstGeom>
          <a:solidFill>
            <a:srgbClr val="F6F8FB"/>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94944" y="1810512"/>
            <a:ext cx="4975844" cy="274320"/>
          </a:xfrm>
          <a:prstGeom prst="rect">
            <a:avLst/>
          </a:prstGeom>
          <a:noFill/>
        </p:spPr>
        <p:txBody>
          <a:bodyPr wrap="square" lIns="18288" rIns="18288" tIns="0" bIns="0" anchor="t">
            <a:noAutofit/>
          </a:bodyPr>
          <a:lstStyle/>
          <a:p>
            <a:pPr algn="l">
              <a:spcAft>
                <a:spcPts val="0"/>
              </a:spcAft>
            </a:pPr>
            <a:r>
              <a:rPr sz="1050" b="1" i="0">
                <a:solidFill>
                  <a:srgbClr val="6B7A8D"/>
                </a:solidFill>
                <a:latin typeface="Calibri"/>
              </a:rPr>
              <a:t>THE SHAPE</a:t>
            </a:r>
          </a:p>
        </p:txBody>
      </p:sp>
      <p:sp>
        <p:nvSpPr>
          <p:cNvPr id="15" name="Rounded Rectangle 14"/>
          <p:cNvSpPr/>
          <p:nvPr/>
        </p:nvSpPr>
        <p:spPr>
          <a:xfrm>
            <a:off x="932688" y="2212848"/>
            <a:ext cx="4500356" cy="530352"/>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root Application</a:t>
            </a:r>
          </a:p>
        </p:txBody>
      </p:sp>
      <p:sp>
        <p:nvSpPr>
          <p:cNvPr id="16" name="Down Arrow 15"/>
          <p:cNvSpPr/>
          <p:nvPr/>
        </p:nvSpPr>
        <p:spPr>
          <a:xfrm>
            <a:off x="3100570" y="2798064"/>
            <a:ext cx="164592" cy="310896"/>
          </a:xfrm>
          <a:prstGeom prst="down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182112"/>
            <a:ext cx="1439158" cy="566928"/>
          </a:xfrm>
          <a:prstGeom prst="roundRect">
            <a:avLst>
              <a:gd name="adj" fmla="val 8000"/>
            </a:avLst>
          </a:prstGeom>
          <a:solidFill>
            <a:srgbClr val="FFFFFF"/>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950" b="1" i="0">
                <a:solidFill>
                  <a:srgbClr val="1F2B3D"/>
                </a:solidFill>
                <a:latin typeface="Calibri"/>
              </a:rPr>
              <a:t>external-secrets</a:t>
            </a:r>
          </a:p>
        </p:txBody>
      </p:sp>
      <p:sp>
        <p:nvSpPr>
          <p:cNvPr id="18" name="Rounded Rectangle 17"/>
          <p:cNvSpPr/>
          <p:nvPr/>
        </p:nvSpPr>
        <p:spPr>
          <a:xfrm>
            <a:off x="2463286" y="3182112"/>
            <a:ext cx="1439158" cy="566928"/>
          </a:xfrm>
          <a:prstGeom prst="roundRect">
            <a:avLst>
              <a:gd name="adj" fmla="val 8000"/>
            </a:avLst>
          </a:prstGeom>
          <a:solidFill>
            <a:srgbClr val="FFFFFF"/>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950" b="1" i="0">
                <a:solidFill>
                  <a:srgbClr val="1F2B3D"/>
                </a:solidFill>
                <a:latin typeface="Calibri"/>
              </a:rPr>
              <a:t>reloader</a:t>
            </a:r>
          </a:p>
        </p:txBody>
      </p:sp>
      <p:sp>
        <p:nvSpPr>
          <p:cNvPr id="19" name="Rounded Rectangle 18"/>
          <p:cNvSpPr/>
          <p:nvPr/>
        </p:nvSpPr>
        <p:spPr>
          <a:xfrm>
            <a:off x="3993885" y="3182112"/>
            <a:ext cx="1439158" cy="566928"/>
          </a:xfrm>
          <a:prstGeom prst="roundRect">
            <a:avLst>
              <a:gd name="adj" fmla="val 8000"/>
            </a:avLst>
          </a:prstGeom>
          <a:solidFill>
            <a:srgbClr val="FFFFFF"/>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950" b="1" i="0">
                <a:solidFill>
                  <a:srgbClr val="1F2B3D"/>
                </a:solidFill>
                <a:latin typeface="Calibri"/>
              </a:rPr>
              <a:t>billing</a:t>
            </a:r>
          </a:p>
        </p:txBody>
      </p:sp>
      <p:sp>
        <p:nvSpPr>
          <p:cNvPr id="20" name="TextBox 19"/>
          <p:cNvSpPr txBox="1"/>
          <p:nvPr/>
        </p:nvSpPr>
        <p:spPr>
          <a:xfrm>
            <a:off x="932688" y="3895344"/>
            <a:ext cx="4500356" cy="658368"/>
          </a:xfrm>
          <a:prstGeom prst="rect">
            <a:avLst/>
          </a:prstGeom>
          <a:noFill/>
        </p:spPr>
        <p:txBody>
          <a:bodyPr wrap="square" lIns="18288" rIns="18288" tIns="0" bIns="0" anchor="t">
            <a:noAutofit/>
          </a:bodyPr>
          <a:lstStyle/>
          <a:p>
            <a:pPr algn="l">
              <a:lnSpc>
                <a:spcPct val="120000"/>
              </a:lnSpc>
              <a:spcAft>
                <a:spcPts val="0"/>
              </a:spcAft>
            </a:pPr>
            <a:r>
              <a:rPr sz="1150" b="0" i="0">
                <a:solidFill>
                  <a:srgbClr val="363F4D"/>
                </a:solidFill>
                <a:latin typeface="Calibri"/>
              </a:rPr>
              <a:t>The root Application's source is a folder full of Application manifests. Argo CD applies them, and each becomes an Application in its own right.</a:t>
            </a:r>
          </a:p>
        </p:txBody>
      </p:sp>
      <p:sp>
        <p:nvSpPr>
          <p:cNvPr id="21" name="Rounded Rectangle 20"/>
          <p:cNvSpPr/>
          <p:nvPr/>
        </p:nvSpPr>
        <p:spPr>
          <a:xfrm>
            <a:off x="6301724" y="1645920"/>
            <a:ext cx="5414756" cy="30632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301724" y="1645920"/>
            <a:ext cx="64008" cy="3063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76044" y="1773936"/>
            <a:ext cx="4866116"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the only thing you apply by hand</a:t>
            </a:r>
          </a:p>
        </p:txBody>
      </p:sp>
      <p:sp>
        <p:nvSpPr>
          <p:cNvPr id="24" name="TextBox 23"/>
          <p:cNvSpPr txBox="1"/>
          <p:nvPr/>
        </p:nvSpPr>
        <p:spPr>
          <a:xfrm>
            <a:off x="6576044" y="2066543"/>
            <a:ext cx="4866116" cy="196024"/>
          </a:xfrm>
          <a:prstGeom prst="rect">
            <a:avLst/>
          </a:prstGeom>
          <a:noFill/>
        </p:spPr>
        <p:txBody>
          <a:bodyPr wrap="square" lIns="18288" rIns="18288" tIns="0" bIns="0" anchor="t">
            <a:noAutofit/>
          </a:bodyPr>
          <a:lstStyle/>
          <a:p>
            <a:pPr algn="l">
              <a:spcAft>
                <a:spcPts val="0"/>
              </a:spcAft>
            </a:pPr>
            <a:r>
              <a:rPr sz="965" b="0" i="0">
                <a:solidFill>
                  <a:srgbClr val="2BA8D8"/>
                </a:solidFill>
                <a:latin typeface="Consolas"/>
              </a:rPr>
              <a:t>apiVersion: argoproj.io/v1alpha1</a:t>
            </a:r>
          </a:p>
        </p:txBody>
      </p:sp>
      <p:sp>
        <p:nvSpPr>
          <p:cNvPr id="25" name="TextBox 24"/>
          <p:cNvSpPr txBox="1"/>
          <p:nvPr/>
        </p:nvSpPr>
        <p:spPr>
          <a:xfrm>
            <a:off x="6576044" y="2225992"/>
            <a:ext cx="4866116" cy="196024"/>
          </a:xfrm>
          <a:prstGeom prst="rect">
            <a:avLst/>
          </a:prstGeom>
          <a:noFill/>
        </p:spPr>
        <p:txBody>
          <a:bodyPr wrap="square" lIns="18288" rIns="18288" tIns="0" bIns="0" anchor="t">
            <a:noAutofit/>
          </a:bodyPr>
          <a:lstStyle/>
          <a:p>
            <a:pPr algn="l">
              <a:spcAft>
                <a:spcPts val="0"/>
              </a:spcAft>
            </a:pPr>
            <a:r>
              <a:rPr sz="965" b="0" i="0">
                <a:solidFill>
                  <a:srgbClr val="2BA8D8"/>
                </a:solidFill>
                <a:latin typeface="Consolas"/>
              </a:rPr>
              <a:t>kind: Application</a:t>
            </a:r>
          </a:p>
        </p:txBody>
      </p:sp>
      <p:sp>
        <p:nvSpPr>
          <p:cNvPr id="26" name="TextBox 25"/>
          <p:cNvSpPr txBox="1"/>
          <p:nvPr/>
        </p:nvSpPr>
        <p:spPr>
          <a:xfrm>
            <a:off x="6576044" y="2385440"/>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metadata:</a:t>
            </a:r>
          </a:p>
        </p:txBody>
      </p:sp>
      <p:sp>
        <p:nvSpPr>
          <p:cNvPr id="27" name="TextBox 26"/>
          <p:cNvSpPr txBox="1"/>
          <p:nvPr/>
        </p:nvSpPr>
        <p:spPr>
          <a:xfrm>
            <a:off x="6576044" y="2544889"/>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name: root</a:t>
            </a:r>
          </a:p>
        </p:txBody>
      </p:sp>
      <p:sp>
        <p:nvSpPr>
          <p:cNvPr id="28" name="TextBox 27"/>
          <p:cNvSpPr txBox="1"/>
          <p:nvPr/>
        </p:nvSpPr>
        <p:spPr>
          <a:xfrm>
            <a:off x="6576044" y="2704337"/>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namespace: argocd</a:t>
            </a:r>
          </a:p>
        </p:txBody>
      </p:sp>
      <p:sp>
        <p:nvSpPr>
          <p:cNvPr id="29" name="TextBox 28"/>
          <p:cNvSpPr txBox="1"/>
          <p:nvPr/>
        </p:nvSpPr>
        <p:spPr>
          <a:xfrm>
            <a:off x="6576044" y="2863786"/>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spec:</a:t>
            </a:r>
          </a:p>
        </p:txBody>
      </p:sp>
      <p:sp>
        <p:nvSpPr>
          <p:cNvPr id="30" name="TextBox 29"/>
          <p:cNvSpPr txBox="1"/>
          <p:nvPr/>
        </p:nvSpPr>
        <p:spPr>
          <a:xfrm>
            <a:off x="6576044" y="3023234"/>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project: platform</a:t>
            </a:r>
          </a:p>
        </p:txBody>
      </p:sp>
      <p:sp>
        <p:nvSpPr>
          <p:cNvPr id="31" name="TextBox 30"/>
          <p:cNvSpPr txBox="1"/>
          <p:nvPr/>
        </p:nvSpPr>
        <p:spPr>
          <a:xfrm>
            <a:off x="6576044" y="3182683"/>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source:</a:t>
            </a:r>
          </a:p>
        </p:txBody>
      </p:sp>
      <p:sp>
        <p:nvSpPr>
          <p:cNvPr id="32" name="TextBox 31"/>
          <p:cNvSpPr txBox="1"/>
          <p:nvPr/>
        </p:nvSpPr>
        <p:spPr>
          <a:xfrm>
            <a:off x="6576044" y="3342131"/>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repoURL: https://github.com/acme/platform.git</a:t>
            </a:r>
          </a:p>
        </p:txBody>
      </p:sp>
      <p:sp>
        <p:nvSpPr>
          <p:cNvPr id="33" name="TextBox 32"/>
          <p:cNvSpPr txBox="1"/>
          <p:nvPr/>
        </p:nvSpPr>
        <p:spPr>
          <a:xfrm>
            <a:off x="6576044" y="3501580"/>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targetRevision: main</a:t>
            </a:r>
          </a:p>
        </p:txBody>
      </p:sp>
      <p:sp>
        <p:nvSpPr>
          <p:cNvPr id="34" name="TextBox 33"/>
          <p:cNvSpPr txBox="1"/>
          <p:nvPr/>
        </p:nvSpPr>
        <p:spPr>
          <a:xfrm>
            <a:off x="6576044" y="3661028"/>
            <a:ext cx="4866116" cy="196024"/>
          </a:xfrm>
          <a:prstGeom prst="rect">
            <a:avLst/>
          </a:prstGeom>
          <a:noFill/>
        </p:spPr>
        <p:txBody>
          <a:bodyPr wrap="square" lIns="18288" rIns="18288" tIns="0" bIns="0" anchor="t">
            <a:noAutofit/>
          </a:bodyPr>
          <a:lstStyle/>
          <a:p>
            <a:pPr algn="l">
              <a:spcAft>
                <a:spcPts val="0"/>
              </a:spcAft>
            </a:pPr>
            <a:r>
              <a:rPr sz="965" b="0" i="0">
                <a:solidFill>
                  <a:srgbClr val="F59E0B"/>
                </a:solidFill>
                <a:latin typeface="Consolas"/>
              </a:rPr>
              <a:t>    path: bootstrap/prod</a:t>
            </a:r>
          </a:p>
        </p:txBody>
      </p:sp>
      <p:sp>
        <p:nvSpPr>
          <p:cNvPr id="35" name="TextBox 34"/>
          <p:cNvSpPr txBox="1"/>
          <p:nvPr/>
        </p:nvSpPr>
        <p:spPr>
          <a:xfrm>
            <a:off x="6576044" y="3820477"/>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destination:</a:t>
            </a:r>
          </a:p>
        </p:txBody>
      </p:sp>
      <p:sp>
        <p:nvSpPr>
          <p:cNvPr id="36" name="TextBox 35"/>
          <p:cNvSpPr txBox="1"/>
          <p:nvPr/>
        </p:nvSpPr>
        <p:spPr>
          <a:xfrm>
            <a:off x="6576044" y="3979926"/>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server: https://kubernetes.default.svc</a:t>
            </a:r>
          </a:p>
        </p:txBody>
      </p:sp>
      <p:sp>
        <p:nvSpPr>
          <p:cNvPr id="37" name="TextBox 36"/>
          <p:cNvSpPr txBox="1"/>
          <p:nvPr/>
        </p:nvSpPr>
        <p:spPr>
          <a:xfrm>
            <a:off x="6576044" y="4139374"/>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namespace: argocd</a:t>
            </a:r>
          </a:p>
        </p:txBody>
      </p:sp>
      <p:sp>
        <p:nvSpPr>
          <p:cNvPr id="38" name="TextBox 37"/>
          <p:cNvSpPr txBox="1"/>
          <p:nvPr/>
        </p:nvSpPr>
        <p:spPr>
          <a:xfrm>
            <a:off x="6576044" y="4298823"/>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syncPolicy:</a:t>
            </a:r>
          </a:p>
        </p:txBody>
      </p:sp>
      <p:sp>
        <p:nvSpPr>
          <p:cNvPr id="39" name="TextBox 38"/>
          <p:cNvSpPr txBox="1"/>
          <p:nvPr/>
        </p:nvSpPr>
        <p:spPr>
          <a:xfrm>
            <a:off x="6576044" y="4458271"/>
            <a:ext cx="4866116" cy="196024"/>
          </a:xfrm>
          <a:prstGeom prst="rect">
            <a:avLst/>
          </a:prstGeom>
          <a:noFill/>
        </p:spPr>
        <p:txBody>
          <a:bodyPr wrap="square" lIns="18288" rIns="18288" tIns="0" bIns="0" anchor="t">
            <a:noAutofit/>
          </a:bodyPr>
          <a:lstStyle/>
          <a:p>
            <a:pPr algn="l">
              <a:spcAft>
                <a:spcPts val="0"/>
              </a:spcAft>
            </a:pPr>
            <a:r>
              <a:rPr sz="965" b="0" i="0">
                <a:solidFill>
                  <a:srgbClr val="D9E2F0"/>
                </a:solidFill>
                <a:latin typeface="Consolas"/>
              </a:rPr>
              <a:t>    automated: { prune: true, selfHeal: true }</a:t>
            </a:r>
          </a:p>
        </p:txBody>
      </p:sp>
      <p:sp>
        <p:nvSpPr>
          <p:cNvPr id="40" name="Rounded Rectangle 39"/>
          <p:cNvSpPr/>
          <p:nvPr/>
        </p:nvSpPr>
        <p:spPr>
          <a:xfrm>
            <a:off x="475488" y="4919472"/>
            <a:ext cx="11240993" cy="475488"/>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75488" y="4919472"/>
            <a:ext cx="91440" cy="47548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59536" y="5010912"/>
            <a:ext cx="10555193" cy="292608"/>
          </a:xfrm>
          <a:prstGeom prst="rect">
            <a:avLst/>
          </a:prstGeom>
          <a:noFill/>
        </p:spPr>
        <p:txBody>
          <a:bodyPr wrap="square" lIns="18288" rIns="18288" tIns="0" bIns="0" anchor="ctr">
            <a:noAutofit/>
          </a:bodyPr>
          <a:lstStyle/>
          <a:p>
            <a:pPr algn="l">
              <a:lnSpc>
                <a:spcPct val="120000"/>
              </a:lnSpc>
              <a:spcAft>
                <a:spcPts val="0"/>
              </a:spcAft>
            </a:pPr>
            <a:r>
              <a:rPr sz="1300" b="0" i="1">
                <a:solidFill>
                  <a:srgbClr val="1F2B3D"/>
                </a:solidFill>
                <a:latin typeface="Calibri Light"/>
              </a:rPr>
              <a:t>Delete the root Application with prune enabled and you delete the cluster's entire workload. Guard it with a Project and RBAC.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300" b="1" i="0">
                <a:solidFill>
                  <a:srgbClr val="FFFFFF"/>
                </a:solidFill>
                <a:latin typeface="Calibri"/>
              </a:rPr>
              <a:t>ApplicationSet — Stop Writing the Same Application Twenty Times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 generator produces Applications from a list, a directory, a repo, or a cluster label.</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One template plus a generator replaces a folder full of near-identical Application manifests.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6492240" cy="356616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5661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943600" cy="237744"/>
          </a:xfrm>
          <a:prstGeom prst="rect">
            <a:avLst/>
          </a:prstGeom>
          <a:noFill/>
        </p:spPr>
        <p:txBody>
          <a:bodyPr wrap="square" lIns="18288" rIns="18288" tIns="0" bIns="0" anchor="t">
            <a:noAutofit/>
          </a:bodyPr>
          <a:lstStyle/>
          <a:p>
            <a:pPr algn="l">
              <a:spcAft>
                <a:spcPts val="0"/>
              </a:spcAft>
            </a:pPr>
            <a:r>
              <a:rPr sz="1000" b="1" i="0">
                <a:solidFill>
                  <a:srgbClr val="4F46E5"/>
                </a:solidFill>
                <a:latin typeface="Consolas"/>
              </a:rPr>
              <a:t>three Applications from one file</a:t>
            </a:r>
          </a:p>
        </p:txBody>
      </p:sp>
      <p:sp>
        <p:nvSpPr>
          <p:cNvPr id="16" name="TextBox 15"/>
          <p:cNvSpPr txBox="1"/>
          <p:nvPr/>
        </p:nvSpPr>
        <p:spPr>
          <a:xfrm>
            <a:off x="749808" y="2066543"/>
            <a:ext cx="5943600" cy="182009"/>
          </a:xfrm>
          <a:prstGeom prst="rect">
            <a:avLst/>
          </a:prstGeom>
          <a:noFill/>
        </p:spPr>
        <p:txBody>
          <a:bodyPr wrap="square" lIns="18288" rIns="18288" tIns="0" bIns="0" anchor="t">
            <a:noAutofit/>
          </a:bodyPr>
          <a:lstStyle/>
          <a:p>
            <a:pPr algn="l">
              <a:spcAft>
                <a:spcPts val="0"/>
              </a:spcAft>
            </a:pPr>
            <a:r>
              <a:rPr sz="880" b="0" i="0">
                <a:solidFill>
                  <a:srgbClr val="2BA8D8"/>
                </a:solidFill>
                <a:latin typeface="Consolas"/>
              </a:rPr>
              <a:t>apiVersion: argoproj.io/v1alpha1</a:t>
            </a:r>
          </a:p>
        </p:txBody>
      </p:sp>
      <p:sp>
        <p:nvSpPr>
          <p:cNvPr id="17" name="TextBox 16"/>
          <p:cNvSpPr txBox="1"/>
          <p:nvPr/>
        </p:nvSpPr>
        <p:spPr>
          <a:xfrm>
            <a:off x="749808" y="2211977"/>
            <a:ext cx="5943600" cy="182009"/>
          </a:xfrm>
          <a:prstGeom prst="rect">
            <a:avLst/>
          </a:prstGeom>
          <a:noFill/>
        </p:spPr>
        <p:txBody>
          <a:bodyPr wrap="square" lIns="18288" rIns="18288" tIns="0" bIns="0" anchor="t">
            <a:noAutofit/>
          </a:bodyPr>
          <a:lstStyle/>
          <a:p>
            <a:pPr algn="l">
              <a:spcAft>
                <a:spcPts val="0"/>
              </a:spcAft>
            </a:pPr>
            <a:r>
              <a:rPr sz="880" b="0" i="0">
                <a:solidFill>
                  <a:srgbClr val="2BA8D8"/>
                </a:solidFill>
                <a:latin typeface="Consolas"/>
              </a:rPr>
              <a:t>kind: ApplicationSet</a:t>
            </a:r>
          </a:p>
        </p:txBody>
      </p:sp>
      <p:sp>
        <p:nvSpPr>
          <p:cNvPr id="18" name="TextBox 17"/>
          <p:cNvSpPr txBox="1"/>
          <p:nvPr/>
        </p:nvSpPr>
        <p:spPr>
          <a:xfrm>
            <a:off x="749808" y="2357410"/>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metadata: { name: billing-all-envs, namespace: argocd }</a:t>
            </a:r>
          </a:p>
        </p:txBody>
      </p:sp>
      <p:sp>
        <p:nvSpPr>
          <p:cNvPr id="19" name="TextBox 18"/>
          <p:cNvSpPr txBox="1"/>
          <p:nvPr/>
        </p:nvSpPr>
        <p:spPr>
          <a:xfrm>
            <a:off x="749808" y="2502843"/>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spec:</a:t>
            </a:r>
          </a:p>
        </p:txBody>
      </p:sp>
      <p:sp>
        <p:nvSpPr>
          <p:cNvPr id="20" name="TextBox 19"/>
          <p:cNvSpPr txBox="1"/>
          <p:nvPr/>
        </p:nvSpPr>
        <p:spPr>
          <a:xfrm>
            <a:off x="749808" y="2648276"/>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generators:</a:t>
            </a:r>
          </a:p>
        </p:txBody>
      </p:sp>
      <p:sp>
        <p:nvSpPr>
          <p:cNvPr id="21" name="TextBox 20"/>
          <p:cNvSpPr txBox="1"/>
          <p:nvPr/>
        </p:nvSpPr>
        <p:spPr>
          <a:xfrm>
            <a:off x="749808" y="2793709"/>
            <a:ext cx="5943600" cy="182009"/>
          </a:xfrm>
          <a:prstGeom prst="rect">
            <a:avLst/>
          </a:prstGeom>
          <a:noFill/>
        </p:spPr>
        <p:txBody>
          <a:bodyPr wrap="square" lIns="18288" rIns="18288" tIns="0" bIns="0" anchor="t">
            <a:noAutofit/>
          </a:bodyPr>
          <a:lstStyle/>
          <a:p>
            <a:pPr algn="l">
              <a:spcAft>
                <a:spcPts val="0"/>
              </a:spcAft>
            </a:pPr>
            <a:r>
              <a:rPr sz="880" b="0" i="0">
                <a:solidFill>
                  <a:srgbClr val="F59E0B"/>
                </a:solidFill>
                <a:latin typeface="Consolas"/>
              </a:rPr>
              <a:t>    - list:</a:t>
            </a:r>
          </a:p>
        </p:txBody>
      </p:sp>
      <p:sp>
        <p:nvSpPr>
          <p:cNvPr id="22" name="TextBox 21"/>
          <p:cNvSpPr txBox="1"/>
          <p:nvPr/>
        </p:nvSpPr>
        <p:spPr>
          <a:xfrm>
            <a:off x="749808" y="2939142"/>
            <a:ext cx="5943600" cy="182009"/>
          </a:xfrm>
          <a:prstGeom prst="rect">
            <a:avLst/>
          </a:prstGeom>
          <a:noFill/>
        </p:spPr>
        <p:txBody>
          <a:bodyPr wrap="square" lIns="18288" rIns="18288" tIns="0" bIns="0" anchor="t">
            <a:noAutofit/>
          </a:bodyPr>
          <a:lstStyle/>
          <a:p>
            <a:pPr algn="l">
              <a:spcAft>
                <a:spcPts val="0"/>
              </a:spcAft>
            </a:pPr>
            <a:r>
              <a:rPr sz="880" b="0" i="0">
                <a:solidFill>
                  <a:srgbClr val="F59E0B"/>
                </a:solidFill>
                <a:latin typeface="Consolas"/>
              </a:rPr>
              <a:t>        elements:</a:t>
            </a:r>
          </a:p>
        </p:txBody>
      </p:sp>
      <p:sp>
        <p:nvSpPr>
          <p:cNvPr id="23" name="TextBox 22"/>
          <p:cNvSpPr txBox="1"/>
          <p:nvPr/>
        </p:nvSpPr>
        <p:spPr>
          <a:xfrm>
            <a:off x="749808" y="3084576"/>
            <a:ext cx="5943600" cy="182009"/>
          </a:xfrm>
          <a:prstGeom prst="rect">
            <a:avLst/>
          </a:prstGeom>
          <a:noFill/>
        </p:spPr>
        <p:txBody>
          <a:bodyPr wrap="square" lIns="18288" rIns="18288" tIns="0" bIns="0" anchor="t">
            <a:noAutofit/>
          </a:bodyPr>
          <a:lstStyle/>
          <a:p>
            <a:pPr algn="l">
              <a:spcAft>
                <a:spcPts val="0"/>
              </a:spcAft>
            </a:pPr>
            <a:r>
              <a:rPr sz="880" b="0" i="0">
                <a:solidFill>
                  <a:srgbClr val="F59E0B"/>
                </a:solidFill>
                <a:latin typeface="Consolas"/>
              </a:rPr>
              <a:t>          - env: dev</a:t>
            </a:r>
          </a:p>
        </p:txBody>
      </p:sp>
      <p:sp>
        <p:nvSpPr>
          <p:cNvPr id="24" name="TextBox 23"/>
          <p:cNvSpPr txBox="1"/>
          <p:nvPr/>
        </p:nvSpPr>
        <p:spPr>
          <a:xfrm>
            <a:off x="749808" y="3230009"/>
            <a:ext cx="5943600" cy="182009"/>
          </a:xfrm>
          <a:prstGeom prst="rect">
            <a:avLst/>
          </a:prstGeom>
          <a:noFill/>
        </p:spPr>
        <p:txBody>
          <a:bodyPr wrap="square" lIns="18288" rIns="18288" tIns="0" bIns="0" anchor="t">
            <a:noAutofit/>
          </a:bodyPr>
          <a:lstStyle/>
          <a:p>
            <a:pPr algn="l">
              <a:spcAft>
                <a:spcPts val="0"/>
              </a:spcAft>
            </a:pPr>
            <a:r>
              <a:rPr sz="880" b="0" i="0">
                <a:solidFill>
                  <a:srgbClr val="F59E0B"/>
                </a:solidFill>
                <a:latin typeface="Consolas"/>
              </a:rPr>
              <a:t>          - env: staging</a:t>
            </a:r>
          </a:p>
        </p:txBody>
      </p:sp>
      <p:sp>
        <p:nvSpPr>
          <p:cNvPr id="25" name="TextBox 24"/>
          <p:cNvSpPr txBox="1"/>
          <p:nvPr/>
        </p:nvSpPr>
        <p:spPr>
          <a:xfrm>
            <a:off x="749808" y="3375442"/>
            <a:ext cx="5943600" cy="182009"/>
          </a:xfrm>
          <a:prstGeom prst="rect">
            <a:avLst/>
          </a:prstGeom>
          <a:noFill/>
        </p:spPr>
        <p:txBody>
          <a:bodyPr wrap="square" lIns="18288" rIns="18288" tIns="0" bIns="0" anchor="t">
            <a:noAutofit/>
          </a:bodyPr>
          <a:lstStyle/>
          <a:p>
            <a:pPr algn="l">
              <a:spcAft>
                <a:spcPts val="0"/>
              </a:spcAft>
            </a:pPr>
            <a:r>
              <a:rPr sz="880" b="0" i="0">
                <a:solidFill>
                  <a:srgbClr val="F59E0B"/>
                </a:solidFill>
                <a:latin typeface="Consolas"/>
              </a:rPr>
              <a:t>          - env: prod</a:t>
            </a:r>
          </a:p>
        </p:txBody>
      </p:sp>
      <p:sp>
        <p:nvSpPr>
          <p:cNvPr id="26" name="TextBox 25"/>
          <p:cNvSpPr txBox="1"/>
          <p:nvPr/>
        </p:nvSpPr>
        <p:spPr>
          <a:xfrm>
            <a:off x="749808" y="3520875"/>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template:</a:t>
            </a:r>
          </a:p>
        </p:txBody>
      </p:sp>
      <p:sp>
        <p:nvSpPr>
          <p:cNvPr id="27" name="TextBox 26"/>
          <p:cNvSpPr txBox="1"/>
          <p:nvPr/>
        </p:nvSpPr>
        <p:spPr>
          <a:xfrm>
            <a:off x="749808" y="3666308"/>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metadata:</a:t>
            </a:r>
          </a:p>
        </p:txBody>
      </p:sp>
      <p:sp>
        <p:nvSpPr>
          <p:cNvPr id="28" name="TextBox 27"/>
          <p:cNvSpPr txBox="1"/>
          <p:nvPr/>
        </p:nvSpPr>
        <p:spPr>
          <a:xfrm>
            <a:off x="749808" y="3811741"/>
            <a:ext cx="5943600" cy="182009"/>
          </a:xfrm>
          <a:prstGeom prst="rect">
            <a:avLst/>
          </a:prstGeom>
          <a:noFill/>
        </p:spPr>
        <p:txBody>
          <a:bodyPr wrap="square" lIns="18288" rIns="18288" tIns="0" bIns="0" anchor="t">
            <a:noAutofit/>
          </a:bodyPr>
          <a:lstStyle/>
          <a:p>
            <a:pPr algn="l">
              <a:spcAft>
                <a:spcPts val="0"/>
              </a:spcAft>
            </a:pPr>
            <a:r>
              <a:rPr sz="880" b="0" i="0">
                <a:solidFill>
                  <a:srgbClr val="2EB56B"/>
                </a:solidFill>
                <a:latin typeface="Consolas"/>
              </a:rPr>
              <a:t>      name: 'billing-{{env}}'</a:t>
            </a:r>
          </a:p>
        </p:txBody>
      </p:sp>
      <p:sp>
        <p:nvSpPr>
          <p:cNvPr id="29" name="TextBox 28"/>
          <p:cNvSpPr txBox="1"/>
          <p:nvPr/>
        </p:nvSpPr>
        <p:spPr>
          <a:xfrm>
            <a:off x="749808" y="3957174"/>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spec:</a:t>
            </a:r>
          </a:p>
        </p:txBody>
      </p:sp>
      <p:sp>
        <p:nvSpPr>
          <p:cNvPr id="30" name="TextBox 29"/>
          <p:cNvSpPr txBox="1"/>
          <p:nvPr/>
        </p:nvSpPr>
        <p:spPr>
          <a:xfrm>
            <a:off x="749808" y="4102607"/>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project: payments</a:t>
            </a:r>
          </a:p>
        </p:txBody>
      </p:sp>
      <p:sp>
        <p:nvSpPr>
          <p:cNvPr id="31" name="TextBox 30"/>
          <p:cNvSpPr txBox="1"/>
          <p:nvPr/>
        </p:nvSpPr>
        <p:spPr>
          <a:xfrm>
            <a:off x="749808" y="4248041"/>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source:</a:t>
            </a:r>
          </a:p>
        </p:txBody>
      </p:sp>
      <p:sp>
        <p:nvSpPr>
          <p:cNvPr id="32" name="TextBox 31"/>
          <p:cNvSpPr txBox="1"/>
          <p:nvPr/>
        </p:nvSpPr>
        <p:spPr>
          <a:xfrm>
            <a:off x="749808" y="4393474"/>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repoURL: https://github.com/acme/platform.git</a:t>
            </a:r>
          </a:p>
        </p:txBody>
      </p:sp>
      <p:sp>
        <p:nvSpPr>
          <p:cNvPr id="33" name="TextBox 32"/>
          <p:cNvSpPr txBox="1"/>
          <p:nvPr/>
        </p:nvSpPr>
        <p:spPr>
          <a:xfrm>
            <a:off x="749808" y="4538907"/>
            <a:ext cx="5943600" cy="182009"/>
          </a:xfrm>
          <a:prstGeom prst="rect">
            <a:avLst/>
          </a:prstGeom>
          <a:noFill/>
        </p:spPr>
        <p:txBody>
          <a:bodyPr wrap="square" lIns="18288" rIns="18288" tIns="0" bIns="0" anchor="t">
            <a:noAutofit/>
          </a:bodyPr>
          <a:lstStyle/>
          <a:p>
            <a:pPr algn="l">
              <a:spcAft>
                <a:spcPts val="0"/>
              </a:spcAft>
            </a:pPr>
            <a:r>
              <a:rPr sz="880" b="0" i="0">
                <a:solidFill>
                  <a:srgbClr val="2EB56B"/>
                </a:solidFill>
                <a:latin typeface="Consolas"/>
              </a:rPr>
              <a:t>        path: 'apps/billing/overlays/{{env}}'</a:t>
            </a:r>
          </a:p>
        </p:txBody>
      </p:sp>
      <p:sp>
        <p:nvSpPr>
          <p:cNvPr id="34" name="TextBox 33"/>
          <p:cNvSpPr txBox="1"/>
          <p:nvPr/>
        </p:nvSpPr>
        <p:spPr>
          <a:xfrm>
            <a:off x="749808" y="4684340"/>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destination:</a:t>
            </a:r>
          </a:p>
        </p:txBody>
      </p:sp>
      <p:sp>
        <p:nvSpPr>
          <p:cNvPr id="35" name="TextBox 34"/>
          <p:cNvSpPr txBox="1"/>
          <p:nvPr/>
        </p:nvSpPr>
        <p:spPr>
          <a:xfrm>
            <a:off x="749808" y="4829773"/>
            <a:ext cx="5943600" cy="182009"/>
          </a:xfrm>
          <a:prstGeom prst="rect">
            <a:avLst/>
          </a:prstGeom>
          <a:noFill/>
        </p:spPr>
        <p:txBody>
          <a:bodyPr wrap="square" lIns="18288" rIns="18288" tIns="0" bIns="0" anchor="t">
            <a:noAutofit/>
          </a:bodyPr>
          <a:lstStyle/>
          <a:p>
            <a:pPr algn="l">
              <a:spcAft>
                <a:spcPts val="0"/>
              </a:spcAft>
            </a:pPr>
            <a:r>
              <a:rPr sz="880" b="0" i="0">
                <a:solidFill>
                  <a:srgbClr val="D9E2F0"/>
                </a:solidFill>
                <a:latin typeface="Consolas"/>
              </a:rPr>
              <a:t>        server: https://kubernetes.default.svc</a:t>
            </a:r>
          </a:p>
        </p:txBody>
      </p:sp>
      <p:sp>
        <p:nvSpPr>
          <p:cNvPr id="36" name="TextBox 35"/>
          <p:cNvSpPr txBox="1"/>
          <p:nvPr/>
        </p:nvSpPr>
        <p:spPr>
          <a:xfrm>
            <a:off x="749808" y="4975206"/>
            <a:ext cx="5943600" cy="182009"/>
          </a:xfrm>
          <a:prstGeom prst="rect">
            <a:avLst/>
          </a:prstGeom>
          <a:noFill/>
        </p:spPr>
        <p:txBody>
          <a:bodyPr wrap="square" lIns="18288" rIns="18288" tIns="0" bIns="0" anchor="t">
            <a:noAutofit/>
          </a:bodyPr>
          <a:lstStyle/>
          <a:p>
            <a:pPr algn="l">
              <a:spcAft>
                <a:spcPts val="0"/>
              </a:spcAft>
            </a:pPr>
            <a:r>
              <a:rPr sz="880" b="0" i="0">
                <a:solidFill>
                  <a:srgbClr val="2EB56B"/>
                </a:solidFill>
                <a:latin typeface="Consolas"/>
              </a:rPr>
              <a:t>        namespace: 'payments-{{env}}'</a:t>
            </a:r>
          </a:p>
        </p:txBody>
      </p:sp>
      <p:sp>
        <p:nvSpPr>
          <p:cNvPr id="37" name="TextBox 36"/>
          <p:cNvSpPr txBox="1"/>
          <p:nvPr/>
        </p:nvSpPr>
        <p:spPr>
          <a:xfrm>
            <a:off x="7196327" y="1645920"/>
            <a:ext cx="4520153" cy="256032"/>
          </a:xfrm>
          <a:prstGeom prst="rect">
            <a:avLst/>
          </a:prstGeom>
          <a:noFill/>
        </p:spPr>
        <p:txBody>
          <a:bodyPr wrap="square" lIns="18288" rIns="18288" tIns="0" bIns="0" anchor="t">
            <a:noAutofit/>
          </a:bodyPr>
          <a:lstStyle/>
          <a:p>
            <a:pPr algn="l">
              <a:spcAft>
                <a:spcPts val="0"/>
              </a:spcAft>
            </a:pPr>
            <a:r>
              <a:rPr sz="1050" b="1" i="0">
                <a:solidFill>
                  <a:srgbClr val="6B7A8D"/>
                </a:solidFill>
                <a:latin typeface="Calibri"/>
              </a:rPr>
              <a:t>GENERATORS YOU WILL ACTUALLY USE</a:t>
            </a:r>
          </a:p>
        </p:txBody>
      </p:sp>
      <p:sp>
        <p:nvSpPr>
          <p:cNvPr id="38" name="TextBox 37"/>
          <p:cNvSpPr txBox="1"/>
          <p:nvPr/>
        </p:nvSpPr>
        <p:spPr>
          <a:xfrm>
            <a:off x="7196327" y="2016252"/>
            <a:ext cx="256032" cy="274320"/>
          </a:xfrm>
          <a:prstGeom prst="rect">
            <a:avLst/>
          </a:prstGeom>
          <a:noFill/>
        </p:spPr>
        <p:txBody>
          <a:bodyPr wrap="square" lIns="18288" rIns="18288" tIns="0" bIns="0" anchor="t">
            <a:noAutofit/>
          </a:bodyPr>
          <a:lstStyle/>
          <a:p>
            <a:pPr algn="l">
              <a:spcAft>
                <a:spcPts val="0"/>
              </a:spcAft>
            </a:pPr>
            <a:r>
              <a:rPr sz="1350" b="1" i="0">
                <a:solidFill>
                  <a:srgbClr val="4F46E5"/>
                </a:solidFill>
                <a:latin typeface="Calibri"/>
              </a:rPr>
              <a:t>▸</a:t>
            </a:r>
          </a:p>
        </p:txBody>
      </p:sp>
      <p:sp>
        <p:nvSpPr>
          <p:cNvPr id="39" name="TextBox 38"/>
          <p:cNvSpPr txBox="1"/>
          <p:nvPr/>
        </p:nvSpPr>
        <p:spPr>
          <a:xfrm>
            <a:off x="7507223" y="2029968"/>
            <a:ext cx="4209257" cy="274320"/>
          </a:xfrm>
          <a:prstGeom prst="rect">
            <a:avLst/>
          </a:prstGeom>
          <a:noFill/>
        </p:spPr>
        <p:txBody>
          <a:bodyPr wrap="square" lIns="18288" rIns="18288" tIns="0" bIns="0" anchor="t">
            <a:noAutofit/>
          </a:bodyPr>
          <a:lstStyle/>
          <a:p>
            <a:pPr algn="l">
              <a:lnSpc>
                <a:spcPct val="120000"/>
              </a:lnSpc>
              <a:spcAft>
                <a:spcPts val="0"/>
              </a:spcAft>
            </a:pPr>
            <a:r>
              <a:rPr sz="1150" b="1" i="0">
                <a:solidFill>
                  <a:srgbClr val="1F2B3D"/>
                </a:solidFill>
                <a:latin typeface="Calibri"/>
              </a:rPr>
              <a:t>list  </a:t>
            </a:r>
            <a:r>
              <a:rPr sz="1150" b="0" i="0">
                <a:solidFill>
                  <a:srgbClr val="363F4D"/>
                </a:solidFill>
                <a:latin typeface="Calibri"/>
              </a:rPr>
              <a:t>a hand-written set of values — simplest, most explicit</a:t>
            </a:r>
          </a:p>
        </p:txBody>
      </p:sp>
      <p:sp>
        <p:nvSpPr>
          <p:cNvPr id="40" name="TextBox 39"/>
          <p:cNvSpPr txBox="1"/>
          <p:nvPr/>
        </p:nvSpPr>
        <p:spPr>
          <a:xfrm>
            <a:off x="7196327" y="2537460"/>
            <a:ext cx="256032" cy="274320"/>
          </a:xfrm>
          <a:prstGeom prst="rect">
            <a:avLst/>
          </a:prstGeom>
          <a:noFill/>
        </p:spPr>
        <p:txBody>
          <a:bodyPr wrap="square" lIns="18288" rIns="18288" tIns="0" bIns="0" anchor="t">
            <a:noAutofit/>
          </a:bodyPr>
          <a:lstStyle/>
          <a:p>
            <a:pPr algn="l">
              <a:spcAft>
                <a:spcPts val="0"/>
              </a:spcAft>
            </a:pPr>
            <a:r>
              <a:rPr sz="1350" b="1" i="0">
                <a:solidFill>
                  <a:srgbClr val="4F46E5"/>
                </a:solidFill>
                <a:latin typeface="Calibri"/>
              </a:rPr>
              <a:t>▸</a:t>
            </a:r>
          </a:p>
        </p:txBody>
      </p:sp>
      <p:sp>
        <p:nvSpPr>
          <p:cNvPr id="41" name="TextBox 40"/>
          <p:cNvSpPr txBox="1"/>
          <p:nvPr/>
        </p:nvSpPr>
        <p:spPr>
          <a:xfrm>
            <a:off x="7507223" y="2551176"/>
            <a:ext cx="4209257" cy="274320"/>
          </a:xfrm>
          <a:prstGeom prst="rect">
            <a:avLst/>
          </a:prstGeom>
          <a:noFill/>
        </p:spPr>
        <p:txBody>
          <a:bodyPr wrap="square" lIns="18288" rIns="18288" tIns="0" bIns="0" anchor="t">
            <a:noAutofit/>
          </a:bodyPr>
          <a:lstStyle/>
          <a:p>
            <a:pPr algn="l">
              <a:lnSpc>
                <a:spcPct val="120000"/>
              </a:lnSpc>
              <a:spcAft>
                <a:spcPts val="0"/>
              </a:spcAft>
            </a:pPr>
            <a:r>
              <a:rPr sz="1150" b="1" i="0">
                <a:solidFill>
                  <a:srgbClr val="1F2B3D"/>
                </a:solidFill>
                <a:latin typeface="Calibri"/>
              </a:rPr>
              <a:t>git  </a:t>
            </a:r>
            <a:r>
              <a:rPr sz="1150" b="0" i="0">
                <a:solidFill>
                  <a:srgbClr val="363F4D"/>
                </a:solidFill>
                <a:latin typeface="Calibri"/>
              </a:rPr>
              <a:t>one Application per directory or per file in a repo</a:t>
            </a:r>
          </a:p>
        </p:txBody>
      </p:sp>
      <p:sp>
        <p:nvSpPr>
          <p:cNvPr id="42" name="TextBox 41"/>
          <p:cNvSpPr txBox="1"/>
          <p:nvPr/>
        </p:nvSpPr>
        <p:spPr>
          <a:xfrm>
            <a:off x="7196327" y="3058668"/>
            <a:ext cx="256032" cy="274320"/>
          </a:xfrm>
          <a:prstGeom prst="rect">
            <a:avLst/>
          </a:prstGeom>
          <a:noFill/>
        </p:spPr>
        <p:txBody>
          <a:bodyPr wrap="square" lIns="18288" rIns="18288" tIns="0" bIns="0" anchor="t">
            <a:noAutofit/>
          </a:bodyPr>
          <a:lstStyle/>
          <a:p>
            <a:pPr algn="l">
              <a:spcAft>
                <a:spcPts val="0"/>
              </a:spcAft>
            </a:pPr>
            <a:r>
              <a:rPr sz="1350" b="1" i="0">
                <a:solidFill>
                  <a:srgbClr val="4F46E5"/>
                </a:solidFill>
                <a:latin typeface="Calibri"/>
              </a:rPr>
              <a:t>▸</a:t>
            </a:r>
          </a:p>
        </p:txBody>
      </p:sp>
      <p:sp>
        <p:nvSpPr>
          <p:cNvPr id="43" name="TextBox 42"/>
          <p:cNvSpPr txBox="1"/>
          <p:nvPr/>
        </p:nvSpPr>
        <p:spPr>
          <a:xfrm>
            <a:off x="7507223" y="3072384"/>
            <a:ext cx="4209257" cy="365125"/>
          </a:xfrm>
          <a:prstGeom prst="rect">
            <a:avLst/>
          </a:prstGeom>
          <a:noFill/>
        </p:spPr>
        <p:txBody>
          <a:bodyPr wrap="square" lIns="18288" rIns="18288" tIns="0" bIns="0" anchor="t">
            <a:noAutofit/>
          </a:bodyPr>
          <a:lstStyle/>
          <a:p>
            <a:pPr algn="l">
              <a:lnSpc>
                <a:spcPct val="120000"/>
              </a:lnSpc>
              <a:spcAft>
                <a:spcPts val="0"/>
              </a:spcAft>
            </a:pPr>
            <a:r>
              <a:rPr sz="1150" b="1" i="0">
                <a:solidFill>
                  <a:srgbClr val="1F2B3D"/>
                </a:solidFill>
                <a:latin typeface="Calibri"/>
              </a:rPr>
              <a:t>cluster  </a:t>
            </a:r>
            <a:r>
              <a:rPr sz="1150" b="0" i="0">
                <a:solidFill>
                  <a:srgbClr val="363F4D"/>
                </a:solidFill>
                <a:latin typeface="Calibri"/>
              </a:rPr>
              <a:t>one Application per registered cluster, filtered by label</a:t>
            </a:r>
          </a:p>
        </p:txBody>
      </p:sp>
      <p:sp>
        <p:nvSpPr>
          <p:cNvPr id="44" name="TextBox 43"/>
          <p:cNvSpPr txBox="1"/>
          <p:nvPr/>
        </p:nvSpPr>
        <p:spPr>
          <a:xfrm>
            <a:off x="7196327" y="3758057"/>
            <a:ext cx="256032" cy="274320"/>
          </a:xfrm>
          <a:prstGeom prst="rect">
            <a:avLst/>
          </a:prstGeom>
          <a:noFill/>
        </p:spPr>
        <p:txBody>
          <a:bodyPr wrap="square" lIns="18288" rIns="18288" tIns="0" bIns="0" anchor="t">
            <a:noAutofit/>
          </a:bodyPr>
          <a:lstStyle/>
          <a:p>
            <a:pPr algn="l">
              <a:spcAft>
                <a:spcPts val="0"/>
              </a:spcAft>
            </a:pPr>
            <a:r>
              <a:rPr sz="1350" b="1" i="0">
                <a:solidFill>
                  <a:srgbClr val="4F46E5"/>
                </a:solidFill>
                <a:latin typeface="Calibri"/>
              </a:rPr>
              <a:t>▸</a:t>
            </a:r>
          </a:p>
        </p:txBody>
      </p:sp>
      <p:sp>
        <p:nvSpPr>
          <p:cNvPr id="45" name="TextBox 44"/>
          <p:cNvSpPr txBox="1"/>
          <p:nvPr/>
        </p:nvSpPr>
        <p:spPr>
          <a:xfrm>
            <a:off x="7507223" y="3771772"/>
            <a:ext cx="4209257" cy="274320"/>
          </a:xfrm>
          <a:prstGeom prst="rect">
            <a:avLst/>
          </a:prstGeom>
          <a:noFill/>
        </p:spPr>
        <p:txBody>
          <a:bodyPr wrap="square" lIns="18288" rIns="18288" tIns="0" bIns="0" anchor="t">
            <a:noAutofit/>
          </a:bodyPr>
          <a:lstStyle/>
          <a:p>
            <a:pPr algn="l">
              <a:lnSpc>
                <a:spcPct val="120000"/>
              </a:lnSpc>
              <a:spcAft>
                <a:spcPts val="0"/>
              </a:spcAft>
            </a:pPr>
            <a:r>
              <a:rPr sz="1150" b="1" i="0">
                <a:solidFill>
                  <a:srgbClr val="1F2B3D"/>
                </a:solidFill>
                <a:latin typeface="Calibri"/>
              </a:rPr>
              <a:t>matrix  </a:t>
            </a:r>
            <a:r>
              <a:rPr sz="1150" b="0" i="0">
                <a:solidFill>
                  <a:srgbClr val="363F4D"/>
                </a:solidFill>
                <a:latin typeface="Calibri"/>
              </a:rPr>
              <a:t>the cross-product of two generators — apps × environments</a:t>
            </a:r>
          </a:p>
        </p:txBody>
      </p:sp>
      <p:sp>
        <p:nvSpPr>
          <p:cNvPr id="46" name="Rounded Rectangle 45"/>
          <p:cNvSpPr/>
          <p:nvPr/>
        </p:nvSpPr>
        <p:spPr>
          <a:xfrm>
            <a:off x="7196327" y="4434840"/>
            <a:ext cx="4520153" cy="77724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7196327" y="4434840"/>
            <a:ext cx="77724" cy="77724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452359" y="4599431"/>
            <a:ext cx="4062953" cy="484632"/>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Adding a fourth environment becomes a four-word commit.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How Argo CD Turns a Repository Into Manifests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It detects the tool, renders locally, and applies the result. It never runs helm install.</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Argo CD renders to plain YAML and applies that. There is no Helm release in the cluster.</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2604508"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2604508" cy="68580"/>
          </a:xfrm>
          <a:prstGeom prst="rect">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Plain YAML</a:t>
            </a:r>
          </a:p>
        </p:txBody>
      </p:sp>
      <p:sp>
        <p:nvSpPr>
          <p:cNvPr id="16" name="TextBox 15"/>
          <p:cNvSpPr txBox="1"/>
          <p:nvPr/>
        </p:nvSpPr>
        <p:spPr>
          <a:xfrm>
            <a:off x="658368" y="2304288"/>
            <a:ext cx="2238748"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directory of manifests. Argo CD applies them in dependency order. Simplest, and perfectly respectable.</a:t>
            </a:r>
          </a:p>
        </p:txBody>
      </p:sp>
      <p:sp>
        <p:nvSpPr>
          <p:cNvPr id="17" name="Rounded Rectangle 16"/>
          <p:cNvSpPr/>
          <p:nvPr/>
        </p:nvSpPr>
        <p:spPr>
          <a:xfrm>
            <a:off x="3354316" y="1645920"/>
            <a:ext cx="2604508"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354316" y="1645920"/>
            <a:ext cx="2604508"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37196"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Kustomize</a:t>
            </a:r>
          </a:p>
        </p:txBody>
      </p:sp>
      <p:sp>
        <p:nvSpPr>
          <p:cNvPr id="20" name="TextBox 19"/>
          <p:cNvSpPr txBox="1"/>
          <p:nvPr/>
        </p:nvSpPr>
        <p:spPr>
          <a:xfrm>
            <a:off x="3537196" y="2304288"/>
            <a:ext cx="2238748"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kustomization.yaml is detected automatically. Base plus overlays is the natural fit for per-environment differences.</a:t>
            </a:r>
          </a:p>
        </p:txBody>
      </p:sp>
      <p:sp>
        <p:nvSpPr>
          <p:cNvPr id="21" name="Rounded Rectangle 20"/>
          <p:cNvSpPr/>
          <p:nvPr/>
        </p:nvSpPr>
        <p:spPr>
          <a:xfrm>
            <a:off x="6233144" y="1645920"/>
            <a:ext cx="2604508"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33144" y="1645920"/>
            <a:ext cx="2604508" cy="685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16024"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Helm</a:t>
            </a:r>
          </a:p>
        </p:txBody>
      </p:sp>
      <p:sp>
        <p:nvSpPr>
          <p:cNvPr id="24" name="TextBox 23"/>
          <p:cNvSpPr txBox="1"/>
          <p:nvPr/>
        </p:nvSpPr>
        <p:spPr>
          <a:xfrm>
            <a:off x="6416024" y="2304288"/>
            <a:ext cx="2238748"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Chart.yaml is detected. Argo CD runs helm template, not helm install — so helm list in the cluster shows nothing.</a:t>
            </a:r>
          </a:p>
        </p:txBody>
      </p:sp>
      <p:sp>
        <p:nvSpPr>
          <p:cNvPr id="25" name="Rounded Rectangle 24"/>
          <p:cNvSpPr/>
          <p:nvPr/>
        </p:nvSpPr>
        <p:spPr>
          <a:xfrm>
            <a:off x="9111973" y="1645920"/>
            <a:ext cx="2604508"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111973" y="1645920"/>
            <a:ext cx="2604508"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94853"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Config Management Plugin</a:t>
            </a:r>
          </a:p>
        </p:txBody>
      </p:sp>
      <p:sp>
        <p:nvSpPr>
          <p:cNvPr id="28" name="TextBox 27"/>
          <p:cNvSpPr txBox="1"/>
          <p:nvPr/>
        </p:nvSpPr>
        <p:spPr>
          <a:xfrm>
            <a:off x="9294853" y="2304288"/>
            <a:ext cx="2238748"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Anything else — jsonnet, cdk8s, your own script. Powerful, and the hardest to debug when it breaks.</a:t>
            </a:r>
          </a:p>
        </p:txBody>
      </p:sp>
      <p:sp>
        <p:nvSpPr>
          <p:cNvPr id="29" name="Rounded Rectangle 28"/>
          <p:cNvSpPr/>
          <p:nvPr/>
        </p:nvSpPr>
        <p:spPr>
          <a:xfrm>
            <a:off x="475488" y="3840480"/>
            <a:ext cx="5428472" cy="1792224"/>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75488" y="3840480"/>
            <a:ext cx="64008" cy="179222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49808" y="3968496"/>
            <a:ext cx="4879832" cy="237744"/>
          </a:xfrm>
          <a:prstGeom prst="rect">
            <a:avLst/>
          </a:prstGeom>
          <a:noFill/>
        </p:spPr>
        <p:txBody>
          <a:bodyPr wrap="square" lIns="18288" rIns="18288" tIns="0" bIns="0" anchor="t">
            <a:noAutofit/>
          </a:bodyPr>
          <a:lstStyle/>
          <a:p>
            <a:pPr algn="l">
              <a:spcAft>
                <a:spcPts val="0"/>
              </a:spcAft>
            </a:pPr>
            <a:r>
              <a:rPr sz="1000" b="1" i="0">
                <a:solidFill>
                  <a:srgbClr val="4F46E5"/>
                </a:solidFill>
                <a:latin typeface="Consolas"/>
              </a:rPr>
              <a:t>pointing Helm at an environment's values</a:t>
            </a:r>
          </a:p>
        </p:txBody>
      </p:sp>
      <p:sp>
        <p:nvSpPr>
          <p:cNvPr id="32" name="TextBox 31"/>
          <p:cNvSpPr txBox="1"/>
          <p:nvPr/>
        </p:nvSpPr>
        <p:spPr>
          <a:xfrm>
            <a:off x="749808" y="4261104"/>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source:</a:t>
            </a:r>
          </a:p>
        </p:txBody>
      </p:sp>
      <p:sp>
        <p:nvSpPr>
          <p:cNvPr id="33" name="TextBox 32"/>
          <p:cNvSpPr txBox="1"/>
          <p:nvPr/>
        </p:nvSpPr>
        <p:spPr>
          <a:xfrm>
            <a:off x="749808" y="4457700"/>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repoURL: https://github.com/acme/platform.git</a:t>
            </a:r>
          </a:p>
        </p:txBody>
      </p:sp>
      <p:sp>
        <p:nvSpPr>
          <p:cNvPr id="34" name="TextBox 33"/>
          <p:cNvSpPr txBox="1"/>
          <p:nvPr/>
        </p:nvSpPr>
        <p:spPr>
          <a:xfrm>
            <a:off x="749808" y="4654296"/>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path: apps/billing</a:t>
            </a:r>
          </a:p>
        </p:txBody>
      </p:sp>
      <p:sp>
        <p:nvSpPr>
          <p:cNvPr id="35" name="TextBox 34"/>
          <p:cNvSpPr txBox="1"/>
          <p:nvPr/>
        </p:nvSpPr>
        <p:spPr>
          <a:xfrm>
            <a:off x="749808" y="4850892"/>
            <a:ext cx="4879832" cy="233172"/>
          </a:xfrm>
          <a:prstGeom prst="rect">
            <a:avLst/>
          </a:prstGeom>
          <a:noFill/>
        </p:spPr>
        <p:txBody>
          <a:bodyPr wrap="square" lIns="18288" rIns="18288" tIns="0" bIns="0" anchor="t">
            <a:noAutofit/>
          </a:bodyPr>
          <a:lstStyle/>
          <a:p>
            <a:pPr algn="l">
              <a:spcAft>
                <a:spcPts val="0"/>
              </a:spcAft>
            </a:pPr>
            <a:r>
              <a:rPr sz="1050" b="0" i="0">
                <a:solidFill>
                  <a:srgbClr val="4F46E5"/>
                </a:solidFill>
                <a:latin typeface="Consolas"/>
              </a:rPr>
              <a:t>  helm:</a:t>
            </a:r>
          </a:p>
        </p:txBody>
      </p:sp>
      <p:sp>
        <p:nvSpPr>
          <p:cNvPr id="36" name="TextBox 35"/>
          <p:cNvSpPr txBox="1"/>
          <p:nvPr/>
        </p:nvSpPr>
        <p:spPr>
          <a:xfrm>
            <a:off x="749808" y="5047488"/>
            <a:ext cx="4879832" cy="233172"/>
          </a:xfrm>
          <a:prstGeom prst="rect">
            <a:avLst/>
          </a:prstGeom>
          <a:noFill/>
        </p:spPr>
        <p:txBody>
          <a:bodyPr wrap="square" lIns="18288" rIns="18288" tIns="0" bIns="0" anchor="t">
            <a:noAutofit/>
          </a:bodyPr>
          <a:lstStyle/>
          <a:p>
            <a:pPr algn="l">
              <a:spcAft>
                <a:spcPts val="0"/>
              </a:spcAft>
            </a:pPr>
            <a:r>
              <a:rPr sz="1050" b="0" i="0">
                <a:solidFill>
                  <a:srgbClr val="4F46E5"/>
                </a:solidFill>
                <a:latin typeface="Consolas"/>
              </a:rPr>
              <a:t>    valueFiles:</a:t>
            </a:r>
          </a:p>
        </p:txBody>
      </p:sp>
      <p:sp>
        <p:nvSpPr>
          <p:cNvPr id="37" name="TextBox 36"/>
          <p:cNvSpPr txBox="1"/>
          <p:nvPr/>
        </p:nvSpPr>
        <p:spPr>
          <a:xfrm>
            <a:off x="749808" y="5244083"/>
            <a:ext cx="4879832" cy="233172"/>
          </a:xfrm>
          <a:prstGeom prst="rect">
            <a:avLst/>
          </a:prstGeom>
          <a:noFill/>
        </p:spPr>
        <p:txBody>
          <a:bodyPr wrap="square" lIns="18288" rIns="18288" tIns="0" bIns="0" anchor="t">
            <a:noAutofit/>
          </a:bodyPr>
          <a:lstStyle/>
          <a:p>
            <a:pPr algn="l">
              <a:spcAft>
                <a:spcPts val="0"/>
              </a:spcAft>
            </a:pPr>
            <a:r>
              <a:rPr sz="1050" b="0" i="0">
                <a:solidFill>
                  <a:srgbClr val="4F46E5"/>
                </a:solidFill>
                <a:latin typeface="Consolas"/>
              </a:rPr>
              <a:t>      - values-prod.yaml</a:t>
            </a:r>
          </a:p>
        </p:txBody>
      </p:sp>
      <p:sp>
        <p:nvSpPr>
          <p:cNvPr id="38" name="Rounded Rectangle 37"/>
          <p:cNvSpPr/>
          <p:nvPr/>
        </p:nvSpPr>
        <p:spPr>
          <a:xfrm>
            <a:off x="6288008" y="3840480"/>
            <a:ext cx="5428472" cy="179222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288008" y="3840480"/>
            <a:ext cx="77724" cy="17922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44040" y="398678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consequence people trip on</a:t>
            </a:r>
          </a:p>
        </p:txBody>
      </p:sp>
      <p:sp>
        <p:nvSpPr>
          <p:cNvPr id="41" name="TextBox 40"/>
          <p:cNvSpPr txBox="1"/>
          <p:nvPr/>
        </p:nvSpPr>
        <p:spPr>
          <a:xfrm>
            <a:off x="6544040" y="4389120"/>
            <a:ext cx="4971272" cy="1115568"/>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Because there is no Helm release, helm rollback does not exist here. Rolling back means reverting the commit and letting Argo CD reconcile.</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That is the GitOps answer, and it is better — but it surprises Helm users.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Projects — The Guard Rails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Without a Project, any Application can deploy anything anywhere. That is rarely what you want.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 Project constrains which repos, clusters, namespaces and kinds an Application may touch.</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6309360" cy="30632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06324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760720" cy="237744"/>
          </a:xfrm>
          <a:prstGeom prst="rect">
            <a:avLst/>
          </a:prstGeom>
          <a:noFill/>
        </p:spPr>
        <p:txBody>
          <a:bodyPr wrap="square" lIns="18288" rIns="18288" tIns="0" bIns="0" anchor="t">
            <a:noAutofit/>
          </a:bodyPr>
          <a:lstStyle/>
          <a:p>
            <a:pPr algn="l">
              <a:spcAft>
                <a:spcPts val="0"/>
              </a:spcAft>
            </a:pPr>
            <a:r>
              <a:rPr sz="1000" b="1" i="0">
                <a:solidFill>
                  <a:srgbClr val="2E86DE"/>
                </a:solidFill>
                <a:latin typeface="Consolas"/>
              </a:rPr>
              <a:t>appproject.yaml</a:t>
            </a:r>
          </a:p>
        </p:txBody>
      </p:sp>
      <p:sp>
        <p:nvSpPr>
          <p:cNvPr id="16" name="TextBox 15"/>
          <p:cNvSpPr txBox="1"/>
          <p:nvPr/>
        </p:nvSpPr>
        <p:spPr>
          <a:xfrm>
            <a:off x="749808" y="2066543"/>
            <a:ext cx="5760720" cy="224028"/>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apiVersion: argoproj.io/v1alpha1</a:t>
            </a:r>
          </a:p>
        </p:txBody>
      </p:sp>
      <p:sp>
        <p:nvSpPr>
          <p:cNvPr id="17" name="TextBox 16"/>
          <p:cNvSpPr txBox="1"/>
          <p:nvPr/>
        </p:nvSpPr>
        <p:spPr>
          <a:xfrm>
            <a:off x="749808" y="2253996"/>
            <a:ext cx="5760720" cy="224028"/>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kind: AppProject</a:t>
            </a:r>
          </a:p>
        </p:txBody>
      </p:sp>
      <p:sp>
        <p:nvSpPr>
          <p:cNvPr id="18" name="TextBox 17"/>
          <p:cNvSpPr txBox="1"/>
          <p:nvPr/>
        </p:nvSpPr>
        <p:spPr>
          <a:xfrm>
            <a:off x="749808" y="2441448"/>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metadata: { name: payments, namespace: argocd }</a:t>
            </a:r>
          </a:p>
        </p:txBody>
      </p:sp>
      <p:sp>
        <p:nvSpPr>
          <p:cNvPr id="19" name="TextBox 18"/>
          <p:cNvSpPr txBox="1"/>
          <p:nvPr/>
        </p:nvSpPr>
        <p:spPr>
          <a:xfrm>
            <a:off x="749808" y="2628900"/>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spec:</a:t>
            </a:r>
          </a:p>
        </p:txBody>
      </p:sp>
      <p:sp>
        <p:nvSpPr>
          <p:cNvPr id="20" name="TextBox 19"/>
          <p:cNvSpPr txBox="1"/>
          <p:nvPr/>
        </p:nvSpPr>
        <p:spPr>
          <a:xfrm>
            <a:off x="749808" y="2816352"/>
            <a:ext cx="5760720" cy="224028"/>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sourceRepos:</a:t>
            </a:r>
          </a:p>
        </p:txBody>
      </p:sp>
      <p:sp>
        <p:nvSpPr>
          <p:cNvPr id="21" name="TextBox 20"/>
          <p:cNvSpPr txBox="1"/>
          <p:nvPr/>
        </p:nvSpPr>
        <p:spPr>
          <a:xfrm>
            <a:off x="749808" y="3003804"/>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https://github.com/acme/platform.git</a:t>
            </a:r>
          </a:p>
        </p:txBody>
      </p:sp>
      <p:sp>
        <p:nvSpPr>
          <p:cNvPr id="22" name="TextBox 21"/>
          <p:cNvSpPr txBox="1"/>
          <p:nvPr/>
        </p:nvSpPr>
        <p:spPr>
          <a:xfrm>
            <a:off x="749808" y="3191256"/>
            <a:ext cx="5760720" cy="224028"/>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destinations:</a:t>
            </a:r>
          </a:p>
        </p:txBody>
      </p:sp>
      <p:sp>
        <p:nvSpPr>
          <p:cNvPr id="23" name="TextBox 22"/>
          <p:cNvSpPr txBox="1"/>
          <p:nvPr/>
        </p:nvSpPr>
        <p:spPr>
          <a:xfrm>
            <a:off x="749808" y="3378708"/>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server: https://kubernetes.default.svc</a:t>
            </a:r>
          </a:p>
        </p:txBody>
      </p:sp>
      <p:sp>
        <p:nvSpPr>
          <p:cNvPr id="24" name="TextBox 23"/>
          <p:cNvSpPr txBox="1"/>
          <p:nvPr/>
        </p:nvSpPr>
        <p:spPr>
          <a:xfrm>
            <a:off x="749808" y="3566160"/>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namespace: 'payments-*'</a:t>
            </a:r>
          </a:p>
        </p:txBody>
      </p:sp>
      <p:sp>
        <p:nvSpPr>
          <p:cNvPr id="25" name="TextBox 24"/>
          <p:cNvSpPr txBox="1"/>
          <p:nvPr/>
        </p:nvSpPr>
        <p:spPr>
          <a:xfrm>
            <a:off x="749808" y="3753612"/>
            <a:ext cx="5760720" cy="224028"/>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clusterResourceWhitelist: []</a:t>
            </a:r>
          </a:p>
        </p:txBody>
      </p:sp>
      <p:sp>
        <p:nvSpPr>
          <p:cNvPr id="26" name="TextBox 25"/>
          <p:cNvSpPr txBox="1"/>
          <p:nvPr/>
        </p:nvSpPr>
        <p:spPr>
          <a:xfrm>
            <a:off x="749808" y="3941064"/>
            <a:ext cx="5760720" cy="224028"/>
          </a:xfrm>
          <a:prstGeom prst="rect">
            <a:avLst/>
          </a:prstGeom>
          <a:noFill/>
        </p:spPr>
        <p:txBody>
          <a:bodyPr wrap="square" lIns="18288" rIns="18288" tIns="0" bIns="0" anchor="t">
            <a:noAutofit/>
          </a:bodyPr>
          <a:lstStyle/>
          <a:p>
            <a:pPr algn="l">
              <a:spcAft>
                <a:spcPts val="0"/>
              </a:spcAft>
            </a:pPr>
            <a:r>
              <a:rPr sz="1100" b="0" i="0">
                <a:solidFill>
                  <a:srgbClr val="D93B3B"/>
                </a:solidFill>
                <a:latin typeface="Consolas"/>
              </a:rPr>
              <a:t>  namespaceResourceBlacklist:</a:t>
            </a:r>
          </a:p>
        </p:txBody>
      </p:sp>
      <p:sp>
        <p:nvSpPr>
          <p:cNvPr id="27" name="TextBox 26"/>
          <p:cNvSpPr txBox="1"/>
          <p:nvPr/>
        </p:nvSpPr>
        <p:spPr>
          <a:xfrm>
            <a:off x="749808" y="4128516"/>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group: ''</a:t>
            </a:r>
          </a:p>
        </p:txBody>
      </p:sp>
      <p:sp>
        <p:nvSpPr>
          <p:cNvPr id="28" name="TextBox 27"/>
          <p:cNvSpPr txBox="1"/>
          <p:nvPr/>
        </p:nvSpPr>
        <p:spPr>
          <a:xfrm>
            <a:off x="749808" y="4315968"/>
            <a:ext cx="5760720" cy="22402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kind: ResourceQuota</a:t>
            </a:r>
          </a:p>
        </p:txBody>
      </p:sp>
      <p:sp>
        <p:nvSpPr>
          <p:cNvPr id="29" name="TextBox 28"/>
          <p:cNvSpPr txBox="1"/>
          <p:nvPr/>
        </p:nvSpPr>
        <p:spPr>
          <a:xfrm>
            <a:off x="7013448" y="1632204"/>
            <a:ext cx="256032" cy="274320"/>
          </a:xfrm>
          <a:prstGeom prst="rect">
            <a:avLst/>
          </a:prstGeom>
          <a:noFill/>
        </p:spPr>
        <p:txBody>
          <a:bodyPr wrap="square" lIns="18288" rIns="18288" tIns="0" bIns="0" anchor="t">
            <a:noAutofit/>
          </a:bodyPr>
          <a:lstStyle/>
          <a:p>
            <a:pPr algn="l">
              <a:spcAft>
                <a:spcPts val="0"/>
              </a:spcAft>
            </a:pPr>
            <a:r>
              <a:rPr sz="1250" b="1" i="0">
                <a:solidFill>
                  <a:srgbClr val="2E86DE"/>
                </a:solidFill>
                <a:latin typeface="Calibri"/>
              </a:rPr>
              <a:t>▸</a:t>
            </a:r>
          </a:p>
        </p:txBody>
      </p:sp>
      <p:sp>
        <p:nvSpPr>
          <p:cNvPr id="30" name="TextBox 29"/>
          <p:cNvSpPr txBox="1"/>
          <p:nvPr/>
        </p:nvSpPr>
        <p:spPr>
          <a:xfrm>
            <a:off x="7324344" y="1645920"/>
            <a:ext cx="4392137" cy="274320"/>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sourceRepos  </a:t>
            </a:r>
            <a:r>
              <a:rPr sz="1050" b="0" i="0">
                <a:solidFill>
                  <a:srgbClr val="363F4D"/>
                </a:solidFill>
                <a:latin typeface="Calibri"/>
              </a:rPr>
              <a:t>the only repositories this project may deploy from</a:t>
            </a:r>
          </a:p>
        </p:txBody>
      </p:sp>
      <p:sp>
        <p:nvSpPr>
          <p:cNvPr id="31" name="TextBox 30"/>
          <p:cNvSpPr txBox="1"/>
          <p:nvPr/>
        </p:nvSpPr>
        <p:spPr>
          <a:xfrm>
            <a:off x="7013448" y="2153412"/>
            <a:ext cx="256032" cy="274320"/>
          </a:xfrm>
          <a:prstGeom prst="rect">
            <a:avLst/>
          </a:prstGeom>
          <a:noFill/>
        </p:spPr>
        <p:txBody>
          <a:bodyPr wrap="square" lIns="18288" rIns="18288" tIns="0" bIns="0" anchor="t">
            <a:noAutofit/>
          </a:bodyPr>
          <a:lstStyle/>
          <a:p>
            <a:pPr algn="l">
              <a:spcAft>
                <a:spcPts val="0"/>
              </a:spcAft>
            </a:pPr>
            <a:r>
              <a:rPr sz="1250" b="1" i="0">
                <a:solidFill>
                  <a:srgbClr val="2E86DE"/>
                </a:solidFill>
                <a:latin typeface="Calibri"/>
              </a:rPr>
              <a:t>▸</a:t>
            </a:r>
          </a:p>
        </p:txBody>
      </p:sp>
      <p:sp>
        <p:nvSpPr>
          <p:cNvPr id="32" name="TextBox 31"/>
          <p:cNvSpPr txBox="1"/>
          <p:nvPr/>
        </p:nvSpPr>
        <p:spPr>
          <a:xfrm>
            <a:off x="7324344" y="2167128"/>
            <a:ext cx="43921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destinations  </a:t>
            </a:r>
            <a:r>
              <a:rPr sz="1050" b="0" i="0">
                <a:solidFill>
                  <a:srgbClr val="363F4D"/>
                </a:solidFill>
                <a:latin typeface="Calibri"/>
              </a:rPr>
              <a:t>the clusters and namespaces it may write to — wildcards allowed</a:t>
            </a:r>
          </a:p>
        </p:txBody>
      </p:sp>
      <p:sp>
        <p:nvSpPr>
          <p:cNvPr id="33" name="TextBox 32"/>
          <p:cNvSpPr txBox="1"/>
          <p:nvPr/>
        </p:nvSpPr>
        <p:spPr>
          <a:xfrm>
            <a:off x="7013448" y="2837307"/>
            <a:ext cx="256032" cy="274320"/>
          </a:xfrm>
          <a:prstGeom prst="rect">
            <a:avLst/>
          </a:prstGeom>
          <a:noFill/>
        </p:spPr>
        <p:txBody>
          <a:bodyPr wrap="square" lIns="18288" rIns="18288" tIns="0" bIns="0" anchor="t">
            <a:noAutofit/>
          </a:bodyPr>
          <a:lstStyle/>
          <a:p>
            <a:pPr algn="l">
              <a:spcAft>
                <a:spcPts val="0"/>
              </a:spcAft>
            </a:pPr>
            <a:r>
              <a:rPr sz="1250" b="1" i="0">
                <a:solidFill>
                  <a:srgbClr val="2E86DE"/>
                </a:solidFill>
                <a:latin typeface="Calibri"/>
              </a:rPr>
              <a:t>▸</a:t>
            </a:r>
          </a:p>
        </p:txBody>
      </p:sp>
      <p:sp>
        <p:nvSpPr>
          <p:cNvPr id="34" name="TextBox 33"/>
          <p:cNvSpPr txBox="1"/>
          <p:nvPr/>
        </p:nvSpPr>
        <p:spPr>
          <a:xfrm>
            <a:off x="7324344" y="2851023"/>
            <a:ext cx="4392137" cy="274320"/>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clusterResourceWhitelist  </a:t>
            </a:r>
            <a:r>
              <a:rPr sz="1050" b="0" i="0">
                <a:solidFill>
                  <a:srgbClr val="363F4D"/>
                </a:solidFill>
                <a:latin typeface="Calibri"/>
              </a:rPr>
              <a:t>empty means no cluster-scoped objects at all</a:t>
            </a:r>
          </a:p>
        </p:txBody>
      </p:sp>
      <p:sp>
        <p:nvSpPr>
          <p:cNvPr id="35" name="TextBox 34"/>
          <p:cNvSpPr txBox="1"/>
          <p:nvPr/>
        </p:nvSpPr>
        <p:spPr>
          <a:xfrm>
            <a:off x="7013448" y="3358515"/>
            <a:ext cx="256032" cy="274320"/>
          </a:xfrm>
          <a:prstGeom prst="rect">
            <a:avLst/>
          </a:prstGeom>
          <a:noFill/>
        </p:spPr>
        <p:txBody>
          <a:bodyPr wrap="square" lIns="18288" rIns="18288" tIns="0" bIns="0" anchor="t">
            <a:noAutofit/>
          </a:bodyPr>
          <a:lstStyle/>
          <a:p>
            <a:pPr algn="l">
              <a:spcAft>
                <a:spcPts val="0"/>
              </a:spcAft>
            </a:pPr>
            <a:r>
              <a:rPr sz="1250" b="1" i="0">
                <a:solidFill>
                  <a:srgbClr val="2E86DE"/>
                </a:solidFill>
                <a:latin typeface="Calibri"/>
              </a:rPr>
              <a:t>▸</a:t>
            </a:r>
          </a:p>
        </p:txBody>
      </p:sp>
      <p:sp>
        <p:nvSpPr>
          <p:cNvPr id="36" name="TextBox 35"/>
          <p:cNvSpPr txBox="1"/>
          <p:nvPr/>
        </p:nvSpPr>
        <p:spPr>
          <a:xfrm>
            <a:off x="7324344" y="3372231"/>
            <a:ext cx="43921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namespaceResourceBlacklist  </a:t>
            </a:r>
            <a:r>
              <a:rPr sz="1050" b="0" i="0">
                <a:solidFill>
                  <a:srgbClr val="363F4D"/>
                </a:solidFill>
                <a:latin typeface="Calibri"/>
              </a:rPr>
              <a:t>kinds a team must not create, even in its own namespace</a:t>
            </a:r>
          </a:p>
        </p:txBody>
      </p:sp>
      <p:sp>
        <p:nvSpPr>
          <p:cNvPr id="37" name="Rounded Rectangle 36"/>
          <p:cNvSpPr/>
          <p:nvPr/>
        </p:nvSpPr>
        <p:spPr>
          <a:xfrm>
            <a:off x="7013448" y="4251960"/>
            <a:ext cx="4703033" cy="82296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013448" y="4251960"/>
            <a:ext cx="77724" cy="82296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269480" y="4416552"/>
            <a:ext cx="4245833" cy="530352"/>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The default project allows everything. Treat leaving an Application in it as a finding.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Who May Press Sync</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Argo CD holds cluster-admin. Its own access control is therefore part of your security boundary.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Disable local accounts, wire SSO, and give teams sync rights only on their own Project.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TextBox 12"/>
          <p:cNvSpPr txBox="1"/>
          <p:nvPr/>
        </p:nvSpPr>
        <p:spPr>
          <a:xfrm>
            <a:off x="475488" y="1632204"/>
            <a:ext cx="256032" cy="274320"/>
          </a:xfrm>
          <a:prstGeom prst="rect">
            <a:avLst/>
          </a:prstGeom>
          <a:noFill/>
        </p:spPr>
        <p:txBody>
          <a:bodyPr wrap="square" lIns="18288" rIns="18288" tIns="0" bIns="0" anchor="t">
            <a:noAutofit/>
          </a:bodyPr>
          <a:lstStyle/>
          <a:p>
            <a:pPr algn="l">
              <a:spcAft>
                <a:spcPts val="0"/>
              </a:spcAft>
            </a:pPr>
            <a:r>
              <a:rPr sz="1250" b="1" i="0">
                <a:solidFill>
                  <a:srgbClr val="7C3AED"/>
                </a:solidFill>
                <a:latin typeface="Calibri"/>
              </a:rPr>
              <a:t>▸</a:t>
            </a:r>
          </a:p>
        </p:txBody>
      </p:sp>
      <p:sp>
        <p:nvSpPr>
          <p:cNvPr id="14" name="TextBox 13"/>
          <p:cNvSpPr txBox="1"/>
          <p:nvPr/>
        </p:nvSpPr>
        <p:spPr>
          <a:xfrm>
            <a:off x="786384" y="1645920"/>
            <a:ext cx="5117576"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SSO, not local users  </a:t>
            </a:r>
            <a:r>
              <a:rPr sz="1050" b="0" i="0">
                <a:solidFill>
                  <a:srgbClr val="363F4D"/>
                </a:solidFill>
                <a:latin typeface="Calibri"/>
              </a:rPr>
              <a:t>OIDC or SAML against your identity provider. The built-in admin becomes break-glass only.</a:t>
            </a:r>
          </a:p>
        </p:txBody>
      </p:sp>
      <p:sp>
        <p:nvSpPr>
          <p:cNvPr id="15" name="TextBox 14"/>
          <p:cNvSpPr txBox="1"/>
          <p:nvPr/>
        </p:nvSpPr>
        <p:spPr>
          <a:xfrm>
            <a:off x="475488" y="2306955"/>
            <a:ext cx="256032" cy="274320"/>
          </a:xfrm>
          <a:prstGeom prst="rect">
            <a:avLst/>
          </a:prstGeom>
          <a:noFill/>
        </p:spPr>
        <p:txBody>
          <a:bodyPr wrap="square" lIns="18288" rIns="18288" tIns="0" bIns="0" anchor="t">
            <a:noAutofit/>
          </a:bodyPr>
          <a:lstStyle/>
          <a:p>
            <a:pPr algn="l">
              <a:spcAft>
                <a:spcPts val="0"/>
              </a:spcAft>
            </a:pPr>
            <a:r>
              <a:rPr sz="1250" b="1" i="0">
                <a:solidFill>
                  <a:srgbClr val="7C3AED"/>
                </a:solidFill>
                <a:latin typeface="Calibri"/>
              </a:rPr>
              <a:t>▸</a:t>
            </a:r>
          </a:p>
        </p:txBody>
      </p:sp>
      <p:sp>
        <p:nvSpPr>
          <p:cNvPr id="16" name="TextBox 15"/>
          <p:cNvSpPr txBox="1"/>
          <p:nvPr/>
        </p:nvSpPr>
        <p:spPr>
          <a:xfrm>
            <a:off x="786384" y="2320671"/>
            <a:ext cx="5117576"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Disable admin afterwards  </a:t>
            </a:r>
            <a:r>
              <a:rPr sz="1050" b="0" i="0">
                <a:solidFill>
                  <a:srgbClr val="363F4D"/>
                </a:solidFill>
                <a:latin typeface="Calibri"/>
              </a:rPr>
              <a:t>admin.enabled: false in argocd-cm once SSO works. It is a shared account with full power.</a:t>
            </a:r>
          </a:p>
        </p:txBody>
      </p:sp>
      <p:sp>
        <p:nvSpPr>
          <p:cNvPr id="17" name="TextBox 16"/>
          <p:cNvSpPr txBox="1"/>
          <p:nvPr/>
        </p:nvSpPr>
        <p:spPr>
          <a:xfrm>
            <a:off x="475488" y="2981706"/>
            <a:ext cx="256032" cy="274320"/>
          </a:xfrm>
          <a:prstGeom prst="rect">
            <a:avLst/>
          </a:prstGeom>
          <a:noFill/>
        </p:spPr>
        <p:txBody>
          <a:bodyPr wrap="square" lIns="18288" rIns="18288" tIns="0" bIns="0" anchor="t">
            <a:noAutofit/>
          </a:bodyPr>
          <a:lstStyle/>
          <a:p>
            <a:pPr algn="l">
              <a:spcAft>
                <a:spcPts val="0"/>
              </a:spcAft>
            </a:pPr>
            <a:r>
              <a:rPr sz="1250" b="1" i="0">
                <a:solidFill>
                  <a:srgbClr val="7C3AED"/>
                </a:solidFill>
                <a:latin typeface="Calibri"/>
              </a:rPr>
              <a:t>▸</a:t>
            </a:r>
          </a:p>
        </p:txBody>
      </p:sp>
      <p:sp>
        <p:nvSpPr>
          <p:cNvPr id="18" name="TextBox 17"/>
          <p:cNvSpPr txBox="1"/>
          <p:nvPr/>
        </p:nvSpPr>
        <p:spPr>
          <a:xfrm>
            <a:off x="786384" y="2995422"/>
            <a:ext cx="5117576"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Scope by Project  </a:t>
            </a:r>
            <a:r>
              <a:rPr sz="1050" b="0" i="0">
                <a:solidFill>
                  <a:srgbClr val="363F4D"/>
                </a:solidFill>
                <a:latin typeface="Calibri"/>
              </a:rPr>
              <a:t>RBAC policies name a Project, so a team can sync its own applications and nobody else's.</a:t>
            </a:r>
          </a:p>
        </p:txBody>
      </p:sp>
      <p:sp>
        <p:nvSpPr>
          <p:cNvPr id="19" name="TextBox 18"/>
          <p:cNvSpPr txBox="1"/>
          <p:nvPr/>
        </p:nvSpPr>
        <p:spPr>
          <a:xfrm>
            <a:off x="475488" y="3656457"/>
            <a:ext cx="256032" cy="274320"/>
          </a:xfrm>
          <a:prstGeom prst="rect">
            <a:avLst/>
          </a:prstGeom>
          <a:noFill/>
        </p:spPr>
        <p:txBody>
          <a:bodyPr wrap="square" lIns="18288" rIns="18288" tIns="0" bIns="0" anchor="t">
            <a:noAutofit/>
          </a:bodyPr>
          <a:lstStyle/>
          <a:p>
            <a:pPr algn="l">
              <a:spcAft>
                <a:spcPts val="0"/>
              </a:spcAft>
            </a:pPr>
            <a:r>
              <a:rPr sz="1250" b="1" i="0">
                <a:solidFill>
                  <a:srgbClr val="7C3AED"/>
                </a:solidFill>
                <a:latin typeface="Calibri"/>
              </a:rPr>
              <a:t>▸</a:t>
            </a:r>
          </a:p>
        </p:txBody>
      </p:sp>
      <p:sp>
        <p:nvSpPr>
          <p:cNvPr id="20" name="TextBox 19"/>
          <p:cNvSpPr txBox="1"/>
          <p:nvPr/>
        </p:nvSpPr>
        <p:spPr>
          <a:xfrm>
            <a:off x="786384" y="3670173"/>
            <a:ext cx="5117576" cy="274320"/>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Read-only is a real role  </a:t>
            </a:r>
            <a:r>
              <a:rPr sz="1050" b="0" i="0">
                <a:solidFill>
                  <a:srgbClr val="363F4D"/>
                </a:solidFill>
                <a:latin typeface="Calibri"/>
              </a:rPr>
              <a:t>Most people need status and diffs. Very few need to sync.</a:t>
            </a:r>
          </a:p>
        </p:txBody>
      </p:sp>
      <p:sp>
        <p:nvSpPr>
          <p:cNvPr id="21" name="Rounded Rectangle 20"/>
          <p:cNvSpPr/>
          <p:nvPr/>
        </p:nvSpPr>
        <p:spPr>
          <a:xfrm>
            <a:off x="6288008" y="1645920"/>
            <a:ext cx="5428472" cy="263347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88008" y="1645920"/>
            <a:ext cx="64008" cy="26334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least privilege, per project</a:t>
            </a:r>
          </a:p>
        </p:txBody>
      </p:sp>
      <p:sp>
        <p:nvSpPr>
          <p:cNvPr id="24" name="TextBox 23"/>
          <p:cNvSpPr txBox="1"/>
          <p:nvPr/>
        </p:nvSpPr>
        <p:spPr>
          <a:xfrm>
            <a:off x="6562328" y="2066543"/>
            <a:ext cx="4879832" cy="224028"/>
          </a:xfrm>
          <a:prstGeom prst="rect">
            <a:avLst/>
          </a:prstGeom>
          <a:noFill/>
        </p:spPr>
        <p:txBody>
          <a:bodyPr wrap="square" lIns="18288" rIns="18288" tIns="0" bIns="0" anchor="t">
            <a:noAutofit/>
          </a:bodyPr>
          <a:lstStyle/>
          <a:p>
            <a:pPr algn="l">
              <a:spcAft>
                <a:spcPts val="0"/>
              </a:spcAft>
            </a:pPr>
            <a:r>
              <a:rPr sz="1000" b="0" i="0">
                <a:solidFill>
                  <a:srgbClr val="6B7A8D"/>
                </a:solidFill>
                <a:latin typeface="Consolas"/>
              </a:rPr>
              <a:t># argocd-rbac-cm</a:t>
            </a:r>
          </a:p>
        </p:txBody>
      </p:sp>
      <p:sp>
        <p:nvSpPr>
          <p:cNvPr id="25" name="TextBox 24"/>
          <p:cNvSpPr txBox="1"/>
          <p:nvPr/>
        </p:nvSpPr>
        <p:spPr>
          <a:xfrm>
            <a:off x="6562328" y="2253996"/>
            <a:ext cx="4879832" cy="224028"/>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policy.csv: |</a:t>
            </a:r>
          </a:p>
        </p:txBody>
      </p:sp>
      <p:sp>
        <p:nvSpPr>
          <p:cNvPr id="26" name="TextBox 25"/>
          <p:cNvSpPr txBox="1"/>
          <p:nvPr/>
        </p:nvSpPr>
        <p:spPr>
          <a:xfrm>
            <a:off x="6562328" y="2441448"/>
            <a:ext cx="4879832" cy="224028"/>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p, role:payments-dev, applications, get, payments/*, allow</a:t>
            </a:r>
          </a:p>
        </p:txBody>
      </p:sp>
      <p:sp>
        <p:nvSpPr>
          <p:cNvPr id="27" name="TextBox 26"/>
          <p:cNvSpPr txBox="1"/>
          <p:nvPr/>
        </p:nvSpPr>
        <p:spPr>
          <a:xfrm>
            <a:off x="6562328" y="2628900"/>
            <a:ext cx="4879832" cy="224028"/>
          </a:xfrm>
          <a:prstGeom prst="rect">
            <a:avLst/>
          </a:prstGeom>
          <a:noFill/>
        </p:spPr>
        <p:txBody>
          <a:bodyPr wrap="square" lIns="18288" rIns="18288" tIns="0" bIns="0" anchor="t">
            <a:noAutofit/>
          </a:bodyPr>
          <a:lstStyle/>
          <a:p>
            <a:pPr algn="l">
              <a:spcAft>
                <a:spcPts val="0"/>
              </a:spcAft>
            </a:pPr>
            <a:r>
              <a:rPr sz="1000" b="0" i="0">
                <a:solidFill>
                  <a:srgbClr val="2EB56B"/>
                </a:solidFill>
                <a:latin typeface="Consolas"/>
              </a:rPr>
              <a:t>  p, role:payments-dev, applications, sync, payments/*, allow</a:t>
            </a:r>
          </a:p>
        </p:txBody>
      </p:sp>
      <p:sp>
        <p:nvSpPr>
          <p:cNvPr id="28" name="TextBox 27"/>
          <p:cNvSpPr txBox="1"/>
          <p:nvPr/>
        </p:nvSpPr>
        <p:spPr>
          <a:xfrm>
            <a:off x="6562328" y="2816352"/>
            <a:ext cx="4879832" cy="224028"/>
          </a:xfrm>
          <a:prstGeom prst="rect">
            <a:avLst/>
          </a:prstGeom>
          <a:noFill/>
        </p:spPr>
        <p:txBody>
          <a:bodyPr wrap="square" lIns="18288" rIns="18288" tIns="0" bIns="0" anchor="t">
            <a:noAutofit/>
          </a:bodyPr>
          <a:lstStyle/>
          <a:p>
            <a:pPr algn="l">
              <a:spcAft>
                <a:spcPts val="0"/>
              </a:spcAft>
            </a:pPr>
            <a:r>
              <a:rPr sz="1000" b="0" i="0">
                <a:solidFill>
                  <a:srgbClr val="D93B3B"/>
                </a:solidFill>
                <a:latin typeface="Consolas"/>
              </a:rPr>
              <a:t>  p, role:payments-dev, applications, delete, payments/*, deny</a:t>
            </a:r>
          </a:p>
        </p:txBody>
      </p:sp>
      <p:sp>
        <p:nvSpPr>
          <p:cNvPr id="29" name="TextBox 28"/>
          <p:cNvSpPr txBox="1"/>
          <p:nvPr/>
        </p:nvSpPr>
        <p:spPr>
          <a:xfrm>
            <a:off x="6562328" y="3003804"/>
            <a:ext cx="4879832" cy="224028"/>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a:r>
          </a:p>
        </p:txBody>
      </p:sp>
      <p:sp>
        <p:nvSpPr>
          <p:cNvPr id="30" name="TextBox 29"/>
          <p:cNvSpPr txBox="1"/>
          <p:nvPr/>
        </p:nvSpPr>
        <p:spPr>
          <a:xfrm>
            <a:off x="6562328" y="3191256"/>
            <a:ext cx="4879832" cy="224028"/>
          </a:xfrm>
          <a:prstGeom prst="rect">
            <a:avLst/>
          </a:prstGeom>
          <a:noFill/>
        </p:spPr>
        <p:txBody>
          <a:bodyPr wrap="square" lIns="18288" rIns="18288" tIns="0" bIns="0" anchor="t">
            <a:noAutofit/>
          </a:bodyPr>
          <a:lstStyle/>
          <a:p>
            <a:pPr algn="l">
              <a:spcAft>
                <a:spcPts val="0"/>
              </a:spcAft>
            </a:pPr>
            <a:r>
              <a:rPr sz="1000" b="0" i="0">
                <a:solidFill>
                  <a:srgbClr val="2BA8D8"/>
                </a:solidFill>
                <a:latin typeface="Consolas"/>
              </a:rPr>
              <a:t>  g, acme:payments-team, role:payments-dev</a:t>
            </a:r>
          </a:p>
        </p:txBody>
      </p:sp>
      <p:sp>
        <p:nvSpPr>
          <p:cNvPr id="31" name="TextBox 30"/>
          <p:cNvSpPr txBox="1"/>
          <p:nvPr/>
        </p:nvSpPr>
        <p:spPr>
          <a:xfrm>
            <a:off x="6562328" y="3378708"/>
            <a:ext cx="4879832" cy="224028"/>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a:r>
          </a:p>
        </p:txBody>
      </p:sp>
      <p:sp>
        <p:nvSpPr>
          <p:cNvPr id="32" name="TextBox 31"/>
          <p:cNvSpPr txBox="1"/>
          <p:nvPr/>
        </p:nvSpPr>
        <p:spPr>
          <a:xfrm>
            <a:off x="6562328" y="3566160"/>
            <a:ext cx="4879832" cy="224028"/>
          </a:xfrm>
          <a:prstGeom prst="rect">
            <a:avLst/>
          </a:prstGeom>
          <a:noFill/>
        </p:spPr>
        <p:txBody>
          <a:bodyPr wrap="square" lIns="18288" rIns="18288" tIns="0" bIns="0" anchor="t">
            <a:noAutofit/>
          </a:bodyPr>
          <a:lstStyle/>
          <a:p>
            <a:pPr algn="l">
              <a:spcAft>
                <a:spcPts val="0"/>
              </a:spcAft>
            </a:pPr>
            <a:r>
              <a:rPr sz="1000" b="0" i="0">
                <a:solidFill>
                  <a:srgbClr val="F59E0B"/>
                </a:solidFill>
                <a:latin typeface="Consolas"/>
              </a:rPr>
              <a:t>policy.default: role:readonly</a:t>
            </a:r>
          </a:p>
        </p:txBody>
      </p:sp>
      <p:sp>
        <p:nvSpPr>
          <p:cNvPr id="33" name="Rounded Rectangle 32"/>
          <p:cNvSpPr/>
          <p:nvPr/>
        </p:nvSpPr>
        <p:spPr>
          <a:xfrm>
            <a:off x="475488" y="4443984"/>
            <a:ext cx="11240993" cy="512064"/>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4443984"/>
            <a:ext cx="91440" cy="51206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4535424"/>
            <a:ext cx="10555193" cy="329184"/>
          </a:xfrm>
          <a:prstGeom prst="rect">
            <a:avLst/>
          </a:prstGeom>
          <a:noFill/>
        </p:spPr>
        <p:txBody>
          <a:bodyPr wrap="square" lIns="18288" rIns="18288" tIns="0" bIns="0" anchor="ctr">
            <a:noAutofit/>
          </a:bodyPr>
          <a:lstStyle/>
          <a:p>
            <a:pPr algn="l">
              <a:lnSpc>
                <a:spcPct val="120000"/>
              </a:lnSpc>
              <a:spcAft>
                <a:spcPts val="0"/>
              </a:spcAft>
            </a:pPr>
            <a:r>
              <a:rPr sz="1300" b="0" i="1">
                <a:solidFill>
                  <a:srgbClr val="1F2B3D"/>
                </a:solidFill>
                <a:latin typeface="Calibri Light"/>
              </a:rPr>
              <a:t>policy.default: role:readonly is the most valuable line here — without it, anyone who authenticates gets whatever the default grants.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 Repository Layout That Survives Contact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Structure decides whether this scales to fifty services or collapses at five.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Separate what changes per environment from what does not, and keep platform add-ons apart from apps.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6035040" cy="38404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84048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486400" cy="237744"/>
          </a:xfrm>
          <a:prstGeom prst="rect">
            <a:avLst/>
          </a:prstGeom>
          <a:noFill/>
        </p:spPr>
        <p:txBody>
          <a:bodyPr wrap="square" lIns="18288" rIns="18288" tIns="0" bIns="0" anchor="t">
            <a:noAutofit/>
          </a:bodyPr>
          <a:lstStyle/>
          <a:p>
            <a:pPr algn="l">
              <a:spcAft>
                <a:spcPts val="0"/>
              </a:spcAft>
            </a:pPr>
            <a:r>
              <a:rPr sz="1000" b="1" i="0">
                <a:solidFill>
                  <a:srgbClr val="2BA8D8"/>
                </a:solidFill>
                <a:latin typeface="Consolas"/>
              </a:rPr>
              <a:t>one repo, three concerns</a:t>
            </a:r>
          </a:p>
        </p:txBody>
      </p:sp>
      <p:sp>
        <p:nvSpPr>
          <p:cNvPr id="16" name="TextBox 15"/>
          <p:cNvSpPr txBox="1"/>
          <p:nvPr/>
        </p:nvSpPr>
        <p:spPr>
          <a:xfrm>
            <a:off x="749808" y="2066543"/>
            <a:ext cx="5486400" cy="217627"/>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platform/</a:t>
            </a:r>
          </a:p>
        </p:txBody>
      </p:sp>
      <p:sp>
        <p:nvSpPr>
          <p:cNvPr id="17" name="TextBox 16"/>
          <p:cNvSpPr txBox="1"/>
          <p:nvPr/>
        </p:nvSpPr>
        <p:spPr>
          <a:xfrm>
            <a:off x="749808" y="2247595"/>
            <a:ext cx="548640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bootstrap/</a:t>
            </a:r>
          </a:p>
        </p:txBody>
      </p:sp>
      <p:sp>
        <p:nvSpPr>
          <p:cNvPr id="18" name="TextBox 17"/>
          <p:cNvSpPr txBox="1"/>
          <p:nvPr/>
        </p:nvSpPr>
        <p:spPr>
          <a:xfrm>
            <a:off x="749808" y="2428646"/>
            <a:ext cx="548640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 dev/          # Application manifests</a:t>
            </a:r>
          </a:p>
        </p:txBody>
      </p:sp>
      <p:sp>
        <p:nvSpPr>
          <p:cNvPr id="19" name="TextBox 18"/>
          <p:cNvSpPr txBox="1"/>
          <p:nvPr/>
        </p:nvSpPr>
        <p:spPr>
          <a:xfrm>
            <a:off x="749808" y="2609697"/>
            <a:ext cx="548640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 prod/</a:t>
            </a:r>
          </a:p>
        </p:txBody>
      </p:sp>
      <p:sp>
        <p:nvSpPr>
          <p:cNvPr id="20" name="TextBox 19"/>
          <p:cNvSpPr txBox="1"/>
          <p:nvPr/>
        </p:nvSpPr>
        <p:spPr>
          <a:xfrm>
            <a:off x="749808" y="2790748"/>
            <a:ext cx="548640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platform/</a:t>
            </a:r>
          </a:p>
        </p:txBody>
      </p:sp>
      <p:sp>
        <p:nvSpPr>
          <p:cNvPr id="21" name="TextBox 20"/>
          <p:cNvSpPr txBox="1"/>
          <p:nvPr/>
        </p:nvSpPr>
        <p:spPr>
          <a:xfrm>
            <a:off x="749808" y="2971799"/>
            <a:ext cx="5486400" cy="217627"/>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 external-secrets/</a:t>
            </a:r>
          </a:p>
        </p:txBody>
      </p:sp>
      <p:sp>
        <p:nvSpPr>
          <p:cNvPr id="22" name="TextBox 21"/>
          <p:cNvSpPr txBox="1"/>
          <p:nvPr/>
        </p:nvSpPr>
        <p:spPr>
          <a:xfrm>
            <a:off x="749808" y="3152851"/>
            <a:ext cx="5486400" cy="217627"/>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 reloader/</a:t>
            </a:r>
          </a:p>
        </p:txBody>
      </p:sp>
      <p:sp>
        <p:nvSpPr>
          <p:cNvPr id="23" name="TextBox 22"/>
          <p:cNvSpPr txBox="1"/>
          <p:nvPr/>
        </p:nvSpPr>
        <p:spPr>
          <a:xfrm>
            <a:off x="749808" y="3333902"/>
            <a:ext cx="5486400" cy="217627"/>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 secret-stores/</a:t>
            </a:r>
          </a:p>
        </p:txBody>
      </p:sp>
      <p:sp>
        <p:nvSpPr>
          <p:cNvPr id="24" name="TextBox 23"/>
          <p:cNvSpPr txBox="1"/>
          <p:nvPr/>
        </p:nvSpPr>
        <p:spPr>
          <a:xfrm>
            <a:off x="749808" y="3514953"/>
            <a:ext cx="548640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apps/</a:t>
            </a:r>
          </a:p>
        </p:txBody>
      </p:sp>
      <p:sp>
        <p:nvSpPr>
          <p:cNvPr id="25" name="TextBox 24"/>
          <p:cNvSpPr txBox="1"/>
          <p:nvPr/>
        </p:nvSpPr>
        <p:spPr>
          <a:xfrm>
            <a:off x="749808" y="3696004"/>
            <a:ext cx="548640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billing/</a:t>
            </a:r>
          </a:p>
        </p:txBody>
      </p:sp>
      <p:sp>
        <p:nvSpPr>
          <p:cNvPr id="26" name="TextBox 25"/>
          <p:cNvSpPr txBox="1"/>
          <p:nvPr/>
        </p:nvSpPr>
        <p:spPr>
          <a:xfrm>
            <a:off x="749808" y="3877056"/>
            <a:ext cx="548640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base/</a:t>
            </a:r>
          </a:p>
        </p:txBody>
      </p:sp>
      <p:sp>
        <p:nvSpPr>
          <p:cNvPr id="27" name="TextBox 26"/>
          <p:cNvSpPr txBox="1"/>
          <p:nvPr/>
        </p:nvSpPr>
        <p:spPr>
          <a:xfrm>
            <a:off x="749808" y="4058107"/>
            <a:ext cx="548640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   ├── deployment.yaml</a:t>
            </a:r>
          </a:p>
        </p:txBody>
      </p:sp>
      <p:sp>
        <p:nvSpPr>
          <p:cNvPr id="28" name="TextBox 27"/>
          <p:cNvSpPr txBox="1"/>
          <p:nvPr/>
        </p:nvSpPr>
        <p:spPr>
          <a:xfrm>
            <a:off x="749808" y="4239158"/>
            <a:ext cx="548640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   ├── service.yaml</a:t>
            </a:r>
          </a:p>
        </p:txBody>
      </p:sp>
      <p:sp>
        <p:nvSpPr>
          <p:cNvPr id="29" name="TextBox 28"/>
          <p:cNvSpPr txBox="1"/>
          <p:nvPr/>
        </p:nvSpPr>
        <p:spPr>
          <a:xfrm>
            <a:off x="749808" y="4420209"/>
            <a:ext cx="548640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   └── externalsecret.yaml</a:t>
            </a:r>
          </a:p>
        </p:txBody>
      </p:sp>
      <p:sp>
        <p:nvSpPr>
          <p:cNvPr id="30" name="TextBox 29"/>
          <p:cNvSpPr txBox="1"/>
          <p:nvPr/>
        </p:nvSpPr>
        <p:spPr>
          <a:xfrm>
            <a:off x="749808" y="4601260"/>
            <a:ext cx="548640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overlays/</a:t>
            </a:r>
          </a:p>
        </p:txBody>
      </p:sp>
      <p:sp>
        <p:nvSpPr>
          <p:cNvPr id="31" name="TextBox 30"/>
          <p:cNvSpPr txBox="1"/>
          <p:nvPr/>
        </p:nvSpPr>
        <p:spPr>
          <a:xfrm>
            <a:off x="749808" y="4782312"/>
            <a:ext cx="5486400" cy="217627"/>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 dev/</a:t>
            </a:r>
          </a:p>
        </p:txBody>
      </p:sp>
      <p:sp>
        <p:nvSpPr>
          <p:cNvPr id="32" name="TextBox 31"/>
          <p:cNvSpPr txBox="1"/>
          <p:nvPr/>
        </p:nvSpPr>
        <p:spPr>
          <a:xfrm>
            <a:off x="749808" y="4963363"/>
            <a:ext cx="5486400" cy="217627"/>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 prod/</a:t>
            </a:r>
          </a:p>
        </p:txBody>
      </p:sp>
      <p:sp>
        <p:nvSpPr>
          <p:cNvPr id="33" name="Rounded Rectangle 32"/>
          <p:cNvSpPr/>
          <p:nvPr/>
        </p:nvSpPr>
        <p:spPr>
          <a:xfrm>
            <a:off x="6739127" y="1645920"/>
            <a:ext cx="4977353" cy="110947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739127" y="1645920"/>
            <a:ext cx="4977353"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22007" y="1892808"/>
            <a:ext cx="4611593"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bootstrap/ — the entry point</a:t>
            </a:r>
          </a:p>
        </p:txBody>
      </p:sp>
      <p:sp>
        <p:nvSpPr>
          <p:cNvPr id="36" name="TextBox 35"/>
          <p:cNvSpPr txBox="1"/>
          <p:nvPr/>
        </p:nvSpPr>
        <p:spPr>
          <a:xfrm>
            <a:off x="6922007" y="2304288"/>
            <a:ext cx="4611593" cy="332232"/>
          </a:xfrm>
          <a:prstGeom prst="rect">
            <a:avLst/>
          </a:prstGeom>
          <a:noFill/>
        </p:spPr>
        <p:txBody>
          <a:bodyPr wrap="square" lIns="18288" rIns="18288" tIns="0" bIns="0" anchor="t">
            <a:noAutofit/>
          </a:bodyPr>
          <a:lstStyle/>
          <a:p>
            <a:pPr algn="l">
              <a:lnSpc>
                <a:spcPct val="122000"/>
              </a:lnSpc>
              <a:spcAft>
                <a:spcPts val="0"/>
              </a:spcAft>
            </a:pPr>
            <a:r>
              <a:rPr sz="800" b="0" i="0">
                <a:solidFill>
                  <a:srgbClr val="363F4D"/>
                </a:solidFill>
                <a:latin typeface="Calibri"/>
              </a:rPr>
              <a:t>One folder per cluster, holding Application manifests. This is what the root Application points at.</a:t>
            </a:r>
          </a:p>
        </p:txBody>
      </p:sp>
      <p:sp>
        <p:nvSpPr>
          <p:cNvPr id="37" name="Rounded Rectangle 36"/>
          <p:cNvSpPr/>
          <p:nvPr/>
        </p:nvSpPr>
        <p:spPr>
          <a:xfrm>
            <a:off x="6739127" y="3011424"/>
            <a:ext cx="4977353" cy="110947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739127" y="3011424"/>
            <a:ext cx="4977353"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922007" y="3258312"/>
            <a:ext cx="4611593"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platform/ — the add-ons</a:t>
            </a:r>
          </a:p>
        </p:txBody>
      </p:sp>
      <p:sp>
        <p:nvSpPr>
          <p:cNvPr id="40" name="TextBox 39"/>
          <p:cNvSpPr txBox="1"/>
          <p:nvPr/>
        </p:nvSpPr>
        <p:spPr>
          <a:xfrm>
            <a:off x="6922007" y="3669792"/>
            <a:ext cx="4611593" cy="332232"/>
          </a:xfrm>
          <a:prstGeom prst="rect">
            <a:avLst/>
          </a:prstGeom>
          <a:noFill/>
        </p:spPr>
        <p:txBody>
          <a:bodyPr wrap="square" lIns="18288" rIns="18288" tIns="0" bIns="0" anchor="t">
            <a:noAutofit/>
          </a:bodyPr>
          <a:lstStyle/>
          <a:p>
            <a:pPr algn="l">
              <a:lnSpc>
                <a:spcPct val="122000"/>
              </a:lnSpc>
              <a:spcAft>
                <a:spcPts val="0"/>
              </a:spcAft>
            </a:pPr>
            <a:r>
              <a:rPr sz="800" b="0" i="0">
                <a:solidFill>
                  <a:srgbClr val="363F4D"/>
                </a:solidFill>
                <a:latin typeface="Calibri"/>
              </a:rPr>
              <a:t>ESO, Reloader, ingress, monitoring. Owned by the platform team, deployed the same way as everything else.</a:t>
            </a:r>
          </a:p>
        </p:txBody>
      </p:sp>
      <p:sp>
        <p:nvSpPr>
          <p:cNvPr id="41" name="Rounded Rectangle 40"/>
          <p:cNvSpPr/>
          <p:nvPr/>
        </p:nvSpPr>
        <p:spPr>
          <a:xfrm>
            <a:off x="6739127" y="4376928"/>
            <a:ext cx="4977353" cy="110947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739127" y="4376928"/>
            <a:ext cx="4977353"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922007" y="4623816"/>
            <a:ext cx="4611593"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apps/ — the workloads</a:t>
            </a:r>
          </a:p>
        </p:txBody>
      </p:sp>
      <p:sp>
        <p:nvSpPr>
          <p:cNvPr id="44" name="TextBox 43"/>
          <p:cNvSpPr txBox="1"/>
          <p:nvPr/>
        </p:nvSpPr>
        <p:spPr>
          <a:xfrm>
            <a:off x="6922007" y="5035296"/>
            <a:ext cx="4611593" cy="332232"/>
          </a:xfrm>
          <a:prstGeom prst="rect">
            <a:avLst/>
          </a:prstGeom>
          <a:noFill/>
        </p:spPr>
        <p:txBody>
          <a:bodyPr wrap="square" lIns="18288" rIns="18288" tIns="0" bIns="0" anchor="t">
            <a:noAutofit/>
          </a:bodyPr>
          <a:lstStyle/>
          <a:p>
            <a:pPr algn="l">
              <a:lnSpc>
                <a:spcPct val="122000"/>
              </a:lnSpc>
              <a:spcAft>
                <a:spcPts val="0"/>
              </a:spcAft>
            </a:pPr>
            <a:r>
              <a:rPr sz="800" b="0" i="0">
                <a:solidFill>
                  <a:srgbClr val="363F4D"/>
                </a:solidFill>
                <a:latin typeface="Calibri"/>
              </a:rPr>
              <a:t>base holds what is true everywhere; overlays hold only the per-environment differences. If an overlay is large, your base is wrong.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Argo CD Will Not Do For You</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Being precise about the boundary is what makes the next two sections necessary.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Argo CD delivers manifests. It does not hold secrets and it does not restart pods on data changes.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11240993" cy="3931920"/>
          </a:xfrm>
          <a:prstGeom prst="roundRect">
            <a:avLst>
              <a:gd name="adj" fmla="val 6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11240993"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31520" y="1883664"/>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700" b="1" i="0">
                <a:solidFill>
                  <a:srgbClr val="FFFFFF"/>
                </a:solidFill>
                <a:latin typeface="Calibri"/>
              </a:rPr>
              <a:t>◆</a:t>
            </a:r>
          </a:p>
        </p:txBody>
      </p:sp>
      <p:sp>
        <p:nvSpPr>
          <p:cNvPr id="16" name="TextBox 15"/>
          <p:cNvSpPr txBox="1"/>
          <p:nvPr/>
        </p:nvSpPr>
        <p:spPr>
          <a:xfrm>
            <a:off x="1426464" y="1920240"/>
            <a:ext cx="9960833" cy="310896"/>
          </a:xfrm>
          <a:prstGeom prst="rect">
            <a:avLst/>
          </a:prstGeom>
          <a:noFill/>
        </p:spPr>
        <p:txBody>
          <a:bodyPr wrap="square" lIns="18288" rIns="18288" tIns="0" bIns="0" anchor="t">
            <a:noAutofit/>
          </a:bodyPr>
          <a:lstStyle/>
          <a:p>
            <a:pPr algn="l">
              <a:spcAft>
                <a:spcPts val="0"/>
              </a:spcAft>
            </a:pPr>
            <a:r>
              <a:rPr sz="1700" b="1" i="0">
                <a:solidFill>
                  <a:srgbClr val="1F2B3D"/>
                </a:solidFill>
                <a:latin typeface="Calibri"/>
              </a:rPr>
              <a:t>Argo CD</a:t>
            </a:r>
          </a:p>
        </p:txBody>
      </p:sp>
      <p:sp>
        <p:nvSpPr>
          <p:cNvPr id="17" name="TextBox 16"/>
          <p:cNvSpPr txBox="1"/>
          <p:nvPr/>
        </p:nvSpPr>
        <p:spPr>
          <a:xfrm>
            <a:off x="1426464" y="2221992"/>
            <a:ext cx="9960833" cy="274320"/>
          </a:xfrm>
          <a:prstGeom prst="rect">
            <a:avLst/>
          </a:prstGeom>
          <a:noFill/>
        </p:spPr>
        <p:txBody>
          <a:bodyPr wrap="square" lIns="18288" rIns="18288" tIns="0" bIns="0" anchor="t">
            <a:noAutofit/>
          </a:bodyPr>
          <a:lstStyle/>
          <a:p>
            <a:pPr algn="l">
              <a:spcAft>
                <a:spcPts val="0"/>
              </a:spcAft>
            </a:pPr>
            <a:r>
              <a:rPr sz="1250" b="0" i="1">
                <a:solidFill>
                  <a:srgbClr val="6B7A8D"/>
                </a:solidFill>
                <a:latin typeface="Calibri"/>
              </a:rPr>
              <a:t>Declarative GitOps continuous delivery for Kubernetes  ·  CNCF Graduated  ·  3.x</a:t>
            </a:r>
          </a:p>
        </p:txBody>
      </p:sp>
      <p:cxnSp>
        <p:nvCxnSpPr>
          <p:cNvPr id="18" name="Connector 17"/>
          <p:cNvCxnSpPr/>
          <p:nvPr/>
        </p:nvCxnSpPr>
        <p:spPr>
          <a:xfrm>
            <a:off x="731520" y="2615184"/>
            <a:ext cx="10728929" cy="0"/>
          </a:xfrm>
          <a:prstGeom prst="line">
            <a:avLst/>
          </a:prstGeom>
          <a:ln w="12700">
            <a:solidFill>
              <a:srgbClr val="DDE3E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2724912"/>
            <a:ext cx="5236448" cy="237744"/>
          </a:xfrm>
          <a:prstGeom prst="rect">
            <a:avLst/>
          </a:prstGeom>
          <a:noFill/>
        </p:spPr>
        <p:txBody>
          <a:bodyPr wrap="square" lIns="18288" rIns="18288" tIns="0" bIns="0" anchor="t">
            <a:noAutofit/>
          </a:bodyPr>
          <a:lstStyle/>
          <a:p>
            <a:pPr algn="l">
              <a:spcAft>
                <a:spcPts val="0"/>
              </a:spcAft>
            </a:pPr>
            <a:r>
              <a:rPr sz="1050" b="1" i="0">
                <a:solidFill>
                  <a:srgbClr val="2EB56B"/>
                </a:solidFill>
                <a:latin typeface="Calibri"/>
              </a:rPr>
              <a:t>WHAT IT DOES HERE</a:t>
            </a:r>
          </a:p>
        </p:txBody>
      </p:sp>
      <p:sp>
        <p:nvSpPr>
          <p:cNvPr id="20" name="Oval 19"/>
          <p:cNvSpPr/>
          <p:nvPr/>
        </p:nvSpPr>
        <p:spPr>
          <a:xfrm>
            <a:off x="731520" y="3063240"/>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1" name="TextBox 20"/>
          <p:cNvSpPr txBox="1"/>
          <p:nvPr/>
        </p:nvSpPr>
        <p:spPr>
          <a:xfrm>
            <a:off x="1024128" y="3035808"/>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Reconciles  </a:t>
            </a:r>
            <a:r>
              <a:rPr sz="1200" b="0" i="0">
                <a:solidFill>
                  <a:srgbClr val="363F4D"/>
                </a:solidFill>
                <a:latin typeface="Calibri"/>
              </a:rPr>
              <a:t>continuously compares Git with live cluster state</a:t>
            </a:r>
          </a:p>
        </p:txBody>
      </p:sp>
      <p:sp>
        <p:nvSpPr>
          <p:cNvPr id="22" name="Oval 21"/>
          <p:cNvSpPr/>
          <p:nvPr/>
        </p:nvSpPr>
        <p:spPr>
          <a:xfrm>
            <a:off x="731520" y="3386328"/>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3" name="TextBox 22"/>
          <p:cNvSpPr txBox="1"/>
          <p:nvPr/>
        </p:nvSpPr>
        <p:spPr>
          <a:xfrm>
            <a:off x="1024128" y="3358896"/>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Reports drift  </a:t>
            </a:r>
            <a:r>
              <a:rPr sz="1200" b="0" i="0">
                <a:solidFill>
                  <a:srgbClr val="363F4D"/>
                </a:solidFill>
                <a:latin typeface="Calibri"/>
              </a:rPr>
              <a:t>shows a real diff, per resource, in the UI and CLI</a:t>
            </a:r>
          </a:p>
        </p:txBody>
      </p:sp>
      <p:sp>
        <p:nvSpPr>
          <p:cNvPr id="24" name="Oval 23"/>
          <p:cNvSpPr/>
          <p:nvPr/>
        </p:nvSpPr>
        <p:spPr>
          <a:xfrm>
            <a:off x="731520" y="3709416"/>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5" name="TextBox 24"/>
          <p:cNvSpPr txBox="1"/>
          <p:nvPr/>
        </p:nvSpPr>
        <p:spPr>
          <a:xfrm>
            <a:off x="1024128" y="3681984"/>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Corrects drift  </a:t>
            </a:r>
            <a:r>
              <a:rPr sz="1200" b="0" i="0">
                <a:solidFill>
                  <a:srgbClr val="363F4D"/>
                </a:solidFill>
                <a:latin typeface="Calibri"/>
              </a:rPr>
              <a:t>reverts manual changes when selfHeal is on</a:t>
            </a:r>
          </a:p>
        </p:txBody>
      </p:sp>
      <p:sp>
        <p:nvSpPr>
          <p:cNvPr id="26" name="Oval 25"/>
          <p:cNvSpPr/>
          <p:nvPr/>
        </p:nvSpPr>
        <p:spPr>
          <a:xfrm>
            <a:off x="731520" y="4032504"/>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7" name="TextBox 26"/>
          <p:cNvSpPr txBox="1"/>
          <p:nvPr/>
        </p:nvSpPr>
        <p:spPr>
          <a:xfrm>
            <a:off x="1024128" y="4005072"/>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Orders work  </a:t>
            </a:r>
            <a:r>
              <a:rPr sz="1200" b="0" i="0">
                <a:solidFill>
                  <a:srgbClr val="363F4D"/>
                </a:solidFill>
                <a:latin typeface="Calibri"/>
              </a:rPr>
              <a:t>sync waves and hooks give you deterministic sequencing</a:t>
            </a:r>
          </a:p>
        </p:txBody>
      </p:sp>
      <p:sp>
        <p:nvSpPr>
          <p:cNvPr id="28" name="Oval 27"/>
          <p:cNvSpPr/>
          <p:nvPr/>
        </p:nvSpPr>
        <p:spPr>
          <a:xfrm>
            <a:off x="731520" y="4355592"/>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9" name="TextBox 28"/>
          <p:cNvSpPr txBox="1"/>
          <p:nvPr/>
        </p:nvSpPr>
        <p:spPr>
          <a:xfrm>
            <a:off x="1024128" y="4328160"/>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Scales out  </a:t>
            </a:r>
            <a:r>
              <a:rPr sz="1200" b="0" i="0">
                <a:solidFill>
                  <a:srgbClr val="363F4D"/>
                </a:solidFill>
                <a:latin typeface="Calibri"/>
              </a:rPr>
              <a:t>ApplicationSets and multi-cluster from one control plane</a:t>
            </a:r>
          </a:p>
        </p:txBody>
      </p:sp>
      <p:cxnSp>
        <p:nvCxnSpPr>
          <p:cNvPr id="30" name="Connector 29"/>
          <p:cNvCxnSpPr/>
          <p:nvPr/>
        </p:nvCxnSpPr>
        <p:spPr>
          <a:xfrm>
            <a:off x="6095984" y="2724912"/>
            <a:ext cx="0" cy="2139696"/>
          </a:xfrm>
          <a:prstGeom prst="line">
            <a:avLst/>
          </a:prstGeom>
          <a:ln w="12700">
            <a:solidFill>
              <a:srgbClr val="DDE3E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52016" y="2724912"/>
            <a:ext cx="5236448" cy="237744"/>
          </a:xfrm>
          <a:prstGeom prst="rect">
            <a:avLst/>
          </a:prstGeom>
          <a:noFill/>
        </p:spPr>
        <p:txBody>
          <a:bodyPr wrap="square" lIns="18288" rIns="18288" tIns="0" bIns="0" anchor="t">
            <a:noAutofit/>
          </a:bodyPr>
          <a:lstStyle/>
          <a:p>
            <a:pPr algn="l">
              <a:spcAft>
                <a:spcPts val="0"/>
              </a:spcAft>
            </a:pPr>
            <a:r>
              <a:rPr sz="1050" b="1" i="0">
                <a:solidFill>
                  <a:srgbClr val="D93B3B"/>
                </a:solidFill>
                <a:latin typeface="Calibri"/>
              </a:rPr>
              <a:t>WHAT IT DOES NOT DO</a:t>
            </a:r>
          </a:p>
        </p:txBody>
      </p:sp>
      <p:sp>
        <p:nvSpPr>
          <p:cNvPr id="32" name="Oval 31"/>
          <p:cNvSpPr/>
          <p:nvPr/>
        </p:nvSpPr>
        <p:spPr>
          <a:xfrm>
            <a:off x="6352016" y="3063240"/>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33" name="TextBox 32"/>
          <p:cNvSpPr txBox="1"/>
          <p:nvPr/>
        </p:nvSpPr>
        <p:spPr>
          <a:xfrm>
            <a:off x="6644624" y="3035808"/>
            <a:ext cx="4907264" cy="408432"/>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Store secret values  </a:t>
            </a:r>
            <a:r>
              <a:rPr sz="1200" b="0" i="0">
                <a:solidFill>
                  <a:srgbClr val="363F4D"/>
                </a:solidFill>
                <a:latin typeface="Calibri"/>
              </a:rPr>
              <a:t>putting them in Git is the problem, not the solution</a:t>
            </a:r>
          </a:p>
        </p:txBody>
      </p:sp>
      <p:sp>
        <p:nvSpPr>
          <p:cNvPr id="34" name="Oval 33"/>
          <p:cNvSpPr/>
          <p:nvPr/>
        </p:nvSpPr>
        <p:spPr>
          <a:xfrm>
            <a:off x="6352016" y="3572256"/>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35" name="TextBox 34"/>
          <p:cNvSpPr txBox="1"/>
          <p:nvPr/>
        </p:nvSpPr>
        <p:spPr>
          <a:xfrm>
            <a:off x="6644624" y="3544824"/>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Fetch from a vault  </a:t>
            </a:r>
            <a:r>
              <a:rPr sz="1200" b="0" i="0">
                <a:solidFill>
                  <a:srgbClr val="363F4D"/>
                </a:solidFill>
                <a:latin typeface="Calibri"/>
              </a:rPr>
              <a:t>it has no idea AWS Secrets Manager exists</a:t>
            </a:r>
          </a:p>
        </p:txBody>
      </p:sp>
      <p:sp>
        <p:nvSpPr>
          <p:cNvPr id="36" name="Oval 35"/>
          <p:cNvSpPr/>
          <p:nvPr/>
        </p:nvSpPr>
        <p:spPr>
          <a:xfrm>
            <a:off x="6352016" y="3895344"/>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37" name="TextBox 36"/>
          <p:cNvSpPr txBox="1"/>
          <p:nvPr/>
        </p:nvSpPr>
        <p:spPr>
          <a:xfrm>
            <a:off x="6644624" y="3867912"/>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Restart on data change  </a:t>
            </a:r>
            <a:r>
              <a:rPr sz="1200" b="0" i="0">
                <a:solidFill>
                  <a:srgbClr val="363F4D"/>
                </a:solidFill>
                <a:latin typeface="Calibri"/>
              </a:rPr>
              <a:t>a changed Secret is not a manifest change</a:t>
            </a:r>
          </a:p>
        </p:txBody>
      </p:sp>
      <p:sp>
        <p:nvSpPr>
          <p:cNvPr id="38" name="Oval 37"/>
          <p:cNvSpPr/>
          <p:nvPr/>
        </p:nvSpPr>
        <p:spPr>
          <a:xfrm>
            <a:off x="6352016" y="4218432"/>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39" name="TextBox 38"/>
          <p:cNvSpPr txBox="1"/>
          <p:nvPr/>
        </p:nvSpPr>
        <p:spPr>
          <a:xfrm>
            <a:off x="6644624" y="4191000"/>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Build images  </a:t>
            </a:r>
            <a:r>
              <a:rPr sz="1200" b="0" i="0">
                <a:solidFill>
                  <a:srgbClr val="363F4D"/>
                </a:solidFill>
                <a:latin typeface="Calibri"/>
              </a:rPr>
              <a:t>that is still your CI system's job</a:t>
            </a:r>
          </a:p>
        </p:txBody>
      </p:sp>
      <p:sp>
        <p:nvSpPr>
          <p:cNvPr id="40" name="Oval 39"/>
          <p:cNvSpPr/>
          <p:nvPr/>
        </p:nvSpPr>
        <p:spPr>
          <a:xfrm>
            <a:off x="6352016" y="4541520"/>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41" name="TextBox 40"/>
          <p:cNvSpPr txBox="1"/>
          <p:nvPr/>
        </p:nvSpPr>
        <p:spPr>
          <a:xfrm>
            <a:off x="6644624" y="4514088"/>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Test anything  </a:t>
            </a:r>
            <a:r>
              <a:rPr sz="1200" b="0" i="0">
                <a:solidFill>
                  <a:srgbClr val="363F4D"/>
                </a:solidFill>
                <a:latin typeface="Calibri"/>
              </a:rPr>
              <a:t>Healthy means the resource reports ready, not correct</a:t>
            </a:r>
          </a:p>
        </p:txBody>
      </p:sp>
      <p:sp>
        <p:nvSpPr>
          <p:cNvPr id="42" name="Rectangle 41"/>
          <p:cNvSpPr/>
          <p:nvPr/>
        </p:nvSpPr>
        <p:spPr>
          <a:xfrm>
            <a:off x="493776" y="5010912"/>
            <a:ext cx="11204417" cy="530352"/>
          </a:xfrm>
          <a:prstGeom prst="rect">
            <a:avLst/>
          </a:prstGeom>
          <a:solidFill>
            <a:srgbClr val="EF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31520" y="5102351"/>
            <a:ext cx="10728929" cy="384048"/>
          </a:xfrm>
          <a:prstGeom prst="rect">
            <a:avLst/>
          </a:prstGeom>
          <a:noFill/>
        </p:spPr>
        <p:txBody>
          <a:bodyPr wrap="square" lIns="18288" rIns="18288" tIns="0" bIns="0" anchor="ctr">
            <a:noAutofit/>
          </a:bodyPr>
          <a:lstStyle/>
          <a:p>
            <a:pPr algn="l">
              <a:lnSpc>
                <a:spcPct val="118000"/>
              </a:lnSpc>
              <a:spcAft>
                <a:spcPts val="0"/>
              </a:spcAft>
            </a:pPr>
            <a:r>
              <a:rPr sz="1200" b="1" i="0">
                <a:solidFill>
                  <a:srgbClr val="7C3AED"/>
                </a:solidFill>
                <a:latin typeface="Calibri"/>
              </a:rPr>
              <a:t>In our handbook example:  </a:t>
            </a:r>
            <a:r>
              <a:rPr sz="1200" b="0" i="0">
                <a:solidFill>
                  <a:srgbClr val="363F4D"/>
                </a:solidFill>
                <a:latin typeface="Calibri"/>
              </a:rPr>
              <a:t>it deploys the ExternalSecret manifest, but the credential inside never passes through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Lab 2 — Install Argo CD and Deploy Something From Git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Twenty-five minutes. By the end the cluster is delivering itself.</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Once the root Application exists, every later change is a commit rather than a command.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ounded Rectangle 12"/>
          <p:cNvSpPr/>
          <p:nvPr/>
        </p:nvSpPr>
        <p:spPr>
          <a:xfrm>
            <a:off x="475488" y="1645920"/>
            <a:ext cx="5428472" cy="38862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886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install</a:t>
            </a:r>
          </a:p>
        </p:txBody>
      </p:sp>
      <p:sp>
        <p:nvSpPr>
          <p:cNvPr id="16" name="TextBox 15"/>
          <p:cNvSpPr txBox="1"/>
          <p:nvPr/>
        </p:nvSpPr>
        <p:spPr>
          <a:xfrm>
            <a:off x="74980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1. install</a:t>
            </a:r>
          </a:p>
        </p:txBody>
      </p:sp>
      <p:sp>
        <p:nvSpPr>
          <p:cNvPr id="17" name="TextBox 16"/>
          <p:cNvSpPr txBox="1"/>
          <p:nvPr/>
        </p:nvSpPr>
        <p:spPr>
          <a:xfrm>
            <a:off x="749808" y="224027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create namespace argocd</a:t>
            </a:r>
          </a:p>
        </p:txBody>
      </p:sp>
      <p:sp>
        <p:nvSpPr>
          <p:cNvPr id="18" name="TextBox 17"/>
          <p:cNvSpPr txBox="1"/>
          <p:nvPr/>
        </p:nvSpPr>
        <p:spPr>
          <a:xfrm>
            <a:off x="749808" y="241401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apply -n argocd -f \</a:t>
            </a:r>
          </a:p>
        </p:txBody>
      </p:sp>
      <p:sp>
        <p:nvSpPr>
          <p:cNvPr id="19" name="TextBox 18"/>
          <p:cNvSpPr txBox="1"/>
          <p:nvPr/>
        </p:nvSpPr>
        <p:spPr>
          <a:xfrm>
            <a:off x="74980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https://raw.githubusercontent.com/argoproj/\</a:t>
            </a:r>
          </a:p>
        </p:txBody>
      </p:sp>
      <p:sp>
        <p:nvSpPr>
          <p:cNvPr id="20" name="TextBox 19"/>
          <p:cNvSpPr txBox="1"/>
          <p:nvPr/>
        </p:nvSpPr>
        <p:spPr>
          <a:xfrm>
            <a:off x="74980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argo-cd/stable/manifests/install.yaml</a:t>
            </a:r>
          </a:p>
        </p:txBody>
      </p:sp>
      <p:sp>
        <p:nvSpPr>
          <p:cNvPr id="21" name="TextBox 20"/>
          <p:cNvSpPr txBox="1"/>
          <p:nvPr/>
        </p:nvSpPr>
        <p:spPr>
          <a:xfrm>
            <a:off x="749808" y="293522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2" name="TextBox 21"/>
          <p:cNvSpPr txBox="1"/>
          <p:nvPr/>
        </p:nvSpPr>
        <p:spPr>
          <a:xfrm>
            <a:off x="749808" y="3108959"/>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2. first password</a:t>
            </a:r>
          </a:p>
        </p:txBody>
      </p:sp>
      <p:sp>
        <p:nvSpPr>
          <p:cNvPr id="23" name="TextBox 22"/>
          <p:cNvSpPr txBox="1"/>
          <p:nvPr/>
        </p:nvSpPr>
        <p:spPr>
          <a:xfrm>
            <a:off x="749808" y="328269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argocd get secret \</a:t>
            </a:r>
          </a:p>
        </p:txBody>
      </p:sp>
      <p:sp>
        <p:nvSpPr>
          <p:cNvPr id="24" name="TextBox 23"/>
          <p:cNvSpPr txBox="1"/>
          <p:nvPr/>
        </p:nvSpPr>
        <p:spPr>
          <a:xfrm>
            <a:off x="749808" y="345643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argocd-initial-admin-secret \</a:t>
            </a:r>
          </a:p>
        </p:txBody>
      </p:sp>
      <p:sp>
        <p:nvSpPr>
          <p:cNvPr id="25" name="TextBox 24"/>
          <p:cNvSpPr txBox="1"/>
          <p:nvPr/>
        </p:nvSpPr>
        <p:spPr>
          <a:xfrm>
            <a:off x="749808" y="363016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-o jsonpath='{.data.password}' | base64 -d</a:t>
            </a:r>
          </a:p>
        </p:txBody>
      </p:sp>
      <p:sp>
        <p:nvSpPr>
          <p:cNvPr id="26" name="TextBox 25"/>
          <p:cNvSpPr txBox="1"/>
          <p:nvPr/>
        </p:nvSpPr>
        <p:spPr>
          <a:xfrm>
            <a:off x="749808" y="380390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7" name="TextBox 26"/>
          <p:cNvSpPr txBox="1"/>
          <p:nvPr/>
        </p:nvSpPr>
        <p:spPr>
          <a:xfrm>
            <a:off x="749808" y="3977639"/>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3. reach the UI</a:t>
            </a:r>
          </a:p>
        </p:txBody>
      </p:sp>
      <p:sp>
        <p:nvSpPr>
          <p:cNvPr id="28" name="TextBox 27"/>
          <p:cNvSpPr txBox="1"/>
          <p:nvPr/>
        </p:nvSpPr>
        <p:spPr>
          <a:xfrm>
            <a:off x="749808" y="4151376"/>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argocd port-forward svc/argocd-server 8080:443</a:t>
            </a:r>
          </a:p>
        </p:txBody>
      </p:sp>
      <p:sp>
        <p:nvSpPr>
          <p:cNvPr id="29" name="TextBox 28"/>
          <p:cNvSpPr txBox="1"/>
          <p:nvPr/>
        </p:nvSpPr>
        <p:spPr>
          <a:xfrm>
            <a:off x="749808" y="4325112"/>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30" name="TextBox 29"/>
          <p:cNvSpPr txBox="1"/>
          <p:nvPr/>
        </p:nvSpPr>
        <p:spPr>
          <a:xfrm>
            <a:off x="749808" y="4498848"/>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4. log in with the CLI</a:t>
            </a:r>
          </a:p>
        </p:txBody>
      </p:sp>
      <p:sp>
        <p:nvSpPr>
          <p:cNvPr id="31" name="TextBox 30"/>
          <p:cNvSpPr txBox="1"/>
          <p:nvPr/>
        </p:nvSpPr>
        <p:spPr>
          <a:xfrm>
            <a:off x="749808" y="4672584"/>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login localhost:8080 --username admin</a:t>
            </a:r>
          </a:p>
        </p:txBody>
      </p:sp>
      <p:sp>
        <p:nvSpPr>
          <p:cNvPr id="32" name="Rounded Rectangle 31"/>
          <p:cNvSpPr/>
          <p:nvPr/>
        </p:nvSpPr>
        <p:spPr>
          <a:xfrm>
            <a:off x="6288008" y="1645920"/>
            <a:ext cx="5428472" cy="38862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88008" y="1645920"/>
            <a:ext cx="64008" cy="388620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deploy, then try to fight it</a:t>
            </a:r>
          </a:p>
        </p:txBody>
      </p:sp>
      <p:sp>
        <p:nvSpPr>
          <p:cNvPr id="35" name="TextBox 34"/>
          <p:cNvSpPr txBox="1"/>
          <p:nvPr/>
        </p:nvSpPr>
        <p:spPr>
          <a:xfrm>
            <a:off x="656232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5. create an Application</a:t>
            </a:r>
          </a:p>
        </p:txBody>
      </p:sp>
      <p:sp>
        <p:nvSpPr>
          <p:cNvPr id="36" name="TextBox 35"/>
          <p:cNvSpPr txBox="1"/>
          <p:nvPr/>
        </p:nvSpPr>
        <p:spPr>
          <a:xfrm>
            <a:off x="6562328" y="224027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app create billing \</a:t>
            </a:r>
          </a:p>
        </p:txBody>
      </p:sp>
      <p:sp>
        <p:nvSpPr>
          <p:cNvPr id="37" name="TextBox 36"/>
          <p:cNvSpPr txBox="1"/>
          <p:nvPr/>
        </p:nvSpPr>
        <p:spPr>
          <a:xfrm>
            <a:off x="6562328" y="241401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--repo https://github.com/acme/platform.git \</a:t>
            </a:r>
          </a:p>
        </p:txBody>
      </p:sp>
      <p:sp>
        <p:nvSpPr>
          <p:cNvPr id="38" name="TextBox 37"/>
          <p:cNvSpPr txBox="1"/>
          <p:nvPr/>
        </p:nvSpPr>
        <p:spPr>
          <a:xfrm>
            <a:off x="656232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--path apps/billing/overlays/dev \</a:t>
            </a:r>
          </a:p>
        </p:txBody>
      </p:sp>
      <p:sp>
        <p:nvSpPr>
          <p:cNvPr id="39" name="TextBox 38"/>
          <p:cNvSpPr txBox="1"/>
          <p:nvPr/>
        </p:nvSpPr>
        <p:spPr>
          <a:xfrm>
            <a:off x="656232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--dest-server https://kubernetes.default.svc \</a:t>
            </a:r>
          </a:p>
        </p:txBody>
      </p:sp>
      <p:sp>
        <p:nvSpPr>
          <p:cNvPr id="40" name="TextBox 39"/>
          <p:cNvSpPr txBox="1"/>
          <p:nvPr/>
        </p:nvSpPr>
        <p:spPr>
          <a:xfrm>
            <a:off x="6562328" y="293522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--dest-namespace payments-dev \</a:t>
            </a:r>
          </a:p>
        </p:txBody>
      </p:sp>
      <p:sp>
        <p:nvSpPr>
          <p:cNvPr id="41" name="TextBox 40"/>
          <p:cNvSpPr txBox="1"/>
          <p:nvPr/>
        </p:nvSpPr>
        <p:spPr>
          <a:xfrm>
            <a:off x="6562328" y="310895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--sync-policy automated --auto-prune --self-heal</a:t>
            </a:r>
          </a:p>
        </p:txBody>
      </p:sp>
      <p:sp>
        <p:nvSpPr>
          <p:cNvPr id="42" name="TextBox 41"/>
          <p:cNvSpPr txBox="1"/>
          <p:nvPr/>
        </p:nvSpPr>
        <p:spPr>
          <a:xfrm>
            <a:off x="6562328" y="328269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3" name="TextBox 42"/>
          <p:cNvSpPr txBox="1"/>
          <p:nvPr/>
        </p:nvSpPr>
        <p:spPr>
          <a:xfrm>
            <a:off x="6562328" y="3456431"/>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6. watch it reconcile</a:t>
            </a:r>
          </a:p>
        </p:txBody>
      </p:sp>
      <p:sp>
        <p:nvSpPr>
          <p:cNvPr id="44" name="TextBox 43"/>
          <p:cNvSpPr txBox="1"/>
          <p:nvPr/>
        </p:nvSpPr>
        <p:spPr>
          <a:xfrm>
            <a:off x="6562328" y="363016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app get billing</a:t>
            </a:r>
          </a:p>
        </p:txBody>
      </p:sp>
      <p:sp>
        <p:nvSpPr>
          <p:cNvPr id="45" name="TextBox 44"/>
          <p:cNvSpPr txBox="1"/>
          <p:nvPr/>
        </p:nvSpPr>
        <p:spPr>
          <a:xfrm>
            <a:off x="6562328" y="380390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app sync billing</a:t>
            </a:r>
          </a:p>
        </p:txBody>
      </p:sp>
      <p:sp>
        <p:nvSpPr>
          <p:cNvPr id="46" name="TextBox 45"/>
          <p:cNvSpPr txBox="1"/>
          <p:nvPr/>
        </p:nvSpPr>
        <p:spPr>
          <a:xfrm>
            <a:off x="6562328" y="397763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7" name="TextBox 46"/>
          <p:cNvSpPr txBox="1"/>
          <p:nvPr/>
        </p:nvSpPr>
        <p:spPr>
          <a:xfrm>
            <a:off x="6562328" y="4151376"/>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7. now break it on purpose</a:t>
            </a:r>
          </a:p>
        </p:txBody>
      </p:sp>
      <p:sp>
        <p:nvSpPr>
          <p:cNvPr id="48" name="TextBox 47"/>
          <p:cNvSpPr txBox="1"/>
          <p:nvPr/>
        </p:nvSpPr>
        <p:spPr>
          <a:xfrm>
            <a:off x="6562328" y="4325112"/>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payments-dev scale deploy/billing --replicas=7</a:t>
            </a:r>
          </a:p>
        </p:txBody>
      </p:sp>
      <p:sp>
        <p:nvSpPr>
          <p:cNvPr id="49" name="TextBox 48"/>
          <p:cNvSpPr txBox="1"/>
          <p:nvPr/>
        </p:nvSpPr>
        <p:spPr>
          <a:xfrm>
            <a:off x="6562328" y="4498848"/>
            <a:ext cx="4879832" cy="21031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...and watch selfHeal put it back</a:t>
            </a:r>
          </a:p>
        </p:txBody>
      </p:sp>
      <p:sp>
        <p:nvSpPr>
          <p:cNvPr id="50" name="TextBox 49"/>
          <p:cNvSpPr txBox="1"/>
          <p:nvPr/>
        </p:nvSpPr>
        <p:spPr>
          <a:xfrm>
            <a:off x="6562328" y="4672584"/>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payments-dev get deploy/billing -w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Argo CD — What Goes Wrong and How to Read It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Five failures you will meet in the first month.</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Read the symptom, then go to the component that owns it. Guessing wastes hours.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13" name="Rectangle 12"/>
          <p:cNvSpPr/>
          <p:nvPr/>
        </p:nvSpPr>
        <p:spPr>
          <a:xfrm>
            <a:off x="475488" y="1645920"/>
            <a:ext cx="3703320" cy="42062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Symptom</a:t>
            </a:r>
          </a:p>
        </p:txBody>
      </p:sp>
      <p:sp>
        <p:nvSpPr>
          <p:cNvPr id="14" name="Rectangle 13"/>
          <p:cNvSpPr/>
          <p:nvPr/>
        </p:nvSpPr>
        <p:spPr>
          <a:xfrm>
            <a:off x="4178808" y="1645920"/>
            <a:ext cx="42062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Usual cause</a:t>
            </a:r>
          </a:p>
        </p:txBody>
      </p:sp>
      <p:sp>
        <p:nvSpPr>
          <p:cNvPr id="15" name="Rectangle 14"/>
          <p:cNvSpPr/>
          <p:nvPr/>
        </p:nvSpPr>
        <p:spPr>
          <a:xfrm>
            <a:off x="8385048" y="1645920"/>
            <a:ext cx="3319272"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Where to look</a:t>
            </a:r>
          </a:p>
        </p:txBody>
      </p:sp>
      <p:sp>
        <p:nvSpPr>
          <p:cNvPr id="16" name="Rectangle 15"/>
          <p:cNvSpPr/>
          <p:nvPr/>
        </p:nvSpPr>
        <p:spPr>
          <a:xfrm>
            <a:off x="475488" y="2066544"/>
            <a:ext cx="37033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Stuck OutOfSync, diff looks empty</a:t>
            </a:r>
          </a:p>
        </p:txBody>
      </p:sp>
      <p:sp>
        <p:nvSpPr>
          <p:cNvPr id="17" name="Rectangle 16"/>
          <p:cNvSpPr/>
          <p:nvPr/>
        </p:nvSpPr>
        <p:spPr>
          <a:xfrm>
            <a:off x="4178808" y="2066544"/>
            <a:ext cx="420624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 mutating webhook or a controller writes a field back after every sync</a:t>
            </a:r>
          </a:p>
        </p:txBody>
      </p:sp>
      <p:sp>
        <p:nvSpPr>
          <p:cNvPr id="18" name="Rectangle 17"/>
          <p:cNvSpPr/>
          <p:nvPr/>
        </p:nvSpPr>
        <p:spPr>
          <a:xfrm>
            <a:off x="8385048" y="2066544"/>
            <a:ext cx="331927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spec.ignoreDifferences, or the resource's defaulting behaviour</a:t>
            </a:r>
          </a:p>
        </p:txBody>
      </p:sp>
      <p:sp>
        <p:nvSpPr>
          <p:cNvPr id="19" name="Rectangle 18"/>
          <p:cNvSpPr/>
          <p:nvPr/>
        </p:nvSpPr>
        <p:spPr>
          <a:xfrm>
            <a:off x="475488" y="2765145"/>
            <a:ext cx="370332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ComparisonError / Unknown</a:t>
            </a:r>
          </a:p>
        </p:txBody>
      </p:sp>
      <p:sp>
        <p:nvSpPr>
          <p:cNvPr id="20" name="Rectangle 19"/>
          <p:cNvSpPr/>
          <p:nvPr/>
        </p:nvSpPr>
        <p:spPr>
          <a:xfrm>
            <a:off x="4178808" y="2765145"/>
            <a:ext cx="420624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repo-server cannot clone, or helm/kustomize render fails</a:t>
            </a:r>
          </a:p>
        </p:txBody>
      </p:sp>
      <p:sp>
        <p:nvSpPr>
          <p:cNvPr id="21" name="Rectangle 20"/>
          <p:cNvSpPr/>
          <p:nvPr/>
        </p:nvSpPr>
        <p:spPr>
          <a:xfrm>
            <a:off x="8385048" y="2765145"/>
            <a:ext cx="3319272"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logs deploy/argocd-repo-server</a:t>
            </a:r>
          </a:p>
        </p:txBody>
      </p:sp>
      <p:sp>
        <p:nvSpPr>
          <p:cNvPr id="22" name="Rectangle 21"/>
          <p:cNvSpPr/>
          <p:nvPr/>
        </p:nvSpPr>
        <p:spPr>
          <a:xfrm>
            <a:off x="475488" y="3463747"/>
            <a:ext cx="37033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Sync succeeds, app Degraded</a:t>
            </a:r>
          </a:p>
        </p:txBody>
      </p:sp>
      <p:sp>
        <p:nvSpPr>
          <p:cNvPr id="23" name="Rectangle 22"/>
          <p:cNvSpPr/>
          <p:nvPr/>
        </p:nvSpPr>
        <p:spPr>
          <a:xfrm>
            <a:off x="4178808" y="3463747"/>
            <a:ext cx="420624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manifest is exactly what Git asked for and the workload is broken</a:t>
            </a:r>
          </a:p>
        </p:txBody>
      </p:sp>
      <p:sp>
        <p:nvSpPr>
          <p:cNvPr id="24" name="Rectangle 23"/>
          <p:cNvSpPr/>
          <p:nvPr/>
        </p:nvSpPr>
        <p:spPr>
          <a:xfrm>
            <a:off x="8385048" y="3463747"/>
            <a:ext cx="331927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describe on the pod, not Argo CD</a:t>
            </a:r>
          </a:p>
        </p:txBody>
      </p:sp>
      <p:sp>
        <p:nvSpPr>
          <p:cNvPr id="25" name="Rectangle 24"/>
          <p:cNvSpPr/>
          <p:nvPr/>
        </p:nvSpPr>
        <p:spPr>
          <a:xfrm>
            <a:off x="475488" y="4162348"/>
            <a:ext cx="370332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Changes in Git not picked up</a:t>
            </a:r>
          </a:p>
        </p:txBody>
      </p:sp>
      <p:sp>
        <p:nvSpPr>
          <p:cNvPr id="26" name="Rectangle 25"/>
          <p:cNvSpPr/>
          <p:nvPr/>
        </p:nvSpPr>
        <p:spPr>
          <a:xfrm>
            <a:off x="4178808" y="4162348"/>
            <a:ext cx="420624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No webhook, so it waits for the three-minute poll — or targetRevision is a tag</a:t>
            </a:r>
          </a:p>
        </p:txBody>
      </p:sp>
      <p:sp>
        <p:nvSpPr>
          <p:cNvPr id="27" name="Rectangle 26"/>
          <p:cNvSpPr/>
          <p:nvPr/>
        </p:nvSpPr>
        <p:spPr>
          <a:xfrm>
            <a:off x="8385048" y="4162348"/>
            <a:ext cx="3319272"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argocd app get, check the target revision</a:t>
            </a:r>
          </a:p>
        </p:txBody>
      </p:sp>
      <p:sp>
        <p:nvSpPr>
          <p:cNvPr id="28" name="Rectangle 27"/>
          <p:cNvSpPr/>
          <p:nvPr/>
        </p:nvSpPr>
        <p:spPr>
          <a:xfrm>
            <a:off x="475488" y="4860950"/>
            <a:ext cx="37033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Resource keeps reappearing after deletion</a:t>
            </a:r>
          </a:p>
        </p:txBody>
      </p:sp>
      <p:sp>
        <p:nvSpPr>
          <p:cNvPr id="29" name="Rectangle 28"/>
          <p:cNvSpPr/>
          <p:nvPr/>
        </p:nvSpPr>
        <p:spPr>
          <a:xfrm>
            <a:off x="4178808" y="4860950"/>
            <a:ext cx="420624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selfHeal is doing its job. You deleted from the cluster, not from Git</a:t>
            </a:r>
          </a:p>
        </p:txBody>
      </p:sp>
      <p:sp>
        <p:nvSpPr>
          <p:cNvPr id="30" name="Rectangle 29"/>
          <p:cNvSpPr/>
          <p:nvPr/>
        </p:nvSpPr>
        <p:spPr>
          <a:xfrm>
            <a:off x="8385048" y="4860950"/>
            <a:ext cx="331927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Delete the manifest and commit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Quick Check — Argo CD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Answer before you turn to the appendix.</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03  GitOps and Argo CD</a:t>
            </a:r>
          </a:p>
        </p:txBody>
      </p:sp>
      <p:sp>
        <p:nvSpPr>
          <p:cNvPr id="9" name="Rounded Rectangle 8"/>
          <p:cNvSpPr/>
          <p:nvPr/>
        </p:nvSpPr>
        <p:spPr>
          <a:xfrm>
            <a:off x="4754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21310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58368" y="2124456"/>
            <a:ext cx="256032" cy="256032"/>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2" name="TextBox 11"/>
          <p:cNvSpPr txBox="1"/>
          <p:nvPr/>
        </p:nvSpPr>
        <p:spPr>
          <a:xfrm>
            <a:off x="10241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An application is Synced and Degraded. Whose problem is it, and where do you look?</a:t>
            </a:r>
          </a:p>
        </p:txBody>
      </p:sp>
      <p:sp>
        <p:nvSpPr>
          <p:cNvPr id="13" name="Rounded Rectangle 12"/>
          <p:cNvSpPr/>
          <p:nvPr/>
        </p:nvSpPr>
        <p:spPr>
          <a:xfrm>
            <a:off x="62422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2288" y="1645920"/>
            <a:ext cx="64008" cy="121310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425168" y="2124456"/>
            <a:ext cx="256032" cy="256032"/>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6" name="TextBox 15"/>
          <p:cNvSpPr txBox="1"/>
          <p:nvPr/>
        </p:nvSpPr>
        <p:spPr>
          <a:xfrm>
            <a:off x="67909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What does prune: true do that automated: {} alone does not?</a:t>
            </a:r>
          </a:p>
        </p:txBody>
      </p:sp>
      <p:sp>
        <p:nvSpPr>
          <p:cNvPr id="17" name="Rounded Rectangle 16"/>
          <p:cNvSpPr/>
          <p:nvPr/>
        </p:nvSpPr>
        <p:spPr>
          <a:xfrm>
            <a:off x="4754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 y="3005328"/>
            <a:ext cx="64008" cy="121310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8368" y="3483864"/>
            <a:ext cx="256032" cy="25603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0" name="TextBox 19"/>
          <p:cNvSpPr txBox="1"/>
          <p:nvPr/>
        </p:nvSpPr>
        <p:spPr>
          <a:xfrm>
            <a:off x="10241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would you put a SecretStore in an earlier sync wave than an ExternalSecret?</a:t>
            </a:r>
          </a:p>
        </p:txBody>
      </p:sp>
      <p:sp>
        <p:nvSpPr>
          <p:cNvPr id="21" name="Rounded Rectangle 20"/>
          <p:cNvSpPr/>
          <p:nvPr/>
        </p:nvSpPr>
        <p:spPr>
          <a:xfrm>
            <a:off x="62422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42288" y="3005328"/>
            <a:ext cx="64008" cy="121310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25168" y="3483864"/>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TextBox 23"/>
          <p:cNvSpPr txBox="1"/>
          <p:nvPr/>
        </p:nvSpPr>
        <p:spPr>
          <a:xfrm>
            <a:off x="67909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Your teammate ran kubectl edit and their change vanished. Explain what happened.</a:t>
            </a:r>
          </a:p>
        </p:txBody>
      </p:sp>
      <p:sp>
        <p:nvSpPr>
          <p:cNvPr id="25" name="Rounded Rectangle 24"/>
          <p:cNvSpPr/>
          <p:nvPr/>
        </p:nvSpPr>
        <p:spPr>
          <a:xfrm>
            <a:off x="4754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4364736"/>
            <a:ext cx="64008" cy="12131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58368" y="484327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5</a:t>
            </a:r>
          </a:p>
        </p:txBody>
      </p:sp>
      <p:sp>
        <p:nvSpPr>
          <p:cNvPr id="28" name="TextBox 27"/>
          <p:cNvSpPr txBox="1"/>
          <p:nvPr/>
        </p:nvSpPr>
        <p:spPr>
          <a:xfrm>
            <a:off x="10241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Name two generators an ApplicationSet can use and what each produces.</a:t>
            </a:r>
          </a:p>
        </p:txBody>
      </p:sp>
      <p:sp>
        <p:nvSpPr>
          <p:cNvPr id="29" name="Rounded Rectangle 28"/>
          <p:cNvSpPr/>
          <p:nvPr/>
        </p:nvSpPr>
        <p:spPr>
          <a:xfrm>
            <a:off x="62422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42288" y="4364736"/>
            <a:ext cx="64008" cy="1213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425168" y="484327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6</a:t>
            </a:r>
          </a:p>
        </p:txBody>
      </p:sp>
      <p:sp>
        <p:nvSpPr>
          <p:cNvPr id="32" name="TextBox 31"/>
          <p:cNvSpPr txBox="1"/>
          <p:nvPr/>
        </p:nvSpPr>
        <p:spPr>
          <a:xfrm>
            <a:off x="67909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What is the security argument for pull-based delivery over a CI pipeline that applies manifests?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04</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139496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External Secrets Operator</a:t>
            </a:r>
          </a:p>
        </p:txBody>
      </p:sp>
      <p:sp>
        <p:nvSpPr>
          <p:cNvPr id="7" name="TextBox 6"/>
          <p:cNvSpPr txBox="1"/>
          <p:nvPr/>
        </p:nvSpPr>
        <p:spPr>
          <a:xfrm>
            <a:off x="1325880" y="377240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Getting the real value out of Git and into the cluster, safely.</a:t>
            </a:r>
          </a:p>
        </p:txBody>
      </p:sp>
      <p:sp>
        <p:nvSpPr>
          <p:cNvPr id="8" name="Rectangle 7"/>
          <p:cNvSpPr/>
          <p:nvPr/>
        </p:nvSpPr>
        <p:spPr>
          <a:xfrm>
            <a:off x="1344168" y="4522215"/>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443077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Secret zero, and the only correct answer to it</a:t>
            </a:r>
          </a:p>
        </p:txBody>
      </p:sp>
      <p:sp>
        <p:nvSpPr>
          <p:cNvPr id="10" name="Rectangle 9"/>
          <p:cNvSpPr/>
          <p:nvPr/>
        </p:nvSpPr>
        <p:spPr>
          <a:xfrm>
            <a:off x="1344168" y="4906263"/>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81482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SecretStore, ExternalSecret, and the policy fields</a:t>
            </a:r>
          </a:p>
        </p:txBody>
      </p:sp>
      <p:sp>
        <p:nvSpPr>
          <p:cNvPr id="12" name="Rectangle 11"/>
          <p:cNvSpPr/>
          <p:nvPr/>
        </p:nvSpPr>
        <p:spPr>
          <a:xfrm>
            <a:off x="1344168" y="5290311"/>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519887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Templating for applications that want a file</a:t>
            </a:r>
          </a:p>
        </p:txBody>
      </p:sp>
      <p:sp>
        <p:nvSpPr>
          <p:cNvPr id="14" name="Rectangle 13"/>
          <p:cNvSpPr/>
          <p:nvPr/>
        </p:nvSpPr>
        <p:spPr>
          <a:xfrm>
            <a:off x="1344168" y="5674359"/>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558292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Lab 3: fetch a secret and then break it on purpose</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04</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04  External Secrets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Secret-Zero Problem</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Before anything can fetch a secret, it needs a credential. Where does that one come from?</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Solve secret zero with cloud identity, not with another password. Otherwise you have moved the problem, not solved 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5414756" cy="210312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77724" cy="210312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1792224"/>
            <a:ext cx="4957556"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circular version</a:t>
            </a:r>
          </a:p>
        </p:txBody>
      </p:sp>
      <p:sp>
        <p:nvSpPr>
          <p:cNvPr id="16" name="TextBox 15"/>
          <p:cNvSpPr txBox="1"/>
          <p:nvPr/>
        </p:nvSpPr>
        <p:spPr>
          <a:xfrm>
            <a:off x="731520" y="2194560"/>
            <a:ext cx="4957556" cy="142646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Put the database password in a vault.</a:t>
            </a:r>
          </a:p>
          <a:p>
            <a:pPr algn="l">
              <a:lnSpc>
                <a:spcPct val="124000"/>
              </a:lnSpc>
              <a:spcAft>
                <a:spcPts val="0"/>
              </a:spcAft>
            </a:pPr>
            <a:r>
              <a:rPr sz="1250" b="0" i="0">
                <a:solidFill>
                  <a:srgbClr val="363F4D"/>
                </a:solidFill>
                <a:latin typeface="Calibri"/>
              </a:rPr>
              <a:t>To read the vault, the pod needs a vault token.</a:t>
            </a:r>
          </a:p>
          <a:p>
            <a:pPr algn="l">
              <a:lnSpc>
                <a:spcPct val="124000"/>
              </a:lnSpc>
              <a:spcAft>
                <a:spcPts val="0"/>
              </a:spcAft>
            </a:pPr>
            <a:r>
              <a:rPr sz="1250" b="0" i="0">
                <a:solidFill>
                  <a:srgbClr val="363F4D"/>
                </a:solidFill>
                <a:latin typeface="Calibri"/>
              </a:rPr>
              <a:t>Where do you keep the vault token?</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If the answer is 'in a Kubernetes Secret', you have gained an extra hop and no security.</a:t>
            </a:r>
          </a:p>
        </p:txBody>
      </p:sp>
      <p:sp>
        <p:nvSpPr>
          <p:cNvPr id="17" name="Rounded Rectangle 16"/>
          <p:cNvSpPr/>
          <p:nvPr/>
        </p:nvSpPr>
        <p:spPr>
          <a:xfrm>
            <a:off x="6301724" y="1645920"/>
            <a:ext cx="5414756" cy="210312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301724" y="1645920"/>
            <a:ext cx="77724" cy="210312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57756" y="1792224"/>
            <a:ext cx="4957556"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way out</a:t>
            </a:r>
          </a:p>
        </p:txBody>
      </p:sp>
      <p:sp>
        <p:nvSpPr>
          <p:cNvPr id="20" name="TextBox 19"/>
          <p:cNvSpPr txBox="1"/>
          <p:nvPr/>
        </p:nvSpPr>
        <p:spPr>
          <a:xfrm>
            <a:off x="6557756" y="2194560"/>
            <a:ext cx="4957556" cy="142646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Use an identity the platform can prove without a stored credential.</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The cloud already knows which pod is which, because the pod's ServiceAccount token is signed by the cluster and the cloud trusts that signature.</a:t>
            </a:r>
          </a:p>
        </p:txBody>
      </p:sp>
      <p:sp>
        <p:nvSpPr>
          <p:cNvPr id="21" name="Rounded Rectangle 20"/>
          <p:cNvSpPr/>
          <p:nvPr/>
        </p:nvSpPr>
        <p:spPr>
          <a:xfrm>
            <a:off x="475488" y="3977639"/>
            <a:ext cx="3564117" cy="162763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75488" y="3977639"/>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4224527"/>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AWS — IRSA / Pod Identity</a:t>
            </a:r>
          </a:p>
        </p:txBody>
      </p:sp>
      <p:sp>
        <p:nvSpPr>
          <p:cNvPr id="24" name="TextBox 23"/>
          <p:cNvSpPr txBox="1"/>
          <p:nvPr/>
        </p:nvSpPr>
        <p:spPr>
          <a:xfrm>
            <a:off x="658368" y="4636007"/>
            <a:ext cx="3198357" cy="85039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The ServiceAccount is annotated with an IAM role. The pod exchanges its projected token for temporary AWS credentials. Nothing is stored.</a:t>
            </a:r>
          </a:p>
        </p:txBody>
      </p:sp>
      <p:sp>
        <p:nvSpPr>
          <p:cNvPr id="25" name="Rounded Rectangle 24"/>
          <p:cNvSpPr/>
          <p:nvPr/>
        </p:nvSpPr>
        <p:spPr>
          <a:xfrm>
            <a:off x="4313925" y="3977639"/>
            <a:ext cx="3564117" cy="162763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13925" y="3977639"/>
            <a:ext cx="3564117"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496805" y="4224527"/>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Azure — Workload Identity</a:t>
            </a:r>
          </a:p>
        </p:txBody>
      </p:sp>
      <p:sp>
        <p:nvSpPr>
          <p:cNvPr id="28" name="TextBox 27"/>
          <p:cNvSpPr txBox="1"/>
          <p:nvPr/>
        </p:nvSpPr>
        <p:spPr>
          <a:xfrm>
            <a:off x="4496805" y="4636007"/>
            <a:ext cx="3198357" cy="85039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The ServiceAccount is federated with an Entra ID application. The same token exchange, the same result: no secret at rest.</a:t>
            </a:r>
          </a:p>
        </p:txBody>
      </p:sp>
      <p:sp>
        <p:nvSpPr>
          <p:cNvPr id="29" name="Rounded Rectangle 28"/>
          <p:cNvSpPr/>
          <p:nvPr/>
        </p:nvSpPr>
        <p:spPr>
          <a:xfrm>
            <a:off x="8152363" y="3977639"/>
            <a:ext cx="3564117" cy="162763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152363" y="3977639"/>
            <a:ext cx="3564117"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35243" y="4224527"/>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Vault — Kubernetes auth</a:t>
            </a:r>
          </a:p>
        </p:txBody>
      </p:sp>
      <p:sp>
        <p:nvSpPr>
          <p:cNvPr id="32" name="TextBox 31"/>
          <p:cNvSpPr txBox="1"/>
          <p:nvPr/>
        </p:nvSpPr>
        <p:spPr>
          <a:xfrm>
            <a:off x="8335243" y="4636007"/>
            <a:ext cx="3198357" cy="85039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Vault verifies the ServiceAccount token against the cluster's public keys and issues a short-lived Vault token in return.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External Secrets Operator Is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 controller that turns a reference into a real Kubernetes Secret, and keeps doing it.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You commit a manifest that names a secret. ESO produces the Secret that holds 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2604508" cy="1078992"/>
          </a:xfrm>
          <a:prstGeom prst="roundRect">
            <a:avLst>
              <a:gd name="adj" fmla="val 12000"/>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ExternalSecret</a:t>
            </a:r>
          </a:p>
          <a:p>
            <a:pPr algn="ctr"/>
            <a:r>
              <a:rPr sz="400" b="1" i="0">
                <a:solidFill>
                  <a:srgbClr val="FFFFFF"/>
                </a:solidFill>
                <a:latin typeface="Calibri"/>
              </a:rPr>
              <a:t/>
            </a:r>
          </a:p>
          <a:p>
            <a:pPr algn="ctr"/>
            <a:r>
              <a:rPr sz="1100" b="0" i="0">
                <a:solidFill>
                  <a:srgbClr val="DCE6F5"/>
                </a:solidFill>
                <a:latin typeface="Calibri"/>
              </a:rPr>
              <a:t>a manifest in Git — safe to commit</a:t>
            </a:r>
          </a:p>
        </p:txBody>
      </p:sp>
      <p:sp>
        <p:nvSpPr>
          <p:cNvPr id="14" name="Oval 13"/>
          <p:cNvSpPr/>
          <p:nvPr/>
        </p:nvSpPr>
        <p:spPr>
          <a:xfrm>
            <a:off x="163143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3121144" y="2103120"/>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4316" y="1645920"/>
            <a:ext cx="2604508" cy="1078992"/>
          </a:xfrm>
          <a:prstGeom prst="roundRect">
            <a:avLst>
              <a:gd name="adj" fmla="val 12000"/>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ESO controller</a:t>
            </a:r>
          </a:p>
          <a:p>
            <a:pPr algn="ctr"/>
            <a:r>
              <a:rPr sz="400" b="1" i="0">
                <a:solidFill>
                  <a:srgbClr val="FFFFFF"/>
                </a:solidFill>
                <a:latin typeface="Calibri"/>
              </a:rPr>
              <a:t/>
            </a:r>
          </a:p>
          <a:p>
            <a:pPr algn="ctr"/>
            <a:r>
              <a:rPr sz="1100" b="0" i="0">
                <a:solidFill>
                  <a:srgbClr val="DCE6F5"/>
                </a:solidFill>
                <a:latin typeface="Calibri"/>
              </a:rPr>
              <a:t>reads it, authenticates, fetches</a:t>
            </a:r>
          </a:p>
        </p:txBody>
      </p:sp>
      <p:sp>
        <p:nvSpPr>
          <p:cNvPr id="17" name="Oval 16"/>
          <p:cNvSpPr/>
          <p:nvPr/>
        </p:nvSpPr>
        <p:spPr>
          <a:xfrm>
            <a:off x="451026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5999972" y="2103120"/>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2604508" cy="1078992"/>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Secret manager</a:t>
            </a:r>
          </a:p>
          <a:p>
            <a:pPr algn="ctr"/>
            <a:r>
              <a:rPr sz="400" b="1" i="0">
                <a:solidFill>
                  <a:srgbClr val="FFFFFF"/>
                </a:solidFill>
                <a:latin typeface="Calibri"/>
              </a:rPr>
              <a:t/>
            </a:r>
          </a:p>
          <a:p>
            <a:pPr algn="ctr"/>
            <a:r>
              <a:rPr sz="1100" b="0" i="0">
                <a:solidFill>
                  <a:srgbClr val="DCE6F5"/>
                </a:solidFill>
                <a:latin typeface="Calibri"/>
              </a:rPr>
              <a:t>AWS · Azure · GCP · Vault</a:t>
            </a:r>
          </a:p>
        </p:txBody>
      </p:sp>
      <p:sp>
        <p:nvSpPr>
          <p:cNvPr id="20" name="Oval 19"/>
          <p:cNvSpPr/>
          <p:nvPr/>
        </p:nvSpPr>
        <p:spPr>
          <a:xfrm>
            <a:off x="7389094"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8878801" y="2103120"/>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11973" y="1645920"/>
            <a:ext cx="2604508" cy="1078992"/>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Kubernetes Secret</a:t>
            </a:r>
          </a:p>
          <a:p>
            <a:pPr algn="ctr"/>
            <a:r>
              <a:rPr sz="400" b="1" i="0">
                <a:solidFill>
                  <a:srgbClr val="FFFFFF"/>
                </a:solidFill>
                <a:latin typeface="Calibri"/>
              </a:rPr>
              <a:t/>
            </a:r>
          </a:p>
          <a:p>
            <a:pPr algn="ctr"/>
            <a:r>
              <a:rPr sz="1100" b="0" i="0">
                <a:solidFill>
                  <a:srgbClr val="DCE6F5"/>
                </a:solidFill>
                <a:latin typeface="Calibri"/>
              </a:rPr>
              <a:t>created and refreshed for you</a:t>
            </a:r>
          </a:p>
        </p:txBody>
      </p:sp>
      <p:sp>
        <p:nvSpPr>
          <p:cNvPr id="23" name="Oval 22"/>
          <p:cNvSpPr/>
          <p:nvPr/>
        </p:nvSpPr>
        <p:spPr>
          <a:xfrm>
            <a:off x="1026792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ounded Rectangle 23"/>
          <p:cNvSpPr/>
          <p:nvPr/>
        </p:nvSpPr>
        <p:spPr>
          <a:xfrm>
            <a:off x="475488" y="3127248"/>
            <a:ext cx="5428472" cy="22128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127248"/>
            <a:ext cx="77724" cy="221284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3273552"/>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you gain</a:t>
            </a:r>
          </a:p>
        </p:txBody>
      </p:sp>
      <p:sp>
        <p:nvSpPr>
          <p:cNvPr id="27" name="TextBox 26"/>
          <p:cNvSpPr txBox="1"/>
          <p:nvPr/>
        </p:nvSpPr>
        <p:spPr>
          <a:xfrm>
            <a:off x="731520" y="3675887"/>
            <a:ext cx="4971272" cy="1536192"/>
          </a:xfrm>
          <a:prstGeom prst="rect">
            <a:avLst/>
          </a:prstGeom>
          <a:noFill/>
        </p:spPr>
        <p:txBody>
          <a:bodyPr wrap="square" lIns="18288" rIns="18288" tIns="0" bIns="0" anchor="t">
            <a:noAutofit/>
          </a:bodyPr>
          <a:lstStyle/>
          <a:p>
            <a:pPr algn="l">
              <a:lnSpc>
                <a:spcPct val="124000"/>
              </a:lnSpc>
              <a:spcAft>
                <a:spcPts val="0"/>
              </a:spcAft>
            </a:pPr>
            <a:r>
              <a:rPr sz="1000" b="0" i="0">
                <a:solidFill>
                  <a:srgbClr val="363F4D"/>
                </a:solidFill>
                <a:latin typeface="Calibri"/>
              </a:rPr>
              <a:t>The value never appears in Git, in a pull request, in CI output or in a code review.</a:t>
            </a:r>
          </a:p>
          <a:p>
            <a:pPr algn="l">
              <a:lnSpc>
                <a:spcPct val="124000"/>
              </a:lnSpc>
              <a:spcAft>
                <a:spcPts val="0"/>
              </a:spcAft>
            </a:pPr>
            <a:r>
              <a:rPr sz="1000" b="0" i="0">
                <a:solidFill>
                  <a:srgbClr val="363F4D"/>
                </a:solidFill>
                <a:latin typeface="Calibri"/>
              </a:rPr>
              <a:t/>
            </a:r>
          </a:p>
          <a:p>
            <a:pPr algn="l">
              <a:lnSpc>
                <a:spcPct val="124000"/>
              </a:lnSpc>
              <a:spcAft>
                <a:spcPts val="0"/>
              </a:spcAft>
            </a:pPr>
            <a:r>
              <a:rPr sz="1000" b="0" i="0">
                <a:solidFill>
                  <a:srgbClr val="363F4D"/>
                </a:solidFill>
                <a:latin typeface="Calibri"/>
              </a:rPr>
              <a:t>Rotation happens in the secret manager, where it belongs — and ESO propagates it into the cluster without a deploy.</a:t>
            </a:r>
          </a:p>
          <a:p>
            <a:pPr algn="l">
              <a:lnSpc>
                <a:spcPct val="124000"/>
              </a:lnSpc>
              <a:spcAft>
                <a:spcPts val="0"/>
              </a:spcAft>
            </a:pPr>
            <a:r>
              <a:rPr sz="1000" b="0" i="0">
                <a:solidFill>
                  <a:srgbClr val="363F4D"/>
                </a:solidFill>
                <a:latin typeface="Calibri"/>
              </a:rPr>
              <a:t/>
            </a:r>
          </a:p>
          <a:p>
            <a:pPr algn="l">
              <a:lnSpc>
                <a:spcPct val="124000"/>
              </a:lnSpc>
              <a:spcAft>
                <a:spcPts val="0"/>
              </a:spcAft>
            </a:pPr>
            <a:r>
              <a:rPr sz="1000" b="0" i="0">
                <a:solidFill>
                  <a:srgbClr val="363F4D"/>
                </a:solidFill>
                <a:latin typeface="Calibri"/>
              </a:rPr>
              <a:t>Your existing workloads do not change: they still consume an ordinary Kubernetes Secret.</a:t>
            </a:r>
          </a:p>
        </p:txBody>
      </p:sp>
      <p:sp>
        <p:nvSpPr>
          <p:cNvPr id="28" name="Rounded Rectangle 27"/>
          <p:cNvSpPr/>
          <p:nvPr/>
        </p:nvSpPr>
        <p:spPr>
          <a:xfrm>
            <a:off x="6288008" y="3127248"/>
            <a:ext cx="5428472" cy="22128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88008" y="3127248"/>
            <a:ext cx="77724" cy="22128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44040" y="3273552"/>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it still is at the end</a:t>
            </a:r>
          </a:p>
        </p:txBody>
      </p:sp>
      <p:sp>
        <p:nvSpPr>
          <p:cNvPr id="31" name="TextBox 30"/>
          <p:cNvSpPr txBox="1"/>
          <p:nvPr/>
        </p:nvSpPr>
        <p:spPr>
          <a:xfrm>
            <a:off x="6544040" y="3675887"/>
            <a:ext cx="4971272" cy="1536192"/>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An ordinary Kubernetes Secret — base64 in etcd, readable by anyone with RBAC to get it.</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ESO improves where the value comes from and how it is rotated. It does not make the Secret object itself any more secret.</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Everything from section 01 still applies.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Objects ESO Gives You</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Four custom resources. You will use the first two constantly and the others occasionally.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 Store says where and how to authenticate. An ExternalSecret says what to fetch and where to put 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2604508"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SecretStore</a:t>
            </a:r>
          </a:p>
        </p:txBody>
      </p:sp>
      <p:sp>
        <p:nvSpPr>
          <p:cNvPr id="16" name="TextBox 15"/>
          <p:cNvSpPr txBox="1"/>
          <p:nvPr/>
        </p:nvSpPr>
        <p:spPr>
          <a:xfrm>
            <a:off x="658368" y="2304288"/>
            <a:ext cx="2238748" cy="1371600"/>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Namespaced. Describes one backend — provider, region, and how to authenticate. Belongs to the team that owns the namespace.</a:t>
            </a:r>
          </a:p>
        </p:txBody>
      </p:sp>
      <p:sp>
        <p:nvSpPr>
          <p:cNvPr id="17" name="Rounded Rectangle 16"/>
          <p:cNvSpPr/>
          <p:nvPr/>
        </p:nvSpPr>
        <p:spPr>
          <a:xfrm>
            <a:off x="3354316"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354316" y="1645920"/>
            <a:ext cx="2604508" cy="685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37196"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ClusterSecretStore</a:t>
            </a:r>
          </a:p>
        </p:txBody>
      </p:sp>
      <p:sp>
        <p:nvSpPr>
          <p:cNvPr id="20" name="TextBox 19"/>
          <p:cNvSpPr txBox="1"/>
          <p:nvPr/>
        </p:nvSpPr>
        <p:spPr>
          <a:xfrm>
            <a:off x="3537196" y="2304288"/>
            <a:ext cx="2238748" cy="1371600"/>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The same thing, cluster-wide. Define the connection once and let every namespace reference it. This is what platform teams normally ship.</a:t>
            </a:r>
          </a:p>
        </p:txBody>
      </p:sp>
      <p:sp>
        <p:nvSpPr>
          <p:cNvPr id="21" name="Rounded Rectangle 20"/>
          <p:cNvSpPr/>
          <p:nvPr/>
        </p:nvSpPr>
        <p:spPr>
          <a:xfrm>
            <a:off x="6233144"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33144" y="1645920"/>
            <a:ext cx="2604508" cy="6858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16024"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ExternalSecret</a:t>
            </a:r>
          </a:p>
        </p:txBody>
      </p:sp>
      <p:sp>
        <p:nvSpPr>
          <p:cNvPr id="24" name="TextBox 23"/>
          <p:cNvSpPr txBox="1"/>
          <p:nvPr/>
        </p:nvSpPr>
        <p:spPr>
          <a:xfrm>
            <a:off x="6416024" y="2304288"/>
            <a:ext cx="2238748" cy="1371600"/>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Namespaced. The instruction: read these keys from that store, and write them into a Secret called this, refreshing on this interval.</a:t>
            </a:r>
          </a:p>
        </p:txBody>
      </p:sp>
      <p:sp>
        <p:nvSpPr>
          <p:cNvPr id="25" name="Rounded Rectangle 24"/>
          <p:cNvSpPr/>
          <p:nvPr/>
        </p:nvSpPr>
        <p:spPr>
          <a:xfrm>
            <a:off x="9111973"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111973" y="1645920"/>
            <a:ext cx="2604508"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94853"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PushSecret</a:t>
            </a:r>
          </a:p>
        </p:txBody>
      </p:sp>
      <p:sp>
        <p:nvSpPr>
          <p:cNvPr id="28" name="TextBox 27"/>
          <p:cNvSpPr txBox="1"/>
          <p:nvPr/>
        </p:nvSpPr>
        <p:spPr>
          <a:xfrm>
            <a:off x="9294853" y="2304288"/>
            <a:ext cx="2238748" cy="1371600"/>
          </a:xfrm>
          <a:prstGeom prst="rect">
            <a:avLst/>
          </a:prstGeom>
          <a:noFill/>
        </p:spPr>
        <p:txBody>
          <a:bodyPr wrap="square" lIns="18288" rIns="18288" tIns="0" bIns="0" anchor="t">
            <a:noAutofit/>
          </a:bodyPr>
          <a:lstStyle/>
          <a:p>
            <a:pPr algn="l">
              <a:lnSpc>
                <a:spcPct val="122000"/>
              </a:lnSpc>
              <a:spcAft>
                <a:spcPts val="0"/>
              </a:spcAft>
            </a:pPr>
            <a:r>
              <a:rPr sz="1100" b="0" i="0">
                <a:solidFill>
                  <a:srgbClr val="363F4D"/>
                </a:solidFill>
                <a:latin typeface="Calibri"/>
              </a:rPr>
              <a:t>The reverse direction. Takes a Kubernetes Secret and writes it back out to the provider. Useful when something in-cluster generates the credential.</a:t>
            </a:r>
          </a:p>
        </p:txBody>
      </p:sp>
      <p:sp>
        <p:nvSpPr>
          <p:cNvPr id="29" name="Rounded Rectangle 28"/>
          <p:cNvSpPr/>
          <p:nvPr/>
        </p:nvSpPr>
        <p:spPr>
          <a:xfrm>
            <a:off x="475488" y="4041648"/>
            <a:ext cx="11240993" cy="157276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75488" y="4041648"/>
            <a:ext cx="77724" cy="157276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31520" y="4187952"/>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Also worth knowing</a:t>
            </a:r>
          </a:p>
        </p:txBody>
      </p:sp>
      <p:sp>
        <p:nvSpPr>
          <p:cNvPr id="32" name="TextBox 31"/>
          <p:cNvSpPr txBox="1"/>
          <p:nvPr/>
        </p:nvSpPr>
        <p:spPr>
          <a:xfrm>
            <a:off x="731520" y="4590288"/>
            <a:ext cx="10783793" cy="896112"/>
          </a:xfrm>
          <a:prstGeom prst="rect">
            <a:avLst/>
          </a:prstGeom>
          <a:noFill/>
        </p:spPr>
        <p:txBody>
          <a:bodyPr wrap="square" lIns="18288" rIns="18288" tIns="0" bIns="0" anchor="t">
            <a:noAutofit/>
          </a:bodyPr>
          <a:lstStyle/>
          <a:p>
            <a:pPr algn="l">
              <a:lnSpc>
                <a:spcPct val="124000"/>
              </a:lnSpc>
              <a:spcAft>
                <a:spcPts val="0"/>
              </a:spcAft>
            </a:pPr>
            <a:r>
              <a:rPr sz="950" b="0" i="0">
                <a:solidFill>
                  <a:srgbClr val="363F4D"/>
                </a:solidFill>
                <a:latin typeface="Calibri"/>
              </a:rPr>
              <a:t>ClusterExternalSecret creates the same ExternalSecret across many namespaces at once, selected by label — how you get a shared registry credential into every team's namespace without writing it out fifty times.</a:t>
            </a:r>
          </a:p>
          <a:p>
            <a:pPr algn="l">
              <a:lnSpc>
                <a:spcPct val="124000"/>
              </a:lnSpc>
              <a:spcAft>
                <a:spcPts val="0"/>
              </a:spcAft>
            </a:pPr>
            <a:r>
              <a:rPr sz="950" b="0" i="0">
                <a:solidFill>
                  <a:srgbClr val="363F4D"/>
                </a:solidFill>
                <a:latin typeface="Calibri"/>
              </a:rPr>
              <a:t/>
            </a:r>
          </a:p>
          <a:p>
            <a:pPr algn="l">
              <a:lnSpc>
                <a:spcPct val="124000"/>
              </a:lnSpc>
              <a:spcAft>
                <a:spcPts val="0"/>
              </a:spcAft>
            </a:pPr>
            <a:r>
              <a:rPr sz="950" b="0" i="0">
                <a:solidFill>
                  <a:srgbClr val="363F4D"/>
                </a:solidFill>
                <a:latin typeface="Calibri"/>
              </a:rPr>
              <a:t>The API group is external-secrets.io. Current examples use v1; older material you find online will show v1beta1. Check what your installed CRDs accept before copying anything from a blog post.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Installing It, and the Values That Matter</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 Helm install and four decisions. The defaults are fine for a lab and wrong for a fleet.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Scope it, give it an identity, and turn the metrics on before you need them.</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6172200" cy="27889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27889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623560" cy="237744"/>
          </a:xfrm>
          <a:prstGeom prst="rect">
            <a:avLst/>
          </a:prstGeom>
          <a:noFill/>
        </p:spPr>
        <p:txBody>
          <a:bodyPr wrap="square" lIns="18288" rIns="18288" tIns="0" bIns="0" anchor="t">
            <a:noAutofit/>
          </a:bodyPr>
          <a:lstStyle/>
          <a:p>
            <a:pPr algn="l">
              <a:spcAft>
                <a:spcPts val="0"/>
              </a:spcAft>
            </a:pPr>
            <a:r>
              <a:rPr sz="1000" b="1" i="0">
                <a:solidFill>
                  <a:srgbClr val="F26522"/>
                </a:solidFill>
                <a:latin typeface="Consolas"/>
              </a:rPr>
              <a:t>the install you actually want</a:t>
            </a:r>
          </a:p>
        </p:txBody>
      </p:sp>
      <p:sp>
        <p:nvSpPr>
          <p:cNvPr id="16" name="TextBox 15"/>
          <p:cNvSpPr txBox="1"/>
          <p:nvPr/>
        </p:nvSpPr>
        <p:spPr>
          <a:xfrm>
            <a:off x="749808" y="2066543"/>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helm repo add external-secrets \</a:t>
            </a:r>
          </a:p>
        </p:txBody>
      </p:sp>
      <p:sp>
        <p:nvSpPr>
          <p:cNvPr id="17" name="TextBox 16"/>
          <p:cNvSpPr txBox="1"/>
          <p:nvPr/>
        </p:nvSpPr>
        <p:spPr>
          <a:xfrm>
            <a:off x="749808" y="2249424"/>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https://charts.external-secrets.io</a:t>
            </a:r>
          </a:p>
        </p:txBody>
      </p:sp>
      <p:sp>
        <p:nvSpPr>
          <p:cNvPr id="18" name="TextBox 17"/>
          <p:cNvSpPr txBox="1"/>
          <p:nvPr/>
        </p:nvSpPr>
        <p:spPr>
          <a:xfrm>
            <a:off x="749808" y="2432304"/>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a:r>
          </a:p>
        </p:txBody>
      </p:sp>
      <p:sp>
        <p:nvSpPr>
          <p:cNvPr id="19" name="TextBox 18"/>
          <p:cNvSpPr txBox="1"/>
          <p:nvPr/>
        </p:nvSpPr>
        <p:spPr>
          <a:xfrm>
            <a:off x="749808" y="2615184"/>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helm install external-secrets \</a:t>
            </a:r>
          </a:p>
        </p:txBody>
      </p:sp>
      <p:sp>
        <p:nvSpPr>
          <p:cNvPr id="20" name="TextBox 19"/>
          <p:cNvSpPr txBox="1"/>
          <p:nvPr/>
        </p:nvSpPr>
        <p:spPr>
          <a:xfrm>
            <a:off x="749808" y="2798064"/>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external-secrets/external-secrets \</a:t>
            </a:r>
          </a:p>
        </p:txBody>
      </p:sp>
      <p:sp>
        <p:nvSpPr>
          <p:cNvPr id="21" name="TextBox 20"/>
          <p:cNvSpPr txBox="1"/>
          <p:nvPr/>
        </p:nvSpPr>
        <p:spPr>
          <a:xfrm>
            <a:off x="749808" y="2980944"/>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-n external-secrets --create-namespace \</a:t>
            </a:r>
          </a:p>
        </p:txBody>
      </p:sp>
      <p:sp>
        <p:nvSpPr>
          <p:cNvPr id="22" name="TextBox 21"/>
          <p:cNvSpPr txBox="1"/>
          <p:nvPr/>
        </p:nvSpPr>
        <p:spPr>
          <a:xfrm>
            <a:off x="749808" y="3163824"/>
            <a:ext cx="5623560" cy="219456"/>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--set installCRDs=true \</a:t>
            </a:r>
          </a:p>
        </p:txBody>
      </p:sp>
      <p:sp>
        <p:nvSpPr>
          <p:cNvPr id="23" name="TextBox 22"/>
          <p:cNvSpPr txBox="1"/>
          <p:nvPr/>
        </p:nvSpPr>
        <p:spPr>
          <a:xfrm>
            <a:off x="749808" y="3346704"/>
            <a:ext cx="5623560" cy="219456"/>
          </a:xfrm>
          <a:prstGeom prst="rect">
            <a:avLst/>
          </a:prstGeom>
          <a:noFill/>
        </p:spPr>
        <p:txBody>
          <a:bodyPr wrap="square" lIns="18288" rIns="18288" tIns="0" bIns="0" anchor="t">
            <a:noAutofit/>
          </a:bodyPr>
          <a:lstStyle/>
          <a:p>
            <a:pPr algn="l">
              <a:spcAft>
                <a:spcPts val="0"/>
              </a:spcAft>
            </a:pPr>
            <a:r>
              <a:rPr sz="1000" b="0" i="0">
                <a:solidFill>
                  <a:srgbClr val="2EB56B"/>
                </a:solidFill>
                <a:latin typeface="Consolas"/>
              </a:rPr>
              <a:t>  --set serviceAccount.annotations."eks\.amazonaws\.com/role-arn"=... \</a:t>
            </a:r>
          </a:p>
        </p:txBody>
      </p:sp>
      <p:sp>
        <p:nvSpPr>
          <p:cNvPr id="24" name="TextBox 23"/>
          <p:cNvSpPr txBox="1"/>
          <p:nvPr/>
        </p:nvSpPr>
        <p:spPr>
          <a:xfrm>
            <a:off x="749808" y="3529584"/>
            <a:ext cx="5623560" cy="219456"/>
          </a:xfrm>
          <a:prstGeom prst="rect">
            <a:avLst/>
          </a:prstGeom>
          <a:noFill/>
        </p:spPr>
        <p:txBody>
          <a:bodyPr wrap="square" lIns="18288" rIns="18288" tIns="0" bIns="0" anchor="t">
            <a:noAutofit/>
          </a:bodyPr>
          <a:lstStyle/>
          <a:p>
            <a:pPr algn="l">
              <a:spcAft>
                <a:spcPts val="0"/>
              </a:spcAft>
            </a:pPr>
            <a:r>
              <a:rPr sz="1000" b="0" i="0">
                <a:solidFill>
                  <a:srgbClr val="F59E0B"/>
                </a:solidFill>
                <a:latin typeface="Consolas"/>
              </a:rPr>
              <a:t>  --set metrics.service.enabled=true</a:t>
            </a:r>
          </a:p>
        </p:txBody>
      </p:sp>
      <p:sp>
        <p:nvSpPr>
          <p:cNvPr id="25" name="TextBox 24"/>
          <p:cNvSpPr txBox="1"/>
          <p:nvPr/>
        </p:nvSpPr>
        <p:spPr>
          <a:xfrm>
            <a:off x="6876288" y="1632204"/>
            <a:ext cx="256032" cy="274320"/>
          </a:xfrm>
          <a:prstGeom prst="rect">
            <a:avLst/>
          </a:prstGeom>
          <a:noFill/>
        </p:spPr>
        <p:txBody>
          <a:bodyPr wrap="square" lIns="18288" rIns="18288" tIns="0" bIns="0" anchor="t">
            <a:noAutofit/>
          </a:bodyPr>
          <a:lstStyle/>
          <a:p>
            <a:pPr algn="l">
              <a:spcAft>
                <a:spcPts val="0"/>
              </a:spcAft>
            </a:pPr>
            <a:r>
              <a:rPr sz="1150" b="1" i="0">
                <a:solidFill>
                  <a:srgbClr val="F26522"/>
                </a:solidFill>
                <a:latin typeface="Calibri"/>
              </a:rPr>
              <a:t>▸</a:t>
            </a:r>
          </a:p>
        </p:txBody>
      </p:sp>
      <p:sp>
        <p:nvSpPr>
          <p:cNvPr id="26" name="TextBox 25"/>
          <p:cNvSpPr txBox="1"/>
          <p:nvPr/>
        </p:nvSpPr>
        <p:spPr>
          <a:xfrm>
            <a:off x="7187183" y="1645920"/>
            <a:ext cx="4529297" cy="301625"/>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installCRDs  </a:t>
            </a:r>
            <a:r>
              <a:rPr sz="950" b="0" i="0">
                <a:solidFill>
                  <a:srgbClr val="363F4D"/>
                </a:solidFill>
                <a:latin typeface="Calibri"/>
              </a:rPr>
              <a:t>on for a first install; hand the CRDs to Argo CD afterwards so upgrades are visible</a:t>
            </a:r>
          </a:p>
        </p:txBody>
      </p:sp>
      <p:sp>
        <p:nvSpPr>
          <p:cNvPr id="27" name="TextBox 26"/>
          <p:cNvSpPr txBox="1"/>
          <p:nvPr/>
        </p:nvSpPr>
        <p:spPr>
          <a:xfrm>
            <a:off x="6876288" y="2309748"/>
            <a:ext cx="256032" cy="274320"/>
          </a:xfrm>
          <a:prstGeom prst="rect">
            <a:avLst/>
          </a:prstGeom>
          <a:noFill/>
        </p:spPr>
        <p:txBody>
          <a:bodyPr wrap="square" lIns="18288" rIns="18288" tIns="0" bIns="0" anchor="t">
            <a:noAutofit/>
          </a:bodyPr>
          <a:lstStyle/>
          <a:p>
            <a:pPr algn="l">
              <a:spcAft>
                <a:spcPts val="0"/>
              </a:spcAft>
            </a:pPr>
            <a:r>
              <a:rPr sz="1150" b="1" i="0">
                <a:solidFill>
                  <a:srgbClr val="F26522"/>
                </a:solidFill>
                <a:latin typeface="Calibri"/>
              </a:rPr>
              <a:t>▸</a:t>
            </a:r>
          </a:p>
        </p:txBody>
      </p:sp>
      <p:sp>
        <p:nvSpPr>
          <p:cNvPr id="28" name="TextBox 27"/>
          <p:cNvSpPr txBox="1"/>
          <p:nvPr/>
        </p:nvSpPr>
        <p:spPr>
          <a:xfrm>
            <a:off x="7187183" y="2323464"/>
            <a:ext cx="4529297" cy="301625"/>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serviceAccount.annotations  </a:t>
            </a:r>
            <a:r>
              <a:rPr sz="950" b="0" i="0">
                <a:solidFill>
                  <a:srgbClr val="363F4D"/>
                </a:solidFill>
                <a:latin typeface="Calibri"/>
              </a:rPr>
              <a:t>where secret zero is solved — the IAM role or federated identity lives here</a:t>
            </a:r>
          </a:p>
        </p:txBody>
      </p:sp>
      <p:sp>
        <p:nvSpPr>
          <p:cNvPr id="29" name="TextBox 28"/>
          <p:cNvSpPr txBox="1"/>
          <p:nvPr/>
        </p:nvSpPr>
        <p:spPr>
          <a:xfrm>
            <a:off x="6876288" y="2987293"/>
            <a:ext cx="256032" cy="274320"/>
          </a:xfrm>
          <a:prstGeom prst="rect">
            <a:avLst/>
          </a:prstGeom>
          <a:noFill/>
        </p:spPr>
        <p:txBody>
          <a:bodyPr wrap="square" lIns="18288" rIns="18288" tIns="0" bIns="0" anchor="t">
            <a:noAutofit/>
          </a:bodyPr>
          <a:lstStyle/>
          <a:p>
            <a:pPr algn="l">
              <a:spcAft>
                <a:spcPts val="0"/>
              </a:spcAft>
            </a:pPr>
            <a:r>
              <a:rPr sz="1150" b="1" i="0">
                <a:solidFill>
                  <a:srgbClr val="F26522"/>
                </a:solidFill>
                <a:latin typeface="Calibri"/>
              </a:rPr>
              <a:t>▸</a:t>
            </a:r>
          </a:p>
        </p:txBody>
      </p:sp>
      <p:sp>
        <p:nvSpPr>
          <p:cNvPr id="30" name="TextBox 29"/>
          <p:cNvSpPr txBox="1"/>
          <p:nvPr/>
        </p:nvSpPr>
        <p:spPr>
          <a:xfrm>
            <a:off x="7187183" y="3001009"/>
            <a:ext cx="4529297" cy="301625"/>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scopedNamespace  </a:t>
            </a:r>
            <a:r>
              <a:rPr sz="950" b="0" i="0">
                <a:solidFill>
                  <a:srgbClr val="363F4D"/>
                </a:solidFill>
                <a:latin typeface="Calibri"/>
              </a:rPr>
              <a:t>restrict the controller to one namespace in a shared or multi-tenant cluster</a:t>
            </a:r>
          </a:p>
        </p:txBody>
      </p:sp>
      <p:sp>
        <p:nvSpPr>
          <p:cNvPr id="31" name="TextBox 30"/>
          <p:cNvSpPr txBox="1"/>
          <p:nvPr/>
        </p:nvSpPr>
        <p:spPr>
          <a:xfrm>
            <a:off x="6876288" y="3664839"/>
            <a:ext cx="256032" cy="274320"/>
          </a:xfrm>
          <a:prstGeom prst="rect">
            <a:avLst/>
          </a:prstGeom>
          <a:noFill/>
        </p:spPr>
        <p:txBody>
          <a:bodyPr wrap="square" lIns="18288" rIns="18288" tIns="0" bIns="0" anchor="t">
            <a:noAutofit/>
          </a:bodyPr>
          <a:lstStyle/>
          <a:p>
            <a:pPr algn="l">
              <a:spcAft>
                <a:spcPts val="0"/>
              </a:spcAft>
            </a:pPr>
            <a:r>
              <a:rPr sz="1150" b="1" i="0">
                <a:solidFill>
                  <a:srgbClr val="F26522"/>
                </a:solidFill>
                <a:latin typeface="Calibri"/>
              </a:rPr>
              <a:t>▸</a:t>
            </a:r>
          </a:p>
        </p:txBody>
      </p:sp>
      <p:sp>
        <p:nvSpPr>
          <p:cNvPr id="32" name="TextBox 31"/>
          <p:cNvSpPr txBox="1"/>
          <p:nvPr/>
        </p:nvSpPr>
        <p:spPr>
          <a:xfrm>
            <a:off x="7187183" y="3678554"/>
            <a:ext cx="4529297" cy="301625"/>
          </a:xfrm>
          <a:prstGeom prst="rect">
            <a:avLst/>
          </a:prstGeom>
          <a:noFill/>
        </p:spPr>
        <p:txBody>
          <a:bodyPr wrap="square" lIns="18288" rIns="18288" tIns="0" bIns="0" anchor="t">
            <a:noAutofit/>
          </a:bodyPr>
          <a:lstStyle/>
          <a:p>
            <a:pPr algn="l">
              <a:lnSpc>
                <a:spcPct val="120000"/>
              </a:lnSpc>
              <a:spcAft>
                <a:spcPts val="0"/>
              </a:spcAft>
            </a:pPr>
            <a:r>
              <a:rPr sz="950" b="1" i="0">
                <a:solidFill>
                  <a:srgbClr val="1F2B3D"/>
                </a:solidFill>
                <a:latin typeface="Calibri"/>
              </a:rPr>
              <a:t>concurrent  </a:t>
            </a:r>
            <a:r>
              <a:rPr sz="950" b="0" i="0">
                <a:solidFill>
                  <a:srgbClr val="363F4D"/>
                </a:solidFill>
                <a:latin typeface="Calibri"/>
              </a:rPr>
              <a:t>how many reconciles run at once; raise it only when you have thousands of ExternalSecrets</a:t>
            </a:r>
          </a:p>
        </p:txBody>
      </p:sp>
      <p:sp>
        <p:nvSpPr>
          <p:cNvPr id="33" name="Rounded Rectangle 32"/>
          <p:cNvSpPr/>
          <p:nvPr/>
        </p:nvSpPr>
        <p:spPr>
          <a:xfrm>
            <a:off x="475488" y="4645152"/>
            <a:ext cx="11240993" cy="566928"/>
          </a:xfrm>
          <a:prstGeom prst="roundRect">
            <a:avLst>
              <a:gd name="adj" fmla="val 7000"/>
            </a:avLst>
          </a:prstGeom>
          <a:solidFill>
            <a:srgbClr val="FE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4645152"/>
            <a:ext cx="91440"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4736592"/>
            <a:ext cx="10555193" cy="384048"/>
          </a:xfrm>
          <a:prstGeom prst="rect">
            <a:avLst/>
          </a:prstGeom>
          <a:noFill/>
        </p:spPr>
        <p:txBody>
          <a:bodyPr wrap="square" lIns="18288" rIns="18288" tIns="0" bIns="0" anchor="ctr">
            <a:noAutofit/>
          </a:bodyPr>
          <a:lstStyle/>
          <a:p>
            <a:pPr algn="l">
              <a:lnSpc>
                <a:spcPct val="120000"/>
              </a:lnSpc>
              <a:spcAft>
                <a:spcPts val="0"/>
              </a:spcAft>
            </a:pPr>
            <a:r>
              <a:rPr sz="1400" b="0" i="1">
                <a:solidFill>
                  <a:srgbClr val="1F2B3D"/>
                </a:solidFill>
                <a:latin typeface="Calibri Light"/>
              </a:rPr>
              <a:t>The project supports only its most recent minor version — plan upgrades as routine work, not as a project.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600" b="1" i="0">
                <a:solidFill>
                  <a:srgbClr val="FFFFFF"/>
                </a:solidFill>
                <a:latin typeface="Calibri"/>
              </a:rPr>
              <a:t>SecretStore — Where the Secrets Live and How to Get In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One per backend. Authentication is the part that goes wrong.</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Reference a ServiceAccount, not an access key. If your store has a secretRef to a key, redesign 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5428472" cy="32918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291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AWS Secrets Manager via IRSA — no stored key</a:t>
            </a:r>
          </a:p>
        </p:txBody>
      </p:sp>
      <p:sp>
        <p:nvSpPr>
          <p:cNvPr id="16" name="TextBox 15"/>
          <p:cNvSpPr txBox="1"/>
          <p:nvPr/>
        </p:nvSpPr>
        <p:spPr>
          <a:xfrm>
            <a:off x="749808" y="2066543"/>
            <a:ext cx="4879832" cy="224028"/>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apiVersion: external-secrets.io/v1</a:t>
            </a:r>
          </a:p>
        </p:txBody>
      </p:sp>
      <p:sp>
        <p:nvSpPr>
          <p:cNvPr id="17" name="TextBox 16"/>
          <p:cNvSpPr txBox="1"/>
          <p:nvPr/>
        </p:nvSpPr>
        <p:spPr>
          <a:xfrm>
            <a:off x="749808" y="2253996"/>
            <a:ext cx="4879832" cy="224028"/>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kind: ClusterSecretStore</a:t>
            </a:r>
          </a:p>
        </p:txBody>
      </p:sp>
      <p:sp>
        <p:nvSpPr>
          <p:cNvPr id="18" name="TextBox 17"/>
          <p:cNvSpPr txBox="1"/>
          <p:nvPr/>
        </p:nvSpPr>
        <p:spPr>
          <a:xfrm>
            <a:off x="749808" y="2441448"/>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metadata:</a:t>
            </a:r>
          </a:p>
        </p:txBody>
      </p:sp>
      <p:sp>
        <p:nvSpPr>
          <p:cNvPr id="19" name="TextBox 18"/>
          <p:cNvSpPr txBox="1"/>
          <p:nvPr/>
        </p:nvSpPr>
        <p:spPr>
          <a:xfrm>
            <a:off x="749808" y="2628900"/>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name: aws-prod</a:t>
            </a:r>
          </a:p>
        </p:txBody>
      </p:sp>
      <p:sp>
        <p:nvSpPr>
          <p:cNvPr id="20" name="TextBox 19"/>
          <p:cNvSpPr txBox="1"/>
          <p:nvPr/>
        </p:nvSpPr>
        <p:spPr>
          <a:xfrm>
            <a:off x="749808" y="2816352"/>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spec:</a:t>
            </a:r>
          </a:p>
        </p:txBody>
      </p:sp>
      <p:sp>
        <p:nvSpPr>
          <p:cNvPr id="21" name="TextBox 20"/>
          <p:cNvSpPr txBox="1"/>
          <p:nvPr/>
        </p:nvSpPr>
        <p:spPr>
          <a:xfrm>
            <a:off x="749808" y="3003804"/>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provider:</a:t>
            </a:r>
          </a:p>
        </p:txBody>
      </p:sp>
      <p:sp>
        <p:nvSpPr>
          <p:cNvPr id="22" name="TextBox 21"/>
          <p:cNvSpPr txBox="1"/>
          <p:nvPr/>
        </p:nvSpPr>
        <p:spPr>
          <a:xfrm>
            <a:off x="749808" y="3191256"/>
            <a:ext cx="4879832" cy="224028"/>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aws:</a:t>
            </a:r>
          </a:p>
        </p:txBody>
      </p:sp>
      <p:sp>
        <p:nvSpPr>
          <p:cNvPr id="23" name="TextBox 22"/>
          <p:cNvSpPr txBox="1"/>
          <p:nvPr/>
        </p:nvSpPr>
        <p:spPr>
          <a:xfrm>
            <a:off x="749808" y="3378708"/>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service: SecretsManager</a:t>
            </a:r>
          </a:p>
        </p:txBody>
      </p:sp>
      <p:sp>
        <p:nvSpPr>
          <p:cNvPr id="24" name="TextBox 23"/>
          <p:cNvSpPr txBox="1"/>
          <p:nvPr/>
        </p:nvSpPr>
        <p:spPr>
          <a:xfrm>
            <a:off x="749808" y="3566160"/>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region: us-east-1</a:t>
            </a:r>
          </a:p>
        </p:txBody>
      </p:sp>
      <p:sp>
        <p:nvSpPr>
          <p:cNvPr id="25" name="TextBox 24"/>
          <p:cNvSpPr txBox="1"/>
          <p:nvPr/>
        </p:nvSpPr>
        <p:spPr>
          <a:xfrm>
            <a:off x="749808" y="3753612"/>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auth:</a:t>
            </a:r>
          </a:p>
        </p:txBody>
      </p:sp>
      <p:sp>
        <p:nvSpPr>
          <p:cNvPr id="26" name="TextBox 25"/>
          <p:cNvSpPr txBox="1"/>
          <p:nvPr/>
        </p:nvSpPr>
        <p:spPr>
          <a:xfrm>
            <a:off x="749808" y="3941064"/>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jwt:</a:t>
            </a:r>
          </a:p>
        </p:txBody>
      </p:sp>
      <p:sp>
        <p:nvSpPr>
          <p:cNvPr id="27" name="TextBox 26"/>
          <p:cNvSpPr txBox="1"/>
          <p:nvPr/>
        </p:nvSpPr>
        <p:spPr>
          <a:xfrm>
            <a:off x="749808" y="4128516"/>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serviceAccountRef:</a:t>
            </a:r>
          </a:p>
        </p:txBody>
      </p:sp>
      <p:sp>
        <p:nvSpPr>
          <p:cNvPr id="28" name="TextBox 27"/>
          <p:cNvSpPr txBox="1"/>
          <p:nvPr/>
        </p:nvSpPr>
        <p:spPr>
          <a:xfrm>
            <a:off x="749808" y="4315968"/>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name: external-secrets</a:t>
            </a:r>
          </a:p>
        </p:txBody>
      </p:sp>
      <p:sp>
        <p:nvSpPr>
          <p:cNvPr id="29" name="TextBox 28"/>
          <p:cNvSpPr txBox="1"/>
          <p:nvPr/>
        </p:nvSpPr>
        <p:spPr>
          <a:xfrm>
            <a:off x="749808" y="4503420"/>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namespace: external-secrets</a:t>
            </a:r>
          </a:p>
        </p:txBody>
      </p:sp>
      <p:sp>
        <p:nvSpPr>
          <p:cNvPr id="30" name="Rounded Rectangle 29"/>
          <p:cNvSpPr/>
          <p:nvPr/>
        </p:nvSpPr>
        <p:spPr>
          <a:xfrm>
            <a:off x="6288008" y="1645920"/>
            <a:ext cx="5428472" cy="32918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288008" y="1645920"/>
            <a:ext cx="64008" cy="3291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HashiCorp Vault via Kubernetes auth</a:t>
            </a:r>
          </a:p>
        </p:txBody>
      </p:sp>
      <p:sp>
        <p:nvSpPr>
          <p:cNvPr id="33" name="TextBox 32"/>
          <p:cNvSpPr txBox="1"/>
          <p:nvPr/>
        </p:nvSpPr>
        <p:spPr>
          <a:xfrm>
            <a:off x="6562328" y="2066543"/>
            <a:ext cx="4879832" cy="224028"/>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apiVersion: external-secrets.io/v1</a:t>
            </a:r>
          </a:p>
        </p:txBody>
      </p:sp>
      <p:sp>
        <p:nvSpPr>
          <p:cNvPr id="34" name="TextBox 33"/>
          <p:cNvSpPr txBox="1"/>
          <p:nvPr/>
        </p:nvSpPr>
        <p:spPr>
          <a:xfrm>
            <a:off x="6562328" y="2253996"/>
            <a:ext cx="4879832" cy="224028"/>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kind: ClusterSecretStore</a:t>
            </a:r>
          </a:p>
        </p:txBody>
      </p:sp>
      <p:sp>
        <p:nvSpPr>
          <p:cNvPr id="35" name="TextBox 34"/>
          <p:cNvSpPr txBox="1"/>
          <p:nvPr/>
        </p:nvSpPr>
        <p:spPr>
          <a:xfrm>
            <a:off x="6562328" y="2441448"/>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metadata:</a:t>
            </a:r>
          </a:p>
        </p:txBody>
      </p:sp>
      <p:sp>
        <p:nvSpPr>
          <p:cNvPr id="36" name="TextBox 35"/>
          <p:cNvSpPr txBox="1"/>
          <p:nvPr/>
        </p:nvSpPr>
        <p:spPr>
          <a:xfrm>
            <a:off x="6562328" y="2628900"/>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name: vault-prod</a:t>
            </a:r>
          </a:p>
        </p:txBody>
      </p:sp>
      <p:sp>
        <p:nvSpPr>
          <p:cNvPr id="37" name="TextBox 36"/>
          <p:cNvSpPr txBox="1"/>
          <p:nvPr/>
        </p:nvSpPr>
        <p:spPr>
          <a:xfrm>
            <a:off x="6562328" y="2816352"/>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spec:</a:t>
            </a:r>
          </a:p>
        </p:txBody>
      </p:sp>
      <p:sp>
        <p:nvSpPr>
          <p:cNvPr id="38" name="TextBox 37"/>
          <p:cNvSpPr txBox="1"/>
          <p:nvPr/>
        </p:nvSpPr>
        <p:spPr>
          <a:xfrm>
            <a:off x="6562328" y="3003804"/>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provider:</a:t>
            </a:r>
          </a:p>
        </p:txBody>
      </p:sp>
      <p:sp>
        <p:nvSpPr>
          <p:cNvPr id="39" name="TextBox 38"/>
          <p:cNvSpPr txBox="1"/>
          <p:nvPr/>
        </p:nvSpPr>
        <p:spPr>
          <a:xfrm>
            <a:off x="6562328" y="3191256"/>
            <a:ext cx="4879832" cy="224028"/>
          </a:xfrm>
          <a:prstGeom prst="rect">
            <a:avLst/>
          </a:prstGeom>
          <a:noFill/>
        </p:spPr>
        <p:txBody>
          <a:bodyPr wrap="square" lIns="18288" rIns="18288" tIns="0" bIns="0" anchor="t">
            <a:noAutofit/>
          </a:bodyPr>
          <a:lstStyle/>
          <a:p>
            <a:pPr algn="l">
              <a:spcAft>
                <a:spcPts val="0"/>
              </a:spcAft>
            </a:pPr>
            <a:r>
              <a:rPr sz="1050" b="0" i="0">
                <a:solidFill>
                  <a:srgbClr val="7C3AED"/>
                </a:solidFill>
                <a:latin typeface="Consolas"/>
              </a:rPr>
              <a:t>    vault:</a:t>
            </a:r>
          </a:p>
        </p:txBody>
      </p:sp>
      <p:sp>
        <p:nvSpPr>
          <p:cNvPr id="40" name="TextBox 39"/>
          <p:cNvSpPr txBox="1"/>
          <p:nvPr/>
        </p:nvSpPr>
        <p:spPr>
          <a:xfrm>
            <a:off x="6562328" y="3378708"/>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server: https://vault.acme.internal</a:t>
            </a:r>
          </a:p>
        </p:txBody>
      </p:sp>
      <p:sp>
        <p:nvSpPr>
          <p:cNvPr id="41" name="TextBox 40"/>
          <p:cNvSpPr txBox="1"/>
          <p:nvPr/>
        </p:nvSpPr>
        <p:spPr>
          <a:xfrm>
            <a:off x="6562328" y="3566160"/>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path: kv</a:t>
            </a:r>
          </a:p>
        </p:txBody>
      </p:sp>
      <p:sp>
        <p:nvSpPr>
          <p:cNvPr id="42" name="TextBox 41"/>
          <p:cNvSpPr txBox="1"/>
          <p:nvPr/>
        </p:nvSpPr>
        <p:spPr>
          <a:xfrm>
            <a:off x="6562328" y="3753612"/>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version: v2</a:t>
            </a:r>
          </a:p>
        </p:txBody>
      </p:sp>
      <p:sp>
        <p:nvSpPr>
          <p:cNvPr id="43" name="TextBox 42"/>
          <p:cNvSpPr txBox="1"/>
          <p:nvPr/>
        </p:nvSpPr>
        <p:spPr>
          <a:xfrm>
            <a:off x="6562328" y="3941064"/>
            <a:ext cx="4879832" cy="22402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auth:</a:t>
            </a:r>
          </a:p>
        </p:txBody>
      </p:sp>
      <p:sp>
        <p:nvSpPr>
          <p:cNvPr id="44" name="TextBox 43"/>
          <p:cNvSpPr txBox="1"/>
          <p:nvPr/>
        </p:nvSpPr>
        <p:spPr>
          <a:xfrm>
            <a:off x="6562328" y="4128516"/>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kubernetes:</a:t>
            </a:r>
          </a:p>
        </p:txBody>
      </p:sp>
      <p:sp>
        <p:nvSpPr>
          <p:cNvPr id="45" name="TextBox 44"/>
          <p:cNvSpPr txBox="1"/>
          <p:nvPr/>
        </p:nvSpPr>
        <p:spPr>
          <a:xfrm>
            <a:off x="6562328" y="4315968"/>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mountPath: kubernetes</a:t>
            </a:r>
          </a:p>
        </p:txBody>
      </p:sp>
      <p:sp>
        <p:nvSpPr>
          <p:cNvPr id="46" name="TextBox 45"/>
          <p:cNvSpPr txBox="1"/>
          <p:nvPr/>
        </p:nvSpPr>
        <p:spPr>
          <a:xfrm>
            <a:off x="6562328" y="4503420"/>
            <a:ext cx="4879832" cy="22402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role: billing</a:t>
            </a:r>
          </a:p>
        </p:txBody>
      </p:sp>
      <p:sp>
        <p:nvSpPr>
          <p:cNvPr id="47" name="Rounded Rectangle 46"/>
          <p:cNvSpPr/>
          <p:nvPr/>
        </p:nvSpPr>
        <p:spPr>
          <a:xfrm>
            <a:off x="475488" y="5138928"/>
            <a:ext cx="11240993" cy="475488"/>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75488" y="5138928"/>
            <a:ext cx="91440" cy="47548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59536" y="5230368"/>
            <a:ext cx="10555193" cy="292608"/>
          </a:xfrm>
          <a:prstGeom prst="rect">
            <a:avLst/>
          </a:prstGeom>
          <a:noFill/>
        </p:spPr>
        <p:txBody>
          <a:bodyPr wrap="square" lIns="18288" rIns="18288" tIns="0" bIns="0" anchor="ctr">
            <a:noAutofit/>
          </a:bodyPr>
          <a:lstStyle/>
          <a:p>
            <a:pPr algn="l">
              <a:lnSpc>
                <a:spcPct val="120000"/>
              </a:lnSpc>
              <a:spcAft>
                <a:spcPts val="0"/>
              </a:spcAft>
            </a:pPr>
            <a:r>
              <a:rPr sz="1200" b="0" i="1">
                <a:solidFill>
                  <a:srgbClr val="1F2B3D"/>
                </a:solidFill>
                <a:latin typeface="Calibri Light"/>
              </a:rPr>
              <a:t>Check readiness with: kubectl get clustersecretstore aws-prod — a store that cannot authenticate reports it here, before any ExternalSecret fails.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ExternalSecret — The Instruction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This is the manifest that goes in Git. Read every field; each one is a decision.</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It names keys, never values. That is precisely why it is safe to commit.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6537960" cy="39319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319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989320" cy="237744"/>
          </a:xfrm>
          <a:prstGeom prst="rect">
            <a:avLst/>
          </a:prstGeom>
          <a:noFill/>
        </p:spPr>
        <p:txBody>
          <a:bodyPr wrap="square" lIns="18288" rIns="18288" tIns="0" bIns="0" anchor="t">
            <a:noAutofit/>
          </a:bodyPr>
          <a:lstStyle/>
          <a:p>
            <a:pPr algn="l">
              <a:spcAft>
                <a:spcPts val="0"/>
              </a:spcAft>
            </a:pPr>
            <a:r>
              <a:rPr sz="1000" b="1" i="0">
                <a:solidFill>
                  <a:srgbClr val="F26522"/>
                </a:solidFill>
                <a:latin typeface="Consolas"/>
              </a:rPr>
              <a:t>externalsecret.yaml — commit this</a:t>
            </a:r>
          </a:p>
        </p:txBody>
      </p:sp>
      <p:sp>
        <p:nvSpPr>
          <p:cNvPr id="16" name="TextBox 15"/>
          <p:cNvSpPr txBox="1"/>
          <p:nvPr/>
        </p:nvSpPr>
        <p:spPr>
          <a:xfrm>
            <a:off x="749808" y="2066543"/>
            <a:ext cx="5989320" cy="215798"/>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apiVersion: external-secrets.io/v1</a:t>
            </a:r>
          </a:p>
        </p:txBody>
      </p:sp>
      <p:sp>
        <p:nvSpPr>
          <p:cNvPr id="17" name="TextBox 16"/>
          <p:cNvSpPr txBox="1"/>
          <p:nvPr/>
        </p:nvSpPr>
        <p:spPr>
          <a:xfrm>
            <a:off x="749808" y="2245766"/>
            <a:ext cx="5989320" cy="215798"/>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kind: ExternalSecret</a:t>
            </a:r>
          </a:p>
        </p:txBody>
      </p:sp>
      <p:sp>
        <p:nvSpPr>
          <p:cNvPr id="18" name="TextBox 17"/>
          <p:cNvSpPr txBox="1"/>
          <p:nvPr/>
        </p:nvSpPr>
        <p:spPr>
          <a:xfrm>
            <a:off x="749808" y="2424988"/>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metadata:</a:t>
            </a:r>
          </a:p>
        </p:txBody>
      </p:sp>
      <p:sp>
        <p:nvSpPr>
          <p:cNvPr id="19" name="TextBox 18"/>
          <p:cNvSpPr txBox="1"/>
          <p:nvPr/>
        </p:nvSpPr>
        <p:spPr>
          <a:xfrm>
            <a:off x="749808" y="2604211"/>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 billing-db</a:t>
            </a:r>
          </a:p>
        </p:txBody>
      </p:sp>
      <p:sp>
        <p:nvSpPr>
          <p:cNvPr id="20" name="TextBox 19"/>
          <p:cNvSpPr txBox="1"/>
          <p:nvPr/>
        </p:nvSpPr>
        <p:spPr>
          <a:xfrm>
            <a:off x="749808" y="2783433"/>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namespace: payments</a:t>
            </a:r>
          </a:p>
        </p:txBody>
      </p:sp>
      <p:sp>
        <p:nvSpPr>
          <p:cNvPr id="21" name="TextBox 20"/>
          <p:cNvSpPr txBox="1"/>
          <p:nvPr/>
        </p:nvSpPr>
        <p:spPr>
          <a:xfrm>
            <a:off x="749808" y="2962656"/>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spec:</a:t>
            </a:r>
          </a:p>
        </p:txBody>
      </p:sp>
      <p:sp>
        <p:nvSpPr>
          <p:cNvPr id="22" name="TextBox 21"/>
          <p:cNvSpPr txBox="1"/>
          <p:nvPr/>
        </p:nvSpPr>
        <p:spPr>
          <a:xfrm>
            <a:off x="749808" y="3141878"/>
            <a:ext cx="5989320" cy="215798"/>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refreshInterval: 1h</a:t>
            </a:r>
          </a:p>
        </p:txBody>
      </p:sp>
      <p:sp>
        <p:nvSpPr>
          <p:cNvPr id="23" name="TextBox 22"/>
          <p:cNvSpPr txBox="1"/>
          <p:nvPr/>
        </p:nvSpPr>
        <p:spPr>
          <a:xfrm>
            <a:off x="749808" y="3321100"/>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secretStoreRef:</a:t>
            </a:r>
          </a:p>
        </p:txBody>
      </p:sp>
      <p:sp>
        <p:nvSpPr>
          <p:cNvPr id="24" name="TextBox 23"/>
          <p:cNvSpPr txBox="1"/>
          <p:nvPr/>
        </p:nvSpPr>
        <p:spPr>
          <a:xfrm>
            <a:off x="749808" y="3500323"/>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 aws-prod</a:t>
            </a:r>
          </a:p>
        </p:txBody>
      </p:sp>
      <p:sp>
        <p:nvSpPr>
          <p:cNvPr id="25" name="TextBox 24"/>
          <p:cNvSpPr txBox="1"/>
          <p:nvPr/>
        </p:nvSpPr>
        <p:spPr>
          <a:xfrm>
            <a:off x="749808" y="3679545"/>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kind: ClusterSecretStore</a:t>
            </a:r>
          </a:p>
        </p:txBody>
      </p:sp>
      <p:sp>
        <p:nvSpPr>
          <p:cNvPr id="26" name="TextBox 25"/>
          <p:cNvSpPr txBox="1"/>
          <p:nvPr/>
        </p:nvSpPr>
        <p:spPr>
          <a:xfrm>
            <a:off x="749808" y="3858768"/>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target:</a:t>
            </a:r>
          </a:p>
        </p:txBody>
      </p:sp>
      <p:sp>
        <p:nvSpPr>
          <p:cNvPr id="27" name="TextBox 26"/>
          <p:cNvSpPr txBox="1"/>
          <p:nvPr/>
        </p:nvSpPr>
        <p:spPr>
          <a:xfrm>
            <a:off x="749808" y="4037990"/>
            <a:ext cx="5989320" cy="215798"/>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name: billing-db</a:t>
            </a:r>
          </a:p>
        </p:txBody>
      </p:sp>
      <p:sp>
        <p:nvSpPr>
          <p:cNvPr id="28" name="TextBox 27"/>
          <p:cNvSpPr txBox="1"/>
          <p:nvPr/>
        </p:nvSpPr>
        <p:spPr>
          <a:xfrm>
            <a:off x="749808" y="4217212"/>
            <a:ext cx="5989320" cy="215798"/>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creationPolicy: Owner</a:t>
            </a:r>
          </a:p>
        </p:txBody>
      </p:sp>
      <p:sp>
        <p:nvSpPr>
          <p:cNvPr id="29" name="TextBox 28"/>
          <p:cNvSpPr txBox="1"/>
          <p:nvPr/>
        </p:nvSpPr>
        <p:spPr>
          <a:xfrm>
            <a:off x="749808" y="4396435"/>
            <a:ext cx="5989320" cy="215798"/>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deletionPolicy: Retain</a:t>
            </a:r>
          </a:p>
        </p:txBody>
      </p:sp>
      <p:sp>
        <p:nvSpPr>
          <p:cNvPr id="30" name="TextBox 29"/>
          <p:cNvSpPr txBox="1"/>
          <p:nvPr/>
        </p:nvSpPr>
        <p:spPr>
          <a:xfrm>
            <a:off x="749808" y="4575657"/>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data:</a:t>
            </a:r>
          </a:p>
        </p:txBody>
      </p:sp>
      <p:sp>
        <p:nvSpPr>
          <p:cNvPr id="31" name="TextBox 30"/>
          <p:cNvSpPr txBox="1"/>
          <p:nvPr/>
        </p:nvSpPr>
        <p:spPr>
          <a:xfrm>
            <a:off x="749808" y="4754879"/>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secretKey: DB_PASSWORD</a:t>
            </a:r>
          </a:p>
        </p:txBody>
      </p:sp>
      <p:sp>
        <p:nvSpPr>
          <p:cNvPr id="32" name="TextBox 31"/>
          <p:cNvSpPr txBox="1"/>
          <p:nvPr/>
        </p:nvSpPr>
        <p:spPr>
          <a:xfrm>
            <a:off x="749808" y="4934102"/>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remoteRef:</a:t>
            </a:r>
          </a:p>
        </p:txBody>
      </p:sp>
      <p:sp>
        <p:nvSpPr>
          <p:cNvPr id="33" name="TextBox 32"/>
          <p:cNvSpPr txBox="1"/>
          <p:nvPr/>
        </p:nvSpPr>
        <p:spPr>
          <a:xfrm>
            <a:off x="749808" y="5113324"/>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key: prod/billing/postgres</a:t>
            </a:r>
          </a:p>
        </p:txBody>
      </p:sp>
      <p:sp>
        <p:nvSpPr>
          <p:cNvPr id="34" name="TextBox 33"/>
          <p:cNvSpPr txBox="1"/>
          <p:nvPr/>
        </p:nvSpPr>
        <p:spPr>
          <a:xfrm>
            <a:off x="749808" y="5292547"/>
            <a:ext cx="5989320" cy="215798"/>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property: password</a:t>
            </a:r>
          </a:p>
        </p:txBody>
      </p:sp>
      <p:sp>
        <p:nvSpPr>
          <p:cNvPr id="35" name="TextBox 34"/>
          <p:cNvSpPr txBox="1"/>
          <p:nvPr/>
        </p:nvSpPr>
        <p:spPr>
          <a:xfrm>
            <a:off x="7242048" y="1632204"/>
            <a:ext cx="256032" cy="274320"/>
          </a:xfrm>
          <a:prstGeom prst="rect">
            <a:avLst/>
          </a:prstGeom>
          <a:noFill/>
        </p:spPr>
        <p:txBody>
          <a:bodyPr wrap="square" lIns="18288" rIns="18288" tIns="0" bIns="0" anchor="t">
            <a:noAutofit/>
          </a:bodyPr>
          <a:lstStyle/>
          <a:p>
            <a:pPr algn="l">
              <a:spcAft>
                <a:spcPts val="0"/>
              </a:spcAft>
            </a:pPr>
            <a:r>
              <a:rPr sz="1250" b="1" i="0">
                <a:solidFill>
                  <a:srgbClr val="F26522"/>
                </a:solidFill>
                <a:latin typeface="Calibri"/>
              </a:rPr>
              <a:t>▸</a:t>
            </a:r>
          </a:p>
        </p:txBody>
      </p:sp>
      <p:sp>
        <p:nvSpPr>
          <p:cNvPr id="36" name="TextBox 35"/>
          <p:cNvSpPr txBox="1"/>
          <p:nvPr/>
        </p:nvSpPr>
        <p:spPr>
          <a:xfrm>
            <a:off x="7552944" y="1645920"/>
            <a:ext cx="41635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refreshInterval  </a:t>
            </a:r>
            <a:r>
              <a:rPr sz="1050" b="0" i="0">
                <a:solidFill>
                  <a:srgbClr val="363F4D"/>
                </a:solidFill>
                <a:latin typeface="Calibri"/>
              </a:rPr>
              <a:t>how often ESO re-reads the backend. 1h is a sane default; 0 means fetch once and never again.</a:t>
            </a:r>
          </a:p>
        </p:txBody>
      </p:sp>
      <p:sp>
        <p:nvSpPr>
          <p:cNvPr id="37" name="TextBox 36"/>
          <p:cNvSpPr txBox="1"/>
          <p:nvPr/>
        </p:nvSpPr>
        <p:spPr>
          <a:xfrm>
            <a:off x="7242048" y="2361818"/>
            <a:ext cx="256032" cy="274320"/>
          </a:xfrm>
          <a:prstGeom prst="rect">
            <a:avLst/>
          </a:prstGeom>
          <a:noFill/>
        </p:spPr>
        <p:txBody>
          <a:bodyPr wrap="square" lIns="18288" rIns="18288" tIns="0" bIns="0" anchor="t">
            <a:noAutofit/>
          </a:bodyPr>
          <a:lstStyle/>
          <a:p>
            <a:pPr algn="l">
              <a:spcAft>
                <a:spcPts val="0"/>
              </a:spcAft>
            </a:pPr>
            <a:r>
              <a:rPr sz="1250" b="1" i="0">
                <a:solidFill>
                  <a:srgbClr val="F26522"/>
                </a:solidFill>
                <a:latin typeface="Calibri"/>
              </a:rPr>
              <a:t>▸</a:t>
            </a:r>
          </a:p>
        </p:txBody>
      </p:sp>
      <p:sp>
        <p:nvSpPr>
          <p:cNvPr id="38" name="TextBox 37"/>
          <p:cNvSpPr txBox="1"/>
          <p:nvPr/>
        </p:nvSpPr>
        <p:spPr>
          <a:xfrm>
            <a:off x="7552944" y="2375535"/>
            <a:ext cx="41635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secretStoreRef  </a:t>
            </a:r>
            <a:r>
              <a:rPr sz="1050" b="0" i="0">
                <a:solidFill>
                  <a:srgbClr val="363F4D"/>
                </a:solidFill>
                <a:latin typeface="Calibri"/>
              </a:rPr>
              <a:t>which store, and whether it is namespaced or cluster-wide.</a:t>
            </a:r>
          </a:p>
        </p:txBody>
      </p:sp>
      <p:sp>
        <p:nvSpPr>
          <p:cNvPr id="39" name="TextBox 38"/>
          <p:cNvSpPr txBox="1"/>
          <p:nvPr/>
        </p:nvSpPr>
        <p:spPr>
          <a:xfrm>
            <a:off x="7242048" y="3091433"/>
            <a:ext cx="256032" cy="274320"/>
          </a:xfrm>
          <a:prstGeom prst="rect">
            <a:avLst/>
          </a:prstGeom>
          <a:noFill/>
        </p:spPr>
        <p:txBody>
          <a:bodyPr wrap="square" lIns="18288" rIns="18288" tIns="0" bIns="0" anchor="t">
            <a:noAutofit/>
          </a:bodyPr>
          <a:lstStyle/>
          <a:p>
            <a:pPr algn="l">
              <a:spcAft>
                <a:spcPts val="0"/>
              </a:spcAft>
            </a:pPr>
            <a:r>
              <a:rPr sz="1250" b="1" i="0">
                <a:solidFill>
                  <a:srgbClr val="F26522"/>
                </a:solidFill>
                <a:latin typeface="Calibri"/>
              </a:rPr>
              <a:t>▸</a:t>
            </a:r>
          </a:p>
        </p:txBody>
      </p:sp>
      <p:sp>
        <p:nvSpPr>
          <p:cNvPr id="40" name="TextBox 39"/>
          <p:cNvSpPr txBox="1"/>
          <p:nvPr/>
        </p:nvSpPr>
        <p:spPr>
          <a:xfrm>
            <a:off x="7552944" y="3105149"/>
            <a:ext cx="41635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target.name  </a:t>
            </a:r>
            <a:r>
              <a:rPr sz="1050" b="0" i="0">
                <a:solidFill>
                  <a:srgbClr val="363F4D"/>
                </a:solidFill>
                <a:latin typeface="Calibri"/>
              </a:rPr>
              <a:t>the Kubernetes Secret to create. Defaults to the ExternalSecret's own name.</a:t>
            </a:r>
          </a:p>
        </p:txBody>
      </p:sp>
      <p:sp>
        <p:nvSpPr>
          <p:cNvPr id="41" name="TextBox 40"/>
          <p:cNvSpPr txBox="1"/>
          <p:nvPr/>
        </p:nvSpPr>
        <p:spPr>
          <a:xfrm>
            <a:off x="7242048" y="3821049"/>
            <a:ext cx="256032" cy="274320"/>
          </a:xfrm>
          <a:prstGeom prst="rect">
            <a:avLst/>
          </a:prstGeom>
          <a:noFill/>
        </p:spPr>
        <p:txBody>
          <a:bodyPr wrap="square" lIns="18288" rIns="18288" tIns="0" bIns="0" anchor="t">
            <a:noAutofit/>
          </a:bodyPr>
          <a:lstStyle/>
          <a:p>
            <a:pPr algn="l">
              <a:spcAft>
                <a:spcPts val="0"/>
              </a:spcAft>
            </a:pPr>
            <a:r>
              <a:rPr sz="1250" b="1" i="0">
                <a:solidFill>
                  <a:srgbClr val="F26522"/>
                </a:solidFill>
                <a:latin typeface="Calibri"/>
              </a:rPr>
              <a:t>▸</a:t>
            </a:r>
          </a:p>
        </p:txBody>
      </p:sp>
      <p:sp>
        <p:nvSpPr>
          <p:cNvPr id="42" name="TextBox 41"/>
          <p:cNvSpPr txBox="1"/>
          <p:nvPr/>
        </p:nvSpPr>
        <p:spPr>
          <a:xfrm>
            <a:off x="7552944" y="3834764"/>
            <a:ext cx="41635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creationPolicy  </a:t>
            </a:r>
            <a:r>
              <a:rPr sz="1050" b="0" i="0">
                <a:solidFill>
                  <a:srgbClr val="363F4D"/>
                </a:solidFill>
                <a:latin typeface="Calibri"/>
              </a:rPr>
              <a:t>Owner means ESO creates and owns it. Merge writes into an existing Secret.</a:t>
            </a:r>
          </a:p>
        </p:txBody>
      </p:sp>
      <p:sp>
        <p:nvSpPr>
          <p:cNvPr id="43" name="TextBox 42"/>
          <p:cNvSpPr txBox="1"/>
          <p:nvPr/>
        </p:nvSpPr>
        <p:spPr>
          <a:xfrm>
            <a:off x="7242048" y="4550664"/>
            <a:ext cx="256032" cy="274320"/>
          </a:xfrm>
          <a:prstGeom prst="rect">
            <a:avLst/>
          </a:prstGeom>
          <a:noFill/>
        </p:spPr>
        <p:txBody>
          <a:bodyPr wrap="square" lIns="18288" rIns="18288" tIns="0" bIns="0" anchor="t">
            <a:noAutofit/>
          </a:bodyPr>
          <a:lstStyle/>
          <a:p>
            <a:pPr algn="l">
              <a:spcAft>
                <a:spcPts val="0"/>
              </a:spcAft>
            </a:pPr>
            <a:r>
              <a:rPr sz="1250" b="1" i="0">
                <a:solidFill>
                  <a:srgbClr val="F26522"/>
                </a:solidFill>
                <a:latin typeface="Calibri"/>
              </a:rPr>
              <a:t>▸</a:t>
            </a:r>
          </a:p>
        </p:txBody>
      </p:sp>
      <p:sp>
        <p:nvSpPr>
          <p:cNvPr id="44" name="TextBox 43"/>
          <p:cNvSpPr txBox="1"/>
          <p:nvPr/>
        </p:nvSpPr>
        <p:spPr>
          <a:xfrm>
            <a:off x="7552944" y="4564380"/>
            <a:ext cx="4163537" cy="333375"/>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deletionPolicy  </a:t>
            </a:r>
            <a:r>
              <a:rPr sz="1050" b="0" i="0">
                <a:solidFill>
                  <a:srgbClr val="363F4D"/>
                </a:solidFill>
                <a:latin typeface="Calibri"/>
              </a:rPr>
              <a:t>Retain keeps the Secret if the remote key disappears. Delete removes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Policy Fields Nobody Reads Until Something Breaks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Three settings that decide what happens on a bad day.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deletionPolicy: Delete plus a mistyped key in the vault will take your application down.</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ectangle 12"/>
          <p:cNvSpPr/>
          <p:nvPr/>
        </p:nvSpPr>
        <p:spPr>
          <a:xfrm>
            <a:off x="475488" y="1645920"/>
            <a:ext cx="214884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Field</a:t>
            </a:r>
          </a:p>
        </p:txBody>
      </p:sp>
      <p:sp>
        <p:nvSpPr>
          <p:cNvPr id="14" name="Rectangle 13"/>
          <p:cNvSpPr/>
          <p:nvPr/>
        </p:nvSpPr>
        <p:spPr>
          <a:xfrm>
            <a:off x="2624328" y="1645920"/>
            <a:ext cx="14173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Value</a:t>
            </a:r>
          </a:p>
        </p:txBody>
      </p:sp>
      <p:sp>
        <p:nvSpPr>
          <p:cNvPr id="15" name="Rectangle 14"/>
          <p:cNvSpPr/>
          <p:nvPr/>
        </p:nvSpPr>
        <p:spPr>
          <a:xfrm>
            <a:off x="4041648" y="1645920"/>
            <a:ext cx="493776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happens</a:t>
            </a:r>
          </a:p>
        </p:txBody>
      </p:sp>
      <p:sp>
        <p:nvSpPr>
          <p:cNvPr id="16" name="Rectangle 15"/>
          <p:cNvSpPr/>
          <p:nvPr/>
        </p:nvSpPr>
        <p:spPr>
          <a:xfrm>
            <a:off x="8979408" y="1645920"/>
            <a:ext cx="2724912"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Use when</a:t>
            </a:r>
          </a:p>
        </p:txBody>
      </p:sp>
      <p:sp>
        <p:nvSpPr>
          <p:cNvPr id="17" name="Rectangle 16"/>
          <p:cNvSpPr/>
          <p:nvPr/>
        </p:nvSpPr>
        <p:spPr>
          <a:xfrm>
            <a:off x="475488" y="2066544"/>
            <a:ext cx="214884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creationPolicy</a:t>
            </a:r>
          </a:p>
        </p:txBody>
      </p:sp>
      <p:sp>
        <p:nvSpPr>
          <p:cNvPr id="18" name="Rectangle 17"/>
          <p:cNvSpPr/>
          <p:nvPr/>
        </p:nvSpPr>
        <p:spPr>
          <a:xfrm>
            <a:off x="2624328" y="2066544"/>
            <a:ext cx="141732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Owner</a:t>
            </a:r>
          </a:p>
        </p:txBody>
      </p:sp>
      <p:sp>
        <p:nvSpPr>
          <p:cNvPr id="19" name="Rectangle 18"/>
          <p:cNvSpPr/>
          <p:nvPr/>
        </p:nvSpPr>
        <p:spPr>
          <a:xfrm>
            <a:off x="4041648" y="2066544"/>
            <a:ext cx="493776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ESO creates the Secret and deletes it when the ExternalSecret goes</a:t>
            </a:r>
          </a:p>
        </p:txBody>
      </p:sp>
      <p:sp>
        <p:nvSpPr>
          <p:cNvPr id="20" name="Rectangle 19"/>
          <p:cNvSpPr/>
          <p:nvPr/>
        </p:nvSpPr>
        <p:spPr>
          <a:xfrm>
            <a:off x="8979408" y="2066544"/>
            <a:ext cx="2724912"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Almost always</a:t>
            </a:r>
          </a:p>
        </p:txBody>
      </p:sp>
      <p:sp>
        <p:nvSpPr>
          <p:cNvPr id="21" name="Rectangle 20"/>
          <p:cNvSpPr/>
          <p:nvPr/>
        </p:nvSpPr>
        <p:spPr>
          <a:xfrm>
            <a:off x="475488" y="2512771"/>
            <a:ext cx="2148840"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creationPolicy</a:t>
            </a:r>
          </a:p>
        </p:txBody>
      </p:sp>
      <p:sp>
        <p:nvSpPr>
          <p:cNvPr id="22" name="Rectangle 21"/>
          <p:cNvSpPr/>
          <p:nvPr/>
        </p:nvSpPr>
        <p:spPr>
          <a:xfrm>
            <a:off x="2624328" y="2512771"/>
            <a:ext cx="1417320"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Merge</a:t>
            </a:r>
          </a:p>
        </p:txBody>
      </p:sp>
      <p:sp>
        <p:nvSpPr>
          <p:cNvPr id="23" name="Rectangle 22"/>
          <p:cNvSpPr/>
          <p:nvPr/>
        </p:nvSpPr>
        <p:spPr>
          <a:xfrm>
            <a:off x="4041648" y="2512771"/>
            <a:ext cx="4937760"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Writes keys into a Secret something else already owns</a:t>
            </a:r>
          </a:p>
        </p:txBody>
      </p:sp>
      <p:sp>
        <p:nvSpPr>
          <p:cNvPr id="24" name="Rectangle 23"/>
          <p:cNvSpPr/>
          <p:nvPr/>
        </p:nvSpPr>
        <p:spPr>
          <a:xfrm>
            <a:off x="8979408" y="2512771"/>
            <a:ext cx="2724912"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Adding one key to an existing Secret</a:t>
            </a:r>
          </a:p>
        </p:txBody>
      </p:sp>
      <p:sp>
        <p:nvSpPr>
          <p:cNvPr id="25" name="Rectangle 24"/>
          <p:cNvSpPr/>
          <p:nvPr/>
        </p:nvSpPr>
        <p:spPr>
          <a:xfrm>
            <a:off x="475488" y="2958998"/>
            <a:ext cx="214884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creationPolicy</a:t>
            </a:r>
          </a:p>
        </p:txBody>
      </p:sp>
      <p:sp>
        <p:nvSpPr>
          <p:cNvPr id="26" name="Rectangle 25"/>
          <p:cNvSpPr/>
          <p:nvPr/>
        </p:nvSpPr>
        <p:spPr>
          <a:xfrm>
            <a:off x="2624328" y="2958998"/>
            <a:ext cx="141732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None</a:t>
            </a:r>
          </a:p>
        </p:txBody>
      </p:sp>
      <p:sp>
        <p:nvSpPr>
          <p:cNvPr id="27" name="Rectangle 26"/>
          <p:cNvSpPr/>
          <p:nvPr/>
        </p:nvSpPr>
        <p:spPr>
          <a:xfrm>
            <a:off x="4041648" y="2958998"/>
            <a:ext cx="493776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Nothing is created — used with templating into other resources</a:t>
            </a:r>
          </a:p>
        </p:txBody>
      </p:sp>
      <p:sp>
        <p:nvSpPr>
          <p:cNvPr id="28" name="Rectangle 27"/>
          <p:cNvSpPr/>
          <p:nvPr/>
        </p:nvSpPr>
        <p:spPr>
          <a:xfrm>
            <a:off x="8979408" y="2958998"/>
            <a:ext cx="2724912"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Rare</a:t>
            </a:r>
          </a:p>
        </p:txBody>
      </p:sp>
      <p:sp>
        <p:nvSpPr>
          <p:cNvPr id="29" name="Rectangle 28"/>
          <p:cNvSpPr/>
          <p:nvPr/>
        </p:nvSpPr>
        <p:spPr>
          <a:xfrm>
            <a:off x="475488" y="3405225"/>
            <a:ext cx="2148840"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deletionPolicy</a:t>
            </a:r>
          </a:p>
        </p:txBody>
      </p:sp>
      <p:sp>
        <p:nvSpPr>
          <p:cNvPr id="30" name="Rectangle 29"/>
          <p:cNvSpPr/>
          <p:nvPr/>
        </p:nvSpPr>
        <p:spPr>
          <a:xfrm>
            <a:off x="2624328" y="3405225"/>
            <a:ext cx="1417320"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Retain</a:t>
            </a:r>
          </a:p>
        </p:txBody>
      </p:sp>
      <p:sp>
        <p:nvSpPr>
          <p:cNvPr id="31" name="Rectangle 30"/>
          <p:cNvSpPr/>
          <p:nvPr/>
        </p:nvSpPr>
        <p:spPr>
          <a:xfrm>
            <a:off x="4041648" y="3405225"/>
            <a:ext cx="4937760"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If the remote key vanishes, the existing Secret stays as it was</a:t>
            </a:r>
          </a:p>
        </p:txBody>
      </p:sp>
      <p:sp>
        <p:nvSpPr>
          <p:cNvPr id="32" name="Rectangle 31"/>
          <p:cNvSpPr/>
          <p:nvPr/>
        </p:nvSpPr>
        <p:spPr>
          <a:xfrm>
            <a:off x="8979408" y="3405225"/>
            <a:ext cx="2724912" cy="446227"/>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Production. Fail safe</a:t>
            </a:r>
          </a:p>
        </p:txBody>
      </p:sp>
      <p:sp>
        <p:nvSpPr>
          <p:cNvPr id="33" name="Rectangle 32"/>
          <p:cNvSpPr/>
          <p:nvPr/>
        </p:nvSpPr>
        <p:spPr>
          <a:xfrm>
            <a:off x="475488" y="3851452"/>
            <a:ext cx="214884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deletionPolicy</a:t>
            </a:r>
          </a:p>
        </p:txBody>
      </p:sp>
      <p:sp>
        <p:nvSpPr>
          <p:cNvPr id="34" name="Rectangle 33"/>
          <p:cNvSpPr/>
          <p:nvPr/>
        </p:nvSpPr>
        <p:spPr>
          <a:xfrm>
            <a:off x="2624328" y="3851452"/>
            <a:ext cx="141732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Delete</a:t>
            </a:r>
          </a:p>
        </p:txBody>
      </p:sp>
      <p:sp>
        <p:nvSpPr>
          <p:cNvPr id="35" name="Rectangle 34"/>
          <p:cNvSpPr/>
          <p:nvPr/>
        </p:nvSpPr>
        <p:spPr>
          <a:xfrm>
            <a:off x="4041648" y="3851452"/>
            <a:ext cx="4937760"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If the remote key vanishes, the Secret is deleted immediately</a:t>
            </a:r>
          </a:p>
        </p:txBody>
      </p:sp>
      <p:sp>
        <p:nvSpPr>
          <p:cNvPr id="36" name="Rectangle 35"/>
          <p:cNvSpPr/>
          <p:nvPr/>
        </p:nvSpPr>
        <p:spPr>
          <a:xfrm>
            <a:off x="8979408" y="3851452"/>
            <a:ext cx="2724912" cy="446227"/>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Only when you want strict mirroring</a:t>
            </a:r>
          </a:p>
        </p:txBody>
      </p:sp>
      <p:sp>
        <p:nvSpPr>
          <p:cNvPr id="37" name="Rounded Rectangle 36"/>
          <p:cNvSpPr/>
          <p:nvPr/>
        </p:nvSpPr>
        <p:spPr>
          <a:xfrm>
            <a:off x="475488" y="4517136"/>
            <a:ext cx="5428472" cy="106070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475488" y="4517136"/>
            <a:ext cx="77724"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31520" y="4663440"/>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refreshInterval is a cost decision too</a:t>
            </a:r>
          </a:p>
        </p:txBody>
      </p:sp>
      <p:sp>
        <p:nvSpPr>
          <p:cNvPr id="40" name="TextBox 39"/>
          <p:cNvSpPr txBox="1"/>
          <p:nvPr/>
        </p:nvSpPr>
        <p:spPr>
          <a:xfrm>
            <a:off x="731520" y="5065776"/>
            <a:ext cx="4971272" cy="384048"/>
          </a:xfrm>
          <a:prstGeom prst="rect">
            <a:avLst/>
          </a:prstGeom>
          <a:noFill/>
        </p:spPr>
        <p:txBody>
          <a:bodyPr wrap="square" lIns="18288" rIns="18288" tIns="0" bIns="0" anchor="t">
            <a:noAutofit/>
          </a:bodyPr>
          <a:lstStyle/>
          <a:p>
            <a:pPr algn="l">
              <a:lnSpc>
                <a:spcPct val="124000"/>
              </a:lnSpc>
              <a:spcAft>
                <a:spcPts val="0"/>
              </a:spcAft>
            </a:pPr>
            <a:r>
              <a:rPr sz="1000" b="0" i="0">
                <a:solidFill>
                  <a:srgbClr val="363F4D"/>
                </a:solidFill>
                <a:latin typeface="Calibri"/>
              </a:rPr>
              <a:t>Every refresh is an API call to your secret manager, per ExternalSecret. A thousand workloads at one minute each is a bill and a rate limit.</a:t>
            </a:r>
          </a:p>
        </p:txBody>
      </p:sp>
      <p:sp>
        <p:nvSpPr>
          <p:cNvPr id="41" name="Rounded Rectangle 40"/>
          <p:cNvSpPr/>
          <p:nvPr/>
        </p:nvSpPr>
        <p:spPr>
          <a:xfrm>
            <a:off x="6288008" y="4517136"/>
            <a:ext cx="5428472" cy="106070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288008" y="4517136"/>
            <a:ext cx="77724" cy="106070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44040" y="4663440"/>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It is also a blast-radius decision</a:t>
            </a:r>
          </a:p>
        </p:txBody>
      </p:sp>
      <p:sp>
        <p:nvSpPr>
          <p:cNvPr id="44" name="TextBox 43"/>
          <p:cNvSpPr txBox="1"/>
          <p:nvPr/>
        </p:nvSpPr>
        <p:spPr>
          <a:xfrm>
            <a:off x="6544040" y="5065776"/>
            <a:ext cx="4971272" cy="384048"/>
          </a:xfrm>
          <a:prstGeom prst="rect">
            <a:avLst/>
          </a:prstGeom>
          <a:noFill/>
        </p:spPr>
        <p:txBody>
          <a:bodyPr wrap="square" lIns="18288" rIns="18288" tIns="0" bIns="0" anchor="t">
            <a:noAutofit/>
          </a:bodyPr>
          <a:lstStyle/>
          <a:p>
            <a:pPr algn="l">
              <a:lnSpc>
                <a:spcPct val="124000"/>
              </a:lnSpc>
              <a:spcAft>
                <a:spcPts val="0"/>
              </a:spcAft>
            </a:pPr>
            <a:r>
              <a:rPr sz="1000" b="0" i="0">
                <a:solidFill>
                  <a:srgbClr val="363F4D"/>
                </a:solidFill>
                <a:latin typeface="Calibri"/>
              </a:rPr>
              <a:t>A short interval propagates a bad value everywhere fast. A long one delays a genuine rotation. One hour is a defensible middle.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500" b="1" i="0">
                <a:solidFill>
                  <a:srgbClr val="FFFFFF"/>
                </a:solidFill>
                <a:latin typeface="Calibri"/>
              </a:rPr>
              <a:t>Templating — When the Application Wants a File, Not a Key</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Most real applications do not want a flat key-value pair. ESO can shape the output.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Template the Secret into the shape the app already expects, rather than changing the app.</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6537960" cy="391363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1363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989320" cy="237744"/>
          </a:xfrm>
          <a:prstGeom prst="rect">
            <a:avLst/>
          </a:prstGeom>
          <a:noFill/>
        </p:spPr>
        <p:txBody>
          <a:bodyPr wrap="square" lIns="18288" rIns="18288" tIns="0" bIns="0" anchor="t">
            <a:noAutofit/>
          </a:bodyPr>
          <a:lstStyle/>
          <a:p>
            <a:pPr algn="l">
              <a:spcAft>
                <a:spcPts val="0"/>
              </a:spcAft>
            </a:pPr>
            <a:r>
              <a:rPr sz="1000" b="1" i="0">
                <a:solidFill>
                  <a:srgbClr val="14B8A6"/>
                </a:solidFill>
                <a:latin typeface="Consolas"/>
              </a:rPr>
              <a:t>three remote keys, one rendered properties file</a:t>
            </a:r>
          </a:p>
        </p:txBody>
      </p:sp>
      <p:sp>
        <p:nvSpPr>
          <p:cNvPr id="16" name="TextBox 15"/>
          <p:cNvSpPr txBox="1"/>
          <p:nvPr/>
        </p:nvSpPr>
        <p:spPr>
          <a:xfrm>
            <a:off x="749808" y="2066543"/>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spec:</a:t>
            </a:r>
          </a:p>
        </p:txBody>
      </p:sp>
      <p:sp>
        <p:nvSpPr>
          <p:cNvPr id="17" name="TextBox 16"/>
          <p:cNvSpPr txBox="1"/>
          <p:nvPr/>
        </p:nvSpPr>
        <p:spPr>
          <a:xfrm>
            <a:off x="749808" y="2245766"/>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target:</a:t>
            </a:r>
          </a:p>
        </p:txBody>
      </p:sp>
      <p:sp>
        <p:nvSpPr>
          <p:cNvPr id="18" name="TextBox 17"/>
          <p:cNvSpPr txBox="1"/>
          <p:nvPr/>
        </p:nvSpPr>
        <p:spPr>
          <a:xfrm>
            <a:off x="749808" y="2424988"/>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name: billing-db</a:t>
            </a:r>
          </a:p>
        </p:txBody>
      </p:sp>
      <p:sp>
        <p:nvSpPr>
          <p:cNvPr id="19" name="TextBox 18"/>
          <p:cNvSpPr txBox="1"/>
          <p:nvPr/>
        </p:nvSpPr>
        <p:spPr>
          <a:xfrm>
            <a:off x="749808" y="2604211"/>
            <a:ext cx="5989320" cy="215798"/>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template:</a:t>
            </a:r>
          </a:p>
        </p:txBody>
      </p:sp>
      <p:sp>
        <p:nvSpPr>
          <p:cNvPr id="20" name="TextBox 19"/>
          <p:cNvSpPr txBox="1"/>
          <p:nvPr/>
        </p:nvSpPr>
        <p:spPr>
          <a:xfrm>
            <a:off x="749808" y="2783433"/>
            <a:ext cx="5989320" cy="215798"/>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engineVersion: v2</a:t>
            </a:r>
          </a:p>
        </p:txBody>
      </p:sp>
      <p:sp>
        <p:nvSpPr>
          <p:cNvPr id="21" name="TextBox 20"/>
          <p:cNvSpPr txBox="1"/>
          <p:nvPr/>
        </p:nvSpPr>
        <p:spPr>
          <a:xfrm>
            <a:off x="749808" y="2962656"/>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type: Opaque</a:t>
            </a:r>
          </a:p>
        </p:txBody>
      </p:sp>
      <p:sp>
        <p:nvSpPr>
          <p:cNvPr id="22" name="TextBox 21"/>
          <p:cNvSpPr txBox="1"/>
          <p:nvPr/>
        </p:nvSpPr>
        <p:spPr>
          <a:xfrm>
            <a:off x="749808" y="3141878"/>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data:</a:t>
            </a:r>
          </a:p>
        </p:txBody>
      </p:sp>
      <p:sp>
        <p:nvSpPr>
          <p:cNvPr id="23" name="TextBox 22"/>
          <p:cNvSpPr txBox="1"/>
          <p:nvPr/>
        </p:nvSpPr>
        <p:spPr>
          <a:xfrm>
            <a:off x="749808" y="3321100"/>
            <a:ext cx="5989320" cy="21579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application.properties: |</a:t>
            </a:r>
          </a:p>
        </p:txBody>
      </p:sp>
      <p:sp>
        <p:nvSpPr>
          <p:cNvPr id="24" name="TextBox 23"/>
          <p:cNvSpPr txBox="1"/>
          <p:nvPr/>
        </p:nvSpPr>
        <p:spPr>
          <a:xfrm>
            <a:off x="749808" y="3500323"/>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db.url=jdbc:postgresql://{{ .host }}:5432/billing</a:t>
            </a:r>
          </a:p>
        </p:txBody>
      </p:sp>
      <p:sp>
        <p:nvSpPr>
          <p:cNvPr id="25" name="TextBox 24"/>
          <p:cNvSpPr txBox="1"/>
          <p:nvPr/>
        </p:nvSpPr>
        <p:spPr>
          <a:xfrm>
            <a:off x="749808" y="3679545"/>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db.user={{ .user }}</a:t>
            </a:r>
          </a:p>
        </p:txBody>
      </p:sp>
      <p:sp>
        <p:nvSpPr>
          <p:cNvPr id="26" name="TextBox 25"/>
          <p:cNvSpPr txBox="1"/>
          <p:nvPr/>
        </p:nvSpPr>
        <p:spPr>
          <a:xfrm>
            <a:off x="749808" y="3858768"/>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db.password={{ .password }}</a:t>
            </a:r>
          </a:p>
        </p:txBody>
      </p:sp>
      <p:sp>
        <p:nvSpPr>
          <p:cNvPr id="27" name="TextBox 26"/>
          <p:cNvSpPr txBox="1"/>
          <p:nvPr/>
        </p:nvSpPr>
        <p:spPr>
          <a:xfrm>
            <a:off x="749808" y="4037990"/>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data:</a:t>
            </a:r>
          </a:p>
        </p:txBody>
      </p:sp>
      <p:sp>
        <p:nvSpPr>
          <p:cNvPr id="28" name="TextBox 27"/>
          <p:cNvSpPr txBox="1"/>
          <p:nvPr/>
        </p:nvSpPr>
        <p:spPr>
          <a:xfrm>
            <a:off x="749808" y="4217212"/>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secretKey: host</a:t>
            </a:r>
          </a:p>
        </p:txBody>
      </p:sp>
      <p:sp>
        <p:nvSpPr>
          <p:cNvPr id="29" name="TextBox 28"/>
          <p:cNvSpPr txBox="1"/>
          <p:nvPr/>
        </p:nvSpPr>
        <p:spPr>
          <a:xfrm>
            <a:off x="749808" y="4396435"/>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remoteRef: { key: prod/billing/postgres, property: host }</a:t>
            </a:r>
          </a:p>
        </p:txBody>
      </p:sp>
      <p:sp>
        <p:nvSpPr>
          <p:cNvPr id="30" name="TextBox 29"/>
          <p:cNvSpPr txBox="1"/>
          <p:nvPr/>
        </p:nvSpPr>
        <p:spPr>
          <a:xfrm>
            <a:off x="749808" y="4575657"/>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secretKey: user</a:t>
            </a:r>
          </a:p>
        </p:txBody>
      </p:sp>
      <p:sp>
        <p:nvSpPr>
          <p:cNvPr id="31" name="TextBox 30"/>
          <p:cNvSpPr txBox="1"/>
          <p:nvPr/>
        </p:nvSpPr>
        <p:spPr>
          <a:xfrm>
            <a:off x="749808" y="4754879"/>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remoteRef: { key: prod/billing/postgres, property: username }</a:t>
            </a:r>
          </a:p>
        </p:txBody>
      </p:sp>
      <p:sp>
        <p:nvSpPr>
          <p:cNvPr id="32" name="TextBox 31"/>
          <p:cNvSpPr txBox="1"/>
          <p:nvPr/>
        </p:nvSpPr>
        <p:spPr>
          <a:xfrm>
            <a:off x="749808" y="4934102"/>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secretKey: password</a:t>
            </a:r>
          </a:p>
        </p:txBody>
      </p:sp>
      <p:sp>
        <p:nvSpPr>
          <p:cNvPr id="33" name="TextBox 32"/>
          <p:cNvSpPr txBox="1"/>
          <p:nvPr/>
        </p:nvSpPr>
        <p:spPr>
          <a:xfrm>
            <a:off x="749808" y="5113324"/>
            <a:ext cx="5989320" cy="21579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remoteRef: { key: prod/billing/postgres, property: password }</a:t>
            </a:r>
          </a:p>
        </p:txBody>
      </p:sp>
      <p:sp>
        <p:nvSpPr>
          <p:cNvPr id="34" name="Rounded Rectangle 33"/>
          <p:cNvSpPr/>
          <p:nvPr/>
        </p:nvSpPr>
        <p:spPr>
          <a:xfrm>
            <a:off x="7242048" y="1645920"/>
            <a:ext cx="4474433" cy="1874519"/>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242048" y="1645920"/>
            <a:ext cx="77724" cy="1874519"/>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498079" y="1792224"/>
            <a:ext cx="401723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this earns its place</a:t>
            </a:r>
          </a:p>
        </p:txBody>
      </p:sp>
      <p:sp>
        <p:nvSpPr>
          <p:cNvPr id="37" name="TextBox 36"/>
          <p:cNvSpPr txBox="1"/>
          <p:nvPr/>
        </p:nvSpPr>
        <p:spPr>
          <a:xfrm>
            <a:off x="7498079" y="2194560"/>
            <a:ext cx="4017233" cy="119786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A legacy application that reads application.properties needs no code change to move onto a vault. You meet it where it is.</a:t>
            </a:r>
          </a:p>
        </p:txBody>
      </p:sp>
      <p:sp>
        <p:nvSpPr>
          <p:cNvPr id="38" name="Rounded Rectangle 37"/>
          <p:cNvSpPr/>
          <p:nvPr/>
        </p:nvSpPr>
        <p:spPr>
          <a:xfrm>
            <a:off x="7242048" y="3730752"/>
            <a:ext cx="4474433" cy="182880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7242048" y="3730752"/>
            <a:ext cx="77724" cy="182880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498079" y="3877056"/>
            <a:ext cx="401723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Common uses</a:t>
            </a:r>
          </a:p>
        </p:txBody>
      </p:sp>
      <p:sp>
        <p:nvSpPr>
          <p:cNvPr id="41" name="TextBox 40"/>
          <p:cNvSpPr txBox="1"/>
          <p:nvPr/>
        </p:nvSpPr>
        <p:spPr>
          <a:xfrm>
            <a:off x="7498079" y="4279392"/>
            <a:ext cx="4017233" cy="1152144"/>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 render a full connection string</a:t>
            </a:r>
          </a:p>
          <a:p>
            <a:pPr algn="l">
              <a:lnSpc>
                <a:spcPct val="124000"/>
              </a:lnSpc>
              <a:spcAft>
                <a:spcPts val="0"/>
              </a:spcAft>
            </a:pPr>
            <a:r>
              <a:rPr sz="1200" b="0" i="0">
                <a:solidFill>
                  <a:srgbClr val="363F4D"/>
                </a:solidFill>
                <a:latin typeface="Calibri"/>
              </a:rPr>
              <a:t>· build a .dockerconfigjson for a registry pull secret</a:t>
            </a:r>
          </a:p>
          <a:p>
            <a:pPr algn="l">
              <a:lnSpc>
                <a:spcPct val="124000"/>
              </a:lnSpc>
              <a:spcAft>
                <a:spcPts val="0"/>
              </a:spcAft>
            </a:pPr>
            <a:r>
              <a:rPr sz="1200" b="0" i="0">
                <a:solidFill>
                  <a:srgbClr val="363F4D"/>
                </a:solidFill>
                <a:latin typeface="Calibri"/>
              </a:rPr>
              <a:t>· assemble a TLS Secret from a cert and key</a:t>
            </a:r>
          </a:p>
          <a:p>
            <a:pPr algn="l">
              <a:lnSpc>
                <a:spcPct val="124000"/>
              </a:lnSpc>
              <a:spcAft>
                <a:spcPts val="0"/>
              </a:spcAft>
            </a:pPr>
            <a:r>
              <a:rPr sz="1200" b="0" i="0">
                <a:solidFill>
                  <a:srgbClr val="363F4D"/>
                </a:solidFill>
                <a:latin typeface="Calibri"/>
              </a:rPr>
              <a:t>· base64 or quote a value the app is fussy about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One Secret, Every Namespace</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ClusterExternalSecret writes the same ExternalSecret into every namespace that matches a label.</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Use it for platform-wide credentials. Never for an application's own database password.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6446520" cy="3246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246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897880" cy="237744"/>
          </a:xfrm>
          <a:prstGeom prst="rect">
            <a:avLst/>
          </a:prstGeom>
          <a:noFill/>
        </p:spPr>
        <p:txBody>
          <a:bodyPr wrap="square" lIns="18288" rIns="18288" tIns="0" bIns="0" anchor="t">
            <a:noAutofit/>
          </a:bodyPr>
          <a:lstStyle/>
          <a:p>
            <a:pPr algn="l">
              <a:spcAft>
                <a:spcPts val="0"/>
              </a:spcAft>
            </a:pPr>
            <a:r>
              <a:rPr sz="1000" b="1" i="0">
                <a:solidFill>
                  <a:srgbClr val="4F46E5"/>
                </a:solidFill>
                <a:latin typeface="Consolas"/>
              </a:rPr>
              <a:t>a registry pull secret, everywhere it is needed</a:t>
            </a:r>
          </a:p>
        </p:txBody>
      </p:sp>
      <p:sp>
        <p:nvSpPr>
          <p:cNvPr id="16" name="TextBox 15"/>
          <p:cNvSpPr txBox="1"/>
          <p:nvPr/>
        </p:nvSpPr>
        <p:spPr>
          <a:xfrm>
            <a:off x="749808" y="2066543"/>
            <a:ext cx="5897880" cy="180473"/>
          </a:xfrm>
          <a:prstGeom prst="rect">
            <a:avLst/>
          </a:prstGeom>
          <a:noFill/>
        </p:spPr>
        <p:txBody>
          <a:bodyPr wrap="square" lIns="18288" rIns="18288" tIns="0" bIns="0" anchor="t">
            <a:noAutofit/>
          </a:bodyPr>
          <a:lstStyle/>
          <a:p>
            <a:pPr algn="l">
              <a:spcAft>
                <a:spcPts val="0"/>
              </a:spcAft>
            </a:pPr>
            <a:r>
              <a:rPr sz="871" b="0" i="0">
                <a:solidFill>
                  <a:srgbClr val="2BA8D8"/>
                </a:solidFill>
                <a:latin typeface="Consolas"/>
              </a:rPr>
              <a:t>apiVersion: external-secrets.io/v1</a:t>
            </a:r>
          </a:p>
        </p:txBody>
      </p:sp>
      <p:sp>
        <p:nvSpPr>
          <p:cNvPr id="17" name="TextBox 16"/>
          <p:cNvSpPr txBox="1"/>
          <p:nvPr/>
        </p:nvSpPr>
        <p:spPr>
          <a:xfrm>
            <a:off x="749808" y="2210441"/>
            <a:ext cx="5897880" cy="180473"/>
          </a:xfrm>
          <a:prstGeom prst="rect">
            <a:avLst/>
          </a:prstGeom>
          <a:noFill/>
        </p:spPr>
        <p:txBody>
          <a:bodyPr wrap="square" lIns="18288" rIns="18288" tIns="0" bIns="0" anchor="t">
            <a:noAutofit/>
          </a:bodyPr>
          <a:lstStyle/>
          <a:p>
            <a:pPr algn="l">
              <a:spcAft>
                <a:spcPts val="0"/>
              </a:spcAft>
            </a:pPr>
            <a:r>
              <a:rPr sz="871" b="0" i="0">
                <a:solidFill>
                  <a:srgbClr val="2BA8D8"/>
                </a:solidFill>
                <a:latin typeface="Consolas"/>
              </a:rPr>
              <a:t>kind: ClusterExternalSecret</a:t>
            </a:r>
          </a:p>
        </p:txBody>
      </p:sp>
      <p:sp>
        <p:nvSpPr>
          <p:cNvPr id="18" name="TextBox 17"/>
          <p:cNvSpPr txBox="1"/>
          <p:nvPr/>
        </p:nvSpPr>
        <p:spPr>
          <a:xfrm>
            <a:off x="749808" y="2354339"/>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metadata:</a:t>
            </a:r>
          </a:p>
        </p:txBody>
      </p:sp>
      <p:sp>
        <p:nvSpPr>
          <p:cNvPr id="19" name="TextBox 18"/>
          <p:cNvSpPr txBox="1"/>
          <p:nvPr/>
        </p:nvSpPr>
        <p:spPr>
          <a:xfrm>
            <a:off x="749808" y="2498237"/>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name: registry-pull</a:t>
            </a:r>
          </a:p>
        </p:txBody>
      </p:sp>
      <p:sp>
        <p:nvSpPr>
          <p:cNvPr id="20" name="TextBox 19"/>
          <p:cNvSpPr txBox="1"/>
          <p:nvPr/>
        </p:nvSpPr>
        <p:spPr>
          <a:xfrm>
            <a:off x="749808" y="2642134"/>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spec:</a:t>
            </a:r>
          </a:p>
        </p:txBody>
      </p:sp>
      <p:sp>
        <p:nvSpPr>
          <p:cNvPr id="21" name="TextBox 20"/>
          <p:cNvSpPr txBox="1"/>
          <p:nvPr/>
        </p:nvSpPr>
        <p:spPr>
          <a:xfrm>
            <a:off x="749808" y="2786032"/>
            <a:ext cx="5897880" cy="180473"/>
          </a:xfrm>
          <a:prstGeom prst="rect">
            <a:avLst/>
          </a:prstGeom>
          <a:noFill/>
        </p:spPr>
        <p:txBody>
          <a:bodyPr wrap="square" lIns="18288" rIns="18288" tIns="0" bIns="0" anchor="t">
            <a:noAutofit/>
          </a:bodyPr>
          <a:lstStyle/>
          <a:p>
            <a:pPr algn="l">
              <a:spcAft>
                <a:spcPts val="0"/>
              </a:spcAft>
            </a:pPr>
            <a:r>
              <a:rPr sz="871" b="0" i="0">
                <a:solidFill>
                  <a:srgbClr val="F59E0B"/>
                </a:solidFill>
                <a:latin typeface="Consolas"/>
              </a:rPr>
              <a:t>  namespaceSelector:</a:t>
            </a:r>
          </a:p>
        </p:txBody>
      </p:sp>
      <p:sp>
        <p:nvSpPr>
          <p:cNvPr id="22" name="TextBox 21"/>
          <p:cNvSpPr txBox="1"/>
          <p:nvPr/>
        </p:nvSpPr>
        <p:spPr>
          <a:xfrm>
            <a:off x="749808" y="2929930"/>
            <a:ext cx="5897880" cy="180473"/>
          </a:xfrm>
          <a:prstGeom prst="rect">
            <a:avLst/>
          </a:prstGeom>
          <a:noFill/>
        </p:spPr>
        <p:txBody>
          <a:bodyPr wrap="square" lIns="18288" rIns="18288" tIns="0" bIns="0" anchor="t">
            <a:noAutofit/>
          </a:bodyPr>
          <a:lstStyle/>
          <a:p>
            <a:pPr algn="l">
              <a:spcAft>
                <a:spcPts val="0"/>
              </a:spcAft>
            </a:pPr>
            <a:r>
              <a:rPr sz="871" b="0" i="0">
                <a:solidFill>
                  <a:srgbClr val="F59E0B"/>
                </a:solidFill>
                <a:latin typeface="Consolas"/>
              </a:rPr>
              <a:t>    matchLabels:</a:t>
            </a:r>
          </a:p>
        </p:txBody>
      </p:sp>
      <p:sp>
        <p:nvSpPr>
          <p:cNvPr id="23" name="TextBox 22"/>
          <p:cNvSpPr txBox="1"/>
          <p:nvPr/>
        </p:nvSpPr>
        <p:spPr>
          <a:xfrm>
            <a:off x="749808" y="3073827"/>
            <a:ext cx="5897880" cy="180473"/>
          </a:xfrm>
          <a:prstGeom prst="rect">
            <a:avLst/>
          </a:prstGeom>
          <a:noFill/>
        </p:spPr>
        <p:txBody>
          <a:bodyPr wrap="square" lIns="18288" rIns="18288" tIns="0" bIns="0" anchor="t">
            <a:noAutofit/>
          </a:bodyPr>
          <a:lstStyle/>
          <a:p>
            <a:pPr algn="l">
              <a:spcAft>
                <a:spcPts val="0"/>
              </a:spcAft>
            </a:pPr>
            <a:r>
              <a:rPr sz="871" b="0" i="0">
                <a:solidFill>
                  <a:srgbClr val="F59E0B"/>
                </a:solidFill>
                <a:latin typeface="Consolas"/>
              </a:rPr>
              <a:t>      needs-registry-pull: "true"</a:t>
            </a:r>
          </a:p>
        </p:txBody>
      </p:sp>
      <p:sp>
        <p:nvSpPr>
          <p:cNvPr id="24" name="TextBox 23"/>
          <p:cNvSpPr txBox="1"/>
          <p:nvPr/>
        </p:nvSpPr>
        <p:spPr>
          <a:xfrm>
            <a:off x="749808" y="3217725"/>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externalSecretName: registry-pull</a:t>
            </a:r>
          </a:p>
        </p:txBody>
      </p:sp>
      <p:sp>
        <p:nvSpPr>
          <p:cNvPr id="25" name="TextBox 24"/>
          <p:cNvSpPr txBox="1"/>
          <p:nvPr/>
        </p:nvSpPr>
        <p:spPr>
          <a:xfrm>
            <a:off x="749808" y="3361623"/>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externalSecretSpec:</a:t>
            </a:r>
          </a:p>
        </p:txBody>
      </p:sp>
      <p:sp>
        <p:nvSpPr>
          <p:cNvPr id="26" name="TextBox 25"/>
          <p:cNvSpPr txBox="1"/>
          <p:nvPr/>
        </p:nvSpPr>
        <p:spPr>
          <a:xfrm>
            <a:off x="749808" y="3505520"/>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refreshInterval: 6h</a:t>
            </a:r>
          </a:p>
        </p:txBody>
      </p:sp>
      <p:sp>
        <p:nvSpPr>
          <p:cNvPr id="27" name="TextBox 26"/>
          <p:cNvSpPr txBox="1"/>
          <p:nvPr/>
        </p:nvSpPr>
        <p:spPr>
          <a:xfrm>
            <a:off x="749808" y="3649418"/>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secretStoreRef:</a:t>
            </a:r>
          </a:p>
        </p:txBody>
      </p:sp>
      <p:sp>
        <p:nvSpPr>
          <p:cNvPr id="28" name="TextBox 27"/>
          <p:cNvSpPr txBox="1"/>
          <p:nvPr/>
        </p:nvSpPr>
        <p:spPr>
          <a:xfrm>
            <a:off x="749808" y="3793316"/>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name: aws-prod</a:t>
            </a:r>
          </a:p>
        </p:txBody>
      </p:sp>
      <p:sp>
        <p:nvSpPr>
          <p:cNvPr id="29" name="TextBox 28"/>
          <p:cNvSpPr txBox="1"/>
          <p:nvPr/>
        </p:nvSpPr>
        <p:spPr>
          <a:xfrm>
            <a:off x="749808" y="3937213"/>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kind: ClusterSecretStore</a:t>
            </a:r>
          </a:p>
        </p:txBody>
      </p:sp>
      <p:sp>
        <p:nvSpPr>
          <p:cNvPr id="30" name="TextBox 29"/>
          <p:cNvSpPr txBox="1"/>
          <p:nvPr/>
        </p:nvSpPr>
        <p:spPr>
          <a:xfrm>
            <a:off x="749808" y="4081111"/>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target:</a:t>
            </a:r>
          </a:p>
        </p:txBody>
      </p:sp>
      <p:sp>
        <p:nvSpPr>
          <p:cNvPr id="31" name="TextBox 30"/>
          <p:cNvSpPr txBox="1"/>
          <p:nvPr/>
        </p:nvSpPr>
        <p:spPr>
          <a:xfrm>
            <a:off x="749808" y="4225009"/>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name: registry-pull</a:t>
            </a:r>
          </a:p>
        </p:txBody>
      </p:sp>
      <p:sp>
        <p:nvSpPr>
          <p:cNvPr id="32" name="TextBox 31"/>
          <p:cNvSpPr txBox="1"/>
          <p:nvPr/>
        </p:nvSpPr>
        <p:spPr>
          <a:xfrm>
            <a:off x="749808" y="4368906"/>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data:</a:t>
            </a:r>
          </a:p>
        </p:txBody>
      </p:sp>
      <p:sp>
        <p:nvSpPr>
          <p:cNvPr id="33" name="TextBox 32"/>
          <p:cNvSpPr txBox="1"/>
          <p:nvPr/>
        </p:nvSpPr>
        <p:spPr>
          <a:xfrm>
            <a:off x="749808" y="4512804"/>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 secretKey: .dockerconfigjson</a:t>
            </a:r>
          </a:p>
        </p:txBody>
      </p:sp>
      <p:sp>
        <p:nvSpPr>
          <p:cNvPr id="34" name="TextBox 33"/>
          <p:cNvSpPr txBox="1"/>
          <p:nvPr/>
        </p:nvSpPr>
        <p:spPr>
          <a:xfrm>
            <a:off x="749808" y="4656702"/>
            <a:ext cx="5897880" cy="180473"/>
          </a:xfrm>
          <a:prstGeom prst="rect">
            <a:avLst/>
          </a:prstGeom>
          <a:noFill/>
        </p:spPr>
        <p:txBody>
          <a:bodyPr wrap="square" lIns="18288" rIns="18288" tIns="0" bIns="0" anchor="t">
            <a:noAutofit/>
          </a:bodyPr>
          <a:lstStyle/>
          <a:p>
            <a:pPr algn="l">
              <a:spcAft>
                <a:spcPts val="0"/>
              </a:spcAft>
            </a:pPr>
            <a:r>
              <a:rPr sz="871" b="0" i="0">
                <a:solidFill>
                  <a:srgbClr val="D9E2F0"/>
                </a:solidFill>
                <a:latin typeface="Consolas"/>
              </a:rPr>
              <a:t>        remoteRef: { key: platform/registry }</a:t>
            </a:r>
          </a:p>
        </p:txBody>
      </p:sp>
      <p:sp>
        <p:nvSpPr>
          <p:cNvPr id="35" name="Rounded Rectangle 34"/>
          <p:cNvSpPr/>
          <p:nvPr/>
        </p:nvSpPr>
        <p:spPr>
          <a:xfrm>
            <a:off x="7150608" y="1645920"/>
            <a:ext cx="4565873" cy="157276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150608" y="1645920"/>
            <a:ext cx="77724" cy="157276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406640" y="1792224"/>
            <a:ext cx="410867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it is good for</a:t>
            </a:r>
          </a:p>
        </p:txBody>
      </p:sp>
      <p:sp>
        <p:nvSpPr>
          <p:cNvPr id="38" name="TextBox 37"/>
          <p:cNvSpPr txBox="1"/>
          <p:nvPr/>
        </p:nvSpPr>
        <p:spPr>
          <a:xfrm>
            <a:off x="7406640" y="2194560"/>
            <a:ext cx="4108673" cy="896112"/>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Registry pull secrets, a shared observability token, an internal CA bundle — things every namespace legitimately needs.</a:t>
            </a:r>
          </a:p>
        </p:txBody>
      </p:sp>
      <p:sp>
        <p:nvSpPr>
          <p:cNvPr id="39" name="Rounded Rectangle 38"/>
          <p:cNvSpPr/>
          <p:nvPr/>
        </p:nvSpPr>
        <p:spPr>
          <a:xfrm>
            <a:off x="7150608" y="3419856"/>
            <a:ext cx="4565873" cy="147218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150608" y="3419856"/>
            <a:ext cx="77724" cy="147218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406640" y="3566160"/>
            <a:ext cx="410867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it is bad for</a:t>
            </a:r>
          </a:p>
        </p:txBody>
      </p:sp>
      <p:sp>
        <p:nvSpPr>
          <p:cNvPr id="42" name="TextBox 41"/>
          <p:cNvSpPr txBox="1"/>
          <p:nvPr/>
        </p:nvSpPr>
        <p:spPr>
          <a:xfrm>
            <a:off x="7406640" y="3968496"/>
            <a:ext cx="4108673" cy="795528"/>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Anything a single team owns. Distributing an application credential to every namespace is the opposite of least privilege.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PushSecret — When the Cluster Is the Source</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reverse direction, for the small number of credentials generated inside Kubernetes.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If something in-cluster creates a credential nothing else knows, push it out or you will lose 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2604508" cy="1024128"/>
          </a:xfrm>
          <a:prstGeom prst="roundRect">
            <a:avLst>
              <a:gd name="adj" fmla="val 12000"/>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An operator creates a Secret</a:t>
            </a:r>
          </a:p>
          <a:p>
            <a:pPr algn="ctr"/>
            <a:r>
              <a:rPr sz="400" b="1" i="0">
                <a:solidFill>
                  <a:srgbClr val="FFFFFF"/>
                </a:solidFill>
                <a:latin typeface="Calibri"/>
              </a:rPr>
              <a:t/>
            </a:r>
          </a:p>
          <a:p>
            <a:pPr algn="ctr"/>
            <a:r>
              <a:rPr sz="1050" b="0" i="0">
                <a:solidFill>
                  <a:srgbClr val="DCE6F5"/>
                </a:solidFill>
                <a:latin typeface="Calibri"/>
              </a:rPr>
              <a:t>database operator, cert-manager</a:t>
            </a:r>
          </a:p>
        </p:txBody>
      </p:sp>
      <p:sp>
        <p:nvSpPr>
          <p:cNvPr id="14" name="Oval 13"/>
          <p:cNvSpPr/>
          <p:nvPr/>
        </p:nvSpPr>
        <p:spPr>
          <a:xfrm>
            <a:off x="163143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3121144"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4316" y="1645920"/>
            <a:ext cx="2604508" cy="1024128"/>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PushSecret notices</a:t>
            </a:r>
          </a:p>
          <a:p>
            <a:pPr algn="ctr"/>
            <a:r>
              <a:rPr sz="400" b="1" i="0">
                <a:solidFill>
                  <a:srgbClr val="FFFFFF"/>
                </a:solidFill>
                <a:latin typeface="Calibri"/>
              </a:rPr>
              <a:t/>
            </a:r>
          </a:p>
          <a:p>
            <a:pPr algn="ctr"/>
            <a:r>
              <a:rPr sz="1050" b="0" i="0">
                <a:solidFill>
                  <a:srgbClr val="DCE6F5"/>
                </a:solidFill>
                <a:latin typeface="Calibri"/>
              </a:rPr>
              <a:t>watching that Secret</a:t>
            </a:r>
          </a:p>
        </p:txBody>
      </p:sp>
      <p:sp>
        <p:nvSpPr>
          <p:cNvPr id="17" name="Oval 16"/>
          <p:cNvSpPr/>
          <p:nvPr/>
        </p:nvSpPr>
        <p:spPr>
          <a:xfrm>
            <a:off x="451026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5999972"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2604508" cy="1024128"/>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Written to the provider</a:t>
            </a:r>
          </a:p>
          <a:p>
            <a:pPr algn="ctr"/>
            <a:r>
              <a:rPr sz="400" b="1" i="0">
                <a:solidFill>
                  <a:srgbClr val="FFFFFF"/>
                </a:solidFill>
                <a:latin typeface="Calibri"/>
              </a:rPr>
              <a:t/>
            </a:r>
          </a:p>
          <a:p>
            <a:pPr algn="ctr"/>
            <a:r>
              <a:rPr sz="1050" b="0" i="0">
                <a:solidFill>
                  <a:srgbClr val="DCE6F5"/>
                </a:solidFill>
                <a:latin typeface="Calibri"/>
              </a:rPr>
              <a:t>now backed up and auditable</a:t>
            </a:r>
          </a:p>
        </p:txBody>
      </p:sp>
      <p:sp>
        <p:nvSpPr>
          <p:cNvPr id="20" name="Oval 19"/>
          <p:cNvSpPr/>
          <p:nvPr/>
        </p:nvSpPr>
        <p:spPr>
          <a:xfrm>
            <a:off x="7389094"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8878801"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11973" y="1645920"/>
            <a:ext cx="2604508" cy="1024128"/>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50" b="1" i="0">
                <a:solidFill>
                  <a:srgbClr val="FFFFFF"/>
                </a:solidFill>
                <a:latin typeface="Calibri"/>
              </a:rPr>
              <a:t>Others can consume it</a:t>
            </a:r>
          </a:p>
          <a:p>
            <a:pPr algn="ctr"/>
            <a:r>
              <a:rPr sz="400" b="1" i="0">
                <a:solidFill>
                  <a:srgbClr val="FFFFFF"/>
                </a:solidFill>
                <a:latin typeface="Calibri"/>
              </a:rPr>
              <a:t/>
            </a:r>
          </a:p>
          <a:p>
            <a:pPr algn="ctr"/>
            <a:r>
              <a:rPr sz="1050" b="0" i="0">
                <a:solidFill>
                  <a:srgbClr val="DCE6F5"/>
                </a:solidFill>
                <a:latin typeface="Calibri"/>
              </a:rPr>
              <a:t>other clusters, other teams</a:t>
            </a:r>
          </a:p>
        </p:txBody>
      </p:sp>
      <p:sp>
        <p:nvSpPr>
          <p:cNvPr id="23" name="Oval 22"/>
          <p:cNvSpPr/>
          <p:nvPr/>
        </p:nvSpPr>
        <p:spPr>
          <a:xfrm>
            <a:off x="1026792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ounded Rectangle 23"/>
          <p:cNvSpPr/>
          <p:nvPr/>
        </p:nvSpPr>
        <p:spPr>
          <a:xfrm>
            <a:off x="475488" y="3063240"/>
            <a:ext cx="5428472" cy="20116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063240"/>
            <a:ext cx="64008" cy="2011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9808" y="3191256"/>
            <a:ext cx="4879832"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pushsecret.yaml</a:t>
            </a:r>
          </a:p>
        </p:txBody>
      </p:sp>
      <p:sp>
        <p:nvSpPr>
          <p:cNvPr id="27" name="TextBox 26"/>
          <p:cNvSpPr txBox="1"/>
          <p:nvPr/>
        </p:nvSpPr>
        <p:spPr>
          <a:xfrm>
            <a:off x="749808" y="3483864"/>
            <a:ext cx="4879832" cy="161544"/>
          </a:xfrm>
          <a:prstGeom prst="rect">
            <a:avLst/>
          </a:prstGeom>
          <a:noFill/>
        </p:spPr>
        <p:txBody>
          <a:bodyPr wrap="square" lIns="18288" rIns="18288" tIns="0" bIns="0" anchor="t">
            <a:noAutofit/>
          </a:bodyPr>
          <a:lstStyle/>
          <a:p>
            <a:pPr algn="l">
              <a:spcAft>
                <a:spcPts val="0"/>
              </a:spcAft>
            </a:pPr>
            <a:r>
              <a:rPr sz="756" b="0" i="0">
                <a:solidFill>
                  <a:srgbClr val="2BA8D8"/>
                </a:solidFill>
                <a:latin typeface="Consolas"/>
              </a:rPr>
              <a:t>apiVersion: external-secrets.io/v1alpha1</a:t>
            </a:r>
          </a:p>
        </p:txBody>
      </p:sp>
      <p:sp>
        <p:nvSpPr>
          <p:cNvPr id="28" name="TextBox 27"/>
          <p:cNvSpPr txBox="1"/>
          <p:nvPr/>
        </p:nvSpPr>
        <p:spPr>
          <a:xfrm>
            <a:off x="749808" y="3608832"/>
            <a:ext cx="4879832" cy="161544"/>
          </a:xfrm>
          <a:prstGeom prst="rect">
            <a:avLst/>
          </a:prstGeom>
          <a:noFill/>
        </p:spPr>
        <p:txBody>
          <a:bodyPr wrap="square" lIns="18288" rIns="18288" tIns="0" bIns="0" anchor="t">
            <a:noAutofit/>
          </a:bodyPr>
          <a:lstStyle/>
          <a:p>
            <a:pPr algn="l">
              <a:spcAft>
                <a:spcPts val="0"/>
              </a:spcAft>
            </a:pPr>
            <a:r>
              <a:rPr sz="756" b="0" i="0">
                <a:solidFill>
                  <a:srgbClr val="2BA8D8"/>
                </a:solidFill>
                <a:latin typeface="Consolas"/>
              </a:rPr>
              <a:t>kind: PushSecret</a:t>
            </a:r>
          </a:p>
        </p:txBody>
      </p:sp>
      <p:sp>
        <p:nvSpPr>
          <p:cNvPr id="29" name="TextBox 28"/>
          <p:cNvSpPr txBox="1"/>
          <p:nvPr/>
        </p:nvSpPr>
        <p:spPr>
          <a:xfrm>
            <a:off x="749808" y="3733799"/>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metadata: { name: db-generated, namespace: payments }</a:t>
            </a:r>
          </a:p>
        </p:txBody>
      </p:sp>
      <p:sp>
        <p:nvSpPr>
          <p:cNvPr id="30" name="TextBox 29"/>
          <p:cNvSpPr txBox="1"/>
          <p:nvPr/>
        </p:nvSpPr>
        <p:spPr>
          <a:xfrm>
            <a:off x="749808" y="3858768"/>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spec:</a:t>
            </a:r>
          </a:p>
        </p:txBody>
      </p:sp>
      <p:sp>
        <p:nvSpPr>
          <p:cNvPr id="31" name="TextBox 30"/>
          <p:cNvSpPr txBox="1"/>
          <p:nvPr/>
        </p:nvSpPr>
        <p:spPr>
          <a:xfrm>
            <a:off x="749808" y="3983736"/>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  secretStoreRefs:</a:t>
            </a:r>
          </a:p>
        </p:txBody>
      </p:sp>
      <p:sp>
        <p:nvSpPr>
          <p:cNvPr id="32" name="TextBox 31"/>
          <p:cNvSpPr txBox="1"/>
          <p:nvPr/>
        </p:nvSpPr>
        <p:spPr>
          <a:xfrm>
            <a:off x="749808" y="4108704"/>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    - name: aws-prod</a:t>
            </a:r>
          </a:p>
        </p:txBody>
      </p:sp>
      <p:sp>
        <p:nvSpPr>
          <p:cNvPr id="33" name="TextBox 32"/>
          <p:cNvSpPr txBox="1"/>
          <p:nvPr/>
        </p:nvSpPr>
        <p:spPr>
          <a:xfrm>
            <a:off x="749808" y="4233672"/>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      kind: ClusterSecretStore</a:t>
            </a:r>
          </a:p>
        </p:txBody>
      </p:sp>
      <p:sp>
        <p:nvSpPr>
          <p:cNvPr id="34" name="TextBox 33"/>
          <p:cNvSpPr txBox="1"/>
          <p:nvPr/>
        </p:nvSpPr>
        <p:spPr>
          <a:xfrm>
            <a:off x="749808" y="4358640"/>
            <a:ext cx="4879832" cy="161544"/>
          </a:xfrm>
          <a:prstGeom prst="rect">
            <a:avLst/>
          </a:prstGeom>
          <a:noFill/>
        </p:spPr>
        <p:txBody>
          <a:bodyPr wrap="square" lIns="18288" rIns="18288" tIns="0" bIns="0" anchor="t">
            <a:noAutofit/>
          </a:bodyPr>
          <a:lstStyle/>
          <a:p>
            <a:pPr algn="l">
              <a:spcAft>
                <a:spcPts val="0"/>
              </a:spcAft>
            </a:pPr>
            <a:r>
              <a:rPr sz="756" b="0" i="0">
                <a:solidFill>
                  <a:srgbClr val="F59E0B"/>
                </a:solidFill>
                <a:latin typeface="Consolas"/>
              </a:rPr>
              <a:t>  selector:</a:t>
            </a:r>
          </a:p>
        </p:txBody>
      </p:sp>
      <p:sp>
        <p:nvSpPr>
          <p:cNvPr id="35" name="TextBox 34"/>
          <p:cNvSpPr txBox="1"/>
          <p:nvPr/>
        </p:nvSpPr>
        <p:spPr>
          <a:xfrm>
            <a:off x="749808" y="4483608"/>
            <a:ext cx="4879832" cy="161544"/>
          </a:xfrm>
          <a:prstGeom prst="rect">
            <a:avLst/>
          </a:prstGeom>
          <a:noFill/>
        </p:spPr>
        <p:txBody>
          <a:bodyPr wrap="square" lIns="18288" rIns="18288" tIns="0" bIns="0" anchor="t">
            <a:noAutofit/>
          </a:bodyPr>
          <a:lstStyle/>
          <a:p>
            <a:pPr algn="l">
              <a:spcAft>
                <a:spcPts val="0"/>
              </a:spcAft>
            </a:pPr>
            <a:r>
              <a:rPr sz="756" b="0" i="0">
                <a:solidFill>
                  <a:srgbClr val="F59E0B"/>
                </a:solidFill>
                <a:latin typeface="Consolas"/>
              </a:rPr>
              <a:t>    secret: { name: postgres-generated }</a:t>
            </a:r>
          </a:p>
        </p:txBody>
      </p:sp>
      <p:sp>
        <p:nvSpPr>
          <p:cNvPr id="36" name="TextBox 35"/>
          <p:cNvSpPr txBox="1"/>
          <p:nvPr/>
        </p:nvSpPr>
        <p:spPr>
          <a:xfrm>
            <a:off x="749808" y="4608576"/>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  data:</a:t>
            </a:r>
          </a:p>
        </p:txBody>
      </p:sp>
      <p:sp>
        <p:nvSpPr>
          <p:cNvPr id="37" name="TextBox 36"/>
          <p:cNvSpPr txBox="1"/>
          <p:nvPr/>
        </p:nvSpPr>
        <p:spPr>
          <a:xfrm>
            <a:off x="749808" y="4733544"/>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    - match: { secretKey: password,</a:t>
            </a:r>
          </a:p>
        </p:txBody>
      </p:sp>
      <p:sp>
        <p:nvSpPr>
          <p:cNvPr id="38" name="TextBox 37"/>
          <p:cNvSpPr txBox="1"/>
          <p:nvPr/>
        </p:nvSpPr>
        <p:spPr>
          <a:xfrm>
            <a:off x="749808" y="4858512"/>
            <a:ext cx="4879832" cy="161544"/>
          </a:xfrm>
          <a:prstGeom prst="rect">
            <a:avLst/>
          </a:prstGeom>
          <a:noFill/>
        </p:spPr>
        <p:txBody>
          <a:bodyPr wrap="square" lIns="18288" rIns="18288" tIns="0" bIns="0" anchor="t">
            <a:noAutofit/>
          </a:bodyPr>
          <a:lstStyle/>
          <a:p>
            <a:pPr algn="l">
              <a:spcAft>
                <a:spcPts val="0"/>
              </a:spcAft>
            </a:pPr>
            <a:r>
              <a:rPr sz="756" b="0" i="0">
                <a:solidFill>
                  <a:srgbClr val="D9E2F0"/>
                </a:solidFill>
                <a:latin typeface="Consolas"/>
              </a:rPr>
              <a:t>               remoteRef: { remoteKey: prod/billing/generated } }</a:t>
            </a:r>
          </a:p>
        </p:txBody>
      </p:sp>
      <p:sp>
        <p:nvSpPr>
          <p:cNvPr id="39" name="Rounded Rectangle 38"/>
          <p:cNvSpPr/>
          <p:nvPr/>
        </p:nvSpPr>
        <p:spPr>
          <a:xfrm>
            <a:off x="6288008" y="3063240"/>
            <a:ext cx="5428472" cy="20116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288008" y="3063240"/>
            <a:ext cx="77724" cy="201168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44040" y="320954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this matters for disaster recovery</a:t>
            </a:r>
          </a:p>
        </p:txBody>
      </p:sp>
      <p:sp>
        <p:nvSpPr>
          <p:cNvPr id="42" name="TextBox 41"/>
          <p:cNvSpPr txBox="1"/>
          <p:nvPr/>
        </p:nvSpPr>
        <p:spPr>
          <a:xfrm>
            <a:off x="6544040" y="3611880"/>
            <a:ext cx="4971272" cy="1335024"/>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The whole case for this architecture is that you can rebuild a cluster without backing up any Secret — because the values live in the provider.</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A credential generated in-cluster and never pushed out is the one exception, and it is exactly the thing you discover during the rebuild rather than before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Generators — Values That Are Made, Not Fetched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Some credentials have no permanent home. ESO can produce them instead.</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 generator is for short-lived or freshly-created values, not for anything you need to keep.</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3564117"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ECR / ACR authorisation token</a:t>
            </a:r>
          </a:p>
        </p:txBody>
      </p:sp>
      <p:sp>
        <p:nvSpPr>
          <p:cNvPr id="16" name="TextBox 15"/>
          <p:cNvSpPr txBox="1"/>
          <p:nvPr/>
        </p:nvSpPr>
        <p:spPr>
          <a:xfrm>
            <a:off x="658368" y="2304288"/>
            <a:ext cx="3198357"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registry token valid for hours. Fetching it from a vault makes no sense — it has to be minted on demand and refreshed before it expires.</a:t>
            </a:r>
          </a:p>
        </p:txBody>
      </p:sp>
      <p:sp>
        <p:nvSpPr>
          <p:cNvPr id="17" name="Rounded Rectangle 16"/>
          <p:cNvSpPr/>
          <p:nvPr/>
        </p:nvSpPr>
        <p:spPr>
          <a:xfrm>
            <a:off x="4313925" y="1645920"/>
            <a:ext cx="3564117"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13925" y="1645920"/>
            <a:ext cx="3564117"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6805"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Password</a:t>
            </a:r>
          </a:p>
        </p:txBody>
      </p:sp>
      <p:sp>
        <p:nvSpPr>
          <p:cNvPr id="20" name="TextBox 19"/>
          <p:cNvSpPr txBox="1"/>
          <p:nvPr/>
        </p:nvSpPr>
        <p:spPr>
          <a:xfrm>
            <a:off x="4496805" y="2304288"/>
            <a:ext cx="3198357"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Generates a random password to a length and character policy. Useful for bootstrapping something that then pushes it back out.</a:t>
            </a:r>
          </a:p>
        </p:txBody>
      </p:sp>
      <p:sp>
        <p:nvSpPr>
          <p:cNvPr id="21" name="Rounded Rectangle 20"/>
          <p:cNvSpPr/>
          <p:nvPr/>
        </p:nvSpPr>
        <p:spPr>
          <a:xfrm>
            <a:off x="8152363" y="1645920"/>
            <a:ext cx="3564117" cy="19659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152363" y="1645920"/>
            <a:ext cx="3564117"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35243"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Webhook</a:t>
            </a:r>
          </a:p>
        </p:txBody>
      </p:sp>
      <p:sp>
        <p:nvSpPr>
          <p:cNvPr id="24" name="TextBox 23"/>
          <p:cNvSpPr txBox="1"/>
          <p:nvPr/>
        </p:nvSpPr>
        <p:spPr>
          <a:xfrm>
            <a:off x="8335243" y="2304288"/>
            <a:ext cx="3198357" cy="11887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Calls an arbitrary HTTP endpoint and uses the response. The escape hatch for an internal system that ESO has no provider for.</a:t>
            </a:r>
          </a:p>
        </p:txBody>
      </p:sp>
      <p:sp>
        <p:nvSpPr>
          <p:cNvPr id="25" name="Rounded Rectangle 24"/>
          <p:cNvSpPr/>
          <p:nvPr/>
        </p:nvSpPr>
        <p:spPr>
          <a:xfrm>
            <a:off x="475488" y="3840480"/>
            <a:ext cx="11240993" cy="179222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3840480"/>
            <a:ext cx="77724" cy="179222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31520" y="398678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trap with a generated password</a:t>
            </a:r>
          </a:p>
        </p:txBody>
      </p:sp>
      <p:sp>
        <p:nvSpPr>
          <p:cNvPr id="28" name="TextBox 27"/>
          <p:cNvSpPr txBox="1"/>
          <p:nvPr/>
        </p:nvSpPr>
        <p:spPr>
          <a:xfrm>
            <a:off x="731520" y="4389120"/>
            <a:ext cx="10783793" cy="1115568"/>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A generator produces a new value every time it runs. If you point an ExternalSecret at a password generator with a short refreshInterval, you will silently rotate the credential out from under your own application — and the database will not have been told.</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Generate once, PushSecret the result to your provider, then read it back from there like any other secret. The generator is the bootstrap, never the ongoing source.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Providers — One Operator, Many Backends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manifest shape stays the same. Only spec.provider changes.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Your ExternalSecret manifests barely change if you move clouds. That is most of the portability argument.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2604508"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AWS Secrets Manager</a:t>
            </a:r>
          </a:p>
        </p:txBody>
      </p:sp>
      <p:sp>
        <p:nvSpPr>
          <p:cNvPr id="16" name="TextBox 15"/>
          <p:cNvSpPr txBox="1"/>
          <p:nvPr/>
        </p:nvSpPr>
        <p:spPr>
          <a:xfrm>
            <a:off x="658368" y="2304288"/>
            <a:ext cx="2238748" cy="1371600"/>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Also SSM Parameter Store. Authenticate with IRSA or EKS Pod Identity — never a static access key.</a:t>
            </a:r>
          </a:p>
        </p:txBody>
      </p:sp>
      <p:sp>
        <p:nvSpPr>
          <p:cNvPr id="17" name="Rounded Rectangle 16"/>
          <p:cNvSpPr/>
          <p:nvPr/>
        </p:nvSpPr>
        <p:spPr>
          <a:xfrm>
            <a:off x="3354316"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3354316" y="1645920"/>
            <a:ext cx="2604508"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537196"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Azure Key Vault</a:t>
            </a:r>
          </a:p>
        </p:txBody>
      </p:sp>
      <p:sp>
        <p:nvSpPr>
          <p:cNvPr id="20" name="TextBox 19"/>
          <p:cNvSpPr txBox="1"/>
          <p:nvPr/>
        </p:nvSpPr>
        <p:spPr>
          <a:xfrm>
            <a:off x="3537196" y="2304288"/>
            <a:ext cx="2238748" cy="1371600"/>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Secrets, keys and certificates. Authenticate with Workload Identity federated to the ServiceAccount.</a:t>
            </a:r>
          </a:p>
        </p:txBody>
      </p:sp>
      <p:sp>
        <p:nvSpPr>
          <p:cNvPr id="21" name="Rounded Rectangle 20"/>
          <p:cNvSpPr/>
          <p:nvPr/>
        </p:nvSpPr>
        <p:spPr>
          <a:xfrm>
            <a:off x="6233144"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33144" y="1645920"/>
            <a:ext cx="2604508"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16024"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Google Secret Manager</a:t>
            </a:r>
          </a:p>
        </p:txBody>
      </p:sp>
      <p:sp>
        <p:nvSpPr>
          <p:cNvPr id="24" name="TextBox 23"/>
          <p:cNvSpPr txBox="1"/>
          <p:nvPr/>
        </p:nvSpPr>
        <p:spPr>
          <a:xfrm>
            <a:off x="6416024" y="2304288"/>
            <a:ext cx="2238748" cy="1371600"/>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Authenticate with Workload Identity. Versions are addressable, so you can pin one.</a:t>
            </a:r>
          </a:p>
        </p:txBody>
      </p:sp>
      <p:sp>
        <p:nvSpPr>
          <p:cNvPr id="25" name="Rounded Rectangle 24"/>
          <p:cNvSpPr/>
          <p:nvPr/>
        </p:nvSpPr>
        <p:spPr>
          <a:xfrm>
            <a:off x="9111973" y="1645920"/>
            <a:ext cx="2604508" cy="214884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9111973" y="1645920"/>
            <a:ext cx="2604508"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294853" y="1892808"/>
            <a:ext cx="2238748"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HashiCorp Vault</a:t>
            </a:r>
          </a:p>
        </p:txBody>
      </p:sp>
      <p:sp>
        <p:nvSpPr>
          <p:cNvPr id="28" name="TextBox 27"/>
          <p:cNvSpPr txBox="1"/>
          <p:nvPr/>
        </p:nvSpPr>
        <p:spPr>
          <a:xfrm>
            <a:off x="9294853" y="2304288"/>
            <a:ext cx="2238748" cy="1371600"/>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KV v1 and v2, plus dynamic engines. Kubernetes auth is the usual method.</a:t>
            </a:r>
          </a:p>
        </p:txBody>
      </p:sp>
      <p:sp>
        <p:nvSpPr>
          <p:cNvPr id="29" name="Rounded Rectangle 28"/>
          <p:cNvSpPr/>
          <p:nvPr/>
        </p:nvSpPr>
        <p:spPr>
          <a:xfrm>
            <a:off x="475488" y="4023360"/>
            <a:ext cx="11240993" cy="1591056"/>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75488" y="4023360"/>
            <a:ext cx="77724" cy="1591056"/>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31520" y="416966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Choosing between them is not really an ESO question</a:t>
            </a:r>
          </a:p>
        </p:txBody>
      </p:sp>
      <p:sp>
        <p:nvSpPr>
          <p:cNvPr id="32" name="TextBox 31"/>
          <p:cNvSpPr txBox="1"/>
          <p:nvPr/>
        </p:nvSpPr>
        <p:spPr>
          <a:xfrm>
            <a:off x="731520" y="4572000"/>
            <a:ext cx="10783793" cy="914400"/>
          </a:xfrm>
          <a:prstGeom prst="rect">
            <a:avLst/>
          </a:prstGeom>
          <a:noFill/>
        </p:spPr>
        <p:txBody>
          <a:bodyPr wrap="square" lIns="18288" rIns="18288" tIns="0" bIns="0" anchor="t">
            <a:noAutofit/>
          </a:bodyPr>
          <a:lstStyle/>
          <a:p>
            <a:pPr algn="l">
              <a:lnSpc>
                <a:spcPct val="124000"/>
              </a:lnSpc>
              <a:spcAft>
                <a:spcPts val="0"/>
              </a:spcAft>
            </a:pPr>
            <a:r>
              <a:rPr sz="950" b="0" i="0">
                <a:solidFill>
                  <a:srgbClr val="363F4D"/>
                </a:solidFill>
                <a:latin typeface="Calibri"/>
              </a:rPr>
              <a:t>Use whatever your organisation already audits, rotates and pays for. ESO's value is that the choice stops leaking into your manifests — the ExternalSecret in apps/billing/base looks the same whichever backend is behind the ClusterSecretStore.</a:t>
            </a:r>
          </a:p>
          <a:p>
            <a:pPr algn="l">
              <a:lnSpc>
                <a:spcPct val="124000"/>
              </a:lnSpc>
              <a:spcAft>
                <a:spcPts val="0"/>
              </a:spcAft>
            </a:pPr>
            <a:r>
              <a:rPr sz="950" b="0" i="0">
                <a:solidFill>
                  <a:srgbClr val="363F4D"/>
                </a:solidFill>
                <a:latin typeface="Calibri"/>
              </a:rPr>
              <a:t/>
            </a:r>
          </a:p>
          <a:p>
            <a:pPr algn="l">
              <a:lnSpc>
                <a:spcPct val="124000"/>
              </a:lnSpc>
              <a:spcAft>
                <a:spcPts val="0"/>
              </a:spcAft>
            </a:pPr>
            <a:r>
              <a:rPr sz="950" b="0" i="0">
                <a:solidFill>
                  <a:srgbClr val="363F4D"/>
                </a:solidFill>
                <a:latin typeface="Calibri"/>
              </a:rPr>
              <a:t>There are many more providers than the four above, including 1Password, Doppler, Akeyless, IBM, Oracle and Kubernetes itself as a source. Check the project's provider list rather than assuming — the set moves.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External Secrets Operator Will Not Do For You</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It ends at the Secret object. Everything after that is somebody else's job.</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ESO gets the value into the cluster. It has no opinion about the pods using 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11240993" cy="3931920"/>
          </a:xfrm>
          <a:prstGeom prst="roundRect">
            <a:avLst>
              <a:gd name="adj" fmla="val 6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11240993" cy="6858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31520" y="1883664"/>
            <a:ext cx="566928" cy="56692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700" b="1" i="0">
                <a:solidFill>
                  <a:srgbClr val="FFFFFF"/>
                </a:solidFill>
                <a:latin typeface="Calibri"/>
              </a:rPr>
              <a:t>◈</a:t>
            </a:r>
          </a:p>
        </p:txBody>
      </p:sp>
      <p:sp>
        <p:nvSpPr>
          <p:cNvPr id="16" name="TextBox 15"/>
          <p:cNvSpPr txBox="1"/>
          <p:nvPr/>
        </p:nvSpPr>
        <p:spPr>
          <a:xfrm>
            <a:off x="1426464" y="1920240"/>
            <a:ext cx="9960833" cy="310896"/>
          </a:xfrm>
          <a:prstGeom prst="rect">
            <a:avLst/>
          </a:prstGeom>
          <a:noFill/>
        </p:spPr>
        <p:txBody>
          <a:bodyPr wrap="square" lIns="18288" rIns="18288" tIns="0" bIns="0" anchor="t">
            <a:noAutofit/>
          </a:bodyPr>
          <a:lstStyle/>
          <a:p>
            <a:pPr algn="l">
              <a:spcAft>
                <a:spcPts val="0"/>
              </a:spcAft>
            </a:pPr>
            <a:r>
              <a:rPr sz="1700" b="1" i="0">
                <a:solidFill>
                  <a:srgbClr val="1F2B3D"/>
                </a:solidFill>
                <a:latin typeface="Calibri"/>
              </a:rPr>
              <a:t>External Secrets Operator</a:t>
            </a:r>
          </a:p>
        </p:txBody>
      </p:sp>
      <p:sp>
        <p:nvSpPr>
          <p:cNvPr id="17" name="TextBox 16"/>
          <p:cNvSpPr txBox="1"/>
          <p:nvPr/>
        </p:nvSpPr>
        <p:spPr>
          <a:xfrm>
            <a:off x="1426464" y="2221992"/>
            <a:ext cx="9960833" cy="274320"/>
          </a:xfrm>
          <a:prstGeom prst="rect">
            <a:avLst/>
          </a:prstGeom>
          <a:noFill/>
        </p:spPr>
        <p:txBody>
          <a:bodyPr wrap="square" lIns="18288" rIns="18288" tIns="0" bIns="0" anchor="t">
            <a:noAutofit/>
          </a:bodyPr>
          <a:lstStyle/>
          <a:p>
            <a:pPr algn="l">
              <a:spcAft>
                <a:spcPts val="0"/>
              </a:spcAft>
            </a:pPr>
            <a:r>
              <a:rPr sz="1250" b="0" i="1">
                <a:solidFill>
                  <a:srgbClr val="6B7A8D"/>
                </a:solidFill>
                <a:latin typeface="Calibri"/>
              </a:rPr>
              <a:t>Sync secrets from an external manager into Kubernetes  ·  CNCF Sandbox since July 2022</a:t>
            </a:r>
          </a:p>
        </p:txBody>
      </p:sp>
      <p:cxnSp>
        <p:nvCxnSpPr>
          <p:cNvPr id="18" name="Connector 17"/>
          <p:cNvCxnSpPr/>
          <p:nvPr/>
        </p:nvCxnSpPr>
        <p:spPr>
          <a:xfrm>
            <a:off x="731520" y="2615184"/>
            <a:ext cx="10728929" cy="0"/>
          </a:xfrm>
          <a:prstGeom prst="line">
            <a:avLst/>
          </a:prstGeom>
          <a:ln w="12700">
            <a:solidFill>
              <a:srgbClr val="DDE3E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2724912"/>
            <a:ext cx="5236448" cy="237744"/>
          </a:xfrm>
          <a:prstGeom prst="rect">
            <a:avLst/>
          </a:prstGeom>
          <a:noFill/>
        </p:spPr>
        <p:txBody>
          <a:bodyPr wrap="square" lIns="18288" rIns="18288" tIns="0" bIns="0" anchor="t">
            <a:noAutofit/>
          </a:bodyPr>
          <a:lstStyle/>
          <a:p>
            <a:pPr algn="l">
              <a:spcAft>
                <a:spcPts val="0"/>
              </a:spcAft>
            </a:pPr>
            <a:r>
              <a:rPr sz="1050" b="1" i="0">
                <a:solidFill>
                  <a:srgbClr val="2EB56B"/>
                </a:solidFill>
                <a:latin typeface="Calibri"/>
              </a:rPr>
              <a:t>WHAT IT DOES HERE</a:t>
            </a:r>
          </a:p>
        </p:txBody>
      </p:sp>
      <p:sp>
        <p:nvSpPr>
          <p:cNvPr id="20" name="Oval 19"/>
          <p:cNvSpPr/>
          <p:nvPr/>
        </p:nvSpPr>
        <p:spPr>
          <a:xfrm>
            <a:off x="731520" y="3063240"/>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1" name="TextBox 20"/>
          <p:cNvSpPr txBox="1"/>
          <p:nvPr/>
        </p:nvSpPr>
        <p:spPr>
          <a:xfrm>
            <a:off x="1024128" y="3035808"/>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Fetches  </a:t>
            </a:r>
            <a:r>
              <a:rPr sz="1200" b="0" i="0">
                <a:solidFill>
                  <a:srgbClr val="363F4D"/>
                </a:solidFill>
                <a:latin typeface="Calibri"/>
              </a:rPr>
              <a:t>reads named keys from your secret manager on a schedule</a:t>
            </a:r>
          </a:p>
        </p:txBody>
      </p:sp>
      <p:sp>
        <p:nvSpPr>
          <p:cNvPr id="22" name="Oval 21"/>
          <p:cNvSpPr/>
          <p:nvPr/>
        </p:nvSpPr>
        <p:spPr>
          <a:xfrm>
            <a:off x="731520" y="3386328"/>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3" name="TextBox 22"/>
          <p:cNvSpPr txBox="1"/>
          <p:nvPr/>
        </p:nvSpPr>
        <p:spPr>
          <a:xfrm>
            <a:off x="1024128" y="3358896"/>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Creates  </a:t>
            </a:r>
            <a:r>
              <a:rPr sz="1200" b="0" i="0">
                <a:solidFill>
                  <a:srgbClr val="363F4D"/>
                </a:solidFill>
                <a:latin typeface="Calibri"/>
              </a:rPr>
              <a:t>produces an ordinary Kubernetes Secret you can mount as usual</a:t>
            </a:r>
          </a:p>
        </p:txBody>
      </p:sp>
      <p:sp>
        <p:nvSpPr>
          <p:cNvPr id="24" name="Oval 23"/>
          <p:cNvSpPr/>
          <p:nvPr/>
        </p:nvSpPr>
        <p:spPr>
          <a:xfrm>
            <a:off x="731520" y="3709416"/>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5" name="TextBox 24"/>
          <p:cNvSpPr txBox="1"/>
          <p:nvPr/>
        </p:nvSpPr>
        <p:spPr>
          <a:xfrm>
            <a:off x="1024128" y="3681984"/>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Refreshes  </a:t>
            </a:r>
            <a:r>
              <a:rPr sz="1200" b="0" i="0">
                <a:solidFill>
                  <a:srgbClr val="363F4D"/>
                </a:solidFill>
                <a:latin typeface="Calibri"/>
              </a:rPr>
              <a:t>re-reads on refreshInterval and updates the Secret in place</a:t>
            </a:r>
          </a:p>
        </p:txBody>
      </p:sp>
      <p:sp>
        <p:nvSpPr>
          <p:cNvPr id="26" name="Oval 25"/>
          <p:cNvSpPr/>
          <p:nvPr/>
        </p:nvSpPr>
        <p:spPr>
          <a:xfrm>
            <a:off x="731520" y="4032504"/>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7" name="TextBox 26"/>
          <p:cNvSpPr txBox="1"/>
          <p:nvPr/>
        </p:nvSpPr>
        <p:spPr>
          <a:xfrm>
            <a:off x="1024128" y="4005072"/>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Templates  </a:t>
            </a:r>
            <a:r>
              <a:rPr sz="1200" b="0" i="0">
                <a:solidFill>
                  <a:srgbClr val="363F4D"/>
                </a:solidFill>
                <a:latin typeface="Calibri"/>
              </a:rPr>
              <a:t>reshapes values into files, config formats or pull secrets</a:t>
            </a:r>
          </a:p>
        </p:txBody>
      </p:sp>
      <p:sp>
        <p:nvSpPr>
          <p:cNvPr id="28" name="Oval 27"/>
          <p:cNvSpPr/>
          <p:nvPr/>
        </p:nvSpPr>
        <p:spPr>
          <a:xfrm>
            <a:off x="731520" y="4355592"/>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900" b="1" i="0">
                <a:solidFill>
                  <a:srgbClr val="FFFFFF"/>
                </a:solidFill>
                <a:latin typeface="Calibri"/>
              </a:rPr>
              <a:t>✓</a:t>
            </a:r>
          </a:p>
        </p:txBody>
      </p:sp>
      <p:sp>
        <p:nvSpPr>
          <p:cNvPr id="29" name="TextBox 28"/>
          <p:cNvSpPr txBox="1"/>
          <p:nvPr/>
        </p:nvSpPr>
        <p:spPr>
          <a:xfrm>
            <a:off x="1024128" y="4328160"/>
            <a:ext cx="4907264" cy="222504"/>
          </a:xfrm>
          <a:prstGeom prst="rect">
            <a:avLst/>
          </a:prstGeom>
          <a:noFill/>
        </p:spPr>
        <p:txBody>
          <a:bodyPr wrap="square" lIns="18288" rIns="18288" tIns="0" bIns="0" anchor="t">
            <a:noAutofit/>
          </a:bodyPr>
          <a:lstStyle/>
          <a:p>
            <a:pPr algn="l">
              <a:lnSpc>
                <a:spcPct val="118000"/>
              </a:lnSpc>
              <a:spcAft>
                <a:spcPts val="0"/>
              </a:spcAft>
            </a:pPr>
            <a:r>
              <a:rPr sz="1200" b="1" i="0">
                <a:solidFill>
                  <a:srgbClr val="1F2B3D"/>
                </a:solidFill>
                <a:latin typeface="Calibri"/>
              </a:rPr>
              <a:t>Reports  </a:t>
            </a:r>
            <a:r>
              <a:rPr sz="1200" b="0" i="0">
                <a:solidFill>
                  <a:srgbClr val="363F4D"/>
                </a:solidFill>
                <a:latin typeface="Calibri"/>
              </a:rPr>
              <a:t>surfaces auth and fetch failures on the ExternalSecret status</a:t>
            </a:r>
          </a:p>
        </p:txBody>
      </p:sp>
      <p:cxnSp>
        <p:nvCxnSpPr>
          <p:cNvPr id="30" name="Connector 29"/>
          <p:cNvCxnSpPr/>
          <p:nvPr/>
        </p:nvCxnSpPr>
        <p:spPr>
          <a:xfrm>
            <a:off x="6095984" y="2724912"/>
            <a:ext cx="0" cy="2139696"/>
          </a:xfrm>
          <a:prstGeom prst="line">
            <a:avLst/>
          </a:prstGeom>
          <a:ln w="12700">
            <a:solidFill>
              <a:srgbClr val="DDE3E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52016" y="2724912"/>
            <a:ext cx="5236448" cy="237744"/>
          </a:xfrm>
          <a:prstGeom prst="rect">
            <a:avLst/>
          </a:prstGeom>
          <a:noFill/>
        </p:spPr>
        <p:txBody>
          <a:bodyPr wrap="square" lIns="18288" rIns="18288" tIns="0" bIns="0" anchor="t">
            <a:noAutofit/>
          </a:bodyPr>
          <a:lstStyle/>
          <a:p>
            <a:pPr algn="l">
              <a:spcAft>
                <a:spcPts val="0"/>
              </a:spcAft>
            </a:pPr>
            <a:r>
              <a:rPr sz="1050" b="1" i="0">
                <a:solidFill>
                  <a:srgbClr val="D93B3B"/>
                </a:solidFill>
                <a:latin typeface="Calibri"/>
              </a:rPr>
              <a:t>WHAT IT DOES NOT DO</a:t>
            </a:r>
          </a:p>
        </p:txBody>
      </p:sp>
      <p:sp>
        <p:nvSpPr>
          <p:cNvPr id="32" name="Oval 31"/>
          <p:cNvSpPr/>
          <p:nvPr/>
        </p:nvSpPr>
        <p:spPr>
          <a:xfrm>
            <a:off x="6352016" y="3063240"/>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3" name="TextBox 32"/>
          <p:cNvSpPr txBox="1"/>
          <p:nvPr/>
        </p:nvSpPr>
        <p:spPr>
          <a:xfrm>
            <a:off x="6644624" y="3035808"/>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Restart pods  </a:t>
            </a:r>
            <a:r>
              <a:rPr sz="1050" b="0" i="0">
                <a:solidFill>
                  <a:srgbClr val="363F4D"/>
                </a:solidFill>
                <a:latin typeface="Calibri"/>
              </a:rPr>
              <a:t>the Secret changes; the running process does not notice</a:t>
            </a:r>
          </a:p>
        </p:txBody>
      </p:sp>
      <p:sp>
        <p:nvSpPr>
          <p:cNvPr id="34" name="Oval 33"/>
          <p:cNvSpPr/>
          <p:nvPr/>
        </p:nvSpPr>
        <p:spPr>
          <a:xfrm>
            <a:off x="6352016" y="3363087"/>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5" name="TextBox 34"/>
          <p:cNvSpPr txBox="1"/>
          <p:nvPr/>
        </p:nvSpPr>
        <p:spPr>
          <a:xfrm>
            <a:off x="6644624" y="3335655"/>
            <a:ext cx="4907264" cy="361950"/>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Encrypt the Secret  </a:t>
            </a:r>
            <a:r>
              <a:rPr sz="1050" b="0" i="0">
                <a:solidFill>
                  <a:srgbClr val="363F4D"/>
                </a:solidFill>
                <a:latin typeface="Calibri"/>
              </a:rPr>
              <a:t>it is still base64 in etcd — RBAC and encryption at rest are yours</a:t>
            </a:r>
          </a:p>
        </p:txBody>
      </p:sp>
      <p:sp>
        <p:nvSpPr>
          <p:cNvPr id="36" name="Oval 35"/>
          <p:cNvSpPr/>
          <p:nvPr/>
        </p:nvSpPr>
        <p:spPr>
          <a:xfrm>
            <a:off x="6352016" y="3825621"/>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7" name="TextBox 36"/>
          <p:cNvSpPr txBox="1"/>
          <p:nvPr/>
        </p:nvSpPr>
        <p:spPr>
          <a:xfrm>
            <a:off x="6644624" y="3798189"/>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Rotate the credential  </a:t>
            </a:r>
            <a:r>
              <a:rPr sz="1050" b="0" i="0">
                <a:solidFill>
                  <a:srgbClr val="363F4D"/>
                </a:solidFill>
                <a:latin typeface="Calibri"/>
              </a:rPr>
              <a:t>rotation happens in the secret manager, not here</a:t>
            </a:r>
          </a:p>
        </p:txBody>
      </p:sp>
      <p:sp>
        <p:nvSpPr>
          <p:cNvPr id="38" name="Oval 37"/>
          <p:cNvSpPr/>
          <p:nvPr/>
        </p:nvSpPr>
        <p:spPr>
          <a:xfrm>
            <a:off x="6352016" y="4125468"/>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9" name="TextBox 38"/>
          <p:cNvSpPr txBox="1"/>
          <p:nvPr/>
        </p:nvSpPr>
        <p:spPr>
          <a:xfrm>
            <a:off x="6644624" y="4098036"/>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Deploy anything  </a:t>
            </a:r>
            <a:r>
              <a:rPr sz="1050" b="0" i="0">
                <a:solidFill>
                  <a:srgbClr val="363F4D"/>
                </a:solidFill>
                <a:latin typeface="Calibri"/>
              </a:rPr>
              <a:t>the ExternalSecret manifest still has to reach the cluster</a:t>
            </a:r>
          </a:p>
        </p:txBody>
      </p:sp>
      <p:sp>
        <p:nvSpPr>
          <p:cNvPr id="40" name="Oval 39"/>
          <p:cNvSpPr/>
          <p:nvPr/>
        </p:nvSpPr>
        <p:spPr>
          <a:xfrm>
            <a:off x="6352016" y="4425315"/>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41" name="TextBox 40"/>
          <p:cNvSpPr txBox="1"/>
          <p:nvPr/>
        </p:nvSpPr>
        <p:spPr>
          <a:xfrm>
            <a:off x="6644624" y="4397883"/>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Fix secret zero  </a:t>
            </a:r>
            <a:r>
              <a:rPr sz="1050" b="0" i="0">
                <a:solidFill>
                  <a:srgbClr val="363F4D"/>
                </a:solidFill>
                <a:latin typeface="Calibri"/>
              </a:rPr>
              <a:t>it needs an identity to authenticate with — design that first</a:t>
            </a:r>
          </a:p>
        </p:txBody>
      </p:sp>
      <p:sp>
        <p:nvSpPr>
          <p:cNvPr id="42" name="Rectangle 41"/>
          <p:cNvSpPr/>
          <p:nvPr/>
        </p:nvSpPr>
        <p:spPr>
          <a:xfrm>
            <a:off x="493776" y="5010912"/>
            <a:ext cx="11204417" cy="530352"/>
          </a:xfrm>
          <a:prstGeom prst="rect">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31520" y="5102351"/>
            <a:ext cx="10728929" cy="384048"/>
          </a:xfrm>
          <a:prstGeom prst="rect">
            <a:avLst/>
          </a:prstGeom>
          <a:noFill/>
        </p:spPr>
        <p:txBody>
          <a:bodyPr wrap="square" lIns="18288" rIns="18288" tIns="0" bIns="0" anchor="ctr">
            <a:noAutofit/>
          </a:bodyPr>
          <a:lstStyle/>
          <a:p>
            <a:pPr algn="l">
              <a:lnSpc>
                <a:spcPct val="118000"/>
              </a:lnSpc>
              <a:spcAft>
                <a:spcPts val="0"/>
              </a:spcAft>
            </a:pPr>
            <a:r>
              <a:rPr sz="1200" b="1" i="0">
                <a:solidFill>
                  <a:srgbClr val="F26522"/>
                </a:solidFill>
                <a:latin typeface="Calibri"/>
              </a:rPr>
              <a:t>In our handbook example:  </a:t>
            </a:r>
            <a:r>
              <a:rPr sz="1200" b="0" i="0">
                <a:solidFill>
                  <a:srgbClr val="363F4D"/>
                </a:solidFill>
                <a:latin typeface="Calibri"/>
              </a:rPr>
              <a:t>it will happily update billing-db every hour while the billing pods keep using the credential they read at start-up.</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Lab 3 — Fetch a Real Secret From a Real Backend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Thirty minutes. Uses the in-cluster fake provider so nobody needs a cloud account.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Watch the status field. It tells you exactly which of the three steps failed.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ounded Rectangle 12"/>
          <p:cNvSpPr/>
          <p:nvPr/>
        </p:nvSpPr>
        <p:spPr>
          <a:xfrm>
            <a:off x="475488" y="1645920"/>
            <a:ext cx="5428472" cy="391363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1363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F26522"/>
                </a:solidFill>
                <a:latin typeface="Consolas"/>
              </a:rPr>
              <a:t>install and fetch</a:t>
            </a:r>
          </a:p>
        </p:txBody>
      </p:sp>
      <p:sp>
        <p:nvSpPr>
          <p:cNvPr id="16" name="TextBox 15"/>
          <p:cNvSpPr txBox="1"/>
          <p:nvPr/>
        </p:nvSpPr>
        <p:spPr>
          <a:xfrm>
            <a:off x="74980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1. install ESO</a:t>
            </a:r>
          </a:p>
        </p:txBody>
      </p:sp>
      <p:sp>
        <p:nvSpPr>
          <p:cNvPr id="17" name="TextBox 16"/>
          <p:cNvSpPr txBox="1"/>
          <p:nvPr/>
        </p:nvSpPr>
        <p:spPr>
          <a:xfrm>
            <a:off x="749808" y="224027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helm repo add external-secrets \</a:t>
            </a:r>
          </a:p>
        </p:txBody>
      </p:sp>
      <p:sp>
        <p:nvSpPr>
          <p:cNvPr id="18" name="TextBox 17"/>
          <p:cNvSpPr txBox="1"/>
          <p:nvPr/>
        </p:nvSpPr>
        <p:spPr>
          <a:xfrm>
            <a:off x="749808" y="241401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https://charts.external-secrets.io</a:t>
            </a:r>
          </a:p>
        </p:txBody>
      </p:sp>
      <p:sp>
        <p:nvSpPr>
          <p:cNvPr id="19" name="TextBox 18"/>
          <p:cNvSpPr txBox="1"/>
          <p:nvPr/>
        </p:nvSpPr>
        <p:spPr>
          <a:xfrm>
            <a:off x="74980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helm install external-secrets \</a:t>
            </a:r>
          </a:p>
        </p:txBody>
      </p:sp>
      <p:sp>
        <p:nvSpPr>
          <p:cNvPr id="20" name="TextBox 19"/>
          <p:cNvSpPr txBox="1"/>
          <p:nvPr/>
        </p:nvSpPr>
        <p:spPr>
          <a:xfrm>
            <a:off x="74980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external-secrets/external-secrets \</a:t>
            </a:r>
          </a:p>
        </p:txBody>
      </p:sp>
      <p:sp>
        <p:nvSpPr>
          <p:cNvPr id="21" name="TextBox 20"/>
          <p:cNvSpPr txBox="1"/>
          <p:nvPr/>
        </p:nvSpPr>
        <p:spPr>
          <a:xfrm>
            <a:off x="749808" y="293522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 external-secrets --create-namespace</a:t>
            </a:r>
          </a:p>
        </p:txBody>
      </p:sp>
      <p:sp>
        <p:nvSpPr>
          <p:cNvPr id="22" name="TextBox 21"/>
          <p:cNvSpPr txBox="1"/>
          <p:nvPr/>
        </p:nvSpPr>
        <p:spPr>
          <a:xfrm>
            <a:off x="749808" y="310895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3" name="TextBox 22"/>
          <p:cNvSpPr txBox="1"/>
          <p:nvPr/>
        </p:nvSpPr>
        <p:spPr>
          <a:xfrm>
            <a:off x="749808" y="3282695"/>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2. a store backed by an existing Secret</a:t>
            </a:r>
          </a:p>
        </p:txBody>
      </p:sp>
      <p:sp>
        <p:nvSpPr>
          <p:cNvPr id="24" name="TextBox 23"/>
          <p:cNvSpPr txBox="1"/>
          <p:nvPr/>
        </p:nvSpPr>
        <p:spPr>
          <a:xfrm>
            <a:off x="749808" y="3456431"/>
            <a:ext cx="4879832" cy="210312"/>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(the 'kubernetes' provider - no cloud needed)</a:t>
            </a:r>
          </a:p>
        </p:txBody>
      </p:sp>
      <p:sp>
        <p:nvSpPr>
          <p:cNvPr id="25" name="TextBox 24"/>
          <p:cNvSpPr txBox="1"/>
          <p:nvPr/>
        </p:nvSpPr>
        <p:spPr>
          <a:xfrm>
            <a:off x="749808" y="363016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apply -f store.yaml</a:t>
            </a:r>
          </a:p>
        </p:txBody>
      </p:sp>
      <p:sp>
        <p:nvSpPr>
          <p:cNvPr id="26" name="TextBox 25"/>
          <p:cNvSpPr txBox="1"/>
          <p:nvPr/>
        </p:nvSpPr>
        <p:spPr>
          <a:xfrm>
            <a:off x="749808" y="380390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7" name="TextBox 26"/>
          <p:cNvSpPr txBox="1"/>
          <p:nvPr/>
        </p:nvSpPr>
        <p:spPr>
          <a:xfrm>
            <a:off x="749808" y="3977639"/>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3. the instruction</a:t>
            </a:r>
          </a:p>
        </p:txBody>
      </p:sp>
      <p:sp>
        <p:nvSpPr>
          <p:cNvPr id="28" name="TextBox 27"/>
          <p:cNvSpPr txBox="1"/>
          <p:nvPr/>
        </p:nvSpPr>
        <p:spPr>
          <a:xfrm>
            <a:off x="749808" y="4151376"/>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apply -f externalsecret.yaml</a:t>
            </a:r>
          </a:p>
        </p:txBody>
      </p:sp>
      <p:sp>
        <p:nvSpPr>
          <p:cNvPr id="29" name="TextBox 28"/>
          <p:cNvSpPr txBox="1"/>
          <p:nvPr/>
        </p:nvSpPr>
        <p:spPr>
          <a:xfrm>
            <a:off x="749808" y="4325112"/>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30" name="TextBox 29"/>
          <p:cNvSpPr txBox="1"/>
          <p:nvPr/>
        </p:nvSpPr>
        <p:spPr>
          <a:xfrm>
            <a:off x="749808" y="4498848"/>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4. did it work?</a:t>
            </a:r>
          </a:p>
        </p:txBody>
      </p:sp>
      <p:sp>
        <p:nvSpPr>
          <p:cNvPr id="31" name="TextBox 30"/>
          <p:cNvSpPr txBox="1"/>
          <p:nvPr/>
        </p:nvSpPr>
        <p:spPr>
          <a:xfrm>
            <a:off x="749808" y="4672584"/>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get externalsecret billing-db</a:t>
            </a:r>
          </a:p>
        </p:txBody>
      </p:sp>
      <p:sp>
        <p:nvSpPr>
          <p:cNvPr id="32" name="TextBox 31"/>
          <p:cNvSpPr txBox="1"/>
          <p:nvPr/>
        </p:nvSpPr>
        <p:spPr>
          <a:xfrm>
            <a:off x="749808" y="4846320"/>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get secret billing-db -o yaml</a:t>
            </a:r>
          </a:p>
        </p:txBody>
      </p:sp>
      <p:sp>
        <p:nvSpPr>
          <p:cNvPr id="33" name="Rounded Rectangle 32"/>
          <p:cNvSpPr/>
          <p:nvPr/>
        </p:nvSpPr>
        <p:spPr>
          <a:xfrm>
            <a:off x="6288008" y="1645920"/>
            <a:ext cx="5428472" cy="2103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88008" y="1645920"/>
            <a:ext cx="64008" cy="210312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D93B3B"/>
                </a:solidFill>
                <a:latin typeface="Consolas"/>
              </a:rPr>
              <a:t>the part that teaches you the most</a:t>
            </a:r>
          </a:p>
        </p:txBody>
      </p:sp>
      <p:sp>
        <p:nvSpPr>
          <p:cNvPr id="36" name="TextBox 35"/>
          <p:cNvSpPr txBox="1"/>
          <p:nvPr/>
        </p:nvSpPr>
        <p:spPr>
          <a:xfrm>
            <a:off x="656232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5. break it deliberately</a:t>
            </a:r>
          </a:p>
        </p:txBody>
      </p:sp>
      <p:sp>
        <p:nvSpPr>
          <p:cNvPr id="37" name="TextBox 36"/>
          <p:cNvSpPr txBox="1"/>
          <p:nvPr/>
        </p:nvSpPr>
        <p:spPr>
          <a:xfrm>
            <a:off x="6562328" y="2240279"/>
            <a:ext cx="4879832" cy="210312"/>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point remoteRef.key at something</a:t>
            </a:r>
          </a:p>
        </p:txBody>
      </p:sp>
      <p:sp>
        <p:nvSpPr>
          <p:cNvPr id="38" name="TextBox 37"/>
          <p:cNvSpPr txBox="1"/>
          <p:nvPr/>
        </p:nvSpPr>
        <p:spPr>
          <a:xfrm>
            <a:off x="6562328" y="2414015"/>
            <a:ext cx="4879832" cy="210312"/>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that does not exist, re-apply, then:</a:t>
            </a:r>
          </a:p>
        </p:txBody>
      </p:sp>
      <p:sp>
        <p:nvSpPr>
          <p:cNvPr id="39" name="TextBox 38"/>
          <p:cNvSpPr txBox="1"/>
          <p:nvPr/>
        </p:nvSpPr>
        <p:spPr>
          <a:xfrm>
            <a:off x="656232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0" name="TextBox 39"/>
          <p:cNvSpPr txBox="1"/>
          <p:nvPr/>
        </p:nvSpPr>
        <p:spPr>
          <a:xfrm>
            <a:off x="656232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describe externalsecret billing-db</a:t>
            </a:r>
          </a:p>
        </p:txBody>
      </p:sp>
      <p:sp>
        <p:nvSpPr>
          <p:cNvPr id="41" name="TextBox 40"/>
          <p:cNvSpPr txBox="1"/>
          <p:nvPr/>
        </p:nvSpPr>
        <p:spPr>
          <a:xfrm>
            <a:off x="6562328" y="293522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2" name="TextBox 41"/>
          <p:cNvSpPr txBox="1"/>
          <p:nvPr/>
        </p:nvSpPr>
        <p:spPr>
          <a:xfrm>
            <a:off x="6562328" y="3108959"/>
            <a:ext cx="4879832" cy="21031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read the status conditions - they name</a:t>
            </a:r>
          </a:p>
        </p:txBody>
      </p:sp>
      <p:sp>
        <p:nvSpPr>
          <p:cNvPr id="43" name="TextBox 42"/>
          <p:cNvSpPr txBox="1"/>
          <p:nvPr/>
        </p:nvSpPr>
        <p:spPr>
          <a:xfrm>
            <a:off x="6562328" y="3282695"/>
            <a:ext cx="4879832" cy="21031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the failure precisely</a:t>
            </a:r>
          </a:p>
        </p:txBody>
      </p:sp>
      <p:sp>
        <p:nvSpPr>
          <p:cNvPr id="44" name="Rounded Rectangle 43"/>
          <p:cNvSpPr/>
          <p:nvPr/>
        </p:nvSpPr>
        <p:spPr>
          <a:xfrm>
            <a:off x="6288008" y="3950208"/>
            <a:ext cx="5428472" cy="1609344"/>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288008" y="3950208"/>
            <a:ext cx="77724" cy="16093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44040" y="4096512"/>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to look for in status</a:t>
            </a:r>
          </a:p>
        </p:txBody>
      </p:sp>
      <p:sp>
        <p:nvSpPr>
          <p:cNvPr id="47" name="TextBox 46"/>
          <p:cNvSpPr txBox="1"/>
          <p:nvPr/>
        </p:nvSpPr>
        <p:spPr>
          <a:xfrm>
            <a:off x="6544040" y="4498848"/>
            <a:ext cx="4971272" cy="932688"/>
          </a:xfrm>
          <a:prstGeom prst="rect">
            <a:avLst/>
          </a:prstGeom>
          <a:noFill/>
        </p:spPr>
        <p:txBody>
          <a:bodyPr wrap="square" lIns="18288" rIns="18288" tIns="0" bIns="0" anchor="t">
            <a:noAutofit/>
          </a:bodyPr>
          <a:lstStyle/>
          <a:p>
            <a:pPr algn="l">
              <a:lnSpc>
                <a:spcPct val="124000"/>
              </a:lnSpc>
              <a:spcAft>
                <a:spcPts val="0"/>
              </a:spcAft>
            </a:pPr>
            <a:r>
              <a:rPr sz="850" b="0" i="0">
                <a:solidFill>
                  <a:srgbClr val="363F4D"/>
                </a:solidFill>
                <a:latin typeface="Calibri"/>
              </a:rPr>
              <a:t>SecretSyncedError with a provider message → the key or property is wrong.</a:t>
            </a:r>
          </a:p>
          <a:p>
            <a:pPr algn="l">
              <a:lnSpc>
                <a:spcPct val="124000"/>
              </a:lnSpc>
              <a:spcAft>
                <a:spcPts val="0"/>
              </a:spcAft>
            </a:pPr>
            <a:r>
              <a:rPr sz="850" b="0" i="0">
                <a:solidFill>
                  <a:srgbClr val="363F4D"/>
                </a:solidFill>
                <a:latin typeface="Calibri"/>
              </a:rPr>
              <a:t/>
            </a:r>
          </a:p>
          <a:p>
            <a:pPr algn="l">
              <a:lnSpc>
                <a:spcPct val="124000"/>
              </a:lnSpc>
              <a:spcAft>
                <a:spcPts val="0"/>
              </a:spcAft>
            </a:pPr>
            <a:r>
              <a:rPr sz="850" b="0" i="0">
                <a:solidFill>
                  <a:srgbClr val="363F4D"/>
                </a:solidFill>
                <a:latin typeface="Calibri"/>
              </a:rPr>
              <a:t>An authentication error → the store, not the ExternalSecret.</a:t>
            </a:r>
          </a:p>
          <a:p>
            <a:pPr algn="l">
              <a:lnSpc>
                <a:spcPct val="124000"/>
              </a:lnSpc>
              <a:spcAft>
                <a:spcPts val="0"/>
              </a:spcAft>
            </a:pPr>
            <a:r>
              <a:rPr sz="850" b="0" i="0">
                <a:solidFill>
                  <a:srgbClr val="363F4D"/>
                </a:solidFill>
                <a:latin typeface="Calibri"/>
              </a:rPr>
              <a:t/>
            </a:r>
          </a:p>
          <a:p>
            <a:pPr algn="l">
              <a:lnSpc>
                <a:spcPct val="124000"/>
              </a:lnSpc>
              <a:spcAft>
                <a:spcPts val="0"/>
              </a:spcAft>
            </a:pPr>
            <a:r>
              <a:rPr sz="850" b="0" i="0">
                <a:solidFill>
                  <a:srgbClr val="363F4D"/>
                </a:solidFill>
                <a:latin typeface="Calibri"/>
              </a:rPr>
              <a:t>Ready=True but the Secret is empty → the remote value exists but the property name does not match.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External Secrets — What Goes Wrong and How to Read It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Almost every failure is one of these five.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Check the store before the ExternalSecret. A broken store makes every ExternalSecret look broken.</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13" name="Rectangle 12"/>
          <p:cNvSpPr/>
          <p:nvPr/>
        </p:nvSpPr>
        <p:spPr>
          <a:xfrm>
            <a:off x="475488" y="1645920"/>
            <a:ext cx="3611880" cy="42062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Symptom</a:t>
            </a:r>
          </a:p>
        </p:txBody>
      </p:sp>
      <p:sp>
        <p:nvSpPr>
          <p:cNvPr id="14" name="Rectangle 13"/>
          <p:cNvSpPr/>
          <p:nvPr/>
        </p:nvSpPr>
        <p:spPr>
          <a:xfrm>
            <a:off x="4087368" y="1645920"/>
            <a:ext cx="416052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Usual cause</a:t>
            </a:r>
          </a:p>
        </p:txBody>
      </p:sp>
      <p:sp>
        <p:nvSpPr>
          <p:cNvPr id="15" name="Rectangle 14"/>
          <p:cNvSpPr/>
          <p:nvPr/>
        </p:nvSpPr>
        <p:spPr>
          <a:xfrm>
            <a:off x="8247888" y="1645920"/>
            <a:ext cx="3456432"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Where to look</a:t>
            </a:r>
          </a:p>
        </p:txBody>
      </p:sp>
      <p:sp>
        <p:nvSpPr>
          <p:cNvPr id="16" name="Rectangle 15"/>
          <p:cNvSpPr/>
          <p:nvPr/>
        </p:nvSpPr>
        <p:spPr>
          <a:xfrm>
            <a:off x="475488" y="2066544"/>
            <a:ext cx="36118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No Secret is created at all</a:t>
            </a:r>
          </a:p>
        </p:txBody>
      </p:sp>
      <p:sp>
        <p:nvSpPr>
          <p:cNvPr id="17" name="Rectangle 16"/>
          <p:cNvSpPr/>
          <p:nvPr/>
        </p:nvSpPr>
        <p:spPr>
          <a:xfrm>
            <a:off x="4087368" y="2066544"/>
            <a:ext cx="41605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ExternalSecret was never applied, or its store reference names a kind it is not</a:t>
            </a:r>
          </a:p>
        </p:txBody>
      </p:sp>
      <p:sp>
        <p:nvSpPr>
          <p:cNvPr id="18" name="Rectangle 17"/>
          <p:cNvSpPr/>
          <p:nvPr/>
        </p:nvSpPr>
        <p:spPr>
          <a:xfrm>
            <a:off x="8247888" y="2066544"/>
            <a:ext cx="345643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externalsecret; check secretStoreRef.kind</a:t>
            </a:r>
          </a:p>
        </p:txBody>
      </p:sp>
      <p:sp>
        <p:nvSpPr>
          <p:cNvPr id="19" name="Rectangle 18"/>
          <p:cNvSpPr/>
          <p:nvPr/>
        </p:nvSpPr>
        <p:spPr>
          <a:xfrm>
            <a:off x="475488" y="2765145"/>
            <a:ext cx="361188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SecretSyncedError, auth failure</a:t>
            </a:r>
          </a:p>
        </p:txBody>
      </p:sp>
      <p:sp>
        <p:nvSpPr>
          <p:cNvPr id="20" name="Rectangle 19"/>
          <p:cNvSpPr/>
          <p:nvPr/>
        </p:nvSpPr>
        <p:spPr>
          <a:xfrm>
            <a:off x="4087368" y="2765145"/>
            <a:ext cx="416052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IRSA or Workload Identity is not wired to the ServiceAccount ESO actually runs as</a:t>
            </a:r>
          </a:p>
        </p:txBody>
      </p:sp>
      <p:sp>
        <p:nvSpPr>
          <p:cNvPr id="21" name="Rectangle 20"/>
          <p:cNvSpPr/>
          <p:nvPr/>
        </p:nvSpPr>
        <p:spPr>
          <a:xfrm>
            <a:off x="8247888" y="2765145"/>
            <a:ext cx="3456432"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clustersecretstore; controller logs</a:t>
            </a:r>
          </a:p>
        </p:txBody>
      </p:sp>
      <p:sp>
        <p:nvSpPr>
          <p:cNvPr id="22" name="Rectangle 21"/>
          <p:cNvSpPr/>
          <p:nvPr/>
        </p:nvSpPr>
        <p:spPr>
          <a:xfrm>
            <a:off x="475488" y="3463747"/>
            <a:ext cx="36118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Ready, but the Secret has empty values</a:t>
            </a:r>
          </a:p>
        </p:txBody>
      </p:sp>
      <p:sp>
        <p:nvSpPr>
          <p:cNvPr id="23" name="Rectangle 22"/>
          <p:cNvSpPr/>
          <p:nvPr/>
        </p:nvSpPr>
        <p:spPr>
          <a:xfrm>
            <a:off x="4087368" y="3463747"/>
            <a:ext cx="41605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remote key exists; the property name inside it does not</a:t>
            </a:r>
          </a:p>
        </p:txBody>
      </p:sp>
      <p:sp>
        <p:nvSpPr>
          <p:cNvPr id="24" name="Rectangle 23"/>
          <p:cNvSpPr/>
          <p:nvPr/>
        </p:nvSpPr>
        <p:spPr>
          <a:xfrm>
            <a:off x="8247888" y="3463747"/>
            <a:ext cx="345643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Fetch the raw secret from the provider and compare key names</a:t>
            </a:r>
          </a:p>
        </p:txBody>
      </p:sp>
      <p:sp>
        <p:nvSpPr>
          <p:cNvPr id="25" name="Rectangle 24"/>
          <p:cNvSpPr/>
          <p:nvPr/>
        </p:nvSpPr>
        <p:spPr>
          <a:xfrm>
            <a:off x="475488" y="4162348"/>
            <a:ext cx="361188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Rotation in the vault never arrives</a:t>
            </a:r>
          </a:p>
        </p:txBody>
      </p:sp>
      <p:sp>
        <p:nvSpPr>
          <p:cNvPr id="26" name="Rectangle 25"/>
          <p:cNvSpPr/>
          <p:nvPr/>
        </p:nvSpPr>
        <p:spPr>
          <a:xfrm>
            <a:off x="4087368" y="4162348"/>
            <a:ext cx="416052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refreshInterval is 0, or longer than you think</a:t>
            </a:r>
          </a:p>
        </p:txBody>
      </p:sp>
      <p:sp>
        <p:nvSpPr>
          <p:cNvPr id="27" name="Rectangle 26"/>
          <p:cNvSpPr/>
          <p:nvPr/>
        </p:nvSpPr>
        <p:spPr>
          <a:xfrm>
            <a:off x="8247888" y="4162348"/>
            <a:ext cx="3456432"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externalsecret -o jsonpath for the refresh time</a:t>
            </a:r>
          </a:p>
        </p:txBody>
      </p:sp>
      <p:sp>
        <p:nvSpPr>
          <p:cNvPr id="28" name="Rectangle 27"/>
          <p:cNvSpPr/>
          <p:nvPr/>
        </p:nvSpPr>
        <p:spPr>
          <a:xfrm>
            <a:off x="475488" y="4860950"/>
            <a:ext cx="36118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Secret updates but nothing changes</a:t>
            </a:r>
          </a:p>
        </p:txBody>
      </p:sp>
      <p:sp>
        <p:nvSpPr>
          <p:cNvPr id="29" name="Rectangle 28"/>
          <p:cNvSpPr/>
          <p:nvPr/>
        </p:nvSpPr>
        <p:spPr>
          <a:xfrm>
            <a:off x="4087368" y="4860950"/>
            <a:ext cx="41605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Working as designed — no pod has restarted</a:t>
            </a:r>
          </a:p>
        </p:txBody>
      </p:sp>
      <p:sp>
        <p:nvSpPr>
          <p:cNvPr id="30" name="Rectangle 29"/>
          <p:cNvSpPr/>
          <p:nvPr/>
        </p:nvSpPr>
        <p:spPr>
          <a:xfrm>
            <a:off x="8247888" y="4860950"/>
            <a:ext cx="345643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That is section 05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Quick Check — External Secrets Operator</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Answer before you turn to the appendix.</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04  External Secrets</a:t>
            </a:r>
          </a:p>
        </p:txBody>
      </p:sp>
      <p:sp>
        <p:nvSpPr>
          <p:cNvPr id="9" name="Rounded Rectangle 8"/>
          <p:cNvSpPr/>
          <p:nvPr/>
        </p:nvSpPr>
        <p:spPr>
          <a:xfrm>
            <a:off x="4754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21310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58368" y="2124456"/>
            <a:ext cx="256032" cy="256032"/>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2" name="TextBox 11"/>
          <p:cNvSpPr txBox="1"/>
          <p:nvPr/>
        </p:nvSpPr>
        <p:spPr>
          <a:xfrm>
            <a:off x="10241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What is secret zero, and what is the correct way to solve it on a managed cloud cluster?</a:t>
            </a:r>
          </a:p>
        </p:txBody>
      </p:sp>
      <p:sp>
        <p:nvSpPr>
          <p:cNvPr id="13" name="Rounded Rectangle 12"/>
          <p:cNvSpPr/>
          <p:nvPr/>
        </p:nvSpPr>
        <p:spPr>
          <a:xfrm>
            <a:off x="6242288" y="1645920"/>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42288" y="1645920"/>
            <a:ext cx="64008" cy="121310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425168" y="2124456"/>
            <a:ext cx="256032" cy="256032"/>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6" name="TextBox 15"/>
          <p:cNvSpPr txBox="1"/>
          <p:nvPr/>
        </p:nvSpPr>
        <p:spPr>
          <a:xfrm>
            <a:off x="6790928" y="1664208"/>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is an ExternalSecret manifest safe to commit to a public repository?</a:t>
            </a:r>
          </a:p>
        </p:txBody>
      </p:sp>
      <p:sp>
        <p:nvSpPr>
          <p:cNvPr id="17" name="Rounded Rectangle 16"/>
          <p:cNvSpPr/>
          <p:nvPr/>
        </p:nvSpPr>
        <p:spPr>
          <a:xfrm>
            <a:off x="4754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 y="3005328"/>
            <a:ext cx="64008" cy="121310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58368" y="3483864"/>
            <a:ext cx="256032" cy="25603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0" name="TextBox 19"/>
          <p:cNvSpPr txBox="1"/>
          <p:nvPr/>
        </p:nvSpPr>
        <p:spPr>
          <a:xfrm>
            <a:off x="10241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When would you choose ClusterSecretStore over SecretStore?</a:t>
            </a:r>
          </a:p>
        </p:txBody>
      </p:sp>
      <p:sp>
        <p:nvSpPr>
          <p:cNvPr id="21" name="Rounded Rectangle 20"/>
          <p:cNvSpPr/>
          <p:nvPr/>
        </p:nvSpPr>
        <p:spPr>
          <a:xfrm>
            <a:off x="6242288" y="3005328"/>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42288" y="3005328"/>
            <a:ext cx="64008" cy="1213104"/>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25168" y="3483864"/>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TextBox 23"/>
          <p:cNvSpPr txBox="1"/>
          <p:nvPr/>
        </p:nvSpPr>
        <p:spPr>
          <a:xfrm>
            <a:off x="6790928" y="3023616"/>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deletionPolicy is set to Delete and someone renames the key in the vault. What happens to your running application?</a:t>
            </a:r>
          </a:p>
        </p:txBody>
      </p:sp>
      <p:sp>
        <p:nvSpPr>
          <p:cNvPr id="25" name="Rounded Rectangle 24"/>
          <p:cNvSpPr/>
          <p:nvPr/>
        </p:nvSpPr>
        <p:spPr>
          <a:xfrm>
            <a:off x="4754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4364736"/>
            <a:ext cx="64008" cy="12131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58368" y="4843272"/>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5</a:t>
            </a:r>
          </a:p>
        </p:txBody>
      </p:sp>
      <p:sp>
        <p:nvSpPr>
          <p:cNvPr id="28" name="TextBox 27"/>
          <p:cNvSpPr txBox="1"/>
          <p:nvPr/>
        </p:nvSpPr>
        <p:spPr>
          <a:xfrm>
            <a:off x="10241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Your ExternalSecret reports Ready=True but the Secret keys are empty. What is the most likely cause?</a:t>
            </a:r>
          </a:p>
        </p:txBody>
      </p:sp>
      <p:sp>
        <p:nvSpPr>
          <p:cNvPr id="29" name="Rounded Rectangle 28"/>
          <p:cNvSpPr/>
          <p:nvPr/>
        </p:nvSpPr>
        <p:spPr>
          <a:xfrm>
            <a:off x="6242288" y="4364736"/>
            <a:ext cx="5474192" cy="1213104"/>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42288" y="4364736"/>
            <a:ext cx="64008" cy="1213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6425168" y="4843272"/>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6</a:t>
            </a:r>
          </a:p>
        </p:txBody>
      </p:sp>
      <p:sp>
        <p:nvSpPr>
          <p:cNvPr id="32" name="TextBox 31"/>
          <p:cNvSpPr txBox="1"/>
          <p:nvPr/>
        </p:nvSpPr>
        <p:spPr>
          <a:xfrm>
            <a:off x="6790928" y="4383024"/>
            <a:ext cx="4788392" cy="1176528"/>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After ESO updates a Secret, what still has to happen before the application uses the new value?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05</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75234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Reloader</a:t>
            </a:r>
          </a:p>
        </p:txBody>
      </p:sp>
      <p:sp>
        <p:nvSpPr>
          <p:cNvPr id="7" name="TextBox 6"/>
          <p:cNvSpPr txBox="1"/>
          <p:nvPr/>
        </p:nvSpPr>
        <p:spPr>
          <a:xfrm>
            <a:off x="1325880" y="312978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Closing the last gap: making the running process pick the new value up.</a:t>
            </a:r>
          </a:p>
        </p:txBody>
      </p:sp>
      <p:sp>
        <p:nvSpPr>
          <p:cNvPr id="8" name="Rectangle 7"/>
          <p:cNvSpPr/>
          <p:nvPr/>
        </p:nvSpPr>
        <p:spPr>
          <a:xfrm>
            <a:off x="1344168" y="3879596"/>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378815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Why Kubernetes deliberately does not restart your pod</a:t>
            </a:r>
          </a:p>
        </p:txBody>
      </p:sp>
      <p:sp>
        <p:nvSpPr>
          <p:cNvPr id="10" name="Rectangle 9"/>
          <p:cNvSpPr/>
          <p:nvPr/>
        </p:nvSpPr>
        <p:spPr>
          <a:xfrm>
            <a:off x="1344168" y="4263644"/>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17220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The four annotations, and where they go</a:t>
            </a:r>
          </a:p>
        </p:txBody>
      </p:sp>
      <p:sp>
        <p:nvSpPr>
          <p:cNvPr id="12" name="Rectangle 11"/>
          <p:cNvSpPr/>
          <p:nvPr/>
        </p:nvSpPr>
        <p:spPr>
          <a:xfrm>
            <a:off x="1344168" y="4647692"/>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455625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Two rollout strategies, and why the choice matters to Argo CD</a:t>
            </a:r>
          </a:p>
        </p:txBody>
      </p:sp>
      <p:sp>
        <p:nvSpPr>
          <p:cNvPr id="14" name="Rectangle 13"/>
          <p:cNvSpPr/>
          <p:nvPr/>
        </p:nvSpPr>
        <p:spPr>
          <a:xfrm>
            <a:off x="1344168" y="5031740"/>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494030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Lab 4: watch a rotation finally reach the process</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05</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05  Reloader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Why Kubernetes Does Not Restart Your Pod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It is not an oversight. It is a deliberate design decision, and it is the right one.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Kubernetes restarts pods when the pod spec changes. Secret data is not part of the pod spec.</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11240993" cy="118872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77724" cy="11887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179222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rule that explains everything</a:t>
            </a:r>
          </a:p>
        </p:txBody>
      </p:sp>
      <p:sp>
        <p:nvSpPr>
          <p:cNvPr id="16" name="TextBox 15"/>
          <p:cNvSpPr txBox="1"/>
          <p:nvPr/>
        </p:nvSpPr>
        <p:spPr>
          <a:xfrm>
            <a:off x="731520" y="2194560"/>
            <a:ext cx="10783793" cy="512064"/>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A Deployment creates a new ReplicaSet — and therefore new pods — when its pod template changes. Changing the *contents* of a Secret or ConfigMap does not change the template: the template still says 'mount the Secret named billing-db'. That sentence is identical before and after the rotation, so nothing rolls.</a:t>
            </a:r>
          </a:p>
        </p:txBody>
      </p:sp>
      <p:sp>
        <p:nvSpPr>
          <p:cNvPr id="17" name="Rounded Rectangle 16"/>
          <p:cNvSpPr/>
          <p:nvPr/>
        </p:nvSpPr>
        <p:spPr>
          <a:xfrm>
            <a:off x="475488" y="3072384"/>
            <a:ext cx="5428472" cy="254203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75488" y="3072384"/>
            <a:ext cx="77724" cy="2542032"/>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1520" y="3218688"/>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this is correct behaviour</a:t>
            </a:r>
          </a:p>
        </p:txBody>
      </p:sp>
      <p:sp>
        <p:nvSpPr>
          <p:cNvPr id="20" name="TextBox 19"/>
          <p:cNvSpPr txBox="1"/>
          <p:nvPr/>
        </p:nvSpPr>
        <p:spPr>
          <a:xfrm>
            <a:off x="731520" y="3621024"/>
            <a:ext cx="4971272" cy="1865375"/>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Imagine the alternative. A single ConfigMap shared by forty Deployments; one careless edit and the entire cluster restarts at once.</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Kubernetes refuses to guess. It gives you the primitive and lets you decide which workloads should react and when.</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Reloader is that decision, expressed as an annotation.</a:t>
            </a:r>
          </a:p>
        </p:txBody>
      </p:sp>
      <p:sp>
        <p:nvSpPr>
          <p:cNvPr id="21" name="Rounded Rectangle 20"/>
          <p:cNvSpPr/>
          <p:nvPr/>
        </p:nvSpPr>
        <p:spPr>
          <a:xfrm>
            <a:off x="6288008" y="3072384"/>
            <a:ext cx="5428472" cy="254203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88008" y="3072384"/>
            <a:ext cx="77724" cy="25420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44040" y="3218688"/>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workarounds people invent first</a:t>
            </a:r>
          </a:p>
        </p:txBody>
      </p:sp>
      <p:sp>
        <p:nvSpPr>
          <p:cNvPr id="24" name="TextBox 23"/>
          <p:cNvSpPr txBox="1"/>
          <p:nvPr/>
        </p:nvSpPr>
        <p:spPr>
          <a:xfrm>
            <a:off x="6544040" y="3621024"/>
            <a:ext cx="4971272" cy="1865375"/>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 A checksum annotation on the pod template, computed by Helm at render time. Works, but only when Helm re-renders — so not for a rotation ESO made.</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 kubectl rollout restart from a cron job. Restarts whether or not anything changed.</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 Writing your own controller. This is what Reloader already 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Reloader Does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One small controller with one job: notice, then roll.</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It watches ConfigMaps and Secrets, and rolls the workloads you told it to care about.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2604508" cy="1078992"/>
          </a:xfrm>
          <a:prstGeom prst="roundRect">
            <a:avLst>
              <a:gd name="adj" fmla="val 12000"/>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Watch</a:t>
            </a:r>
          </a:p>
          <a:p>
            <a:pPr algn="ctr"/>
            <a:r>
              <a:rPr sz="400" b="1" i="0">
                <a:solidFill>
                  <a:srgbClr val="FFFFFF"/>
                </a:solidFill>
                <a:latin typeface="Calibri"/>
              </a:rPr>
              <a:t/>
            </a:r>
          </a:p>
          <a:p>
            <a:pPr algn="ctr"/>
            <a:r>
              <a:rPr sz="1100" b="0" i="0">
                <a:solidFill>
                  <a:srgbClr val="DCE6F5"/>
                </a:solidFill>
                <a:latin typeface="Calibri"/>
              </a:rPr>
              <a:t>the API server, for ConfigMap and Secret changes</a:t>
            </a:r>
          </a:p>
        </p:txBody>
      </p:sp>
      <p:sp>
        <p:nvSpPr>
          <p:cNvPr id="14" name="Oval 13"/>
          <p:cNvSpPr/>
          <p:nvPr/>
        </p:nvSpPr>
        <p:spPr>
          <a:xfrm>
            <a:off x="163143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3121144" y="2103120"/>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4316" y="1645920"/>
            <a:ext cx="2604508" cy="107899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Match</a:t>
            </a:r>
          </a:p>
          <a:p>
            <a:pPr algn="ctr"/>
            <a:r>
              <a:rPr sz="400" b="1" i="0">
                <a:solidFill>
                  <a:srgbClr val="FFFFFF"/>
                </a:solidFill>
                <a:latin typeface="Calibri"/>
              </a:rPr>
              <a:t/>
            </a:r>
          </a:p>
          <a:p>
            <a:pPr algn="ctr"/>
            <a:r>
              <a:rPr sz="1100" b="0" i="0">
                <a:solidFill>
                  <a:srgbClr val="DCE6F5"/>
                </a:solidFill>
                <a:latin typeface="Calibri"/>
              </a:rPr>
              <a:t>which workloads reference the changed object</a:t>
            </a:r>
          </a:p>
        </p:txBody>
      </p:sp>
      <p:sp>
        <p:nvSpPr>
          <p:cNvPr id="17" name="Oval 16"/>
          <p:cNvSpPr/>
          <p:nvPr/>
        </p:nvSpPr>
        <p:spPr>
          <a:xfrm>
            <a:off x="451026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5999972" y="2103120"/>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2604508" cy="1078992"/>
          </a:xfrm>
          <a:prstGeom prst="roundRect">
            <a:avLst>
              <a:gd name="adj" fmla="val 12000"/>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Patch</a:t>
            </a:r>
          </a:p>
          <a:p>
            <a:pPr algn="ctr"/>
            <a:r>
              <a:rPr sz="400" b="1" i="0">
                <a:solidFill>
                  <a:srgbClr val="FFFFFF"/>
                </a:solidFill>
                <a:latin typeface="Calibri"/>
              </a:rPr>
              <a:t/>
            </a:r>
          </a:p>
          <a:p>
            <a:pPr algn="ctr"/>
            <a:r>
              <a:rPr sz="1100" b="0" i="0">
                <a:solidFill>
                  <a:srgbClr val="DCE6F5"/>
                </a:solidFill>
                <a:latin typeface="Calibri"/>
              </a:rPr>
              <a:t>the pod template — a dummy env var or an annotation</a:t>
            </a:r>
          </a:p>
        </p:txBody>
      </p:sp>
      <p:sp>
        <p:nvSpPr>
          <p:cNvPr id="20" name="Oval 19"/>
          <p:cNvSpPr/>
          <p:nvPr/>
        </p:nvSpPr>
        <p:spPr>
          <a:xfrm>
            <a:off x="7389094"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8878801" y="2103120"/>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11973" y="1645920"/>
            <a:ext cx="2604508" cy="1078992"/>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Roll</a:t>
            </a:r>
          </a:p>
          <a:p>
            <a:pPr algn="ctr"/>
            <a:r>
              <a:rPr sz="400" b="1" i="0">
                <a:solidFill>
                  <a:srgbClr val="FFFFFF"/>
                </a:solidFill>
                <a:latin typeface="Calibri"/>
              </a:rPr>
              <a:t/>
            </a:r>
          </a:p>
          <a:p>
            <a:pPr algn="ctr"/>
            <a:r>
              <a:rPr sz="1100" b="0" i="0">
                <a:solidFill>
                  <a:srgbClr val="DCE6F5"/>
                </a:solidFill>
                <a:latin typeface="Calibri"/>
              </a:rPr>
              <a:t>Kubernetes performs an ordinary rolling update</a:t>
            </a:r>
          </a:p>
        </p:txBody>
      </p:sp>
      <p:sp>
        <p:nvSpPr>
          <p:cNvPr id="23" name="Oval 22"/>
          <p:cNvSpPr/>
          <p:nvPr/>
        </p:nvSpPr>
        <p:spPr>
          <a:xfrm>
            <a:off x="1026792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ounded Rectangle 23"/>
          <p:cNvSpPr/>
          <p:nvPr/>
        </p:nvSpPr>
        <p:spPr>
          <a:xfrm>
            <a:off x="475488" y="3127248"/>
            <a:ext cx="5428472" cy="22128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127248"/>
            <a:ext cx="77724" cy="22128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3273552"/>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trick, in one line</a:t>
            </a:r>
          </a:p>
        </p:txBody>
      </p:sp>
      <p:sp>
        <p:nvSpPr>
          <p:cNvPr id="27" name="TextBox 26"/>
          <p:cNvSpPr txBox="1"/>
          <p:nvPr/>
        </p:nvSpPr>
        <p:spPr>
          <a:xfrm>
            <a:off x="731520" y="3675887"/>
            <a:ext cx="4971272" cy="1536192"/>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Reloader does not have a special restart power. It edits the pod template so that Kubernetes' own rules take over.</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Because the template genuinely changed, the Deployment controller creates a new ReplicaSet and rolls it out — respecting your maxSurge, maxUnavailable, readiness probes and PodDisruptionBudget exactly as any other deploy would.</a:t>
            </a:r>
          </a:p>
        </p:txBody>
      </p:sp>
      <p:sp>
        <p:nvSpPr>
          <p:cNvPr id="28" name="Rounded Rectangle 27"/>
          <p:cNvSpPr/>
          <p:nvPr/>
        </p:nvSpPr>
        <p:spPr>
          <a:xfrm>
            <a:off x="6288008" y="3127248"/>
            <a:ext cx="5428472" cy="22128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88008" y="3127248"/>
            <a:ext cx="77724" cy="221284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44040" y="3273552"/>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Which means</a:t>
            </a:r>
          </a:p>
        </p:txBody>
      </p:sp>
      <p:sp>
        <p:nvSpPr>
          <p:cNvPr id="31" name="TextBox 30"/>
          <p:cNvSpPr txBox="1"/>
          <p:nvPr/>
        </p:nvSpPr>
        <p:spPr>
          <a:xfrm>
            <a:off x="6544040" y="3675887"/>
            <a:ext cx="4971272" cy="1536192"/>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It is a normal rolling update. Not a kill, not a restart storm.</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Zero downtime if your probes are honest, and the usual downtime if they are not.</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It also means everything you already know about safe rollouts still applies — Reloader does not need its own safety story.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Installing Reloader, and Keeping It Out of the Way</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It watches the whole cluster by default. Decide whether you want that.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Scope it deliberately. A cluster-wide watcher with a broad annotation policy can roll far more than you meant.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6126480" cy="23317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2331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577840" cy="237744"/>
          </a:xfrm>
          <a:prstGeom prst="rect">
            <a:avLst/>
          </a:prstGeom>
          <a:noFill/>
        </p:spPr>
        <p:txBody>
          <a:bodyPr wrap="square" lIns="18288" rIns="18288" tIns="0" bIns="0" anchor="t">
            <a:noAutofit/>
          </a:bodyPr>
          <a:lstStyle/>
          <a:p>
            <a:pPr algn="l">
              <a:spcAft>
                <a:spcPts val="0"/>
              </a:spcAft>
            </a:pPr>
            <a:r>
              <a:rPr sz="1000" b="1" i="0">
                <a:solidFill>
                  <a:srgbClr val="2BA8D8"/>
                </a:solidFill>
                <a:latin typeface="Consolas"/>
              </a:rPr>
              <a:t>scoped install</a:t>
            </a:r>
          </a:p>
        </p:txBody>
      </p:sp>
      <p:sp>
        <p:nvSpPr>
          <p:cNvPr id="16" name="TextBox 15"/>
          <p:cNvSpPr txBox="1"/>
          <p:nvPr/>
        </p:nvSpPr>
        <p:spPr>
          <a:xfrm>
            <a:off x="749808" y="2066543"/>
            <a:ext cx="5577840" cy="219456"/>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helm repo add stakater \</a:t>
            </a:r>
          </a:p>
        </p:txBody>
      </p:sp>
      <p:sp>
        <p:nvSpPr>
          <p:cNvPr id="17" name="TextBox 16"/>
          <p:cNvSpPr txBox="1"/>
          <p:nvPr/>
        </p:nvSpPr>
        <p:spPr>
          <a:xfrm>
            <a:off x="749808" y="2249424"/>
            <a:ext cx="5577840" cy="219456"/>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https://stakater.github.io/stakater-charts</a:t>
            </a:r>
          </a:p>
        </p:txBody>
      </p:sp>
      <p:sp>
        <p:nvSpPr>
          <p:cNvPr id="18" name="TextBox 17"/>
          <p:cNvSpPr txBox="1"/>
          <p:nvPr/>
        </p:nvSpPr>
        <p:spPr>
          <a:xfrm>
            <a:off x="749808" y="2432304"/>
            <a:ext cx="5577840" cy="219456"/>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19" name="TextBox 18"/>
          <p:cNvSpPr txBox="1"/>
          <p:nvPr/>
        </p:nvSpPr>
        <p:spPr>
          <a:xfrm>
            <a:off x="749808" y="2615184"/>
            <a:ext cx="5577840" cy="219456"/>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helm install reloader stakater/reloader \</a:t>
            </a:r>
          </a:p>
        </p:txBody>
      </p:sp>
      <p:sp>
        <p:nvSpPr>
          <p:cNvPr id="20" name="TextBox 19"/>
          <p:cNvSpPr txBox="1"/>
          <p:nvPr/>
        </p:nvSpPr>
        <p:spPr>
          <a:xfrm>
            <a:off x="749808" y="2798064"/>
            <a:ext cx="5577840" cy="219456"/>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 reloader --create-namespace \</a:t>
            </a:r>
          </a:p>
        </p:txBody>
      </p:sp>
      <p:sp>
        <p:nvSpPr>
          <p:cNvPr id="21" name="TextBox 20"/>
          <p:cNvSpPr txBox="1"/>
          <p:nvPr/>
        </p:nvSpPr>
        <p:spPr>
          <a:xfrm>
            <a:off x="749808" y="2980944"/>
            <a:ext cx="5577840" cy="219456"/>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--set reloader.watchGlobally=false \</a:t>
            </a:r>
          </a:p>
        </p:txBody>
      </p:sp>
      <p:sp>
        <p:nvSpPr>
          <p:cNvPr id="22" name="TextBox 21"/>
          <p:cNvSpPr txBox="1"/>
          <p:nvPr/>
        </p:nvSpPr>
        <p:spPr>
          <a:xfrm>
            <a:off x="749808" y="3163824"/>
            <a:ext cx="5577840" cy="219456"/>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--set reloader.namespaceSelector="team=payments" \</a:t>
            </a:r>
          </a:p>
        </p:txBody>
      </p:sp>
      <p:sp>
        <p:nvSpPr>
          <p:cNvPr id="23" name="TextBox 22"/>
          <p:cNvSpPr txBox="1"/>
          <p:nvPr/>
        </p:nvSpPr>
        <p:spPr>
          <a:xfrm>
            <a:off x="749808" y="3346704"/>
            <a:ext cx="5577840" cy="219456"/>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--set reloader.reloadStrategy=annotations</a:t>
            </a:r>
          </a:p>
        </p:txBody>
      </p:sp>
      <p:sp>
        <p:nvSpPr>
          <p:cNvPr id="24" name="TextBox 23"/>
          <p:cNvSpPr txBox="1"/>
          <p:nvPr/>
        </p:nvSpPr>
        <p:spPr>
          <a:xfrm>
            <a:off x="6830568" y="1632204"/>
            <a:ext cx="256032" cy="274320"/>
          </a:xfrm>
          <a:prstGeom prst="rect">
            <a:avLst/>
          </a:prstGeom>
          <a:noFill/>
        </p:spPr>
        <p:txBody>
          <a:bodyPr wrap="square" lIns="18288" rIns="18288" tIns="0" bIns="0" anchor="t">
            <a:noAutofit/>
          </a:bodyPr>
          <a:lstStyle/>
          <a:p>
            <a:pPr algn="l">
              <a:spcAft>
                <a:spcPts val="0"/>
              </a:spcAft>
            </a:pPr>
            <a:r>
              <a:rPr sz="1050" b="1" i="0">
                <a:solidFill>
                  <a:srgbClr val="2BA8D8"/>
                </a:solidFill>
                <a:latin typeface="Calibri"/>
              </a:rPr>
              <a:t>▸</a:t>
            </a:r>
          </a:p>
        </p:txBody>
      </p:sp>
      <p:sp>
        <p:nvSpPr>
          <p:cNvPr id="25" name="TextBox 24"/>
          <p:cNvSpPr txBox="1"/>
          <p:nvPr/>
        </p:nvSpPr>
        <p:spPr>
          <a:xfrm>
            <a:off x="7141464" y="1645920"/>
            <a:ext cx="4575017" cy="274320"/>
          </a:xfrm>
          <a:prstGeom prst="rect">
            <a:avLst/>
          </a:prstGeom>
          <a:noFill/>
        </p:spPr>
        <p:txBody>
          <a:bodyPr wrap="square" lIns="18288" rIns="18288" tIns="0" bIns="0" anchor="t">
            <a:noAutofit/>
          </a:bodyPr>
          <a:lstStyle/>
          <a:p>
            <a:pPr algn="l">
              <a:lnSpc>
                <a:spcPct val="120000"/>
              </a:lnSpc>
              <a:spcAft>
                <a:spcPts val="0"/>
              </a:spcAft>
            </a:pPr>
            <a:r>
              <a:rPr sz="850" b="1" i="0">
                <a:solidFill>
                  <a:srgbClr val="1F2B3D"/>
                </a:solidFill>
                <a:latin typeface="Calibri"/>
              </a:rPr>
              <a:t>watchGlobally  </a:t>
            </a:r>
            <a:r>
              <a:rPr sz="850" b="0" i="0">
                <a:solidFill>
                  <a:srgbClr val="363F4D"/>
                </a:solidFill>
                <a:latin typeface="Calibri"/>
              </a:rPr>
              <a:t>false confines it to its own namespace; the default true watches everything</a:t>
            </a:r>
          </a:p>
        </p:txBody>
      </p:sp>
      <p:sp>
        <p:nvSpPr>
          <p:cNvPr id="26" name="TextBox 25"/>
          <p:cNvSpPr txBox="1"/>
          <p:nvPr/>
        </p:nvSpPr>
        <p:spPr>
          <a:xfrm>
            <a:off x="6830568" y="2107691"/>
            <a:ext cx="256032" cy="274320"/>
          </a:xfrm>
          <a:prstGeom prst="rect">
            <a:avLst/>
          </a:prstGeom>
          <a:noFill/>
        </p:spPr>
        <p:txBody>
          <a:bodyPr wrap="square" lIns="18288" rIns="18288" tIns="0" bIns="0" anchor="t">
            <a:noAutofit/>
          </a:bodyPr>
          <a:lstStyle/>
          <a:p>
            <a:pPr algn="l">
              <a:spcAft>
                <a:spcPts val="0"/>
              </a:spcAft>
            </a:pPr>
            <a:r>
              <a:rPr sz="1050" b="1" i="0">
                <a:solidFill>
                  <a:srgbClr val="2BA8D8"/>
                </a:solidFill>
                <a:latin typeface="Calibri"/>
              </a:rPr>
              <a:t>▸</a:t>
            </a:r>
          </a:p>
        </p:txBody>
      </p:sp>
      <p:sp>
        <p:nvSpPr>
          <p:cNvPr id="27" name="TextBox 26"/>
          <p:cNvSpPr txBox="1"/>
          <p:nvPr/>
        </p:nvSpPr>
        <p:spPr>
          <a:xfrm>
            <a:off x="7141464" y="2121408"/>
            <a:ext cx="4575017" cy="274320"/>
          </a:xfrm>
          <a:prstGeom prst="rect">
            <a:avLst/>
          </a:prstGeom>
          <a:noFill/>
        </p:spPr>
        <p:txBody>
          <a:bodyPr wrap="square" lIns="18288" rIns="18288" tIns="0" bIns="0" anchor="t">
            <a:noAutofit/>
          </a:bodyPr>
          <a:lstStyle/>
          <a:p>
            <a:pPr algn="l">
              <a:lnSpc>
                <a:spcPct val="120000"/>
              </a:lnSpc>
              <a:spcAft>
                <a:spcPts val="0"/>
              </a:spcAft>
            </a:pPr>
            <a:r>
              <a:rPr sz="850" b="1" i="0">
                <a:solidFill>
                  <a:srgbClr val="1F2B3D"/>
                </a:solidFill>
                <a:latin typeface="Calibri"/>
              </a:rPr>
              <a:t>namespaceSelector  </a:t>
            </a:r>
            <a:r>
              <a:rPr sz="850" b="0" i="0">
                <a:solidFill>
                  <a:srgbClr val="363F4D"/>
                </a:solidFill>
                <a:latin typeface="Calibri"/>
              </a:rPr>
              <a:t>watch only namespaces carrying a label — the middle ground most teams want</a:t>
            </a:r>
          </a:p>
        </p:txBody>
      </p:sp>
      <p:sp>
        <p:nvSpPr>
          <p:cNvPr id="28" name="TextBox 27"/>
          <p:cNvSpPr txBox="1"/>
          <p:nvPr/>
        </p:nvSpPr>
        <p:spPr>
          <a:xfrm>
            <a:off x="6830568" y="2583179"/>
            <a:ext cx="256032" cy="274320"/>
          </a:xfrm>
          <a:prstGeom prst="rect">
            <a:avLst/>
          </a:prstGeom>
          <a:noFill/>
        </p:spPr>
        <p:txBody>
          <a:bodyPr wrap="square" lIns="18288" rIns="18288" tIns="0" bIns="0" anchor="t">
            <a:noAutofit/>
          </a:bodyPr>
          <a:lstStyle/>
          <a:p>
            <a:pPr algn="l">
              <a:spcAft>
                <a:spcPts val="0"/>
              </a:spcAft>
            </a:pPr>
            <a:r>
              <a:rPr sz="1050" b="1" i="0">
                <a:solidFill>
                  <a:srgbClr val="2BA8D8"/>
                </a:solidFill>
                <a:latin typeface="Calibri"/>
              </a:rPr>
              <a:t>▸</a:t>
            </a:r>
          </a:p>
        </p:txBody>
      </p:sp>
      <p:sp>
        <p:nvSpPr>
          <p:cNvPr id="29" name="TextBox 28"/>
          <p:cNvSpPr txBox="1"/>
          <p:nvPr/>
        </p:nvSpPr>
        <p:spPr>
          <a:xfrm>
            <a:off x="7141464" y="2596896"/>
            <a:ext cx="4575017" cy="274320"/>
          </a:xfrm>
          <a:prstGeom prst="rect">
            <a:avLst/>
          </a:prstGeom>
          <a:noFill/>
        </p:spPr>
        <p:txBody>
          <a:bodyPr wrap="square" lIns="18288" rIns="18288" tIns="0" bIns="0" anchor="t">
            <a:noAutofit/>
          </a:bodyPr>
          <a:lstStyle/>
          <a:p>
            <a:pPr algn="l">
              <a:lnSpc>
                <a:spcPct val="120000"/>
              </a:lnSpc>
              <a:spcAft>
                <a:spcPts val="0"/>
              </a:spcAft>
            </a:pPr>
            <a:r>
              <a:rPr sz="850" b="1" i="0">
                <a:solidFill>
                  <a:srgbClr val="1F2B3D"/>
                </a:solidFill>
                <a:latin typeface="Calibri"/>
              </a:rPr>
              <a:t>reloadStrategy  </a:t>
            </a:r>
            <a:r>
              <a:rPr sz="850" b="0" i="0">
                <a:solidFill>
                  <a:srgbClr val="363F4D"/>
                </a:solidFill>
                <a:latin typeface="Calibri"/>
              </a:rPr>
              <a:t>annotations keeps the container spec clean and is easier for Argo CD to ignore</a:t>
            </a:r>
          </a:p>
        </p:txBody>
      </p:sp>
      <p:sp>
        <p:nvSpPr>
          <p:cNvPr id="30" name="TextBox 29"/>
          <p:cNvSpPr txBox="1"/>
          <p:nvPr/>
        </p:nvSpPr>
        <p:spPr>
          <a:xfrm>
            <a:off x="6830568" y="3058667"/>
            <a:ext cx="256032" cy="274320"/>
          </a:xfrm>
          <a:prstGeom prst="rect">
            <a:avLst/>
          </a:prstGeom>
          <a:noFill/>
        </p:spPr>
        <p:txBody>
          <a:bodyPr wrap="square" lIns="18288" rIns="18288" tIns="0" bIns="0" anchor="t">
            <a:noAutofit/>
          </a:bodyPr>
          <a:lstStyle/>
          <a:p>
            <a:pPr algn="l">
              <a:spcAft>
                <a:spcPts val="0"/>
              </a:spcAft>
            </a:pPr>
            <a:r>
              <a:rPr sz="1050" b="1" i="0">
                <a:solidFill>
                  <a:srgbClr val="2BA8D8"/>
                </a:solidFill>
                <a:latin typeface="Calibri"/>
              </a:rPr>
              <a:t>▸</a:t>
            </a:r>
          </a:p>
        </p:txBody>
      </p:sp>
      <p:sp>
        <p:nvSpPr>
          <p:cNvPr id="31" name="TextBox 30"/>
          <p:cNvSpPr txBox="1"/>
          <p:nvPr/>
        </p:nvSpPr>
        <p:spPr>
          <a:xfrm>
            <a:off x="7141464" y="3072383"/>
            <a:ext cx="4575017" cy="274320"/>
          </a:xfrm>
          <a:prstGeom prst="rect">
            <a:avLst/>
          </a:prstGeom>
          <a:noFill/>
        </p:spPr>
        <p:txBody>
          <a:bodyPr wrap="square" lIns="18288" rIns="18288" tIns="0" bIns="0" anchor="t">
            <a:noAutofit/>
          </a:bodyPr>
          <a:lstStyle/>
          <a:p>
            <a:pPr algn="l">
              <a:lnSpc>
                <a:spcPct val="120000"/>
              </a:lnSpc>
              <a:spcAft>
                <a:spcPts val="0"/>
              </a:spcAft>
            </a:pPr>
            <a:r>
              <a:rPr sz="850" b="1" i="0">
                <a:solidFill>
                  <a:srgbClr val="1F2B3D"/>
                </a:solidFill>
                <a:latin typeface="Calibri"/>
              </a:rPr>
              <a:t>RBAC  </a:t>
            </a:r>
            <a:r>
              <a:rPr sz="850" b="0" i="0">
                <a:solidFill>
                  <a:srgbClr val="363F4D"/>
                </a:solidFill>
                <a:latin typeface="Calibri"/>
              </a:rPr>
              <a:t>it needs get, list and watch on ConfigMaps and Secrets — cluster-wide if watchGlobally is on</a:t>
            </a:r>
          </a:p>
        </p:txBody>
      </p:sp>
      <p:sp>
        <p:nvSpPr>
          <p:cNvPr id="32" name="Rounded Rectangle 31"/>
          <p:cNvSpPr/>
          <p:nvPr/>
        </p:nvSpPr>
        <p:spPr>
          <a:xfrm>
            <a:off x="475488" y="4187952"/>
            <a:ext cx="11240993" cy="566928"/>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75488" y="4187952"/>
            <a:ext cx="91440" cy="56692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59536" y="4279392"/>
            <a:ext cx="10555193" cy="384048"/>
          </a:xfrm>
          <a:prstGeom prst="rect">
            <a:avLst/>
          </a:prstGeom>
          <a:noFill/>
        </p:spPr>
        <p:txBody>
          <a:bodyPr wrap="square" lIns="18288" rIns="18288" tIns="0" bIns="0" anchor="ctr">
            <a:noAutofit/>
          </a:bodyPr>
          <a:lstStyle/>
          <a:p>
            <a:pPr algn="l">
              <a:lnSpc>
                <a:spcPct val="120000"/>
              </a:lnSpc>
              <a:spcAft>
                <a:spcPts val="0"/>
              </a:spcAft>
            </a:pPr>
            <a:r>
              <a:rPr sz="1450" b="0" i="1">
                <a:solidFill>
                  <a:srgbClr val="1F2B3D"/>
                </a:solidFill>
                <a:latin typeface="Calibri Light"/>
              </a:rPr>
              <a:t>A cluster-wide Reloader can read every Secret in every namespace. That is a real privilege — scope it like one.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Annotations — Four Ways to Opt In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All of them go on the workload, except match, which goes on the ConfigMap or Secret.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Start with auto. Move to a named reload when a workload references more objects than it cares about.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ectangle 12"/>
          <p:cNvSpPr/>
          <p:nvPr/>
        </p:nvSpPr>
        <p:spPr>
          <a:xfrm>
            <a:off x="475488" y="1645920"/>
            <a:ext cx="457200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Annotation</a:t>
            </a:r>
          </a:p>
        </p:txBody>
      </p:sp>
      <p:sp>
        <p:nvSpPr>
          <p:cNvPr id="14" name="Rectangle 13"/>
          <p:cNvSpPr/>
          <p:nvPr/>
        </p:nvSpPr>
        <p:spPr>
          <a:xfrm>
            <a:off x="5047488" y="1645920"/>
            <a:ext cx="214884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Goes on</a:t>
            </a:r>
          </a:p>
        </p:txBody>
      </p:sp>
      <p:sp>
        <p:nvSpPr>
          <p:cNvPr id="15" name="Rectangle 14"/>
          <p:cNvSpPr/>
          <p:nvPr/>
        </p:nvSpPr>
        <p:spPr>
          <a:xfrm>
            <a:off x="7196327" y="1645920"/>
            <a:ext cx="4507992"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Effect</a:t>
            </a:r>
          </a:p>
        </p:txBody>
      </p:sp>
      <p:sp>
        <p:nvSpPr>
          <p:cNvPr id="16" name="Rectangle 15"/>
          <p:cNvSpPr/>
          <p:nvPr/>
        </p:nvSpPr>
        <p:spPr>
          <a:xfrm>
            <a:off x="475488" y="2066544"/>
            <a:ext cx="4572000"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reloader.stakater.com/auto: "true"</a:t>
            </a:r>
          </a:p>
        </p:txBody>
      </p:sp>
      <p:sp>
        <p:nvSpPr>
          <p:cNvPr id="17" name="Rectangle 16"/>
          <p:cNvSpPr/>
          <p:nvPr/>
        </p:nvSpPr>
        <p:spPr>
          <a:xfrm>
            <a:off x="5047488" y="2066544"/>
            <a:ext cx="2148840"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workload</a:t>
            </a:r>
          </a:p>
        </p:txBody>
      </p:sp>
      <p:sp>
        <p:nvSpPr>
          <p:cNvPr id="18" name="Rectangle 17"/>
          <p:cNvSpPr/>
          <p:nvPr/>
        </p:nvSpPr>
        <p:spPr>
          <a:xfrm>
            <a:off x="7196327" y="2066544"/>
            <a:ext cx="4507992"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Roll when any ConfigMap or Secret this workload references changes</a:t>
            </a:r>
          </a:p>
        </p:txBody>
      </p:sp>
      <p:sp>
        <p:nvSpPr>
          <p:cNvPr id="19" name="Rectangle 18"/>
          <p:cNvSpPr/>
          <p:nvPr/>
        </p:nvSpPr>
        <p:spPr>
          <a:xfrm>
            <a:off x="475488" y="2468880"/>
            <a:ext cx="4572000"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secret.reloader.stakater.com/auto: "true"</a:t>
            </a:r>
          </a:p>
        </p:txBody>
      </p:sp>
      <p:sp>
        <p:nvSpPr>
          <p:cNvPr id="20" name="Rectangle 19"/>
          <p:cNvSpPr/>
          <p:nvPr/>
        </p:nvSpPr>
        <p:spPr>
          <a:xfrm>
            <a:off x="5047488" y="2468880"/>
            <a:ext cx="2148840"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workload</a:t>
            </a:r>
          </a:p>
        </p:txBody>
      </p:sp>
      <p:sp>
        <p:nvSpPr>
          <p:cNvPr id="21" name="Rectangle 20"/>
          <p:cNvSpPr/>
          <p:nvPr/>
        </p:nvSpPr>
        <p:spPr>
          <a:xfrm>
            <a:off x="7196327" y="2468880"/>
            <a:ext cx="4507992"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same, but Secrets only — ignore ConfigMap changes</a:t>
            </a:r>
          </a:p>
        </p:txBody>
      </p:sp>
      <p:sp>
        <p:nvSpPr>
          <p:cNvPr id="22" name="Rectangle 21"/>
          <p:cNvSpPr/>
          <p:nvPr/>
        </p:nvSpPr>
        <p:spPr>
          <a:xfrm>
            <a:off x="475488" y="2871216"/>
            <a:ext cx="4572000"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configmap.reloader.stakater.com/auto: "true"</a:t>
            </a:r>
          </a:p>
        </p:txBody>
      </p:sp>
      <p:sp>
        <p:nvSpPr>
          <p:cNvPr id="23" name="Rectangle 22"/>
          <p:cNvSpPr/>
          <p:nvPr/>
        </p:nvSpPr>
        <p:spPr>
          <a:xfrm>
            <a:off x="5047488" y="2871216"/>
            <a:ext cx="2148840"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workload</a:t>
            </a:r>
          </a:p>
        </p:txBody>
      </p:sp>
      <p:sp>
        <p:nvSpPr>
          <p:cNvPr id="24" name="Rectangle 23"/>
          <p:cNvSpPr/>
          <p:nvPr/>
        </p:nvSpPr>
        <p:spPr>
          <a:xfrm>
            <a:off x="7196327" y="2871216"/>
            <a:ext cx="4507992"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same, but ConfigMaps only</a:t>
            </a:r>
          </a:p>
        </p:txBody>
      </p:sp>
      <p:sp>
        <p:nvSpPr>
          <p:cNvPr id="25" name="Rectangle 24"/>
          <p:cNvSpPr/>
          <p:nvPr/>
        </p:nvSpPr>
        <p:spPr>
          <a:xfrm>
            <a:off x="475488" y="3273552"/>
            <a:ext cx="4572000"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secret.reloader.stakater.com/reload: "billing-db"</a:t>
            </a:r>
          </a:p>
        </p:txBody>
      </p:sp>
      <p:sp>
        <p:nvSpPr>
          <p:cNvPr id="26" name="Rectangle 25"/>
          <p:cNvSpPr/>
          <p:nvPr/>
        </p:nvSpPr>
        <p:spPr>
          <a:xfrm>
            <a:off x="5047488" y="3273552"/>
            <a:ext cx="2148840"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workload</a:t>
            </a:r>
          </a:p>
        </p:txBody>
      </p:sp>
      <p:sp>
        <p:nvSpPr>
          <p:cNvPr id="27" name="Rectangle 26"/>
          <p:cNvSpPr/>
          <p:nvPr/>
        </p:nvSpPr>
        <p:spPr>
          <a:xfrm>
            <a:off x="7196327" y="3273552"/>
            <a:ext cx="4507992"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Roll only for these named Secrets, referenced or not. Comma-separated</a:t>
            </a:r>
          </a:p>
        </p:txBody>
      </p:sp>
      <p:sp>
        <p:nvSpPr>
          <p:cNvPr id="28" name="Rectangle 27"/>
          <p:cNvSpPr/>
          <p:nvPr/>
        </p:nvSpPr>
        <p:spPr>
          <a:xfrm>
            <a:off x="475488" y="3675888"/>
            <a:ext cx="4572000"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reloader.stakater.com/search: "true"</a:t>
            </a:r>
          </a:p>
        </p:txBody>
      </p:sp>
      <p:sp>
        <p:nvSpPr>
          <p:cNvPr id="29" name="Rectangle 28"/>
          <p:cNvSpPr/>
          <p:nvPr/>
        </p:nvSpPr>
        <p:spPr>
          <a:xfrm>
            <a:off x="5047488" y="3675888"/>
            <a:ext cx="2148840"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workload</a:t>
            </a:r>
          </a:p>
        </p:txBody>
      </p:sp>
      <p:sp>
        <p:nvSpPr>
          <p:cNvPr id="30" name="Rectangle 29"/>
          <p:cNvSpPr/>
          <p:nvPr/>
        </p:nvSpPr>
        <p:spPr>
          <a:xfrm>
            <a:off x="7196327" y="3675888"/>
            <a:ext cx="4507992" cy="40233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Opt in to the search/match pairing below</a:t>
            </a:r>
          </a:p>
        </p:txBody>
      </p:sp>
      <p:sp>
        <p:nvSpPr>
          <p:cNvPr id="31" name="Rectangle 30"/>
          <p:cNvSpPr/>
          <p:nvPr/>
        </p:nvSpPr>
        <p:spPr>
          <a:xfrm>
            <a:off x="475488" y="4078224"/>
            <a:ext cx="4572000"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050" b="1" i="0">
                <a:solidFill>
                  <a:srgbClr val="1F2B3D"/>
                </a:solidFill>
                <a:latin typeface="Calibri"/>
              </a:rPr>
              <a:t>reloader.stakater.com/match: "true"</a:t>
            </a:r>
          </a:p>
        </p:txBody>
      </p:sp>
      <p:sp>
        <p:nvSpPr>
          <p:cNvPr id="32" name="Rectangle 31"/>
          <p:cNvSpPr/>
          <p:nvPr/>
        </p:nvSpPr>
        <p:spPr>
          <a:xfrm>
            <a:off x="5047488" y="4078224"/>
            <a:ext cx="2148840"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the ConfigMap or Secret</a:t>
            </a:r>
          </a:p>
        </p:txBody>
      </p:sp>
      <p:sp>
        <p:nvSpPr>
          <p:cNvPr id="33" name="Rectangle 32"/>
          <p:cNvSpPr/>
          <p:nvPr/>
        </p:nvSpPr>
        <p:spPr>
          <a:xfrm>
            <a:off x="7196327" y="4078224"/>
            <a:ext cx="4507992" cy="40233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050" b="0" i="0">
                <a:solidFill>
                  <a:srgbClr val="363F4D"/>
                </a:solidFill>
                <a:latin typeface="Calibri"/>
              </a:rPr>
              <a:t>This object may trigger workloads that have search enabled</a:t>
            </a:r>
          </a:p>
        </p:txBody>
      </p:sp>
      <p:sp>
        <p:nvSpPr>
          <p:cNvPr id="34" name="Rounded Rectangle 33"/>
          <p:cNvSpPr/>
          <p:nvPr/>
        </p:nvSpPr>
        <p:spPr>
          <a:xfrm>
            <a:off x="475488" y="4700016"/>
            <a:ext cx="5428472" cy="10241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75488" y="4700016"/>
            <a:ext cx="77724" cy="10241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31520" y="4846320"/>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auto versus reload</a:t>
            </a:r>
          </a:p>
        </p:txBody>
      </p:sp>
      <p:sp>
        <p:nvSpPr>
          <p:cNvPr id="37" name="TextBox 36"/>
          <p:cNvSpPr txBox="1"/>
          <p:nvPr/>
        </p:nvSpPr>
        <p:spPr>
          <a:xfrm>
            <a:off x="731520" y="5248655"/>
            <a:ext cx="4971272" cy="347472"/>
          </a:xfrm>
          <a:prstGeom prst="rect">
            <a:avLst/>
          </a:prstGeom>
          <a:noFill/>
        </p:spPr>
        <p:txBody>
          <a:bodyPr wrap="square" lIns="18288" rIns="18288" tIns="0" bIns="0" anchor="t">
            <a:noAutofit/>
          </a:bodyPr>
          <a:lstStyle/>
          <a:p>
            <a:pPr algn="l">
              <a:lnSpc>
                <a:spcPct val="124000"/>
              </a:lnSpc>
              <a:spcAft>
                <a:spcPts val="0"/>
              </a:spcAft>
            </a:pPr>
            <a:r>
              <a:rPr sz="900" b="0" i="0">
                <a:solidFill>
                  <a:srgbClr val="363F4D"/>
                </a:solidFill>
                <a:latin typeface="Calibri"/>
              </a:rPr>
              <a:t>auto follows real references — env, envFrom, volumes. reload is an explicit list and will fire even for an object the workload never mounts.</a:t>
            </a:r>
          </a:p>
        </p:txBody>
      </p:sp>
      <p:sp>
        <p:nvSpPr>
          <p:cNvPr id="38" name="Rounded Rectangle 37"/>
          <p:cNvSpPr/>
          <p:nvPr/>
        </p:nvSpPr>
        <p:spPr>
          <a:xfrm>
            <a:off x="6288008" y="4700016"/>
            <a:ext cx="5428472" cy="10241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288008" y="4700016"/>
            <a:ext cx="77724" cy="10241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44040" y="4846320"/>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search and match</a:t>
            </a:r>
          </a:p>
        </p:txBody>
      </p:sp>
      <p:sp>
        <p:nvSpPr>
          <p:cNvPr id="41" name="TextBox 40"/>
          <p:cNvSpPr txBox="1"/>
          <p:nvPr/>
        </p:nvSpPr>
        <p:spPr>
          <a:xfrm>
            <a:off x="6544040" y="5248655"/>
            <a:ext cx="4971272" cy="347472"/>
          </a:xfrm>
          <a:prstGeom prst="rect">
            <a:avLst/>
          </a:prstGeom>
          <a:noFill/>
        </p:spPr>
        <p:txBody>
          <a:bodyPr wrap="square" lIns="18288" rIns="18288" tIns="0" bIns="0" anchor="t">
            <a:noAutofit/>
          </a:bodyPr>
          <a:lstStyle/>
          <a:p>
            <a:pPr algn="l">
              <a:lnSpc>
                <a:spcPct val="124000"/>
              </a:lnSpc>
              <a:spcAft>
                <a:spcPts val="0"/>
              </a:spcAft>
            </a:pPr>
            <a:r>
              <a:rPr sz="900" b="0" i="0">
                <a:solidFill>
                  <a:srgbClr val="363F4D"/>
                </a:solidFill>
                <a:latin typeface="Calibri"/>
              </a:rPr>
              <a:t>Inverts control: the owner of the Secret decides which objects are allowed to trigger anything. Useful for shared platform secrets.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Putting It on a Deployment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One line in metadata.annotations. That is genuinely the whole integration.</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 annotation belongs on the Deployment, not on the pod template.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6675120" cy="39319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3192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6126480"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deployment.yaml</a:t>
            </a:r>
          </a:p>
        </p:txBody>
      </p:sp>
      <p:sp>
        <p:nvSpPr>
          <p:cNvPr id="16" name="TextBox 15"/>
          <p:cNvSpPr txBox="1"/>
          <p:nvPr/>
        </p:nvSpPr>
        <p:spPr>
          <a:xfrm>
            <a:off x="749808" y="2066543"/>
            <a:ext cx="6126480" cy="222199"/>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apiVersion: apps/v1</a:t>
            </a:r>
          </a:p>
        </p:txBody>
      </p:sp>
      <p:sp>
        <p:nvSpPr>
          <p:cNvPr id="17" name="TextBox 16"/>
          <p:cNvSpPr txBox="1"/>
          <p:nvPr/>
        </p:nvSpPr>
        <p:spPr>
          <a:xfrm>
            <a:off x="749808" y="2252167"/>
            <a:ext cx="6126480" cy="222199"/>
          </a:xfrm>
          <a:prstGeom prst="rect">
            <a:avLst/>
          </a:prstGeom>
          <a:noFill/>
        </p:spPr>
        <p:txBody>
          <a:bodyPr wrap="square" lIns="18288" rIns="18288" tIns="0" bIns="0" anchor="t">
            <a:noAutofit/>
          </a:bodyPr>
          <a:lstStyle/>
          <a:p>
            <a:pPr algn="l">
              <a:spcAft>
                <a:spcPts val="0"/>
              </a:spcAft>
            </a:pPr>
            <a:r>
              <a:rPr sz="1100" b="0" i="0">
                <a:solidFill>
                  <a:srgbClr val="2BA8D8"/>
                </a:solidFill>
                <a:latin typeface="Consolas"/>
              </a:rPr>
              <a:t>kind: Deployment</a:t>
            </a:r>
          </a:p>
        </p:txBody>
      </p:sp>
      <p:sp>
        <p:nvSpPr>
          <p:cNvPr id="18" name="TextBox 17"/>
          <p:cNvSpPr txBox="1"/>
          <p:nvPr/>
        </p:nvSpPr>
        <p:spPr>
          <a:xfrm>
            <a:off x="749808" y="2437790"/>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metadata:</a:t>
            </a:r>
          </a:p>
        </p:txBody>
      </p:sp>
      <p:sp>
        <p:nvSpPr>
          <p:cNvPr id="19" name="TextBox 18"/>
          <p:cNvSpPr txBox="1"/>
          <p:nvPr/>
        </p:nvSpPr>
        <p:spPr>
          <a:xfrm>
            <a:off x="749808" y="2623413"/>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 billing</a:t>
            </a:r>
          </a:p>
        </p:txBody>
      </p:sp>
      <p:sp>
        <p:nvSpPr>
          <p:cNvPr id="20" name="TextBox 19"/>
          <p:cNvSpPr txBox="1"/>
          <p:nvPr/>
        </p:nvSpPr>
        <p:spPr>
          <a:xfrm>
            <a:off x="749808" y="2809036"/>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namespace: payments</a:t>
            </a:r>
          </a:p>
        </p:txBody>
      </p:sp>
      <p:sp>
        <p:nvSpPr>
          <p:cNvPr id="21" name="TextBox 20"/>
          <p:cNvSpPr txBox="1"/>
          <p:nvPr/>
        </p:nvSpPr>
        <p:spPr>
          <a:xfrm>
            <a:off x="749808" y="2994659"/>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annotations:</a:t>
            </a:r>
          </a:p>
        </p:txBody>
      </p:sp>
      <p:sp>
        <p:nvSpPr>
          <p:cNvPr id="22" name="TextBox 21"/>
          <p:cNvSpPr txBox="1"/>
          <p:nvPr/>
        </p:nvSpPr>
        <p:spPr>
          <a:xfrm>
            <a:off x="749808" y="3180283"/>
            <a:ext cx="6126480" cy="222199"/>
          </a:xfrm>
          <a:prstGeom prst="rect">
            <a:avLst/>
          </a:prstGeom>
          <a:noFill/>
        </p:spPr>
        <p:txBody>
          <a:bodyPr wrap="square" lIns="18288" rIns="18288" tIns="0" bIns="0" anchor="t">
            <a:noAutofit/>
          </a:bodyPr>
          <a:lstStyle/>
          <a:p>
            <a:pPr algn="l">
              <a:spcAft>
                <a:spcPts val="0"/>
              </a:spcAft>
            </a:pPr>
            <a:r>
              <a:rPr sz="1100" b="0" i="0">
                <a:solidFill>
                  <a:srgbClr val="2EB56B"/>
                </a:solidFill>
                <a:latin typeface="Consolas"/>
              </a:rPr>
              <a:t>    reloader.stakater.com/auto: "true"</a:t>
            </a:r>
          </a:p>
        </p:txBody>
      </p:sp>
      <p:sp>
        <p:nvSpPr>
          <p:cNvPr id="23" name="TextBox 22"/>
          <p:cNvSpPr txBox="1"/>
          <p:nvPr/>
        </p:nvSpPr>
        <p:spPr>
          <a:xfrm>
            <a:off x="749808" y="3365906"/>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spec:</a:t>
            </a:r>
          </a:p>
        </p:txBody>
      </p:sp>
      <p:sp>
        <p:nvSpPr>
          <p:cNvPr id="24" name="TextBox 23"/>
          <p:cNvSpPr txBox="1"/>
          <p:nvPr/>
        </p:nvSpPr>
        <p:spPr>
          <a:xfrm>
            <a:off x="749808" y="3551529"/>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replicas: 3</a:t>
            </a:r>
          </a:p>
        </p:txBody>
      </p:sp>
      <p:sp>
        <p:nvSpPr>
          <p:cNvPr id="25" name="TextBox 24"/>
          <p:cNvSpPr txBox="1"/>
          <p:nvPr/>
        </p:nvSpPr>
        <p:spPr>
          <a:xfrm>
            <a:off x="749808" y="3737152"/>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template:</a:t>
            </a:r>
          </a:p>
        </p:txBody>
      </p:sp>
      <p:sp>
        <p:nvSpPr>
          <p:cNvPr id="26" name="TextBox 25"/>
          <p:cNvSpPr txBox="1"/>
          <p:nvPr/>
        </p:nvSpPr>
        <p:spPr>
          <a:xfrm>
            <a:off x="749808" y="3922775"/>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spec:</a:t>
            </a:r>
          </a:p>
        </p:txBody>
      </p:sp>
      <p:sp>
        <p:nvSpPr>
          <p:cNvPr id="27" name="TextBox 26"/>
          <p:cNvSpPr txBox="1"/>
          <p:nvPr/>
        </p:nvSpPr>
        <p:spPr>
          <a:xfrm>
            <a:off x="749808" y="4108399"/>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containers:</a:t>
            </a:r>
          </a:p>
        </p:txBody>
      </p:sp>
      <p:sp>
        <p:nvSpPr>
          <p:cNvPr id="28" name="TextBox 27"/>
          <p:cNvSpPr txBox="1"/>
          <p:nvPr/>
        </p:nvSpPr>
        <p:spPr>
          <a:xfrm>
            <a:off x="749808" y="4294022"/>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 name: api</a:t>
            </a:r>
          </a:p>
        </p:txBody>
      </p:sp>
      <p:sp>
        <p:nvSpPr>
          <p:cNvPr id="29" name="TextBox 28"/>
          <p:cNvSpPr txBox="1"/>
          <p:nvPr/>
        </p:nvSpPr>
        <p:spPr>
          <a:xfrm>
            <a:off x="749808" y="4479645"/>
            <a:ext cx="6126480" cy="222199"/>
          </a:xfrm>
          <a:prstGeom prst="rect">
            <a:avLst/>
          </a:prstGeom>
          <a:noFill/>
        </p:spPr>
        <p:txBody>
          <a:bodyPr wrap="square" lIns="18288" rIns="18288" tIns="0" bIns="0" anchor="t">
            <a:noAutofit/>
          </a:bodyPr>
          <a:lstStyle/>
          <a:p>
            <a:pPr algn="l">
              <a:spcAft>
                <a:spcPts val="0"/>
              </a:spcAft>
            </a:pPr>
            <a:r>
              <a:rPr sz="1100" b="0" i="0">
                <a:solidFill>
                  <a:srgbClr val="D9E2F0"/>
                </a:solidFill>
                <a:latin typeface="Consolas"/>
              </a:rPr>
              <a:t>          image: acme/billing@sha256:...</a:t>
            </a:r>
          </a:p>
        </p:txBody>
      </p:sp>
      <p:sp>
        <p:nvSpPr>
          <p:cNvPr id="30" name="TextBox 29"/>
          <p:cNvSpPr txBox="1"/>
          <p:nvPr/>
        </p:nvSpPr>
        <p:spPr>
          <a:xfrm>
            <a:off x="749808" y="4665268"/>
            <a:ext cx="6126480" cy="222199"/>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envFrom:</a:t>
            </a:r>
          </a:p>
        </p:txBody>
      </p:sp>
      <p:sp>
        <p:nvSpPr>
          <p:cNvPr id="31" name="TextBox 30"/>
          <p:cNvSpPr txBox="1"/>
          <p:nvPr/>
        </p:nvSpPr>
        <p:spPr>
          <a:xfrm>
            <a:off x="749808" y="4850892"/>
            <a:ext cx="6126480" cy="222199"/>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 secretRef:</a:t>
            </a:r>
          </a:p>
        </p:txBody>
      </p:sp>
      <p:sp>
        <p:nvSpPr>
          <p:cNvPr id="32" name="TextBox 31"/>
          <p:cNvSpPr txBox="1"/>
          <p:nvPr/>
        </p:nvSpPr>
        <p:spPr>
          <a:xfrm>
            <a:off x="749808" y="5036515"/>
            <a:ext cx="6126480" cy="222199"/>
          </a:xfrm>
          <a:prstGeom prst="rect">
            <a:avLst/>
          </a:prstGeom>
          <a:noFill/>
        </p:spPr>
        <p:txBody>
          <a:bodyPr wrap="square" lIns="18288" rIns="18288" tIns="0" bIns="0" anchor="t">
            <a:noAutofit/>
          </a:bodyPr>
          <a:lstStyle/>
          <a:p>
            <a:pPr algn="l">
              <a:spcAft>
                <a:spcPts val="0"/>
              </a:spcAft>
            </a:pPr>
            <a:r>
              <a:rPr sz="1100" b="0" i="0">
                <a:solidFill>
                  <a:srgbClr val="F59E0B"/>
                </a:solidFill>
                <a:latin typeface="Consolas"/>
              </a:rPr>
              <a:t>                name: billing-db</a:t>
            </a:r>
          </a:p>
        </p:txBody>
      </p:sp>
      <p:sp>
        <p:nvSpPr>
          <p:cNvPr id="33" name="Rounded Rectangle 32"/>
          <p:cNvSpPr/>
          <p:nvPr/>
        </p:nvSpPr>
        <p:spPr>
          <a:xfrm>
            <a:off x="7379208" y="1645920"/>
            <a:ext cx="4337273" cy="178308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379208" y="1645920"/>
            <a:ext cx="77724" cy="178308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635240" y="1792224"/>
            <a:ext cx="388007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Note what this fixes</a:t>
            </a:r>
          </a:p>
        </p:txBody>
      </p:sp>
      <p:sp>
        <p:nvSpPr>
          <p:cNvPr id="36" name="TextBox 35"/>
          <p:cNvSpPr txBox="1"/>
          <p:nvPr/>
        </p:nvSpPr>
        <p:spPr>
          <a:xfrm>
            <a:off x="7635240" y="2194560"/>
            <a:ext cx="3880073" cy="1106424"/>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envFrom was the case that could never pick up a rotation — the value is frozen at container start.</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With the annotation, a change to billing-db rolls the Deployment, and the new pods read the new value.</a:t>
            </a:r>
          </a:p>
        </p:txBody>
      </p:sp>
      <p:sp>
        <p:nvSpPr>
          <p:cNvPr id="37" name="Rounded Rectangle 36"/>
          <p:cNvSpPr/>
          <p:nvPr/>
        </p:nvSpPr>
        <p:spPr>
          <a:xfrm>
            <a:off x="7379208" y="3639312"/>
            <a:ext cx="4337273" cy="19385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379208" y="3639312"/>
            <a:ext cx="77724" cy="193852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35240" y="3785616"/>
            <a:ext cx="388007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A common mistake</a:t>
            </a:r>
          </a:p>
        </p:txBody>
      </p:sp>
      <p:sp>
        <p:nvSpPr>
          <p:cNvPr id="40" name="TextBox 39"/>
          <p:cNvSpPr txBox="1"/>
          <p:nvPr/>
        </p:nvSpPr>
        <p:spPr>
          <a:xfrm>
            <a:off x="7635240" y="4187952"/>
            <a:ext cx="3880073" cy="1261872"/>
          </a:xfrm>
          <a:prstGeom prst="rect">
            <a:avLst/>
          </a:prstGeom>
          <a:noFill/>
        </p:spPr>
        <p:txBody>
          <a:bodyPr wrap="square" lIns="18288" rIns="18288" tIns="0" bIns="0" anchor="t">
            <a:noAutofit/>
          </a:bodyPr>
          <a:lstStyle/>
          <a:p>
            <a:pPr algn="l">
              <a:lnSpc>
                <a:spcPct val="124000"/>
              </a:lnSpc>
              <a:spcAft>
                <a:spcPts val="0"/>
              </a:spcAft>
            </a:pPr>
            <a:r>
              <a:rPr sz="1100" b="0" i="0">
                <a:solidFill>
                  <a:srgbClr val="363F4D"/>
                </a:solidFill>
                <a:latin typeface="Calibri"/>
              </a:rPr>
              <a:t>Putting the annotation under spec.template.metadata.annotations instead.</a:t>
            </a:r>
          </a:p>
          <a:p>
            <a:pPr algn="l">
              <a:lnSpc>
                <a:spcPct val="124000"/>
              </a:lnSpc>
              <a:spcAft>
                <a:spcPts val="0"/>
              </a:spcAft>
            </a:pPr>
            <a:r>
              <a:rPr sz="1100" b="0" i="0">
                <a:solidFill>
                  <a:srgbClr val="363F4D"/>
                </a:solidFill>
                <a:latin typeface="Calibri"/>
              </a:rPr>
              <a:t/>
            </a:r>
          </a:p>
          <a:p>
            <a:pPr algn="l">
              <a:lnSpc>
                <a:spcPct val="124000"/>
              </a:lnSpc>
              <a:spcAft>
                <a:spcPts val="0"/>
              </a:spcAft>
            </a:pPr>
            <a:r>
              <a:rPr sz="1100" b="0" i="0">
                <a:solidFill>
                  <a:srgbClr val="363F4D"/>
                </a:solidFill>
                <a:latin typeface="Calibri"/>
              </a:rPr>
              <a:t>Reloader will not see it, nothing will happen, and there is no error message. If a reload never fires, check this first.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Two Rollout Strategies, and Why You Might Switch</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How Reloader makes the pod template change is configurable — and it matters to Argo CD.</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 default adds an env var to the container. If that fights your GitOps diff, switch to annotations.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5414756" cy="2743200"/>
          </a:xfrm>
          <a:prstGeom prst="roundRect">
            <a:avLst>
              <a:gd name="adj" fmla="val 8000"/>
            </a:avLst>
          </a:prstGeom>
          <a:solidFill>
            <a:srgbClr val="ECF4FE"/>
          </a:solidFill>
          <a:ln w="15875">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86460" y="1656892"/>
            <a:ext cx="5392811" cy="45720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50" b="1" i="0">
                <a:solidFill>
                  <a:srgbClr val="FFFFFF"/>
                </a:solidFill>
                <a:latin typeface="Calibri"/>
              </a:rPr>
              <a:t>env-vars  ·  the default</a:t>
            </a:r>
          </a:p>
        </p:txBody>
      </p:sp>
      <p:sp>
        <p:nvSpPr>
          <p:cNvPr id="15" name="Rounded Rectangle 14"/>
          <p:cNvSpPr/>
          <p:nvPr/>
        </p:nvSpPr>
        <p:spPr>
          <a:xfrm>
            <a:off x="694944" y="2249424"/>
            <a:ext cx="4975844" cy="10058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94944" y="2249424"/>
            <a:ext cx="64008" cy="100584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2377440"/>
            <a:ext cx="4427204" cy="233172"/>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env:</a:t>
            </a:r>
          </a:p>
        </p:txBody>
      </p:sp>
      <p:sp>
        <p:nvSpPr>
          <p:cNvPr id="18" name="TextBox 17"/>
          <p:cNvSpPr txBox="1"/>
          <p:nvPr/>
        </p:nvSpPr>
        <p:spPr>
          <a:xfrm>
            <a:off x="969264" y="2574036"/>
            <a:ext cx="4427204" cy="233172"/>
          </a:xfrm>
          <a:prstGeom prst="rect">
            <a:avLst/>
          </a:prstGeom>
          <a:noFill/>
        </p:spPr>
        <p:txBody>
          <a:bodyPr wrap="square" lIns="18288" rIns="18288" tIns="0" bIns="0" anchor="t">
            <a:noAutofit/>
          </a:bodyPr>
          <a:lstStyle/>
          <a:p>
            <a:pPr algn="l">
              <a:spcAft>
                <a:spcPts val="0"/>
              </a:spcAft>
            </a:pPr>
            <a:r>
              <a:rPr sz="1000" b="0" i="0">
                <a:solidFill>
                  <a:srgbClr val="D9E2F0"/>
                </a:solidFill>
                <a:latin typeface="Consolas"/>
              </a:rPr>
              <a:t>  - name: STAKATER_BILLING_DB_SECRET</a:t>
            </a:r>
          </a:p>
        </p:txBody>
      </p:sp>
      <p:sp>
        <p:nvSpPr>
          <p:cNvPr id="19" name="TextBox 18"/>
          <p:cNvSpPr txBox="1"/>
          <p:nvPr/>
        </p:nvSpPr>
        <p:spPr>
          <a:xfrm>
            <a:off x="969264" y="2770632"/>
            <a:ext cx="4427204" cy="233172"/>
          </a:xfrm>
          <a:prstGeom prst="rect">
            <a:avLst/>
          </a:prstGeom>
          <a:noFill/>
        </p:spPr>
        <p:txBody>
          <a:bodyPr wrap="square" lIns="18288" rIns="18288" tIns="0" bIns="0" anchor="t">
            <a:noAutofit/>
          </a:bodyPr>
          <a:lstStyle/>
          <a:p>
            <a:pPr algn="l">
              <a:spcAft>
                <a:spcPts val="0"/>
              </a:spcAft>
            </a:pPr>
            <a:r>
              <a:rPr sz="1000" b="0" i="0">
                <a:solidFill>
                  <a:srgbClr val="F59E0B"/>
                </a:solidFill>
                <a:latin typeface="Consolas"/>
              </a:rPr>
              <a:t>    value: "a1b2c3..."</a:t>
            </a:r>
          </a:p>
        </p:txBody>
      </p:sp>
      <p:sp>
        <p:nvSpPr>
          <p:cNvPr id="20" name="TextBox 19"/>
          <p:cNvSpPr txBox="1"/>
          <p:nvPr/>
        </p:nvSpPr>
        <p:spPr>
          <a:xfrm>
            <a:off x="731520" y="3387851"/>
            <a:ext cx="256032" cy="274320"/>
          </a:xfrm>
          <a:prstGeom prst="rect">
            <a:avLst/>
          </a:prstGeom>
          <a:noFill/>
        </p:spPr>
        <p:txBody>
          <a:bodyPr wrap="square" lIns="18288" rIns="18288" tIns="0" bIns="0" anchor="t">
            <a:noAutofit/>
          </a:bodyPr>
          <a:lstStyle/>
          <a:p>
            <a:pPr algn="l">
              <a:spcAft>
                <a:spcPts val="0"/>
              </a:spcAft>
            </a:pPr>
            <a:r>
              <a:rPr sz="1250" b="1" i="0">
                <a:solidFill>
                  <a:srgbClr val="2E86DE"/>
                </a:solidFill>
                <a:latin typeface="Calibri"/>
              </a:rPr>
              <a:t>▸</a:t>
            </a:r>
          </a:p>
        </p:txBody>
      </p:sp>
      <p:sp>
        <p:nvSpPr>
          <p:cNvPr id="21" name="TextBox 20"/>
          <p:cNvSpPr txBox="1"/>
          <p:nvPr/>
        </p:nvSpPr>
        <p:spPr>
          <a:xfrm>
            <a:off x="1042416" y="3401568"/>
            <a:ext cx="4591796" cy="274320"/>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Visible in the container spec.  </a:t>
            </a:r>
            <a:r>
              <a:rPr sz="1050" b="0" i="0">
                <a:solidFill>
                  <a:srgbClr val="363F4D"/>
                </a:solidFill>
                <a:latin typeface="Calibri"/>
              </a:rPr>
              <a:t>Easy to see that Reloader acted, and when.</a:t>
            </a:r>
          </a:p>
        </p:txBody>
      </p:sp>
      <p:sp>
        <p:nvSpPr>
          <p:cNvPr id="22" name="TextBox 21"/>
          <p:cNvSpPr txBox="1"/>
          <p:nvPr/>
        </p:nvSpPr>
        <p:spPr>
          <a:xfrm>
            <a:off x="731520" y="3753612"/>
            <a:ext cx="256032" cy="274320"/>
          </a:xfrm>
          <a:prstGeom prst="rect">
            <a:avLst/>
          </a:prstGeom>
          <a:noFill/>
        </p:spPr>
        <p:txBody>
          <a:bodyPr wrap="square" lIns="18288" rIns="18288" tIns="0" bIns="0" anchor="t">
            <a:noAutofit/>
          </a:bodyPr>
          <a:lstStyle/>
          <a:p>
            <a:pPr algn="l">
              <a:spcAft>
                <a:spcPts val="0"/>
              </a:spcAft>
            </a:pPr>
            <a:r>
              <a:rPr sz="1250" b="1" i="0">
                <a:solidFill>
                  <a:srgbClr val="2E86DE"/>
                </a:solidFill>
                <a:latin typeface="Calibri"/>
              </a:rPr>
              <a:t>▸</a:t>
            </a:r>
          </a:p>
        </p:txBody>
      </p:sp>
      <p:sp>
        <p:nvSpPr>
          <p:cNvPr id="23" name="TextBox 22"/>
          <p:cNvSpPr txBox="1"/>
          <p:nvPr/>
        </p:nvSpPr>
        <p:spPr>
          <a:xfrm>
            <a:off x="1042416" y="3767328"/>
            <a:ext cx="4591796" cy="274320"/>
          </a:xfrm>
          <a:prstGeom prst="rect">
            <a:avLst/>
          </a:prstGeom>
          <a:noFill/>
        </p:spPr>
        <p:txBody>
          <a:bodyPr wrap="square" lIns="18288" rIns="18288" tIns="0" bIns="0" anchor="t">
            <a:noAutofit/>
          </a:bodyPr>
          <a:lstStyle/>
          <a:p>
            <a:pPr algn="l">
              <a:lnSpc>
                <a:spcPct val="120000"/>
              </a:lnSpc>
              <a:spcAft>
                <a:spcPts val="0"/>
              </a:spcAft>
            </a:pPr>
            <a:r>
              <a:rPr sz="1050" b="1" i="0">
                <a:solidFill>
                  <a:srgbClr val="1F2B3D"/>
                </a:solidFill>
                <a:latin typeface="Calibri"/>
              </a:rPr>
              <a:t>Changes the live Deployment.  </a:t>
            </a:r>
            <a:r>
              <a:rPr sz="1050" b="0" i="0">
                <a:solidFill>
                  <a:srgbClr val="363F4D"/>
                </a:solidFill>
                <a:latin typeface="Calibri"/>
              </a:rPr>
              <a:t>Argo CD will see a field Git does not contain.</a:t>
            </a:r>
          </a:p>
        </p:txBody>
      </p:sp>
      <p:sp>
        <p:nvSpPr>
          <p:cNvPr id="24" name="Rounded Rectangle 23"/>
          <p:cNvSpPr/>
          <p:nvPr/>
        </p:nvSpPr>
        <p:spPr>
          <a:xfrm>
            <a:off x="6301724" y="1645920"/>
            <a:ext cx="5414756" cy="2743200"/>
          </a:xfrm>
          <a:prstGeom prst="roundRect">
            <a:avLst>
              <a:gd name="adj" fmla="val 8000"/>
            </a:avLst>
          </a:prstGeom>
          <a:solidFill>
            <a:srgbClr val="EBF8F1"/>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312697" y="1656892"/>
            <a:ext cx="5392811" cy="45720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50" b="1" i="0">
                <a:solidFill>
                  <a:srgbClr val="FFFFFF"/>
                </a:solidFill>
                <a:latin typeface="Calibri"/>
              </a:rPr>
              <a:t>annotations  ·  the GitOps-friendly one</a:t>
            </a:r>
          </a:p>
        </p:txBody>
      </p:sp>
      <p:sp>
        <p:nvSpPr>
          <p:cNvPr id="26" name="Rounded Rectangle 25"/>
          <p:cNvSpPr/>
          <p:nvPr/>
        </p:nvSpPr>
        <p:spPr>
          <a:xfrm>
            <a:off x="6521180" y="2249424"/>
            <a:ext cx="4975844" cy="100584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21180" y="2249424"/>
            <a:ext cx="64008" cy="100584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795500" y="2377440"/>
            <a:ext cx="4427204" cy="233172"/>
          </a:xfrm>
          <a:prstGeom prst="rect">
            <a:avLst/>
          </a:prstGeom>
          <a:noFill/>
        </p:spPr>
        <p:txBody>
          <a:bodyPr wrap="square" lIns="18288" rIns="18288" tIns="0" bIns="0" anchor="t">
            <a:noAutofit/>
          </a:bodyPr>
          <a:lstStyle/>
          <a:p>
            <a:pPr algn="l">
              <a:spcAft>
                <a:spcPts val="0"/>
              </a:spcAft>
            </a:pPr>
            <a:r>
              <a:rPr sz="950" b="0" i="0">
                <a:solidFill>
                  <a:srgbClr val="D9E2F0"/>
                </a:solidFill>
                <a:latin typeface="Consolas"/>
              </a:rPr>
              <a:t>template:</a:t>
            </a:r>
          </a:p>
        </p:txBody>
      </p:sp>
      <p:sp>
        <p:nvSpPr>
          <p:cNvPr id="29" name="TextBox 28"/>
          <p:cNvSpPr txBox="1"/>
          <p:nvPr/>
        </p:nvSpPr>
        <p:spPr>
          <a:xfrm>
            <a:off x="6795500" y="2574036"/>
            <a:ext cx="4427204" cy="233172"/>
          </a:xfrm>
          <a:prstGeom prst="rect">
            <a:avLst/>
          </a:prstGeom>
          <a:noFill/>
        </p:spPr>
        <p:txBody>
          <a:bodyPr wrap="square" lIns="18288" rIns="18288" tIns="0" bIns="0" anchor="t">
            <a:noAutofit/>
          </a:bodyPr>
          <a:lstStyle/>
          <a:p>
            <a:pPr algn="l">
              <a:spcAft>
                <a:spcPts val="0"/>
              </a:spcAft>
            </a:pPr>
            <a:r>
              <a:rPr sz="950" b="0" i="0">
                <a:solidFill>
                  <a:srgbClr val="D9E2F0"/>
                </a:solidFill>
                <a:latin typeface="Consolas"/>
              </a:rPr>
              <a:t>  metadata:</a:t>
            </a:r>
          </a:p>
        </p:txBody>
      </p:sp>
      <p:sp>
        <p:nvSpPr>
          <p:cNvPr id="30" name="TextBox 29"/>
          <p:cNvSpPr txBox="1"/>
          <p:nvPr/>
        </p:nvSpPr>
        <p:spPr>
          <a:xfrm>
            <a:off x="6795500" y="2770632"/>
            <a:ext cx="4427204" cy="233172"/>
          </a:xfrm>
          <a:prstGeom prst="rect">
            <a:avLst/>
          </a:prstGeom>
          <a:noFill/>
        </p:spPr>
        <p:txBody>
          <a:bodyPr wrap="square" lIns="18288" rIns="18288" tIns="0" bIns="0" anchor="t">
            <a:noAutofit/>
          </a:bodyPr>
          <a:lstStyle/>
          <a:p>
            <a:pPr algn="l">
              <a:spcAft>
                <a:spcPts val="0"/>
              </a:spcAft>
            </a:pPr>
            <a:r>
              <a:rPr sz="950" b="0" i="0">
                <a:solidFill>
                  <a:srgbClr val="F59E0B"/>
                </a:solidFill>
                <a:latin typeface="Consolas"/>
              </a:rPr>
              <a:t>    annotations: { reloader.../last-reloaded: ... }</a:t>
            </a:r>
          </a:p>
        </p:txBody>
      </p:sp>
      <p:sp>
        <p:nvSpPr>
          <p:cNvPr id="31" name="TextBox 30"/>
          <p:cNvSpPr txBox="1"/>
          <p:nvPr/>
        </p:nvSpPr>
        <p:spPr>
          <a:xfrm>
            <a:off x="6557756" y="3387851"/>
            <a:ext cx="256032" cy="274320"/>
          </a:xfrm>
          <a:prstGeom prst="rect">
            <a:avLst/>
          </a:prstGeom>
          <a:noFill/>
        </p:spPr>
        <p:txBody>
          <a:bodyPr wrap="square" lIns="18288" rIns="18288" tIns="0" bIns="0" anchor="t">
            <a:noAutofit/>
          </a:bodyPr>
          <a:lstStyle/>
          <a:p>
            <a:pPr algn="l">
              <a:spcAft>
                <a:spcPts val="0"/>
              </a:spcAft>
            </a:pPr>
            <a:r>
              <a:rPr sz="1200" b="1" i="0">
                <a:solidFill>
                  <a:srgbClr val="2EB56B"/>
                </a:solidFill>
                <a:latin typeface="Calibri"/>
              </a:rPr>
              <a:t>▸</a:t>
            </a:r>
          </a:p>
        </p:txBody>
      </p:sp>
      <p:sp>
        <p:nvSpPr>
          <p:cNvPr id="32" name="TextBox 31"/>
          <p:cNvSpPr txBox="1"/>
          <p:nvPr/>
        </p:nvSpPr>
        <p:spPr>
          <a:xfrm>
            <a:off x="6868652" y="3401568"/>
            <a:ext cx="4591796" cy="274320"/>
          </a:xfrm>
          <a:prstGeom prst="rect">
            <a:avLst/>
          </a:prstGeom>
          <a:noFill/>
        </p:spPr>
        <p:txBody>
          <a:bodyPr wrap="square" lIns="18288" rIns="18288" tIns="0" bIns="0" anchor="t">
            <a:noAutofit/>
          </a:bodyPr>
          <a:lstStyle/>
          <a:p>
            <a:pPr algn="l">
              <a:lnSpc>
                <a:spcPct val="120000"/>
              </a:lnSpc>
              <a:spcAft>
                <a:spcPts val="0"/>
              </a:spcAft>
            </a:pPr>
            <a:r>
              <a:rPr sz="1000" b="1" i="0">
                <a:solidFill>
                  <a:srgbClr val="1F2B3D"/>
                </a:solidFill>
                <a:latin typeface="Calibri"/>
              </a:rPr>
              <a:t>Keeps the container spec clean.  </a:t>
            </a:r>
            <a:r>
              <a:rPr sz="1000" b="0" i="0">
                <a:solidFill>
                  <a:srgbClr val="363F4D"/>
                </a:solidFill>
                <a:latin typeface="Calibri"/>
              </a:rPr>
              <a:t>No injected environment variable to explain.</a:t>
            </a:r>
          </a:p>
        </p:txBody>
      </p:sp>
      <p:sp>
        <p:nvSpPr>
          <p:cNvPr id="33" name="TextBox 32"/>
          <p:cNvSpPr txBox="1"/>
          <p:nvPr/>
        </p:nvSpPr>
        <p:spPr>
          <a:xfrm>
            <a:off x="6557756" y="3726180"/>
            <a:ext cx="256032" cy="274320"/>
          </a:xfrm>
          <a:prstGeom prst="rect">
            <a:avLst/>
          </a:prstGeom>
          <a:noFill/>
        </p:spPr>
        <p:txBody>
          <a:bodyPr wrap="square" lIns="18288" rIns="18288" tIns="0" bIns="0" anchor="t">
            <a:noAutofit/>
          </a:bodyPr>
          <a:lstStyle/>
          <a:p>
            <a:pPr algn="l">
              <a:spcAft>
                <a:spcPts val="0"/>
              </a:spcAft>
            </a:pPr>
            <a:r>
              <a:rPr sz="1200" b="1" i="0">
                <a:solidFill>
                  <a:srgbClr val="2EB56B"/>
                </a:solidFill>
                <a:latin typeface="Calibri"/>
              </a:rPr>
              <a:t>▸</a:t>
            </a:r>
          </a:p>
        </p:txBody>
      </p:sp>
      <p:sp>
        <p:nvSpPr>
          <p:cNvPr id="34" name="TextBox 33"/>
          <p:cNvSpPr txBox="1"/>
          <p:nvPr/>
        </p:nvSpPr>
        <p:spPr>
          <a:xfrm>
            <a:off x="6868652" y="3739896"/>
            <a:ext cx="4591796" cy="317500"/>
          </a:xfrm>
          <a:prstGeom prst="rect">
            <a:avLst/>
          </a:prstGeom>
          <a:noFill/>
        </p:spPr>
        <p:txBody>
          <a:bodyPr wrap="square" lIns="18288" rIns="18288" tIns="0" bIns="0" anchor="t">
            <a:noAutofit/>
          </a:bodyPr>
          <a:lstStyle/>
          <a:p>
            <a:pPr algn="l">
              <a:lnSpc>
                <a:spcPct val="120000"/>
              </a:lnSpc>
              <a:spcAft>
                <a:spcPts val="0"/>
              </a:spcAft>
            </a:pPr>
            <a:r>
              <a:rPr sz="1000" b="1" i="0">
                <a:solidFill>
                  <a:srgbClr val="1F2B3D"/>
                </a:solidFill>
                <a:latin typeface="Calibri"/>
              </a:rPr>
              <a:t>Easier to ignore in a diff.  </a:t>
            </a:r>
            <a:r>
              <a:rPr sz="1000" b="0" i="0">
                <a:solidFill>
                  <a:srgbClr val="363F4D"/>
                </a:solidFill>
                <a:latin typeface="Calibri"/>
              </a:rPr>
              <a:t>One annotation path is simpler to exclude than an env entry.</a:t>
            </a:r>
          </a:p>
        </p:txBody>
      </p:sp>
      <p:sp>
        <p:nvSpPr>
          <p:cNvPr id="35" name="Rounded Rectangle 34"/>
          <p:cNvSpPr/>
          <p:nvPr/>
        </p:nvSpPr>
        <p:spPr>
          <a:xfrm>
            <a:off x="475488" y="4608576"/>
            <a:ext cx="11240993" cy="566928"/>
          </a:xfrm>
          <a:prstGeom prst="roundRect">
            <a:avLst>
              <a:gd name="adj" fmla="val 7000"/>
            </a:avLst>
          </a:prstGeom>
          <a:solidFill>
            <a:srgbClr val="FE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75488" y="4608576"/>
            <a:ext cx="91440" cy="566928"/>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59536" y="4700016"/>
            <a:ext cx="10555193" cy="384048"/>
          </a:xfrm>
          <a:prstGeom prst="rect">
            <a:avLst/>
          </a:prstGeom>
          <a:noFill/>
        </p:spPr>
        <p:txBody>
          <a:bodyPr wrap="square" lIns="18288" rIns="18288" tIns="0" bIns="0" anchor="ctr">
            <a:noAutofit/>
          </a:bodyPr>
          <a:lstStyle/>
          <a:p>
            <a:pPr algn="l">
              <a:lnSpc>
                <a:spcPct val="120000"/>
              </a:lnSpc>
              <a:spcAft>
                <a:spcPts val="0"/>
              </a:spcAft>
            </a:pPr>
            <a:r>
              <a:rPr sz="1350" b="0" i="1">
                <a:solidFill>
                  <a:srgbClr val="1F2B3D"/>
                </a:solidFill>
                <a:latin typeface="Calibri Light"/>
              </a:rPr>
              <a:t>Either way, Argo CD sees a live Deployment that differs from Git. Section 06 shows the two correct ways to stop it fighting back.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Stopping a Reload You Do Not Want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Two annotations for the times a rollout would be worse than a stale value.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Suppression is for maintenance windows and noisy ConfigMaps — not a substitute for scoping.</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5428472" cy="157276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15727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pause — hold reloads for a window</a:t>
            </a:r>
          </a:p>
        </p:txBody>
      </p:sp>
      <p:sp>
        <p:nvSpPr>
          <p:cNvPr id="16" name="TextBox 15"/>
          <p:cNvSpPr txBox="1"/>
          <p:nvPr/>
        </p:nvSpPr>
        <p:spPr>
          <a:xfrm>
            <a:off x="749808" y="2066543"/>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metadata:</a:t>
            </a:r>
          </a:p>
        </p:txBody>
      </p:sp>
      <p:sp>
        <p:nvSpPr>
          <p:cNvPr id="17" name="TextBox 16"/>
          <p:cNvSpPr txBox="1"/>
          <p:nvPr/>
        </p:nvSpPr>
        <p:spPr>
          <a:xfrm>
            <a:off x="749808" y="2263139"/>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annotations:</a:t>
            </a:r>
          </a:p>
        </p:txBody>
      </p:sp>
      <p:sp>
        <p:nvSpPr>
          <p:cNvPr id="18" name="TextBox 17"/>
          <p:cNvSpPr txBox="1"/>
          <p:nvPr/>
        </p:nvSpPr>
        <p:spPr>
          <a:xfrm>
            <a:off x="749808" y="2459735"/>
            <a:ext cx="4879832" cy="23317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reloader.stakater.com/auto: "true"</a:t>
            </a:r>
          </a:p>
        </p:txBody>
      </p:sp>
      <p:sp>
        <p:nvSpPr>
          <p:cNvPr id="19" name="TextBox 18"/>
          <p:cNvSpPr txBox="1"/>
          <p:nvPr/>
        </p:nvSpPr>
        <p:spPr>
          <a:xfrm>
            <a:off x="749808" y="2656331"/>
            <a:ext cx="4879832" cy="233172"/>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deployment.reloader.stakater.com/</a:t>
            </a:r>
          </a:p>
        </p:txBody>
      </p:sp>
      <p:sp>
        <p:nvSpPr>
          <p:cNvPr id="20" name="TextBox 19"/>
          <p:cNvSpPr txBox="1"/>
          <p:nvPr/>
        </p:nvSpPr>
        <p:spPr>
          <a:xfrm>
            <a:off x="749808" y="2852927"/>
            <a:ext cx="4879832" cy="233172"/>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pause-period: "30m"</a:t>
            </a:r>
          </a:p>
        </p:txBody>
      </p:sp>
      <p:sp>
        <p:nvSpPr>
          <p:cNvPr id="21" name="Rounded Rectangle 20"/>
          <p:cNvSpPr/>
          <p:nvPr/>
        </p:nvSpPr>
        <p:spPr>
          <a:xfrm>
            <a:off x="6288008" y="1645920"/>
            <a:ext cx="5428472" cy="1572768"/>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88008" y="1645920"/>
            <a:ext cx="64008" cy="157276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D93B3B"/>
                </a:solidFill>
                <a:latin typeface="Consolas"/>
              </a:rPr>
              <a:t>ignore — this object never triggers</a:t>
            </a:r>
          </a:p>
        </p:txBody>
      </p:sp>
      <p:sp>
        <p:nvSpPr>
          <p:cNvPr id="24" name="TextBox 23"/>
          <p:cNvSpPr txBox="1"/>
          <p:nvPr/>
        </p:nvSpPr>
        <p:spPr>
          <a:xfrm>
            <a:off x="6562328" y="2066543"/>
            <a:ext cx="4879832" cy="213360"/>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metadata:</a:t>
            </a:r>
          </a:p>
        </p:txBody>
      </p:sp>
      <p:sp>
        <p:nvSpPr>
          <p:cNvPr id="25" name="TextBox 24"/>
          <p:cNvSpPr txBox="1"/>
          <p:nvPr/>
        </p:nvSpPr>
        <p:spPr>
          <a:xfrm>
            <a:off x="6562328" y="2243328"/>
            <a:ext cx="4879832" cy="213360"/>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annotations:</a:t>
            </a:r>
          </a:p>
        </p:txBody>
      </p:sp>
      <p:sp>
        <p:nvSpPr>
          <p:cNvPr id="26" name="TextBox 25"/>
          <p:cNvSpPr txBox="1"/>
          <p:nvPr/>
        </p:nvSpPr>
        <p:spPr>
          <a:xfrm>
            <a:off x="6562328" y="2420112"/>
            <a:ext cx="4879832" cy="213360"/>
          </a:xfrm>
          <a:prstGeom prst="rect">
            <a:avLst/>
          </a:prstGeom>
          <a:noFill/>
        </p:spPr>
        <p:txBody>
          <a:bodyPr wrap="square" lIns="18288" rIns="18288" tIns="0" bIns="0" anchor="t">
            <a:noAutofit/>
          </a:bodyPr>
          <a:lstStyle/>
          <a:p>
            <a:pPr algn="l">
              <a:spcAft>
                <a:spcPts val="0"/>
              </a:spcAft>
            </a:pPr>
            <a:r>
              <a:rPr sz="1050" b="0" i="0">
                <a:solidFill>
                  <a:srgbClr val="D93B3B"/>
                </a:solidFill>
                <a:latin typeface="Consolas"/>
              </a:rPr>
              <a:t>    reloader.stakater.com/ignore: "true"</a:t>
            </a:r>
          </a:p>
        </p:txBody>
      </p:sp>
      <p:sp>
        <p:nvSpPr>
          <p:cNvPr id="27" name="TextBox 26"/>
          <p:cNvSpPr txBox="1"/>
          <p:nvPr/>
        </p:nvSpPr>
        <p:spPr>
          <a:xfrm>
            <a:off x="6562328" y="2596896"/>
            <a:ext cx="4879832" cy="213360"/>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8" name="TextBox 27"/>
          <p:cNvSpPr txBox="1"/>
          <p:nvPr/>
        </p:nvSpPr>
        <p:spPr>
          <a:xfrm>
            <a:off x="6562328" y="2773680"/>
            <a:ext cx="4879832" cy="213360"/>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on a ConfigMap or Secret that changes</a:t>
            </a:r>
          </a:p>
        </p:txBody>
      </p:sp>
      <p:sp>
        <p:nvSpPr>
          <p:cNvPr id="29" name="TextBox 28"/>
          <p:cNvSpPr txBox="1"/>
          <p:nvPr/>
        </p:nvSpPr>
        <p:spPr>
          <a:xfrm>
            <a:off x="6562328" y="2950464"/>
            <a:ext cx="4879832" cy="213360"/>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constantly and must never trigger anything</a:t>
            </a:r>
          </a:p>
        </p:txBody>
      </p:sp>
      <p:sp>
        <p:nvSpPr>
          <p:cNvPr id="30" name="Rounded Rectangle 29"/>
          <p:cNvSpPr/>
          <p:nvPr/>
        </p:nvSpPr>
        <p:spPr>
          <a:xfrm>
            <a:off x="475488" y="3438144"/>
            <a:ext cx="3564117" cy="217627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475488" y="3438144"/>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3685031"/>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 change freeze</a:t>
            </a:r>
          </a:p>
        </p:txBody>
      </p:sp>
      <p:sp>
        <p:nvSpPr>
          <p:cNvPr id="33" name="TextBox 32"/>
          <p:cNvSpPr txBox="1"/>
          <p:nvPr/>
        </p:nvSpPr>
        <p:spPr>
          <a:xfrm>
            <a:off x="658368" y="4096511"/>
            <a:ext cx="3198357" cy="1399031"/>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During a release window or an incident, pause reloads on the critical workloads so a background rotation cannot restart them at the worst moment.</a:t>
            </a:r>
          </a:p>
        </p:txBody>
      </p:sp>
      <p:sp>
        <p:nvSpPr>
          <p:cNvPr id="34" name="Rounded Rectangle 33"/>
          <p:cNvSpPr/>
          <p:nvPr/>
        </p:nvSpPr>
        <p:spPr>
          <a:xfrm>
            <a:off x="4313925" y="3438144"/>
            <a:ext cx="3564117" cy="217627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313925" y="3438144"/>
            <a:ext cx="3564117" cy="685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496805" y="3685031"/>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 noisy object</a:t>
            </a:r>
          </a:p>
        </p:txBody>
      </p:sp>
      <p:sp>
        <p:nvSpPr>
          <p:cNvPr id="37" name="TextBox 36"/>
          <p:cNvSpPr txBox="1"/>
          <p:nvPr/>
        </p:nvSpPr>
        <p:spPr>
          <a:xfrm>
            <a:off x="4496805" y="4096511"/>
            <a:ext cx="3198357" cy="1399031"/>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ConfigMap written by another controller on a timer will roll your workload every time. Mark it ignore, or stop using auto and name the objects you care about.</a:t>
            </a:r>
          </a:p>
        </p:txBody>
      </p:sp>
      <p:sp>
        <p:nvSpPr>
          <p:cNvPr id="38" name="Rounded Rectangle 37"/>
          <p:cNvSpPr/>
          <p:nvPr/>
        </p:nvSpPr>
        <p:spPr>
          <a:xfrm>
            <a:off x="8152363" y="3438144"/>
            <a:ext cx="3564117" cy="217627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8152363" y="3438144"/>
            <a:ext cx="3564117"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335243" y="3685031"/>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 workload that must not restart</a:t>
            </a:r>
          </a:p>
        </p:txBody>
      </p:sp>
      <p:sp>
        <p:nvSpPr>
          <p:cNvPr id="41" name="TextBox 40"/>
          <p:cNvSpPr txBox="1"/>
          <p:nvPr/>
        </p:nvSpPr>
        <p:spPr>
          <a:xfrm>
            <a:off x="8335243" y="4096511"/>
            <a:ext cx="3198357" cy="1399031"/>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Some stateful workloads are expensive or risky to roll. Leave them un-annotated and restart them deliberately, on your own schedule.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Reloader Will Not Do For You</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It is deliberately tiny. Knowing its edges keeps you from asking it for the wrong thing.</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Reloader reacts to changes. It does not make them, fetch them, or judge them.</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11240993" cy="3931920"/>
          </a:xfrm>
          <a:prstGeom prst="roundRect">
            <a:avLst>
              <a:gd name="adj" fmla="val 6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11240993" cy="6858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31520" y="1883664"/>
            <a:ext cx="566928" cy="566928"/>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700" b="1" i="0">
                <a:solidFill>
                  <a:srgbClr val="FFFFFF"/>
                </a:solidFill>
                <a:latin typeface="Calibri"/>
              </a:rPr>
              <a:t>↻</a:t>
            </a:r>
          </a:p>
        </p:txBody>
      </p:sp>
      <p:sp>
        <p:nvSpPr>
          <p:cNvPr id="16" name="TextBox 15"/>
          <p:cNvSpPr txBox="1"/>
          <p:nvPr/>
        </p:nvSpPr>
        <p:spPr>
          <a:xfrm>
            <a:off x="1426464" y="1920240"/>
            <a:ext cx="9960833" cy="310896"/>
          </a:xfrm>
          <a:prstGeom prst="rect">
            <a:avLst/>
          </a:prstGeom>
          <a:noFill/>
        </p:spPr>
        <p:txBody>
          <a:bodyPr wrap="square" lIns="18288" rIns="18288" tIns="0" bIns="0" anchor="t">
            <a:noAutofit/>
          </a:bodyPr>
          <a:lstStyle/>
          <a:p>
            <a:pPr algn="l">
              <a:spcAft>
                <a:spcPts val="0"/>
              </a:spcAft>
            </a:pPr>
            <a:r>
              <a:rPr sz="1700" b="1" i="0">
                <a:solidFill>
                  <a:srgbClr val="1F2B3D"/>
                </a:solidFill>
                <a:latin typeface="Calibri"/>
              </a:rPr>
              <a:t>Reloader</a:t>
            </a:r>
          </a:p>
        </p:txBody>
      </p:sp>
      <p:sp>
        <p:nvSpPr>
          <p:cNvPr id="17" name="TextBox 16"/>
          <p:cNvSpPr txBox="1"/>
          <p:nvPr/>
        </p:nvSpPr>
        <p:spPr>
          <a:xfrm>
            <a:off x="1426464" y="2221992"/>
            <a:ext cx="9960833" cy="274320"/>
          </a:xfrm>
          <a:prstGeom prst="rect">
            <a:avLst/>
          </a:prstGeom>
          <a:noFill/>
        </p:spPr>
        <p:txBody>
          <a:bodyPr wrap="square" lIns="18288" rIns="18288" tIns="0" bIns="0" anchor="t">
            <a:noAutofit/>
          </a:bodyPr>
          <a:lstStyle/>
          <a:p>
            <a:pPr algn="l">
              <a:spcAft>
                <a:spcPts val="0"/>
              </a:spcAft>
            </a:pPr>
            <a:r>
              <a:rPr sz="1250" b="0" i="1">
                <a:solidFill>
                  <a:srgbClr val="6B7A8D"/>
                </a:solidFill>
                <a:latin typeface="Calibri"/>
              </a:rPr>
              <a:t>Stakater  ·  a controller that rolls workloads when their config changes  ·  Apache 2.0</a:t>
            </a:r>
          </a:p>
        </p:txBody>
      </p:sp>
      <p:cxnSp>
        <p:nvCxnSpPr>
          <p:cNvPr id="18" name="Connector 17"/>
          <p:cNvCxnSpPr/>
          <p:nvPr/>
        </p:nvCxnSpPr>
        <p:spPr>
          <a:xfrm>
            <a:off x="731520" y="2615184"/>
            <a:ext cx="10728929" cy="0"/>
          </a:xfrm>
          <a:prstGeom prst="line">
            <a:avLst/>
          </a:prstGeom>
          <a:ln w="12700">
            <a:solidFill>
              <a:srgbClr val="DDE3E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1520" y="2724912"/>
            <a:ext cx="5236448" cy="237744"/>
          </a:xfrm>
          <a:prstGeom prst="rect">
            <a:avLst/>
          </a:prstGeom>
          <a:noFill/>
        </p:spPr>
        <p:txBody>
          <a:bodyPr wrap="square" lIns="18288" rIns="18288" tIns="0" bIns="0" anchor="t">
            <a:noAutofit/>
          </a:bodyPr>
          <a:lstStyle/>
          <a:p>
            <a:pPr algn="l">
              <a:spcAft>
                <a:spcPts val="0"/>
              </a:spcAft>
            </a:pPr>
            <a:r>
              <a:rPr sz="1050" b="1" i="0">
                <a:solidFill>
                  <a:srgbClr val="2EB56B"/>
                </a:solidFill>
                <a:latin typeface="Calibri"/>
              </a:rPr>
              <a:t>WHAT IT DOES HERE</a:t>
            </a:r>
          </a:p>
        </p:txBody>
      </p:sp>
      <p:sp>
        <p:nvSpPr>
          <p:cNvPr id="20" name="Oval 19"/>
          <p:cNvSpPr/>
          <p:nvPr/>
        </p:nvSpPr>
        <p:spPr>
          <a:xfrm>
            <a:off x="731520" y="3063240"/>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21" name="TextBox 20"/>
          <p:cNvSpPr txBox="1"/>
          <p:nvPr/>
        </p:nvSpPr>
        <p:spPr>
          <a:xfrm>
            <a:off x="1024128" y="3035808"/>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Watches  </a:t>
            </a:r>
            <a:r>
              <a:rPr sz="1050" b="0" i="0">
                <a:solidFill>
                  <a:srgbClr val="363F4D"/>
                </a:solidFill>
                <a:latin typeface="Calibri"/>
              </a:rPr>
              <a:t>ConfigMaps and Secrets across the cluster or a namespace</a:t>
            </a:r>
          </a:p>
        </p:txBody>
      </p:sp>
      <p:sp>
        <p:nvSpPr>
          <p:cNvPr id="22" name="Oval 21"/>
          <p:cNvSpPr/>
          <p:nvPr/>
        </p:nvSpPr>
        <p:spPr>
          <a:xfrm>
            <a:off x="731520" y="3363087"/>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23" name="TextBox 22"/>
          <p:cNvSpPr txBox="1"/>
          <p:nvPr/>
        </p:nvSpPr>
        <p:spPr>
          <a:xfrm>
            <a:off x="1024128" y="3335655"/>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Matches  </a:t>
            </a:r>
            <a:r>
              <a:rPr sz="1050" b="0" i="0">
                <a:solidFill>
                  <a:srgbClr val="363F4D"/>
                </a:solidFill>
                <a:latin typeface="Calibri"/>
              </a:rPr>
              <a:t>workloads by real reference, by name, or by search and match</a:t>
            </a:r>
          </a:p>
        </p:txBody>
      </p:sp>
      <p:sp>
        <p:nvSpPr>
          <p:cNvPr id="24" name="Oval 23"/>
          <p:cNvSpPr/>
          <p:nvPr/>
        </p:nvSpPr>
        <p:spPr>
          <a:xfrm>
            <a:off x="731520" y="3662934"/>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25" name="TextBox 24"/>
          <p:cNvSpPr txBox="1"/>
          <p:nvPr/>
        </p:nvSpPr>
        <p:spPr>
          <a:xfrm>
            <a:off x="1024128" y="3635502"/>
            <a:ext cx="4907264" cy="361950"/>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Rolls  </a:t>
            </a:r>
            <a:r>
              <a:rPr sz="1050" b="0" i="0">
                <a:solidFill>
                  <a:srgbClr val="363F4D"/>
                </a:solidFill>
                <a:latin typeface="Calibri"/>
              </a:rPr>
              <a:t>Deployment, StatefulSet, DaemonSet, DeploymentConfig, Argo Rollout, CronJob</a:t>
            </a:r>
          </a:p>
        </p:txBody>
      </p:sp>
      <p:sp>
        <p:nvSpPr>
          <p:cNvPr id="26" name="Oval 25"/>
          <p:cNvSpPr/>
          <p:nvPr/>
        </p:nvSpPr>
        <p:spPr>
          <a:xfrm>
            <a:off x="731520" y="4125468"/>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27" name="TextBox 26"/>
          <p:cNvSpPr txBox="1"/>
          <p:nvPr/>
        </p:nvSpPr>
        <p:spPr>
          <a:xfrm>
            <a:off x="1024128" y="4098036"/>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Respects rollout rules  </a:t>
            </a:r>
            <a:r>
              <a:rPr sz="1050" b="0" i="0">
                <a:solidFill>
                  <a:srgbClr val="363F4D"/>
                </a:solidFill>
                <a:latin typeface="Calibri"/>
              </a:rPr>
              <a:t>your surge, probes and PodDisruptionBudget still apply</a:t>
            </a:r>
          </a:p>
        </p:txBody>
      </p:sp>
      <p:sp>
        <p:nvSpPr>
          <p:cNvPr id="28" name="Oval 27"/>
          <p:cNvSpPr/>
          <p:nvPr/>
        </p:nvSpPr>
        <p:spPr>
          <a:xfrm>
            <a:off x="731520" y="4425315"/>
            <a:ext cx="182880" cy="182880"/>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29" name="TextBox 28"/>
          <p:cNvSpPr txBox="1"/>
          <p:nvPr/>
        </p:nvSpPr>
        <p:spPr>
          <a:xfrm>
            <a:off x="1024128" y="4397883"/>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Can be paused  </a:t>
            </a:r>
            <a:r>
              <a:rPr sz="1050" b="0" i="0">
                <a:solidFill>
                  <a:srgbClr val="363F4D"/>
                </a:solidFill>
                <a:latin typeface="Calibri"/>
              </a:rPr>
              <a:t>a pause-period annotation suppresses reloads for a window</a:t>
            </a:r>
          </a:p>
        </p:txBody>
      </p:sp>
      <p:cxnSp>
        <p:nvCxnSpPr>
          <p:cNvPr id="30" name="Connector 29"/>
          <p:cNvCxnSpPr/>
          <p:nvPr/>
        </p:nvCxnSpPr>
        <p:spPr>
          <a:xfrm>
            <a:off x="6095984" y="2724912"/>
            <a:ext cx="0" cy="2139696"/>
          </a:xfrm>
          <a:prstGeom prst="line">
            <a:avLst/>
          </a:prstGeom>
          <a:ln w="12700">
            <a:solidFill>
              <a:srgbClr val="DDE3E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52016" y="2724912"/>
            <a:ext cx="5236448" cy="237744"/>
          </a:xfrm>
          <a:prstGeom prst="rect">
            <a:avLst/>
          </a:prstGeom>
          <a:noFill/>
        </p:spPr>
        <p:txBody>
          <a:bodyPr wrap="square" lIns="18288" rIns="18288" tIns="0" bIns="0" anchor="t">
            <a:noAutofit/>
          </a:bodyPr>
          <a:lstStyle/>
          <a:p>
            <a:pPr algn="l">
              <a:spcAft>
                <a:spcPts val="0"/>
              </a:spcAft>
            </a:pPr>
            <a:r>
              <a:rPr sz="1050" b="1" i="0">
                <a:solidFill>
                  <a:srgbClr val="D93B3B"/>
                </a:solidFill>
                <a:latin typeface="Calibri"/>
              </a:rPr>
              <a:t>WHAT IT DOES NOT DO</a:t>
            </a:r>
          </a:p>
        </p:txBody>
      </p:sp>
      <p:sp>
        <p:nvSpPr>
          <p:cNvPr id="32" name="Oval 31"/>
          <p:cNvSpPr/>
          <p:nvPr/>
        </p:nvSpPr>
        <p:spPr>
          <a:xfrm>
            <a:off x="6352016" y="3063240"/>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3" name="TextBox 32"/>
          <p:cNvSpPr txBox="1"/>
          <p:nvPr/>
        </p:nvSpPr>
        <p:spPr>
          <a:xfrm>
            <a:off x="6644624" y="3035808"/>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Fetch secrets  </a:t>
            </a:r>
            <a:r>
              <a:rPr sz="1050" b="0" i="0">
                <a:solidFill>
                  <a:srgbClr val="363F4D"/>
                </a:solidFill>
                <a:latin typeface="Calibri"/>
              </a:rPr>
              <a:t>it has no idea where the value came from</a:t>
            </a:r>
          </a:p>
        </p:txBody>
      </p:sp>
      <p:sp>
        <p:nvSpPr>
          <p:cNvPr id="34" name="Oval 33"/>
          <p:cNvSpPr/>
          <p:nvPr/>
        </p:nvSpPr>
        <p:spPr>
          <a:xfrm>
            <a:off x="6352016" y="3363087"/>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5" name="TextBox 34"/>
          <p:cNvSpPr txBox="1"/>
          <p:nvPr/>
        </p:nvSpPr>
        <p:spPr>
          <a:xfrm>
            <a:off x="6644624" y="3335655"/>
            <a:ext cx="4907264" cy="361950"/>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Validate the new value  </a:t>
            </a:r>
            <a:r>
              <a:rPr sz="1050" b="0" i="0">
                <a:solidFill>
                  <a:srgbClr val="363F4D"/>
                </a:solidFill>
                <a:latin typeface="Calibri"/>
              </a:rPr>
              <a:t>a broken credential rolls out just as happily as a good one</a:t>
            </a:r>
          </a:p>
        </p:txBody>
      </p:sp>
      <p:sp>
        <p:nvSpPr>
          <p:cNvPr id="36" name="Oval 35"/>
          <p:cNvSpPr/>
          <p:nvPr/>
        </p:nvSpPr>
        <p:spPr>
          <a:xfrm>
            <a:off x="6352016" y="3825621"/>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7" name="TextBox 36"/>
          <p:cNvSpPr txBox="1"/>
          <p:nvPr/>
        </p:nvSpPr>
        <p:spPr>
          <a:xfrm>
            <a:off x="6644624" y="3798189"/>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Roll bare pods  </a:t>
            </a:r>
            <a:r>
              <a:rPr sz="1050" b="0" i="0">
                <a:solidFill>
                  <a:srgbClr val="363F4D"/>
                </a:solidFill>
                <a:latin typeface="Calibri"/>
              </a:rPr>
              <a:t>a pod with no controller has no template to change</a:t>
            </a:r>
          </a:p>
        </p:txBody>
      </p:sp>
      <p:sp>
        <p:nvSpPr>
          <p:cNvPr id="38" name="Oval 37"/>
          <p:cNvSpPr/>
          <p:nvPr/>
        </p:nvSpPr>
        <p:spPr>
          <a:xfrm>
            <a:off x="6352016" y="4125468"/>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39" name="TextBox 38"/>
          <p:cNvSpPr txBox="1"/>
          <p:nvPr/>
        </p:nvSpPr>
        <p:spPr>
          <a:xfrm>
            <a:off x="6644624" y="4098036"/>
            <a:ext cx="4907264" cy="361950"/>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Update env vars in place  </a:t>
            </a:r>
            <a:r>
              <a:rPr sz="1050" b="0" i="0">
                <a:solidFill>
                  <a:srgbClr val="363F4D"/>
                </a:solidFill>
                <a:latin typeface="Calibri"/>
              </a:rPr>
              <a:t>it replaces the pod — nothing can edit a running process</a:t>
            </a:r>
          </a:p>
        </p:txBody>
      </p:sp>
      <p:sp>
        <p:nvSpPr>
          <p:cNvPr id="40" name="Oval 39"/>
          <p:cNvSpPr/>
          <p:nvPr/>
        </p:nvSpPr>
        <p:spPr>
          <a:xfrm>
            <a:off x="6352016" y="4588002"/>
            <a:ext cx="182880" cy="182880"/>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750" b="1" i="0">
                <a:solidFill>
                  <a:srgbClr val="FFFFFF"/>
                </a:solidFill>
                <a:latin typeface="Calibri"/>
              </a:rPr>
              <a:t>✕</a:t>
            </a:r>
          </a:p>
        </p:txBody>
      </p:sp>
      <p:sp>
        <p:nvSpPr>
          <p:cNvPr id="41" name="TextBox 40"/>
          <p:cNvSpPr txBox="1"/>
          <p:nvPr/>
        </p:nvSpPr>
        <p:spPr>
          <a:xfrm>
            <a:off x="6644624" y="4560570"/>
            <a:ext cx="4907264" cy="199263"/>
          </a:xfrm>
          <a:prstGeom prst="rect">
            <a:avLst/>
          </a:prstGeom>
          <a:noFill/>
        </p:spPr>
        <p:txBody>
          <a:bodyPr wrap="square" lIns="18288" rIns="18288" tIns="0" bIns="0" anchor="t">
            <a:noAutofit/>
          </a:bodyPr>
          <a:lstStyle/>
          <a:p>
            <a:pPr algn="l">
              <a:lnSpc>
                <a:spcPct val="118000"/>
              </a:lnSpc>
              <a:spcAft>
                <a:spcPts val="0"/>
              </a:spcAft>
            </a:pPr>
            <a:r>
              <a:rPr sz="1050" b="1" i="0">
                <a:solidFill>
                  <a:srgbClr val="1F2B3D"/>
                </a:solidFill>
                <a:latin typeface="Calibri"/>
              </a:rPr>
              <a:t>Know about Git  </a:t>
            </a:r>
            <a:r>
              <a:rPr sz="1050" b="0" i="0">
                <a:solidFill>
                  <a:srgbClr val="363F4D"/>
                </a:solidFill>
                <a:latin typeface="Calibri"/>
              </a:rPr>
              <a:t>it reacts to cluster state, never to a commit</a:t>
            </a:r>
          </a:p>
        </p:txBody>
      </p:sp>
      <p:sp>
        <p:nvSpPr>
          <p:cNvPr id="42" name="Rectangle 41"/>
          <p:cNvSpPr/>
          <p:nvPr/>
        </p:nvSpPr>
        <p:spPr>
          <a:xfrm>
            <a:off x="493776" y="5010912"/>
            <a:ext cx="11204417" cy="530352"/>
          </a:xfrm>
          <a:prstGeom prst="rect">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31520" y="5102351"/>
            <a:ext cx="10728929" cy="384048"/>
          </a:xfrm>
          <a:prstGeom prst="rect">
            <a:avLst/>
          </a:prstGeom>
          <a:noFill/>
        </p:spPr>
        <p:txBody>
          <a:bodyPr wrap="square" lIns="18288" rIns="18288" tIns="0" bIns="0" anchor="ctr">
            <a:noAutofit/>
          </a:bodyPr>
          <a:lstStyle/>
          <a:p>
            <a:pPr algn="l">
              <a:lnSpc>
                <a:spcPct val="118000"/>
              </a:lnSpc>
              <a:spcAft>
                <a:spcPts val="0"/>
              </a:spcAft>
            </a:pPr>
            <a:r>
              <a:rPr sz="1200" b="1" i="0">
                <a:solidFill>
                  <a:srgbClr val="2BA8D8"/>
                </a:solidFill>
                <a:latin typeface="Calibri"/>
              </a:rPr>
              <a:t>In our handbook example:  </a:t>
            </a:r>
            <a:r>
              <a:rPr sz="1200" b="0" i="0">
                <a:solidFill>
                  <a:srgbClr val="363F4D"/>
                </a:solidFill>
                <a:latin typeface="Calibri"/>
              </a:rPr>
              <a:t>ESO updates billing-db, Reloader notices within seconds and rolls the billing Deployment.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Lab 4 — Watch a Rotation Reach the Process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Twenty minutes. This is lab 1 again, with the missing piece added.</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Same rotation, same envFrom, different outcome — because the pod template changed.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ounded Rectangle 12"/>
          <p:cNvSpPr/>
          <p:nvPr/>
        </p:nvSpPr>
        <p:spPr>
          <a:xfrm>
            <a:off x="475488" y="1645920"/>
            <a:ext cx="5428472" cy="391363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13632"/>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2BA8D8"/>
                </a:solidFill>
                <a:latin typeface="Consolas"/>
              </a:rPr>
              <a:t>lab-04.sh</a:t>
            </a:r>
          </a:p>
        </p:txBody>
      </p:sp>
      <p:sp>
        <p:nvSpPr>
          <p:cNvPr id="16" name="TextBox 15"/>
          <p:cNvSpPr txBox="1"/>
          <p:nvPr/>
        </p:nvSpPr>
        <p:spPr>
          <a:xfrm>
            <a:off x="74980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1. install</a:t>
            </a:r>
          </a:p>
        </p:txBody>
      </p:sp>
      <p:sp>
        <p:nvSpPr>
          <p:cNvPr id="17" name="TextBox 16"/>
          <p:cNvSpPr txBox="1"/>
          <p:nvPr/>
        </p:nvSpPr>
        <p:spPr>
          <a:xfrm>
            <a:off x="749808" y="224027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helm repo add stakater \</a:t>
            </a:r>
          </a:p>
        </p:txBody>
      </p:sp>
      <p:sp>
        <p:nvSpPr>
          <p:cNvPr id="18" name="TextBox 17"/>
          <p:cNvSpPr txBox="1"/>
          <p:nvPr/>
        </p:nvSpPr>
        <p:spPr>
          <a:xfrm>
            <a:off x="749808" y="241401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https://stakater.github.io/stakater-charts</a:t>
            </a:r>
          </a:p>
        </p:txBody>
      </p:sp>
      <p:sp>
        <p:nvSpPr>
          <p:cNvPr id="19" name="TextBox 18"/>
          <p:cNvSpPr txBox="1"/>
          <p:nvPr/>
        </p:nvSpPr>
        <p:spPr>
          <a:xfrm>
            <a:off x="74980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helm install reloader stakater/reloader \</a:t>
            </a:r>
          </a:p>
        </p:txBody>
      </p:sp>
      <p:sp>
        <p:nvSpPr>
          <p:cNvPr id="20" name="TextBox 19"/>
          <p:cNvSpPr txBox="1"/>
          <p:nvPr/>
        </p:nvSpPr>
        <p:spPr>
          <a:xfrm>
            <a:off x="74980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-n reloader --create-namespace</a:t>
            </a:r>
          </a:p>
        </p:txBody>
      </p:sp>
      <p:sp>
        <p:nvSpPr>
          <p:cNvPr id="21" name="TextBox 20"/>
          <p:cNvSpPr txBox="1"/>
          <p:nvPr/>
        </p:nvSpPr>
        <p:spPr>
          <a:xfrm>
            <a:off x="749808" y="293522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2" name="TextBox 21"/>
          <p:cNvSpPr txBox="1"/>
          <p:nvPr/>
        </p:nvSpPr>
        <p:spPr>
          <a:xfrm>
            <a:off x="749808" y="3108959"/>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2. annotate the deployment from lab 1</a:t>
            </a:r>
          </a:p>
        </p:txBody>
      </p:sp>
      <p:sp>
        <p:nvSpPr>
          <p:cNvPr id="23" name="TextBox 22"/>
          <p:cNvSpPr txBox="1"/>
          <p:nvPr/>
        </p:nvSpPr>
        <p:spPr>
          <a:xfrm>
            <a:off x="749808" y="328269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lab annotate deploy/demo \</a:t>
            </a:r>
          </a:p>
        </p:txBody>
      </p:sp>
      <p:sp>
        <p:nvSpPr>
          <p:cNvPr id="24" name="TextBox 23"/>
          <p:cNvSpPr txBox="1"/>
          <p:nvPr/>
        </p:nvSpPr>
        <p:spPr>
          <a:xfrm>
            <a:off x="749808" y="345643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reloader.stakater.com/auto=true</a:t>
            </a:r>
          </a:p>
        </p:txBody>
      </p:sp>
      <p:sp>
        <p:nvSpPr>
          <p:cNvPr id="25" name="TextBox 24"/>
          <p:cNvSpPr txBox="1"/>
          <p:nvPr/>
        </p:nvSpPr>
        <p:spPr>
          <a:xfrm>
            <a:off x="749808" y="363016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6" name="TextBox 25"/>
          <p:cNvSpPr txBox="1"/>
          <p:nvPr/>
        </p:nvSpPr>
        <p:spPr>
          <a:xfrm>
            <a:off x="749808" y="380390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3. watch, in a second terminal</a:t>
            </a:r>
          </a:p>
        </p:txBody>
      </p:sp>
      <p:sp>
        <p:nvSpPr>
          <p:cNvPr id="27" name="TextBox 26"/>
          <p:cNvSpPr txBox="1"/>
          <p:nvPr/>
        </p:nvSpPr>
        <p:spPr>
          <a:xfrm>
            <a:off x="749808" y="397763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lab get pods -w</a:t>
            </a:r>
          </a:p>
        </p:txBody>
      </p:sp>
      <p:sp>
        <p:nvSpPr>
          <p:cNvPr id="28" name="TextBox 27"/>
          <p:cNvSpPr txBox="1"/>
          <p:nvPr/>
        </p:nvSpPr>
        <p:spPr>
          <a:xfrm>
            <a:off x="749808" y="4151376"/>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9" name="TextBox 28"/>
          <p:cNvSpPr txBox="1"/>
          <p:nvPr/>
        </p:nvSpPr>
        <p:spPr>
          <a:xfrm>
            <a:off x="749808" y="4325112"/>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4. rotate again</a:t>
            </a:r>
          </a:p>
        </p:txBody>
      </p:sp>
      <p:sp>
        <p:nvSpPr>
          <p:cNvPr id="30" name="TextBox 29"/>
          <p:cNvSpPr txBox="1"/>
          <p:nvPr/>
        </p:nvSpPr>
        <p:spPr>
          <a:xfrm>
            <a:off x="749808" y="4498848"/>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lab create secret generic demo \</a:t>
            </a:r>
          </a:p>
        </p:txBody>
      </p:sp>
      <p:sp>
        <p:nvSpPr>
          <p:cNvPr id="31" name="TextBox 30"/>
          <p:cNvSpPr txBox="1"/>
          <p:nvPr/>
        </p:nvSpPr>
        <p:spPr>
          <a:xfrm>
            <a:off x="749808" y="4672584"/>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--from-literal=TOKEN=charlie \</a:t>
            </a:r>
          </a:p>
        </p:txBody>
      </p:sp>
      <p:sp>
        <p:nvSpPr>
          <p:cNvPr id="32" name="TextBox 31"/>
          <p:cNvSpPr txBox="1"/>
          <p:nvPr/>
        </p:nvSpPr>
        <p:spPr>
          <a:xfrm>
            <a:off x="749808" y="4846320"/>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--dry-run=client -o yaml | kubectl apply -f -</a:t>
            </a:r>
          </a:p>
        </p:txBody>
      </p:sp>
      <p:sp>
        <p:nvSpPr>
          <p:cNvPr id="33" name="Rounded Rectangle 32"/>
          <p:cNvSpPr/>
          <p:nvPr/>
        </p:nvSpPr>
        <p:spPr>
          <a:xfrm>
            <a:off x="6288008" y="1645920"/>
            <a:ext cx="5428472" cy="1874519"/>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88008" y="1645920"/>
            <a:ext cx="77724" cy="1874519"/>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44040" y="179222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you should see</a:t>
            </a:r>
          </a:p>
        </p:txBody>
      </p:sp>
      <p:sp>
        <p:nvSpPr>
          <p:cNvPr id="36" name="TextBox 35"/>
          <p:cNvSpPr txBox="1"/>
          <p:nvPr/>
        </p:nvSpPr>
        <p:spPr>
          <a:xfrm>
            <a:off x="6544040" y="2194560"/>
            <a:ext cx="4971272" cy="1197864"/>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Within a few seconds a new pod appears, becomes ready, and the old one terminates.</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Then run printenv TOKEN again — this time it says charlie.</a:t>
            </a:r>
          </a:p>
        </p:txBody>
      </p:sp>
      <p:sp>
        <p:nvSpPr>
          <p:cNvPr id="37" name="Rounded Rectangle 36"/>
          <p:cNvSpPr/>
          <p:nvPr/>
        </p:nvSpPr>
        <p:spPr>
          <a:xfrm>
            <a:off x="6288008" y="3730752"/>
            <a:ext cx="5428472" cy="182880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88008" y="3730752"/>
            <a:ext cx="64008"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62328" y="3858768"/>
            <a:ext cx="4879832"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the evidence</a:t>
            </a:r>
          </a:p>
        </p:txBody>
      </p:sp>
      <p:sp>
        <p:nvSpPr>
          <p:cNvPr id="40" name="TextBox 39"/>
          <p:cNvSpPr txBox="1"/>
          <p:nvPr/>
        </p:nvSpPr>
        <p:spPr>
          <a:xfrm>
            <a:off x="6562328" y="4151376"/>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5. prove why it rolled</a:t>
            </a:r>
          </a:p>
        </p:txBody>
      </p:sp>
      <p:sp>
        <p:nvSpPr>
          <p:cNvPr id="41" name="TextBox 40"/>
          <p:cNvSpPr txBox="1"/>
          <p:nvPr/>
        </p:nvSpPr>
        <p:spPr>
          <a:xfrm>
            <a:off x="6562328" y="4325112"/>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lab get deploy/demo -o yaml \</a:t>
            </a:r>
          </a:p>
        </p:txBody>
      </p:sp>
      <p:sp>
        <p:nvSpPr>
          <p:cNvPr id="42" name="TextBox 41"/>
          <p:cNvSpPr txBox="1"/>
          <p:nvPr/>
        </p:nvSpPr>
        <p:spPr>
          <a:xfrm>
            <a:off x="6562328" y="4498848"/>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grep -A2 STAKATER</a:t>
            </a:r>
          </a:p>
        </p:txBody>
      </p:sp>
      <p:sp>
        <p:nvSpPr>
          <p:cNvPr id="43" name="TextBox 42"/>
          <p:cNvSpPr txBox="1"/>
          <p:nvPr/>
        </p:nvSpPr>
        <p:spPr>
          <a:xfrm>
            <a:off x="6562328" y="4672584"/>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4" name="TextBox 43"/>
          <p:cNvSpPr txBox="1"/>
          <p:nvPr/>
        </p:nvSpPr>
        <p:spPr>
          <a:xfrm>
            <a:off x="6562328" y="4846320"/>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6. read the controller's own account</a:t>
            </a:r>
          </a:p>
        </p:txBody>
      </p:sp>
      <p:sp>
        <p:nvSpPr>
          <p:cNvPr id="45" name="TextBox 44"/>
          <p:cNvSpPr txBox="1"/>
          <p:nvPr/>
        </p:nvSpPr>
        <p:spPr>
          <a:xfrm>
            <a:off x="6562328" y="5020056"/>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reloader logs deploy/reloader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Reloader — What Goes Wrong and How to Read It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Reloader fails quietly. There is rarely an error, just nothing happening.</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Nothing happened is the normal failure mode. Check the annotation's position first, every time.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05  Reloader</a:t>
            </a:r>
          </a:p>
        </p:txBody>
      </p:sp>
      <p:sp>
        <p:nvSpPr>
          <p:cNvPr id="13" name="Rectangle 12"/>
          <p:cNvSpPr/>
          <p:nvPr/>
        </p:nvSpPr>
        <p:spPr>
          <a:xfrm>
            <a:off x="475488" y="1645920"/>
            <a:ext cx="3611880" cy="42062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Symptom</a:t>
            </a:r>
          </a:p>
        </p:txBody>
      </p:sp>
      <p:sp>
        <p:nvSpPr>
          <p:cNvPr id="14" name="Rectangle 13"/>
          <p:cNvSpPr/>
          <p:nvPr/>
        </p:nvSpPr>
        <p:spPr>
          <a:xfrm>
            <a:off x="4087368" y="1645920"/>
            <a:ext cx="42062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Usual cause</a:t>
            </a:r>
          </a:p>
        </p:txBody>
      </p:sp>
      <p:sp>
        <p:nvSpPr>
          <p:cNvPr id="15" name="Rectangle 14"/>
          <p:cNvSpPr/>
          <p:nvPr/>
        </p:nvSpPr>
        <p:spPr>
          <a:xfrm>
            <a:off x="8293608" y="1645920"/>
            <a:ext cx="3410712"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Where to look</a:t>
            </a:r>
          </a:p>
        </p:txBody>
      </p:sp>
      <p:sp>
        <p:nvSpPr>
          <p:cNvPr id="16" name="Rectangle 15"/>
          <p:cNvSpPr/>
          <p:nvPr/>
        </p:nvSpPr>
        <p:spPr>
          <a:xfrm>
            <a:off x="475488" y="2066544"/>
            <a:ext cx="36118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Nothing rolls, no error anywhere</a:t>
            </a:r>
          </a:p>
        </p:txBody>
      </p:sp>
      <p:sp>
        <p:nvSpPr>
          <p:cNvPr id="17" name="Rectangle 16"/>
          <p:cNvSpPr/>
          <p:nvPr/>
        </p:nvSpPr>
        <p:spPr>
          <a:xfrm>
            <a:off x="4087368" y="2066544"/>
            <a:ext cx="420624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annotation is on spec.template.metadata instead of the workload's own metadata</a:t>
            </a:r>
          </a:p>
        </p:txBody>
      </p:sp>
      <p:sp>
        <p:nvSpPr>
          <p:cNvPr id="18" name="Rectangle 17"/>
          <p:cNvSpPr/>
          <p:nvPr/>
        </p:nvSpPr>
        <p:spPr>
          <a:xfrm>
            <a:off x="8293608" y="2066544"/>
            <a:ext cx="341071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deploy -o yaml, check where the annotation sits</a:t>
            </a:r>
          </a:p>
        </p:txBody>
      </p:sp>
      <p:sp>
        <p:nvSpPr>
          <p:cNvPr id="19" name="Rectangle 18"/>
          <p:cNvSpPr/>
          <p:nvPr/>
        </p:nvSpPr>
        <p:spPr>
          <a:xfrm>
            <a:off x="475488" y="2765145"/>
            <a:ext cx="361188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Rolls for the wrong changes</a:t>
            </a:r>
          </a:p>
        </p:txBody>
      </p:sp>
      <p:sp>
        <p:nvSpPr>
          <p:cNvPr id="20" name="Rectangle 19"/>
          <p:cNvSpPr/>
          <p:nvPr/>
        </p:nvSpPr>
        <p:spPr>
          <a:xfrm>
            <a:off x="4087368" y="2765145"/>
            <a:ext cx="420624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auto follows every referenced object; one noisy ConfigMap triggers everything</a:t>
            </a:r>
          </a:p>
        </p:txBody>
      </p:sp>
      <p:sp>
        <p:nvSpPr>
          <p:cNvPr id="21" name="Rectangle 20"/>
          <p:cNvSpPr/>
          <p:nvPr/>
        </p:nvSpPr>
        <p:spPr>
          <a:xfrm>
            <a:off x="8293608" y="2765145"/>
            <a:ext cx="3410712"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Switch to a named secret.reloader.../reload list</a:t>
            </a:r>
          </a:p>
        </p:txBody>
      </p:sp>
      <p:sp>
        <p:nvSpPr>
          <p:cNvPr id="22" name="Rectangle 21"/>
          <p:cNvSpPr/>
          <p:nvPr/>
        </p:nvSpPr>
        <p:spPr>
          <a:xfrm>
            <a:off x="475488" y="3463747"/>
            <a:ext cx="36118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Rolls constantly</a:t>
            </a:r>
          </a:p>
        </p:txBody>
      </p:sp>
      <p:sp>
        <p:nvSpPr>
          <p:cNvPr id="23" name="Rectangle 22"/>
          <p:cNvSpPr/>
          <p:nvPr/>
        </p:nvSpPr>
        <p:spPr>
          <a:xfrm>
            <a:off x="4087368" y="3463747"/>
            <a:ext cx="420624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Something else rewrites the Secret on a timer — often a controller fighting ESO</a:t>
            </a:r>
          </a:p>
        </p:txBody>
      </p:sp>
      <p:sp>
        <p:nvSpPr>
          <p:cNvPr id="24" name="Rectangle 23"/>
          <p:cNvSpPr/>
          <p:nvPr/>
        </p:nvSpPr>
        <p:spPr>
          <a:xfrm>
            <a:off x="8293608" y="3463747"/>
            <a:ext cx="341071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secret -o yaml, watch resourceVersion</a:t>
            </a:r>
          </a:p>
        </p:txBody>
      </p:sp>
      <p:sp>
        <p:nvSpPr>
          <p:cNvPr id="25" name="Rectangle 24"/>
          <p:cNvSpPr/>
          <p:nvPr/>
        </p:nvSpPr>
        <p:spPr>
          <a:xfrm>
            <a:off x="475488" y="4162348"/>
            <a:ext cx="361188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Works in one namespace only</a:t>
            </a:r>
          </a:p>
        </p:txBody>
      </p:sp>
      <p:sp>
        <p:nvSpPr>
          <p:cNvPr id="26" name="Rectangle 25"/>
          <p:cNvSpPr/>
          <p:nvPr/>
        </p:nvSpPr>
        <p:spPr>
          <a:xfrm>
            <a:off x="4087368" y="4162348"/>
            <a:ext cx="420624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Reloader was installed namespace-scoped</a:t>
            </a:r>
          </a:p>
        </p:txBody>
      </p:sp>
      <p:sp>
        <p:nvSpPr>
          <p:cNvPr id="27" name="Rectangle 26"/>
          <p:cNvSpPr/>
          <p:nvPr/>
        </p:nvSpPr>
        <p:spPr>
          <a:xfrm>
            <a:off x="8293608" y="4162348"/>
            <a:ext cx="3410712"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chart's watchGlobally value</a:t>
            </a:r>
          </a:p>
        </p:txBody>
      </p:sp>
      <p:sp>
        <p:nvSpPr>
          <p:cNvPr id="28" name="Rectangle 27"/>
          <p:cNvSpPr/>
          <p:nvPr/>
        </p:nvSpPr>
        <p:spPr>
          <a:xfrm>
            <a:off x="475488" y="4860950"/>
            <a:ext cx="36118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Argo CD shows the Deployment OutOfSync afterwards</a:t>
            </a:r>
          </a:p>
        </p:txBody>
      </p:sp>
      <p:sp>
        <p:nvSpPr>
          <p:cNvPr id="29" name="Rectangle 28"/>
          <p:cNvSpPr/>
          <p:nvPr/>
        </p:nvSpPr>
        <p:spPr>
          <a:xfrm>
            <a:off x="4087368" y="4860950"/>
            <a:ext cx="420624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Expected — Reloader edited the live object. Section 06 covers the fix</a:t>
            </a:r>
          </a:p>
        </p:txBody>
      </p:sp>
      <p:sp>
        <p:nvSpPr>
          <p:cNvPr id="30" name="Rectangle 29"/>
          <p:cNvSpPr/>
          <p:nvPr/>
        </p:nvSpPr>
        <p:spPr>
          <a:xfrm>
            <a:off x="8293608" y="4860950"/>
            <a:ext cx="3410712"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ignoreDifferences on the injected field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06</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75234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The Three Together</a:t>
            </a:r>
          </a:p>
        </p:txBody>
      </p:sp>
      <p:sp>
        <p:nvSpPr>
          <p:cNvPr id="7" name="TextBox 6"/>
          <p:cNvSpPr txBox="1"/>
          <p:nvPr/>
        </p:nvSpPr>
        <p:spPr>
          <a:xfrm>
            <a:off x="1325880" y="312978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One credential, from the vault to a running process, with nobody in the path.</a:t>
            </a:r>
          </a:p>
        </p:txBody>
      </p:sp>
      <p:sp>
        <p:nvSpPr>
          <p:cNvPr id="8" name="Rectangle 7"/>
          <p:cNvSpPr/>
          <p:nvPr/>
        </p:nvSpPr>
        <p:spPr>
          <a:xfrm>
            <a:off x="1344168" y="3879596"/>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378815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The whole system in one diagram</a:t>
            </a:r>
          </a:p>
        </p:txBody>
      </p:sp>
      <p:sp>
        <p:nvSpPr>
          <p:cNvPr id="10" name="Rectangle 9"/>
          <p:cNvSpPr/>
          <p:nvPr/>
        </p:nvSpPr>
        <p:spPr>
          <a:xfrm>
            <a:off x="1344168" y="4263644"/>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17220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The conflict nobody warns you about</a:t>
            </a:r>
          </a:p>
        </p:txBody>
      </p:sp>
      <p:sp>
        <p:nvSpPr>
          <p:cNvPr id="12" name="Rectangle 11"/>
          <p:cNvSpPr/>
          <p:nvPr/>
        </p:nvSpPr>
        <p:spPr>
          <a:xfrm>
            <a:off x="1344168" y="4647692"/>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455625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Ordering, worked manifests and the failure matrix</a:t>
            </a:r>
          </a:p>
        </p:txBody>
      </p:sp>
      <p:sp>
        <p:nvSpPr>
          <p:cNvPr id="14" name="Rectangle 13"/>
          <p:cNvSpPr/>
          <p:nvPr/>
        </p:nvSpPr>
        <p:spPr>
          <a:xfrm>
            <a:off x="1344168" y="5031740"/>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494030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Lab 5: the entire loop, driven from Git</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06</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06  The Three Together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Whole System, One Diagram</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Follow a single credential from the vault to a running process.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Three controllers, each doing one job, and no human in the path after the commit.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993392"/>
            <a:ext cx="2103120" cy="914400"/>
          </a:xfrm>
          <a:prstGeom prst="roundRect">
            <a:avLst>
              <a:gd name="adj" fmla="val 10000"/>
            </a:avLst>
          </a:prstGeom>
          <a:solidFill>
            <a:srgbClr val="ECF4FE"/>
          </a:solidFill>
          <a:ln w="17780">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504" y="2176272"/>
            <a:ext cx="1847088" cy="274320"/>
          </a:xfrm>
          <a:prstGeom prst="rect">
            <a:avLst/>
          </a:prstGeom>
          <a:noFill/>
        </p:spPr>
        <p:txBody>
          <a:bodyPr wrap="square" lIns="18288" rIns="18288" tIns="0" bIns="0" anchor="t">
            <a:noAutofit/>
          </a:bodyPr>
          <a:lstStyle/>
          <a:p>
            <a:pPr algn="ctr">
              <a:spcAft>
                <a:spcPts val="0"/>
              </a:spcAft>
            </a:pPr>
            <a:r>
              <a:rPr sz="1300" b="1" i="0">
                <a:solidFill>
                  <a:srgbClr val="1F2B3D"/>
                </a:solidFill>
                <a:latin typeface="Calibri"/>
              </a:rPr>
              <a:t>Git</a:t>
            </a:r>
          </a:p>
        </p:txBody>
      </p:sp>
      <p:sp>
        <p:nvSpPr>
          <p:cNvPr id="15" name="TextBox 14"/>
          <p:cNvSpPr txBox="1"/>
          <p:nvPr/>
        </p:nvSpPr>
        <p:spPr>
          <a:xfrm>
            <a:off x="603504" y="2505456"/>
            <a:ext cx="1847088" cy="310896"/>
          </a:xfrm>
          <a:prstGeom prst="rect">
            <a:avLst/>
          </a:prstGeom>
          <a:noFill/>
        </p:spPr>
        <p:txBody>
          <a:bodyPr wrap="square" lIns="18288" rIns="18288" tIns="0" bIns="0" anchor="t">
            <a:noAutofit/>
          </a:bodyPr>
          <a:lstStyle/>
          <a:p>
            <a:pPr algn="ctr">
              <a:spcAft>
                <a:spcPts val="0"/>
              </a:spcAft>
            </a:pPr>
            <a:r>
              <a:rPr sz="1050" b="0" i="0">
                <a:solidFill>
                  <a:srgbClr val="6B7A8D"/>
                </a:solidFill>
                <a:latin typeface="Calibri"/>
              </a:rPr>
              <a:t>manifests only</a:t>
            </a:r>
          </a:p>
        </p:txBody>
      </p:sp>
      <p:sp>
        <p:nvSpPr>
          <p:cNvPr id="16" name="Rounded Rectangle 15"/>
          <p:cNvSpPr/>
          <p:nvPr/>
        </p:nvSpPr>
        <p:spPr>
          <a:xfrm>
            <a:off x="475488" y="3300984"/>
            <a:ext cx="2103120" cy="914400"/>
          </a:xfrm>
          <a:prstGeom prst="roundRect">
            <a:avLst>
              <a:gd name="adj" fmla="val 10000"/>
            </a:avLst>
          </a:prstGeom>
          <a:solidFill>
            <a:srgbClr val="FEF6E7"/>
          </a:solidFill>
          <a:ln w="1778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03504" y="3483864"/>
            <a:ext cx="1847088" cy="274320"/>
          </a:xfrm>
          <a:prstGeom prst="rect">
            <a:avLst/>
          </a:prstGeom>
          <a:noFill/>
        </p:spPr>
        <p:txBody>
          <a:bodyPr wrap="square" lIns="18288" rIns="18288" tIns="0" bIns="0" anchor="t">
            <a:noAutofit/>
          </a:bodyPr>
          <a:lstStyle/>
          <a:p>
            <a:pPr algn="ctr">
              <a:spcAft>
                <a:spcPts val="0"/>
              </a:spcAft>
            </a:pPr>
            <a:r>
              <a:rPr sz="1300" b="1" i="0">
                <a:solidFill>
                  <a:srgbClr val="1F2B3D"/>
                </a:solidFill>
                <a:latin typeface="Calibri"/>
              </a:rPr>
              <a:t>Secret manager</a:t>
            </a:r>
          </a:p>
        </p:txBody>
      </p:sp>
      <p:sp>
        <p:nvSpPr>
          <p:cNvPr id="18" name="TextBox 17"/>
          <p:cNvSpPr txBox="1"/>
          <p:nvPr/>
        </p:nvSpPr>
        <p:spPr>
          <a:xfrm>
            <a:off x="603504" y="3813048"/>
            <a:ext cx="1847088" cy="310896"/>
          </a:xfrm>
          <a:prstGeom prst="rect">
            <a:avLst/>
          </a:prstGeom>
          <a:noFill/>
        </p:spPr>
        <p:txBody>
          <a:bodyPr wrap="square" lIns="18288" rIns="18288" tIns="0" bIns="0" anchor="t">
            <a:noAutofit/>
          </a:bodyPr>
          <a:lstStyle/>
          <a:p>
            <a:pPr algn="ctr">
              <a:spcAft>
                <a:spcPts val="0"/>
              </a:spcAft>
            </a:pPr>
            <a:r>
              <a:rPr sz="1050" b="0" i="0">
                <a:solidFill>
                  <a:srgbClr val="6B7A8D"/>
                </a:solidFill>
                <a:latin typeface="Calibri"/>
              </a:rPr>
              <a:t>the real value</a:t>
            </a:r>
          </a:p>
        </p:txBody>
      </p:sp>
      <p:sp>
        <p:nvSpPr>
          <p:cNvPr id="19" name="Rounded Rectangle 18"/>
          <p:cNvSpPr/>
          <p:nvPr/>
        </p:nvSpPr>
        <p:spPr>
          <a:xfrm>
            <a:off x="3264408" y="1563624"/>
            <a:ext cx="8452073" cy="3977639"/>
          </a:xfrm>
          <a:prstGeom prst="roundRect">
            <a:avLst>
              <a:gd name="adj" fmla="val 10000"/>
            </a:avLst>
          </a:prstGeom>
          <a:solidFill>
            <a:srgbClr val="F6F8FB"/>
          </a:solidFill>
          <a:ln w="1587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47288" y="1627632"/>
            <a:ext cx="2926080" cy="237744"/>
          </a:xfrm>
          <a:prstGeom prst="rect">
            <a:avLst/>
          </a:prstGeom>
          <a:noFill/>
        </p:spPr>
        <p:txBody>
          <a:bodyPr wrap="square" lIns="18288" rIns="18288" tIns="0" bIns="0" anchor="t">
            <a:noAutofit/>
          </a:bodyPr>
          <a:lstStyle/>
          <a:p>
            <a:pPr algn="l">
              <a:spcAft>
                <a:spcPts val="0"/>
              </a:spcAft>
            </a:pPr>
            <a:r>
              <a:rPr sz="1000" b="1" i="0">
                <a:solidFill>
                  <a:srgbClr val="6B7A8D"/>
                </a:solidFill>
                <a:latin typeface="Calibri"/>
              </a:rPr>
              <a:t>KUBERNETES CLUSTER</a:t>
            </a:r>
          </a:p>
        </p:txBody>
      </p:sp>
      <p:sp>
        <p:nvSpPr>
          <p:cNvPr id="21" name="Rounded Rectangle 20"/>
          <p:cNvSpPr/>
          <p:nvPr/>
        </p:nvSpPr>
        <p:spPr>
          <a:xfrm>
            <a:off x="3520439" y="1993392"/>
            <a:ext cx="2311389" cy="914400"/>
          </a:xfrm>
          <a:prstGeom prst="roundRect">
            <a:avLst>
              <a:gd name="adj" fmla="val 10000"/>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520439" y="1993392"/>
            <a:ext cx="2311389"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48456" y="2139696"/>
            <a:ext cx="205535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Argo CD</a:t>
            </a:r>
          </a:p>
        </p:txBody>
      </p:sp>
      <p:sp>
        <p:nvSpPr>
          <p:cNvPr id="24" name="TextBox 23"/>
          <p:cNvSpPr txBox="1"/>
          <p:nvPr/>
        </p:nvSpPr>
        <p:spPr>
          <a:xfrm>
            <a:off x="3611879" y="2414016"/>
            <a:ext cx="212850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applies the manifests</a:t>
            </a:r>
          </a:p>
        </p:txBody>
      </p:sp>
      <p:sp>
        <p:nvSpPr>
          <p:cNvPr id="25" name="Rounded Rectangle 24"/>
          <p:cNvSpPr/>
          <p:nvPr/>
        </p:nvSpPr>
        <p:spPr>
          <a:xfrm>
            <a:off x="3520439" y="3300984"/>
            <a:ext cx="2311389" cy="914400"/>
          </a:xfrm>
          <a:prstGeom prst="roundRect">
            <a:avLst>
              <a:gd name="adj" fmla="val 10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520439" y="3300984"/>
            <a:ext cx="2311389"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48456" y="3447288"/>
            <a:ext cx="205535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External Secrets</a:t>
            </a:r>
          </a:p>
        </p:txBody>
      </p:sp>
      <p:sp>
        <p:nvSpPr>
          <p:cNvPr id="28" name="TextBox 27"/>
          <p:cNvSpPr txBox="1"/>
          <p:nvPr/>
        </p:nvSpPr>
        <p:spPr>
          <a:xfrm>
            <a:off x="3611879" y="3721608"/>
            <a:ext cx="212850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fetches, then writes</a:t>
            </a:r>
          </a:p>
        </p:txBody>
      </p:sp>
      <p:sp>
        <p:nvSpPr>
          <p:cNvPr id="29" name="Rounded Rectangle 28"/>
          <p:cNvSpPr/>
          <p:nvPr/>
        </p:nvSpPr>
        <p:spPr>
          <a:xfrm>
            <a:off x="6334749" y="3300984"/>
            <a:ext cx="2311389" cy="914400"/>
          </a:xfrm>
          <a:prstGeom prst="roundRect">
            <a:avLst>
              <a:gd name="adj" fmla="val 10000"/>
            </a:avLst>
          </a:prstGeom>
          <a:solidFill>
            <a:srgbClr val="FFFFFF"/>
          </a:solidFill>
          <a:ln w="1905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334749" y="3300984"/>
            <a:ext cx="2311389" cy="5486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62765" y="3447288"/>
            <a:ext cx="205535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Secret</a:t>
            </a:r>
          </a:p>
        </p:txBody>
      </p:sp>
      <p:sp>
        <p:nvSpPr>
          <p:cNvPr id="32" name="TextBox 31"/>
          <p:cNvSpPr txBox="1"/>
          <p:nvPr/>
        </p:nvSpPr>
        <p:spPr>
          <a:xfrm>
            <a:off x="6426189" y="3721608"/>
            <a:ext cx="212850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billing-db  ·  generated</a:t>
            </a:r>
          </a:p>
        </p:txBody>
      </p:sp>
      <p:sp>
        <p:nvSpPr>
          <p:cNvPr id="33" name="Rounded Rectangle 32"/>
          <p:cNvSpPr/>
          <p:nvPr/>
        </p:nvSpPr>
        <p:spPr>
          <a:xfrm>
            <a:off x="9149059" y="3300984"/>
            <a:ext cx="2311389" cy="914400"/>
          </a:xfrm>
          <a:prstGeom prst="roundRect">
            <a:avLst>
              <a:gd name="adj" fmla="val 10000"/>
            </a:avLst>
          </a:prstGeom>
          <a:solidFill>
            <a:srgbClr val="FFFFFF"/>
          </a:solidFill>
          <a:ln w="19050">
            <a:solidFill>
              <a:srgbClr val="2BA8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9149059" y="3300984"/>
            <a:ext cx="2311389" cy="5486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77075" y="3447288"/>
            <a:ext cx="205535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Reloader</a:t>
            </a:r>
          </a:p>
        </p:txBody>
      </p:sp>
      <p:sp>
        <p:nvSpPr>
          <p:cNvPr id="36" name="TextBox 35"/>
          <p:cNvSpPr txBox="1"/>
          <p:nvPr/>
        </p:nvSpPr>
        <p:spPr>
          <a:xfrm>
            <a:off x="9240499" y="3721608"/>
            <a:ext cx="212850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sees the change</a:t>
            </a:r>
          </a:p>
        </p:txBody>
      </p:sp>
      <p:sp>
        <p:nvSpPr>
          <p:cNvPr id="37" name="Rounded Rectangle 36"/>
          <p:cNvSpPr/>
          <p:nvPr/>
        </p:nvSpPr>
        <p:spPr>
          <a:xfrm>
            <a:off x="9149059" y="4608576"/>
            <a:ext cx="2311389" cy="914400"/>
          </a:xfrm>
          <a:prstGeom prst="roundRect">
            <a:avLst>
              <a:gd name="adj" fmla="val 10000"/>
            </a:avLst>
          </a:prstGeom>
          <a:solidFill>
            <a:srgbClr val="FFFFFF"/>
          </a:solidFill>
          <a:ln w="19050">
            <a:solidFill>
              <a:srgbClr val="2E86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9149059" y="4608576"/>
            <a:ext cx="2311389" cy="5486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277075" y="4754880"/>
            <a:ext cx="2055357" cy="274320"/>
          </a:xfrm>
          <a:prstGeom prst="rect">
            <a:avLst/>
          </a:prstGeom>
          <a:noFill/>
        </p:spPr>
        <p:txBody>
          <a:bodyPr wrap="square" lIns="18288" rIns="18288" tIns="0" bIns="0" anchor="t">
            <a:noAutofit/>
          </a:bodyPr>
          <a:lstStyle/>
          <a:p>
            <a:pPr algn="ctr">
              <a:spcAft>
                <a:spcPts val="0"/>
              </a:spcAft>
            </a:pPr>
            <a:r>
              <a:rPr sz="1250" b="1" i="0">
                <a:solidFill>
                  <a:srgbClr val="1F2B3D"/>
                </a:solidFill>
                <a:latin typeface="Calibri"/>
              </a:rPr>
              <a:t>billing pods</a:t>
            </a:r>
          </a:p>
        </p:txBody>
      </p:sp>
      <p:sp>
        <p:nvSpPr>
          <p:cNvPr id="40" name="TextBox 39"/>
          <p:cNvSpPr txBox="1"/>
          <p:nvPr/>
        </p:nvSpPr>
        <p:spPr>
          <a:xfrm>
            <a:off x="9240499" y="5029200"/>
            <a:ext cx="2128509" cy="420623"/>
          </a:xfrm>
          <a:prstGeom prst="rect">
            <a:avLst/>
          </a:prstGeom>
          <a:noFill/>
        </p:spPr>
        <p:txBody>
          <a:bodyPr wrap="square" lIns="18288" rIns="18288" tIns="0" bIns="0" anchor="t">
            <a:noAutofit/>
          </a:bodyPr>
          <a:lstStyle/>
          <a:p>
            <a:pPr algn="ctr">
              <a:lnSpc>
                <a:spcPct val="114000"/>
              </a:lnSpc>
              <a:spcAft>
                <a:spcPts val="0"/>
              </a:spcAft>
            </a:pPr>
            <a:r>
              <a:rPr sz="1050" b="0" i="0">
                <a:solidFill>
                  <a:srgbClr val="6B7A8D"/>
                </a:solidFill>
                <a:latin typeface="Calibri"/>
              </a:rPr>
              <a:t>rolled with the new value</a:t>
            </a:r>
          </a:p>
        </p:txBody>
      </p:sp>
      <p:sp>
        <p:nvSpPr>
          <p:cNvPr id="41" name="Right Arrow 40"/>
          <p:cNvSpPr/>
          <p:nvPr/>
        </p:nvSpPr>
        <p:spPr>
          <a:xfrm>
            <a:off x="2651760" y="2368296"/>
            <a:ext cx="786384" cy="164592"/>
          </a:xfrm>
          <a:prstGeom prst="rightArrow">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ight Arrow 41"/>
          <p:cNvSpPr/>
          <p:nvPr/>
        </p:nvSpPr>
        <p:spPr>
          <a:xfrm>
            <a:off x="2651760" y="3675888"/>
            <a:ext cx="786384" cy="164592"/>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own Arrow 42"/>
          <p:cNvSpPr/>
          <p:nvPr/>
        </p:nvSpPr>
        <p:spPr>
          <a:xfrm>
            <a:off x="4593838" y="2907792"/>
            <a:ext cx="164592" cy="393192"/>
          </a:xfrm>
          <a:prstGeom prst="downArrow">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ight Arrow 43"/>
          <p:cNvSpPr/>
          <p:nvPr/>
        </p:nvSpPr>
        <p:spPr>
          <a:xfrm>
            <a:off x="5868405" y="3675888"/>
            <a:ext cx="429768" cy="164592"/>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ight Arrow 44"/>
          <p:cNvSpPr/>
          <p:nvPr/>
        </p:nvSpPr>
        <p:spPr>
          <a:xfrm>
            <a:off x="8682715" y="3675888"/>
            <a:ext cx="429768" cy="164592"/>
          </a:xfrm>
          <a:prstGeom prst="rightArrow">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wn Arrow 45"/>
          <p:cNvSpPr/>
          <p:nvPr/>
        </p:nvSpPr>
        <p:spPr>
          <a:xfrm>
            <a:off x="10222458" y="4215384"/>
            <a:ext cx="164592" cy="393191"/>
          </a:xfrm>
          <a:prstGeom prst="downArrow">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20439" y="4754880"/>
            <a:ext cx="4622779" cy="621792"/>
          </a:xfrm>
          <a:prstGeom prst="rect">
            <a:avLst/>
          </a:prstGeom>
          <a:noFill/>
        </p:spPr>
        <p:txBody>
          <a:bodyPr wrap="square" lIns="18288" rIns="18288" tIns="0" bIns="0" anchor="t">
            <a:noAutofit/>
          </a:bodyPr>
          <a:lstStyle/>
          <a:p>
            <a:pPr algn="l">
              <a:lnSpc>
                <a:spcPct val="124000"/>
              </a:lnSpc>
              <a:spcAft>
                <a:spcPts val="0"/>
              </a:spcAft>
            </a:pPr>
            <a:r>
              <a:rPr sz="1100" b="0" i="0">
                <a:solidFill>
                  <a:srgbClr val="6B7A8D"/>
                </a:solidFill>
                <a:latin typeface="Calibri"/>
              </a:rPr>
              <a:t>1  commit the manifest</a:t>
            </a:r>
          </a:p>
          <a:p>
            <a:pPr algn="l">
              <a:lnSpc>
                <a:spcPct val="124000"/>
              </a:lnSpc>
              <a:spcAft>
                <a:spcPts val="0"/>
              </a:spcAft>
            </a:pPr>
            <a:r>
              <a:rPr sz="1100" b="0" i="0">
                <a:solidFill>
                  <a:srgbClr val="6B7A8D"/>
                </a:solidFill>
                <a:latin typeface="Calibri"/>
              </a:rPr>
              <a:t>2  ESO fetches and writes the Secret</a:t>
            </a:r>
          </a:p>
          <a:p>
            <a:pPr algn="l">
              <a:lnSpc>
                <a:spcPct val="124000"/>
              </a:lnSpc>
              <a:spcAft>
                <a:spcPts val="0"/>
              </a:spcAft>
            </a:pPr>
            <a:r>
              <a:rPr sz="1100" b="0" i="0">
                <a:solidFill>
                  <a:srgbClr val="6B7A8D"/>
                </a:solidFill>
                <a:latin typeface="Calibri"/>
              </a:rPr>
              <a:t>3  Reloader notices and rolls the pods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How Long Does a Rotation Actually Take?</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Students always ask. The honest answer is a sum of four independent delays.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Worst case is roughly refreshInterval plus a rollout. Tune the interval, not your expectations.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11240993" cy="60579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8580" cy="605790"/>
          </a:xfrm>
          <a:prstGeom prst="rect">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13232" y="1793367"/>
            <a:ext cx="310896" cy="310896"/>
          </a:xfrm>
          <a:prstGeom prst="ellipse">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1</a:t>
            </a:r>
          </a:p>
        </p:txBody>
      </p:sp>
      <p:sp>
        <p:nvSpPr>
          <p:cNvPr id="16" name="TextBox 15"/>
          <p:cNvSpPr txBox="1"/>
          <p:nvPr/>
        </p:nvSpPr>
        <p:spPr>
          <a:xfrm>
            <a:off x="1152144" y="176479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 + 0  ·  rotated in the secret manager</a:t>
            </a:r>
          </a:p>
        </p:txBody>
      </p:sp>
      <p:sp>
        <p:nvSpPr>
          <p:cNvPr id="17" name="TextBox 16"/>
          <p:cNvSpPr txBox="1"/>
          <p:nvPr/>
        </p:nvSpPr>
        <p:spPr>
          <a:xfrm>
            <a:off x="1152144" y="2029968"/>
            <a:ext cx="10326593" cy="194309"/>
          </a:xfrm>
          <a:prstGeom prst="rect">
            <a:avLst/>
          </a:prstGeom>
          <a:noFill/>
        </p:spPr>
        <p:txBody>
          <a:bodyPr wrap="square" lIns="18288" rIns="18288" tIns="0" bIns="0" anchor="t">
            <a:noAutofit/>
          </a:bodyPr>
          <a:lstStyle/>
          <a:p>
            <a:pPr algn="l">
              <a:lnSpc>
                <a:spcPct val="120000"/>
              </a:lnSpc>
              <a:spcAft>
                <a:spcPts val="0"/>
              </a:spcAft>
            </a:pPr>
            <a:r>
              <a:rPr sz="900" b="0" i="0">
                <a:solidFill>
                  <a:srgbClr val="363F4D"/>
                </a:solidFill>
                <a:latin typeface="Calibri"/>
              </a:rPr>
              <a:t>The new value exists. Nothing in Kubernetes knows yet.</a:t>
            </a:r>
          </a:p>
        </p:txBody>
      </p:sp>
      <p:sp>
        <p:nvSpPr>
          <p:cNvPr id="18" name="Rounded Rectangle 17"/>
          <p:cNvSpPr/>
          <p:nvPr/>
        </p:nvSpPr>
        <p:spPr>
          <a:xfrm>
            <a:off x="475488" y="2343150"/>
            <a:ext cx="11240993" cy="60579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75488" y="2343150"/>
            <a:ext cx="68580" cy="60579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13232" y="2490597"/>
            <a:ext cx="310896" cy="31089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2</a:t>
            </a:r>
          </a:p>
        </p:txBody>
      </p:sp>
      <p:sp>
        <p:nvSpPr>
          <p:cNvPr id="21" name="TextBox 20"/>
          <p:cNvSpPr txBox="1"/>
          <p:nvPr/>
        </p:nvSpPr>
        <p:spPr>
          <a:xfrm>
            <a:off x="1152144" y="246202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up to refreshInterval  ·  ESO re-reads</a:t>
            </a:r>
          </a:p>
        </p:txBody>
      </p:sp>
      <p:sp>
        <p:nvSpPr>
          <p:cNvPr id="22" name="TextBox 21"/>
          <p:cNvSpPr txBox="1"/>
          <p:nvPr/>
        </p:nvSpPr>
        <p:spPr>
          <a:xfrm>
            <a:off x="1152144" y="2727198"/>
            <a:ext cx="10326593" cy="194309"/>
          </a:xfrm>
          <a:prstGeom prst="rect">
            <a:avLst/>
          </a:prstGeom>
          <a:noFill/>
        </p:spPr>
        <p:txBody>
          <a:bodyPr wrap="square" lIns="18288" rIns="18288" tIns="0" bIns="0" anchor="t">
            <a:noAutofit/>
          </a:bodyPr>
          <a:lstStyle/>
          <a:p>
            <a:pPr algn="l">
              <a:lnSpc>
                <a:spcPct val="120000"/>
              </a:lnSpc>
              <a:spcAft>
                <a:spcPts val="0"/>
              </a:spcAft>
            </a:pPr>
            <a:r>
              <a:rPr sz="900" b="0" i="0">
                <a:solidFill>
                  <a:srgbClr val="363F4D"/>
                </a:solidFill>
                <a:latin typeface="Calibri"/>
              </a:rPr>
              <a:t>The dominant term. With the default of one hour, this is the delay that matters. ESO updates the Kubernetes Secret.</a:t>
            </a:r>
          </a:p>
        </p:txBody>
      </p:sp>
      <p:sp>
        <p:nvSpPr>
          <p:cNvPr id="23" name="Rounded Rectangle 22"/>
          <p:cNvSpPr/>
          <p:nvPr/>
        </p:nvSpPr>
        <p:spPr>
          <a:xfrm>
            <a:off x="475488" y="3040380"/>
            <a:ext cx="11240993" cy="60579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75488" y="3040380"/>
            <a:ext cx="68580" cy="60579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13232" y="3187827"/>
            <a:ext cx="310896" cy="310896"/>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3</a:t>
            </a:r>
          </a:p>
        </p:txBody>
      </p:sp>
      <p:sp>
        <p:nvSpPr>
          <p:cNvPr id="26" name="TextBox 25"/>
          <p:cNvSpPr txBox="1"/>
          <p:nvPr/>
        </p:nvSpPr>
        <p:spPr>
          <a:xfrm>
            <a:off x="1152144" y="315925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 few seconds  ·  Reloader reacts</a:t>
            </a:r>
          </a:p>
        </p:txBody>
      </p:sp>
      <p:sp>
        <p:nvSpPr>
          <p:cNvPr id="27" name="TextBox 26"/>
          <p:cNvSpPr txBox="1"/>
          <p:nvPr/>
        </p:nvSpPr>
        <p:spPr>
          <a:xfrm>
            <a:off x="1152144" y="3424428"/>
            <a:ext cx="10326593" cy="194309"/>
          </a:xfrm>
          <a:prstGeom prst="rect">
            <a:avLst/>
          </a:prstGeom>
          <a:noFill/>
        </p:spPr>
        <p:txBody>
          <a:bodyPr wrap="square" lIns="18288" rIns="18288" tIns="0" bIns="0" anchor="t">
            <a:noAutofit/>
          </a:bodyPr>
          <a:lstStyle/>
          <a:p>
            <a:pPr algn="l">
              <a:lnSpc>
                <a:spcPct val="120000"/>
              </a:lnSpc>
              <a:spcAft>
                <a:spcPts val="0"/>
              </a:spcAft>
            </a:pPr>
            <a:r>
              <a:rPr sz="900" b="0" i="0">
                <a:solidFill>
                  <a:srgbClr val="363F4D"/>
                </a:solidFill>
                <a:latin typeface="Calibri"/>
              </a:rPr>
              <a:t>It is watching the API server, so it sees the change almost immediately and patches the pod template.</a:t>
            </a:r>
          </a:p>
        </p:txBody>
      </p:sp>
      <p:sp>
        <p:nvSpPr>
          <p:cNvPr id="28" name="Rounded Rectangle 27"/>
          <p:cNvSpPr/>
          <p:nvPr/>
        </p:nvSpPr>
        <p:spPr>
          <a:xfrm>
            <a:off x="475488" y="3737609"/>
            <a:ext cx="11240993" cy="60579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75488" y="3737609"/>
            <a:ext cx="68580" cy="60579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13232" y="3885056"/>
            <a:ext cx="310896" cy="31089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4</a:t>
            </a:r>
          </a:p>
        </p:txBody>
      </p:sp>
      <p:sp>
        <p:nvSpPr>
          <p:cNvPr id="31" name="TextBox 30"/>
          <p:cNvSpPr txBox="1"/>
          <p:nvPr/>
        </p:nvSpPr>
        <p:spPr>
          <a:xfrm>
            <a:off x="1152144" y="3856481"/>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your rollout time  ·  pods replaced</a:t>
            </a:r>
          </a:p>
        </p:txBody>
      </p:sp>
      <p:sp>
        <p:nvSpPr>
          <p:cNvPr id="32" name="TextBox 31"/>
          <p:cNvSpPr txBox="1"/>
          <p:nvPr/>
        </p:nvSpPr>
        <p:spPr>
          <a:xfrm>
            <a:off x="1152144" y="4121657"/>
            <a:ext cx="10326593" cy="194309"/>
          </a:xfrm>
          <a:prstGeom prst="rect">
            <a:avLst/>
          </a:prstGeom>
          <a:noFill/>
        </p:spPr>
        <p:txBody>
          <a:bodyPr wrap="square" lIns="18288" rIns="18288" tIns="0" bIns="0" anchor="t">
            <a:noAutofit/>
          </a:bodyPr>
          <a:lstStyle/>
          <a:p>
            <a:pPr algn="l">
              <a:lnSpc>
                <a:spcPct val="120000"/>
              </a:lnSpc>
              <a:spcAft>
                <a:spcPts val="0"/>
              </a:spcAft>
            </a:pPr>
            <a:r>
              <a:rPr sz="900" b="0" i="0">
                <a:solidFill>
                  <a:srgbClr val="363F4D"/>
                </a:solidFill>
                <a:latin typeface="Calibri"/>
              </a:rPr>
              <a:t>An ordinary rolling update — surge, readiness probes, termination grace. Usually tens of seconds, occasionally minutes.</a:t>
            </a:r>
          </a:p>
        </p:txBody>
      </p:sp>
      <p:sp>
        <p:nvSpPr>
          <p:cNvPr id="33" name="Rounded Rectangle 32"/>
          <p:cNvSpPr/>
          <p:nvPr/>
        </p:nvSpPr>
        <p:spPr>
          <a:xfrm>
            <a:off x="475488" y="4663440"/>
            <a:ext cx="5428472" cy="10241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4663440"/>
            <a:ext cx="77724" cy="10241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31520" y="480974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If you need it faster</a:t>
            </a:r>
          </a:p>
        </p:txBody>
      </p:sp>
      <p:sp>
        <p:nvSpPr>
          <p:cNvPr id="36" name="TextBox 35"/>
          <p:cNvSpPr txBox="1"/>
          <p:nvPr/>
        </p:nvSpPr>
        <p:spPr>
          <a:xfrm>
            <a:off x="731520" y="5212079"/>
            <a:ext cx="4971272" cy="347472"/>
          </a:xfrm>
          <a:prstGeom prst="rect">
            <a:avLst/>
          </a:prstGeom>
          <a:noFill/>
        </p:spPr>
        <p:txBody>
          <a:bodyPr wrap="square" lIns="18288" rIns="18288" tIns="0" bIns="0" anchor="t">
            <a:noAutofit/>
          </a:bodyPr>
          <a:lstStyle/>
          <a:p>
            <a:pPr algn="l">
              <a:lnSpc>
                <a:spcPct val="124000"/>
              </a:lnSpc>
              <a:spcAft>
                <a:spcPts val="0"/>
              </a:spcAft>
            </a:pPr>
            <a:r>
              <a:rPr sz="900" b="0" i="0">
                <a:solidFill>
                  <a:srgbClr val="363F4D"/>
                </a:solidFill>
                <a:latin typeface="Calibri"/>
              </a:rPr>
              <a:t>Lower refreshInterval for the few secrets that genuinely rotate often. Do not lower it globally — you pay per call, per ExternalSecret.</a:t>
            </a:r>
          </a:p>
        </p:txBody>
      </p:sp>
      <p:sp>
        <p:nvSpPr>
          <p:cNvPr id="37" name="Rounded Rectangle 36"/>
          <p:cNvSpPr/>
          <p:nvPr/>
        </p:nvSpPr>
        <p:spPr>
          <a:xfrm>
            <a:off x="6288008" y="4663440"/>
            <a:ext cx="5428472" cy="102412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88008" y="4663440"/>
            <a:ext cx="77724" cy="102412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44040" y="480974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If you need it immediate</a:t>
            </a:r>
          </a:p>
        </p:txBody>
      </p:sp>
      <p:sp>
        <p:nvSpPr>
          <p:cNvPr id="40" name="TextBox 39"/>
          <p:cNvSpPr txBox="1"/>
          <p:nvPr/>
        </p:nvSpPr>
        <p:spPr>
          <a:xfrm>
            <a:off x="6544040" y="5212079"/>
            <a:ext cx="4971272" cy="347472"/>
          </a:xfrm>
          <a:prstGeom prst="rect">
            <a:avLst/>
          </a:prstGeom>
          <a:noFill/>
        </p:spPr>
        <p:txBody>
          <a:bodyPr wrap="square" lIns="18288" rIns="18288" tIns="0" bIns="0" anchor="t">
            <a:noAutofit/>
          </a:bodyPr>
          <a:lstStyle/>
          <a:p>
            <a:pPr algn="l">
              <a:lnSpc>
                <a:spcPct val="124000"/>
              </a:lnSpc>
              <a:spcAft>
                <a:spcPts val="0"/>
              </a:spcAft>
            </a:pPr>
            <a:r>
              <a:rPr sz="900" b="0" i="0">
                <a:solidFill>
                  <a:srgbClr val="363F4D"/>
                </a:solidFill>
                <a:latin typeface="Calibri"/>
              </a:rPr>
              <a:t>Nothing here is immediate. For break-glass revocation, revoke at the provider so the old credential stops working — do not wait for a roll.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Conflict Nobody Warns You About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Argo CD wants the cluster to match Git. ESO and Reloader deliberately create things Git has never seen.</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Tell Argo CD which differences are somebody else's job. Otherwise it fights the other two controllers forever.</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3564117" cy="157276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58368" y="1874519"/>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1</a:t>
            </a:r>
          </a:p>
        </p:txBody>
      </p:sp>
      <p:sp>
        <p:nvSpPr>
          <p:cNvPr id="16" name="TextBox 15"/>
          <p:cNvSpPr txBox="1"/>
          <p:nvPr/>
        </p:nvSpPr>
        <p:spPr>
          <a:xfrm>
            <a:off x="1078992" y="1911095"/>
            <a:ext cx="2777733" cy="292608"/>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The generated Secret</a:t>
            </a:r>
          </a:p>
        </p:txBody>
      </p:sp>
      <p:sp>
        <p:nvSpPr>
          <p:cNvPr id="17" name="TextBox 16"/>
          <p:cNvSpPr txBox="1"/>
          <p:nvPr/>
        </p:nvSpPr>
        <p:spPr>
          <a:xfrm>
            <a:off x="658368" y="2304288"/>
            <a:ext cx="3198357" cy="795528"/>
          </a:xfrm>
          <a:prstGeom prst="rect">
            <a:avLst/>
          </a:prstGeom>
          <a:noFill/>
        </p:spPr>
        <p:txBody>
          <a:bodyPr wrap="square" lIns="18288" rIns="18288" tIns="0" bIns="0" anchor="t">
            <a:noAutofit/>
          </a:bodyPr>
          <a:lstStyle/>
          <a:p>
            <a:pPr algn="l">
              <a:lnSpc>
                <a:spcPct val="122000"/>
              </a:lnSpc>
              <a:spcAft>
                <a:spcPts val="0"/>
              </a:spcAft>
            </a:pPr>
            <a:r>
              <a:rPr sz="1000" b="0" i="0">
                <a:solidFill>
                  <a:srgbClr val="363F4D"/>
                </a:solidFill>
                <a:latin typeface="Calibri"/>
              </a:rPr>
              <a:t>ESO creates billing-db. Git contains no such manifest. Depending on your setup Argo CD may flag it as extraneous — and with prune enabled, try to delete it.</a:t>
            </a:r>
          </a:p>
        </p:txBody>
      </p:sp>
      <p:sp>
        <p:nvSpPr>
          <p:cNvPr id="18" name="Rounded Rectangle 17"/>
          <p:cNvSpPr/>
          <p:nvPr/>
        </p:nvSpPr>
        <p:spPr>
          <a:xfrm>
            <a:off x="4313925" y="1645920"/>
            <a:ext cx="3564117" cy="157276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13925" y="1645920"/>
            <a:ext cx="3564117" cy="685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496805" y="1874519"/>
            <a:ext cx="310896" cy="31089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2</a:t>
            </a:r>
          </a:p>
        </p:txBody>
      </p:sp>
      <p:sp>
        <p:nvSpPr>
          <p:cNvPr id="21" name="TextBox 20"/>
          <p:cNvSpPr txBox="1"/>
          <p:nvPr/>
        </p:nvSpPr>
        <p:spPr>
          <a:xfrm>
            <a:off x="4917429" y="1911095"/>
            <a:ext cx="2777733" cy="292608"/>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The patched Deployment</a:t>
            </a:r>
          </a:p>
        </p:txBody>
      </p:sp>
      <p:sp>
        <p:nvSpPr>
          <p:cNvPr id="22" name="TextBox 21"/>
          <p:cNvSpPr txBox="1"/>
          <p:nvPr/>
        </p:nvSpPr>
        <p:spPr>
          <a:xfrm>
            <a:off x="4496805" y="2304288"/>
            <a:ext cx="3198357" cy="795528"/>
          </a:xfrm>
          <a:prstGeom prst="rect">
            <a:avLst/>
          </a:prstGeom>
          <a:noFill/>
        </p:spPr>
        <p:txBody>
          <a:bodyPr wrap="square" lIns="18288" rIns="18288" tIns="0" bIns="0" anchor="t">
            <a:noAutofit/>
          </a:bodyPr>
          <a:lstStyle/>
          <a:p>
            <a:pPr algn="l">
              <a:lnSpc>
                <a:spcPct val="122000"/>
              </a:lnSpc>
              <a:spcAft>
                <a:spcPts val="0"/>
              </a:spcAft>
            </a:pPr>
            <a:r>
              <a:rPr sz="1050" b="0" i="0">
                <a:solidFill>
                  <a:srgbClr val="363F4D"/>
                </a:solidFill>
                <a:latin typeface="Calibri"/>
              </a:rPr>
              <a:t>Reloader injects an env var or annotation into the live Deployment. Git does not have it, so Argo CD reports OutOfSync and selfHeal reverts it.</a:t>
            </a:r>
          </a:p>
        </p:txBody>
      </p:sp>
      <p:sp>
        <p:nvSpPr>
          <p:cNvPr id="23" name="Rounded Rectangle 22"/>
          <p:cNvSpPr/>
          <p:nvPr/>
        </p:nvSpPr>
        <p:spPr>
          <a:xfrm>
            <a:off x="8152363" y="1645920"/>
            <a:ext cx="3564117" cy="1572768"/>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152363" y="1645920"/>
            <a:ext cx="3564117" cy="685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335243" y="1874519"/>
            <a:ext cx="310896" cy="31089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3</a:t>
            </a:r>
          </a:p>
        </p:txBody>
      </p:sp>
      <p:sp>
        <p:nvSpPr>
          <p:cNvPr id="26" name="TextBox 25"/>
          <p:cNvSpPr txBox="1"/>
          <p:nvPr/>
        </p:nvSpPr>
        <p:spPr>
          <a:xfrm>
            <a:off x="8755867" y="1911095"/>
            <a:ext cx="2777733" cy="292608"/>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The result if you ignore it</a:t>
            </a:r>
          </a:p>
        </p:txBody>
      </p:sp>
      <p:sp>
        <p:nvSpPr>
          <p:cNvPr id="27" name="TextBox 26"/>
          <p:cNvSpPr txBox="1"/>
          <p:nvPr/>
        </p:nvSpPr>
        <p:spPr>
          <a:xfrm>
            <a:off x="8335243" y="2304288"/>
            <a:ext cx="3198357" cy="795528"/>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permanent OutOfSync that everyone learns to ignore — which defeats the entire point of having drift detection.</a:t>
            </a:r>
          </a:p>
        </p:txBody>
      </p:sp>
      <p:sp>
        <p:nvSpPr>
          <p:cNvPr id="28" name="Rounded Rectangle 27"/>
          <p:cNvSpPr/>
          <p:nvPr/>
        </p:nvSpPr>
        <p:spPr>
          <a:xfrm>
            <a:off x="475488" y="3419856"/>
            <a:ext cx="5428472" cy="1883664"/>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75488" y="3419856"/>
            <a:ext cx="64008" cy="188366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49808" y="3547872"/>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fix 1 — let Reloader own that field</a:t>
            </a:r>
          </a:p>
        </p:txBody>
      </p:sp>
      <p:sp>
        <p:nvSpPr>
          <p:cNvPr id="31" name="TextBox 30"/>
          <p:cNvSpPr txBox="1"/>
          <p:nvPr/>
        </p:nvSpPr>
        <p:spPr>
          <a:xfrm>
            <a:off x="749808" y="3840480"/>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spec:</a:t>
            </a:r>
          </a:p>
        </p:txBody>
      </p:sp>
      <p:sp>
        <p:nvSpPr>
          <p:cNvPr id="32" name="TextBox 31"/>
          <p:cNvSpPr txBox="1"/>
          <p:nvPr/>
        </p:nvSpPr>
        <p:spPr>
          <a:xfrm>
            <a:off x="749808" y="4037076"/>
            <a:ext cx="4879832" cy="23317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ignoreDifferences:</a:t>
            </a:r>
          </a:p>
        </p:txBody>
      </p:sp>
      <p:sp>
        <p:nvSpPr>
          <p:cNvPr id="33" name="TextBox 32"/>
          <p:cNvSpPr txBox="1"/>
          <p:nvPr/>
        </p:nvSpPr>
        <p:spPr>
          <a:xfrm>
            <a:off x="749808" y="4233672"/>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group: apps</a:t>
            </a:r>
          </a:p>
        </p:txBody>
      </p:sp>
      <p:sp>
        <p:nvSpPr>
          <p:cNvPr id="34" name="TextBox 33"/>
          <p:cNvSpPr txBox="1"/>
          <p:nvPr/>
        </p:nvSpPr>
        <p:spPr>
          <a:xfrm>
            <a:off x="749808" y="4430268"/>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kind: Deployment</a:t>
            </a:r>
          </a:p>
        </p:txBody>
      </p:sp>
      <p:sp>
        <p:nvSpPr>
          <p:cNvPr id="35" name="TextBox 34"/>
          <p:cNvSpPr txBox="1"/>
          <p:nvPr/>
        </p:nvSpPr>
        <p:spPr>
          <a:xfrm>
            <a:off x="749808" y="4626864"/>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jsonPointers:</a:t>
            </a:r>
          </a:p>
        </p:txBody>
      </p:sp>
      <p:sp>
        <p:nvSpPr>
          <p:cNvPr id="36" name="TextBox 35"/>
          <p:cNvSpPr txBox="1"/>
          <p:nvPr/>
        </p:nvSpPr>
        <p:spPr>
          <a:xfrm>
            <a:off x="749808" y="4823459"/>
            <a:ext cx="4879832" cy="23317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 /spec/template/spec/containers/0/env</a:t>
            </a:r>
          </a:p>
        </p:txBody>
      </p:sp>
      <p:sp>
        <p:nvSpPr>
          <p:cNvPr id="37" name="Rounded Rectangle 36"/>
          <p:cNvSpPr/>
          <p:nvPr/>
        </p:nvSpPr>
        <p:spPr>
          <a:xfrm>
            <a:off x="6288008" y="3419856"/>
            <a:ext cx="5428472" cy="1883664"/>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88008" y="3419856"/>
            <a:ext cx="64008" cy="188366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62328" y="3547872"/>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fix 2 — let ESO own the Secret</a:t>
            </a:r>
          </a:p>
        </p:txBody>
      </p:sp>
      <p:sp>
        <p:nvSpPr>
          <p:cNvPr id="40" name="TextBox 39"/>
          <p:cNvSpPr txBox="1"/>
          <p:nvPr/>
        </p:nvSpPr>
        <p:spPr>
          <a:xfrm>
            <a:off x="6562328" y="3840480"/>
            <a:ext cx="4879832" cy="23251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metadata:</a:t>
            </a:r>
          </a:p>
        </p:txBody>
      </p:sp>
      <p:sp>
        <p:nvSpPr>
          <p:cNvPr id="41" name="TextBox 40"/>
          <p:cNvSpPr txBox="1"/>
          <p:nvPr/>
        </p:nvSpPr>
        <p:spPr>
          <a:xfrm>
            <a:off x="6562328" y="4036422"/>
            <a:ext cx="4879832" cy="23251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annotations:</a:t>
            </a:r>
          </a:p>
        </p:txBody>
      </p:sp>
      <p:sp>
        <p:nvSpPr>
          <p:cNvPr id="42" name="TextBox 41"/>
          <p:cNvSpPr txBox="1"/>
          <p:nvPr/>
        </p:nvSpPr>
        <p:spPr>
          <a:xfrm>
            <a:off x="6562328" y="4232365"/>
            <a:ext cx="4879832" cy="23251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argocd.argoproj.io/compare-options: \</a:t>
            </a:r>
          </a:p>
        </p:txBody>
      </p:sp>
      <p:sp>
        <p:nvSpPr>
          <p:cNvPr id="43" name="TextBox 42"/>
          <p:cNvSpPr txBox="1"/>
          <p:nvPr/>
        </p:nvSpPr>
        <p:spPr>
          <a:xfrm>
            <a:off x="6562328" y="4428308"/>
            <a:ext cx="4879832" cy="232518"/>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IgnoreExtraneous</a:t>
            </a:r>
          </a:p>
        </p:txBody>
      </p:sp>
      <p:sp>
        <p:nvSpPr>
          <p:cNvPr id="44" name="TextBox 43"/>
          <p:cNvSpPr txBox="1"/>
          <p:nvPr/>
        </p:nvSpPr>
        <p:spPr>
          <a:xfrm>
            <a:off x="6562328" y="4624251"/>
            <a:ext cx="4879832" cy="232518"/>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5" name="TextBox 44"/>
          <p:cNvSpPr txBox="1"/>
          <p:nvPr/>
        </p:nvSpPr>
        <p:spPr>
          <a:xfrm>
            <a:off x="6562328" y="4820194"/>
            <a:ext cx="4879832" cy="232518"/>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on the ExternalSecret, so the Secret it</a:t>
            </a:r>
          </a:p>
        </p:txBody>
      </p:sp>
      <p:sp>
        <p:nvSpPr>
          <p:cNvPr id="46" name="TextBox 45"/>
          <p:cNvSpPr txBox="1"/>
          <p:nvPr/>
        </p:nvSpPr>
        <p:spPr>
          <a:xfrm>
            <a:off x="6562328" y="5016137"/>
            <a:ext cx="4879832" cy="232518"/>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generates is not treated as orphaned</a:t>
            </a:r>
          </a:p>
        </p:txBody>
      </p:sp>
      <p:sp>
        <p:nvSpPr>
          <p:cNvPr id="47" name="Rounded Rectangle 46"/>
          <p:cNvSpPr/>
          <p:nvPr/>
        </p:nvSpPr>
        <p:spPr>
          <a:xfrm>
            <a:off x="475488" y="5431536"/>
            <a:ext cx="11240993" cy="420624"/>
          </a:xfrm>
          <a:prstGeom prst="roundRect">
            <a:avLst>
              <a:gd name="adj" fmla="val 7000"/>
            </a:avLst>
          </a:prstGeom>
          <a:solidFill>
            <a:srgbClr val="ECF4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75488" y="5431536"/>
            <a:ext cx="91440" cy="42062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59536" y="5522976"/>
            <a:ext cx="10555193" cy="237744"/>
          </a:xfrm>
          <a:prstGeom prst="rect">
            <a:avLst/>
          </a:prstGeom>
          <a:noFill/>
        </p:spPr>
        <p:txBody>
          <a:bodyPr wrap="square" lIns="18288" rIns="18288" tIns="0" bIns="0" anchor="ctr">
            <a:noAutofit/>
          </a:bodyPr>
          <a:lstStyle/>
          <a:p>
            <a:pPr algn="l">
              <a:lnSpc>
                <a:spcPct val="120000"/>
              </a:lnSpc>
              <a:spcAft>
                <a:spcPts val="0"/>
              </a:spcAft>
            </a:pPr>
            <a:r>
              <a:rPr sz="1000" b="0" i="1">
                <a:solidFill>
                  <a:srgbClr val="1F2B3D"/>
                </a:solidFill>
                <a:latin typeface="Calibri Light"/>
              </a:rPr>
              <a:t>Rule of thumb: whatever another controller writes, Argo CD must be told not to compare.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Ordering the Whole Thing With Sync Waves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Everything has to exist before the thing that depends on it. Waves make that explicit.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Namespace, then store, then ExternalSecret, then workload. Get this wrong and the first deploy crash-loops.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1644898" cy="1024128"/>
          </a:xfrm>
          <a:prstGeom prst="roundRect">
            <a:avLst>
              <a:gd name="adj" fmla="val 12000"/>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-2</a:t>
            </a:r>
          </a:p>
          <a:p>
            <a:pPr algn="ctr"/>
            <a:r>
              <a:rPr sz="400" b="1" i="0">
                <a:solidFill>
                  <a:srgbClr val="FFFFFF"/>
                </a:solidFill>
                <a:latin typeface="Calibri"/>
              </a:rPr>
              <a:t/>
            </a:r>
          </a:p>
          <a:p>
            <a:pPr algn="ctr"/>
            <a:r>
              <a:rPr sz="1050" b="0" i="0">
                <a:solidFill>
                  <a:srgbClr val="DCE6F5"/>
                </a:solidFill>
                <a:latin typeface="Calibri"/>
              </a:rPr>
              <a:t>Namespace</a:t>
            </a:r>
          </a:p>
        </p:txBody>
      </p:sp>
      <p:sp>
        <p:nvSpPr>
          <p:cNvPr id="14" name="Right Arrow 13"/>
          <p:cNvSpPr/>
          <p:nvPr/>
        </p:nvSpPr>
        <p:spPr>
          <a:xfrm>
            <a:off x="2161534"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394706" y="1645920"/>
            <a:ext cx="1644898" cy="1024128"/>
          </a:xfrm>
          <a:prstGeom prst="roundRect">
            <a:avLst>
              <a:gd name="adj" fmla="val 12000"/>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-1</a:t>
            </a:r>
          </a:p>
          <a:p>
            <a:pPr algn="ctr"/>
            <a:r>
              <a:rPr sz="400" b="1" i="0">
                <a:solidFill>
                  <a:srgbClr val="FFFFFF"/>
                </a:solidFill>
                <a:latin typeface="Calibri"/>
              </a:rPr>
              <a:t/>
            </a:r>
          </a:p>
          <a:p>
            <a:pPr algn="ctr"/>
            <a:r>
              <a:rPr sz="1050" b="0" i="0">
                <a:solidFill>
                  <a:srgbClr val="DCE6F5"/>
                </a:solidFill>
                <a:latin typeface="Calibri"/>
              </a:rPr>
              <a:t>ServiceAccount, RBAC, CRDs</a:t>
            </a:r>
          </a:p>
        </p:txBody>
      </p:sp>
      <p:sp>
        <p:nvSpPr>
          <p:cNvPr id="16" name="Right Arrow 15"/>
          <p:cNvSpPr/>
          <p:nvPr/>
        </p:nvSpPr>
        <p:spPr>
          <a:xfrm>
            <a:off x="4080753"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13925" y="1645920"/>
            <a:ext cx="1644898" cy="1024128"/>
          </a:xfrm>
          <a:prstGeom prst="roundRect">
            <a:avLst>
              <a:gd name="adj" fmla="val 1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0</a:t>
            </a:r>
          </a:p>
          <a:p>
            <a:pPr algn="ctr"/>
            <a:r>
              <a:rPr sz="400" b="1" i="0">
                <a:solidFill>
                  <a:srgbClr val="FFFFFF"/>
                </a:solidFill>
                <a:latin typeface="Calibri"/>
              </a:rPr>
              <a:t/>
            </a:r>
          </a:p>
          <a:p>
            <a:pPr algn="ctr"/>
            <a:r>
              <a:rPr sz="1050" b="0" i="0">
                <a:solidFill>
                  <a:srgbClr val="DCE6F5"/>
                </a:solidFill>
                <a:latin typeface="Calibri"/>
              </a:rPr>
              <a:t>ClusterSecretStore</a:t>
            </a:r>
          </a:p>
        </p:txBody>
      </p:sp>
      <p:sp>
        <p:nvSpPr>
          <p:cNvPr id="18" name="Right Arrow 17"/>
          <p:cNvSpPr/>
          <p:nvPr/>
        </p:nvSpPr>
        <p:spPr>
          <a:xfrm>
            <a:off x="5999972"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1644898" cy="1024128"/>
          </a:xfrm>
          <a:prstGeom prst="roundRect">
            <a:avLst>
              <a:gd name="adj" fmla="val 12000"/>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1</a:t>
            </a:r>
          </a:p>
          <a:p>
            <a:pPr algn="ctr"/>
            <a:r>
              <a:rPr sz="400" b="1" i="0">
                <a:solidFill>
                  <a:srgbClr val="FFFFFF"/>
                </a:solidFill>
                <a:latin typeface="Calibri"/>
              </a:rPr>
              <a:t/>
            </a:r>
          </a:p>
          <a:p>
            <a:pPr algn="ctr"/>
            <a:r>
              <a:rPr sz="1050" b="0" i="0">
                <a:solidFill>
                  <a:srgbClr val="DCE6F5"/>
                </a:solidFill>
                <a:latin typeface="Calibri"/>
              </a:rPr>
              <a:t>ExternalSecret</a:t>
            </a:r>
          </a:p>
        </p:txBody>
      </p:sp>
      <p:sp>
        <p:nvSpPr>
          <p:cNvPr id="20" name="Right Arrow 19"/>
          <p:cNvSpPr/>
          <p:nvPr/>
        </p:nvSpPr>
        <p:spPr>
          <a:xfrm>
            <a:off x="7919191"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52363" y="1645920"/>
            <a:ext cx="1644898" cy="1024128"/>
          </a:xfrm>
          <a:prstGeom prst="roundRect">
            <a:avLst>
              <a:gd name="adj" fmla="val 12000"/>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2</a:t>
            </a:r>
          </a:p>
          <a:p>
            <a:pPr algn="ctr"/>
            <a:r>
              <a:rPr sz="400" b="1" i="0">
                <a:solidFill>
                  <a:srgbClr val="FFFFFF"/>
                </a:solidFill>
                <a:latin typeface="Calibri"/>
              </a:rPr>
              <a:t/>
            </a:r>
          </a:p>
          <a:p>
            <a:pPr algn="ctr"/>
            <a:r>
              <a:rPr sz="1050" b="0" i="0">
                <a:solidFill>
                  <a:srgbClr val="DCE6F5"/>
                </a:solidFill>
                <a:latin typeface="Calibri"/>
              </a:rPr>
              <a:t>Deployment, Service</a:t>
            </a:r>
          </a:p>
        </p:txBody>
      </p:sp>
      <p:sp>
        <p:nvSpPr>
          <p:cNvPr id="22" name="Right Arrow 21"/>
          <p:cNvSpPr/>
          <p:nvPr/>
        </p:nvSpPr>
        <p:spPr>
          <a:xfrm>
            <a:off x="9838410" y="2075688"/>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71582" y="1645920"/>
            <a:ext cx="1644898" cy="1024128"/>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3</a:t>
            </a:r>
          </a:p>
          <a:p>
            <a:pPr algn="ctr"/>
            <a:r>
              <a:rPr sz="400" b="1" i="0">
                <a:solidFill>
                  <a:srgbClr val="FFFFFF"/>
                </a:solidFill>
                <a:latin typeface="Calibri"/>
              </a:rPr>
              <a:t/>
            </a:r>
          </a:p>
          <a:p>
            <a:pPr algn="ctr"/>
            <a:r>
              <a:rPr sz="1050" b="0" i="0">
                <a:solidFill>
                  <a:srgbClr val="DCE6F5"/>
                </a:solidFill>
                <a:latin typeface="Calibri"/>
              </a:rPr>
              <a:t>Ingress</a:t>
            </a:r>
          </a:p>
        </p:txBody>
      </p:sp>
      <p:sp>
        <p:nvSpPr>
          <p:cNvPr id="24" name="Rounded Rectangle 23"/>
          <p:cNvSpPr/>
          <p:nvPr/>
        </p:nvSpPr>
        <p:spPr>
          <a:xfrm>
            <a:off x="475488" y="3063240"/>
            <a:ext cx="5428472" cy="254203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063240"/>
            <a:ext cx="77724" cy="2542032"/>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320954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happens without waves</a:t>
            </a:r>
          </a:p>
        </p:txBody>
      </p:sp>
      <p:sp>
        <p:nvSpPr>
          <p:cNvPr id="27" name="TextBox 26"/>
          <p:cNvSpPr txBox="1"/>
          <p:nvPr/>
        </p:nvSpPr>
        <p:spPr>
          <a:xfrm>
            <a:off x="731520" y="3611880"/>
            <a:ext cx="4971272" cy="1865375"/>
          </a:xfrm>
          <a:prstGeom prst="rect">
            <a:avLst/>
          </a:prstGeom>
          <a:noFill/>
        </p:spPr>
        <p:txBody>
          <a:bodyPr wrap="square" lIns="18288" rIns="18288" tIns="0" bIns="0" anchor="t">
            <a:noAutofit/>
          </a:bodyPr>
          <a:lstStyle/>
          <a:p>
            <a:pPr algn="l">
              <a:lnSpc>
                <a:spcPct val="124000"/>
              </a:lnSpc>
              <a:spcAft>
                <a:spcPts val="0"/>
              </a:spcAft>
            </a:pPr>
            <a:r>
              <a:rPr sz="1100" b="0" i="0">
                <a:solidFill>
                  <a:srgbClr val="363F4D"/>
                </a:solidFill>
                <a:latin typeface="Calibri"/>
              </a:rPr>
              <a:t>Argo CD applies everything at once. The Deployment starts, cannot find the Secret billing-db, and the pods sit in CreateContainerConfigError.</a:t>
            </a:r>
          </a:p>
          <a:p>
            <a:pPr algn="l">
              <a:lnSpc>
                <a:spcPct val="124000"/>
              </a:lnSpc>
              <a:spcAft>
                <a:spcPts val="0"/>
              </a:spcAft>
            </a:pPr>
            <a:r>
              <a:rPr sz="1100" b="0" i="0">
                <a:solidFill>
                  <a:srgbClr val="363F4D"/>
                </a:solidFill>
                <a:latin typeface="Calibri"/>
              </a:rPr>
              <a:t/>
            </a:r>
          </a:p>
          <a:p>
            <a:pPr algn="l">
              <a:lnSpc>
                <a:spcPct val="124000"/>
              </a:lnSpc>
              <a:spcAft>
                <a:spcPts val="0"/>
              </a:spcAft>
            </a:pPr>
            <a:r>
              <a:rPr sz="1100" b="0" i="0">
                <a:solidFill>
                  <a:srgbClr val="363F4D"/>
                </a:solidFill>
                <a:latin typeface="Calibri"/>
              </a:rPr>
              <a:t>Thirty seconds later ESO creates the Secret and the pods recover on their own — so it looks like it worked, and you get a scary red patch on every fresh deploy.</a:t>
            </a:r>
          </a:p>
          <a:p>
            <a:pPr algn="l">
              <a:lnSpc>
                <a:spcPct val="124000"/>
              </a:lnSpc>
              <a:spcAft>
                <a:spcPts val="0"/>
              </a:spcAft>
            </a:pPr>
            <a:r>
              <a:rPr sz="1100" b="0" i="0">
                <a:solidFill>
                  <a:srgbClr val="363F4D"/>
                </a:solidFill>
                <a:latin typeface="Calibri"/>
              </a:rPr>
              <a:t/>
            </a:r>
          </a:p>
          <a:p>
            <a:pPr algn="l">
              <a:lnSpc>
                <a:spcPct val="124000"/>
              </a:lnSpc>
              <a:spcAft>
                <a:spcPts val="0"/>
              </a:spcAft>
            </a:pPr>
            <a:r>
              <a:rPr sz="1100" b="0" i="0">
                <a:solidFill>
                  <a:srgbClr val="363F4D"/>
                </a:solidFill>
                <a:latin typeface="Calibri"/>
              </a:rPr>
              <a:t>On a cluster where the store cannot authenticate, they never recover at all.</a:t>
            </a:r>
          </a:p>
        </p:txBody>
      </p:sp>
      <p:sp>
        <p:nvSpPr>
          <p:cNvPr id="28" name="Rounded Rectangle 27"/>
          <p:cNvSpPr/>
          <p:nvPr/>
        </p:nvSpPr>
        <p:spPr>
          <a:xfrm>
            <a:off x="6288008" y="3063240"/>
            <a:ext cx="5428472" cy="2542032"/>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88008" y="3063240"/>
            <a:ext cx="77724" cy="25420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44040" y="320954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One caveat worth stating</a:t>
            </a:r>
          </a:p>
        </p:txBody>
      </p:sp>
      <p:sp>
        <p:nvSpPr>
          <p:cNvPr id="31" name="TextBox 30"/>
          <p:cNvSpPr txBox="1"/>
          <p:nvPr/>
        </p:nvSpPr>
        <p:spPr>
          <a:xfrm>
            <a:off x="6544040" y="3611880"/>
            <a:ext cx="4971272" cy="1865375"/>
          </a:xfrm>
          <a:prstGeom prst="rect">
            <a:avLst/>
          </a:prstGeom>
          <a:noFill/>
        </p:spPr>
        <p:txBody>
          <a:bodyPr wrap="square" lIns="18288" rIns="18288" tIns="0" bIns="0" anchor="t">
            <a:noAutofit/>
          </a:bodyPr>
          <a:lstStyle/>
          <a:p>
            <a:pPr algn="l">
              <a:lnSpc>
                <a:spcPct val="124000"/>
              </a:lnSpc>
              <a:spcAft>
                <a:spcPts val="0"/>
              </a:spcAft>
            </a:pPr>
            <a:r>
              <a:rPr sz="1200" b="0" i="0">
                <a:solidFill>
                  <a:srgbClr val="363F4D"/>
                </a:solidFill>
                <a:latin typeface="Calibri"/>
              </a:rPr>
              <a:t>An ExternalSecret reports Healthy as soon as it exists and syncs — which is what Argo CD waits for before starting wave 2.</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It does not wait for the *credential to be correct*. Waves solve ordering, never correctness.</a:t>
            </a:r>
          </a:p>
          <a:p>
            <a:pPr algn="l">
              <a:lnSpc>
                <a:spcPct val="124000"/>
              </a:lnSpc>
              <a:spcAft>
                <a:spcPts val="0"/>
              </a:spcAft>
            </a:pPr>
            <a:r>
              <a:rPr sz="1200" b="0" i="0">
                <a:solidFill>
                  <a:srgbClr val="363F4D"/>
                </a:solidFill>
                <a:latin typeface="Calibri"/>
              </a:rPr>
              <a:t/>
            </a:r>
          </a:p>
          <a:p>
            <a:pPr algn="l">
              <a:lnSpc>
                <a:spcPct val="124000"/>
              </a:lnSpc>
              <a:spcAft>
                <a:spcPts val="0"/>
              </a:spcAft>
            </a:pPr>
            <a:r>
              <a:rPr sz="1200" b="0" i="0">
                <a:solidFill>
                  <a:srgbClr val="363F4D"/>
                </a:solidFill>
                <a:latin typeface="Calibri"/>
              </a:rPr>
              <a:t>If a wrong-but-present value would be worse than a missing one, add a readiness probe that actually checks the dependency.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Worked Example — The Repository</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One service, one environment, everything the three tools need. Nothing secret in sight.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Read the whole folder and you can still not learn a single credential.</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5760720" cy="39319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319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5212080" cy="237744"/>
          </a:xfrm>
          <a:prstGeom prst="rect">
            <a:avLst/>
          </a:prstGeom>
          <a:noFill/>
        </p:spPr>
        <p:txBody>
          <a:bodyPr wrap="square" lIns="18288" rIns="18288" tIns="0" bIns="0" anchor="t">
            <a:noAutofit/>
          </a:bodyPr>
          <a:lstStyle/>
          <a:p>
            <a:pPr algn="l">
              <a:spcAft>
                <a:spcPts val="0"/>
              </a:spcAft>
            </a:pPr>
            <a:r>
              <a:rPr sz="1000" b="1" i="0">
                <a:solidFill>
                  <a:srgbClr val="2BA8D8"/>
                </a:solidFill>
                <a:latin typeface="Consolas"/>
              </a:rPr>
              <a:t>what is in Git</a:t>
            </a:r>
          </a:p>
        </p:txBody>
      </p:sp>
      <p:sp>
        <p:nvSpPr>
          <p:cNvPr id="16" name="TextBox 15"/>
          <p:cNvSpPr txBox="1"/>
          <p:nvPr/>
        </p:nvSpPr>
        <p:spPr>
          <a:xfrm>
            <a:off x="749808" y="2066543"/>
            <a:ext cx="5212080" cy="217627"/>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apps/billing/overlays/prod/</a:t>
            </a:r>
          </a:p>
        </p:txBody>
      </p:sp>
      <p:sp>
        <p:nvSpPr>
          <p:cNvPr id="17" name="TextBox 16"/>
          <p:cNvSpPr txBox="1"/>
          <p:nvPr/>
        </p:nvSpPr>
        <p:spPr>
          <a:xfrm>
            <a:off x="749808" y="2247595"/>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kustomization.yaml</a:t>
            </a:r>
          </a:p>
        </p:txBody>
      </p:sp>
      <p:sp>
        <p:nvSpPr>
          <p:cNvPr id="18" name="TextBox 17"/>
          <p:cNvSpPr txBox="1"/>
          <p:nvPr/>
        </p:nvSpPr>
        <p:spPr>
          <a:xfrm>
            <a:off x="749808" y="2428646"/>
            <a:ext cx="521208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namespace.yaml            # wave -2</a:t>
            </a:r>
          </a:p>
        </p:txBody>
      </p:sp>
      <p:sp>
        <p:nvSpPr>
          <p:cNvPr id="19" name="TextBox 18"/>
          <p:cNvSpPr txBox="1"/>
          <p:nvPr/>
        </p:nvSpPr>
        <p:spPr>
          <a:xfrm>
            <a:off x="749808" y="2609697"/>
            <a:ext cx="5212080" cy="217627"/>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serviceaccount.yaml       # wave -1</a:t>
            </a:r>
          </a:p>
        </p:txBody>
      </p:sp>
      <p:sp>
        <p:nvSpPr>
          <p:cNvPr id="20" name="TextBox 19"/>
          <p:cNvSpPr txBox="1"/>
          <p:nvPr/>
        </p:nvSpPr>
        <p:spPr>
          <a:xfrm>
            <a:off x="749808" y="2790748"/>
            <a:ext cx="5212080" cy="217627"/>
          </a:xfrm>
          <a:prstGeom prst="rect">
            <a:avLst/>
          </a:prstGeom>
          <a:noFill/>
        </p:spPr>
        <p:txBody>
          <a:bodyPr wrap="square" lIns="18288" rIns="18288" tIns="0" bIns="0" anchor="t">
            <a:noAutofit/>
          </a:bodyPr>
          <a:lstStyle/>
          <a:p>
            <a:pPr algn="l">
              <a:spcAft>
                <a:spcPts val="0"/>
              </a:spcAft>
            </a:pPr>
            <a:r>
              <a:rPr sz="1050" b="0" i="0">
                <a:solidFill>
                  <a:srgbClr val="F26522"/>
                </a:solidFill>
                <a:latin typeface="Consolas"/>
              </a:rPr>
              <a:t>├── externalsecret.yaml       # wave  1</a:t>
            </a:r>
          </a:p>
        </p:txBody>
      </p:sp>
      <p:sp>
        <p:nvSpPr>
          <p:cNvPr id="21" name="TextBox 20"/>
          <p:cNvSpPr txBox="1"/>
          <p:nvPr/>
        </p:nvSpPr>
        <p:spPr>
          <a:xfrm>
            <a:off x="749808" y="2971799"/>
            <a:ext cx="5212080" cy="217627"/>
          </a:xfrm>
          <a:prstGeom prst="rect">
            <a:avLst/>
          </a:prstGeom>
          <a:noFill/>
        </p:spPr>
        <p:txBody>
          <a:bodyPr wrap="square" lIns="18288" rIns="18288" tIns="0" bIns="0" anchor="t">
            <a:noAutofit/>
          </a:bodyPr>
          <a:lstStyle/>
          <a:p>
            <a:pPr algn="l">
              <a:spcAft>
                <a:spcPts val="0"/>
              </a:spcAft>
            </a:pPr>
            <a:r>
              <a:rPr sz="1050" b="0" i="0">
                <a:solidFill>
                  <a:srgbClr val="2E86DE"/>
                </a:solidFill>
                <a:latin typeface="Consolas"/>
              </a:rPr>
              <a:t>├── deployment.yaml           # wave  2</a:t>
            </a:r>
          </a:p>
        </p:txBody>
      </p:sp>
      <p:sp>
        <p:nvSpPr>
          <p:cNvPr id="22" name="TextBox 21"/>
          <p:cNvSpPr txBox="1"/>
          <p:nvPr/>
        </p:nvSpPr>
        <p:spPr>
          <a:xfrm>
            <a:off x="749808" y="3152851"/>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service.yaml</a:t>
            </a:r>
          </a:p>
        </p:txBody>
      </p:sp>
      <p:sp>
        <p:nvSpPr>
          <p:cNvPr id="23" name="TextBox 22"/>
          <p:cNvSpPr txBox="1"/>
          <p:nvPr/>
        </p:nvSpPr>
        <p:spPr>
          <a:xfrm>
            <a:off x="749808" y="3333902"/>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ingress.yaml</a:t>
            </a:r>
          </a:p>
        </p:txBody>
      </p:sp>
      <p:sp>
        <p:nvSpPr>
          <p:cNvPr id="24" name="TextBox 23"/>
          <p:cNvSpPr txBox="1"/>
          <p:nvPr/>
        </p:nvSpPr>
        <p:spPr>
          <a:xfrm>
            <a:off x="749808" y="3514953"/>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5" name="TextBox 24"/>
          <p:cNvSpPr txBox="1"/>
          <p:nvPr/>
        </p:nvSpPr>
        <p:spPr>
          <a:xfrm>
            <a:off x="749808" y="3696004"/>
            <a:ext cx="5212080" cy="217627"/>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platform/secret-stores/</a:t>
            </a:r>
          </a:p>
        </p:txBody>
      </p:sp>
      <p:sp>
        <p:nvSpPr>
          <p:cNvPr id="26" name="TextBox 25"/>
          <p:cNvSpPr txBox="1"/>
          <p:nvPr/>
        </p:nvSpPr>
        <p:spPr>
          <a:xfrm>
            <a:off x="749808" y="3877056"/>
            <a:ext cx="5212080" cy="217627"/>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aws-prod.yaml             # wave  0</a:t>
            </a:r>
          </a:p>
        </p:txBody>
      </p:sp>
      <p:sp>
        <p:nvSpPr>
          <p:cNvPr id="27" name="TextBox 26"/>
          <p:cNvSpPr txBox="1"/>
          <p:nvPr/>
        </p:nvSpPr>
        <p:spPr>
          <a:xfrm>
            <a:off x="749808" y="4058107"/>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8" name="TextBox 27"/>
          <p:cNvSpPr txBox="1"/>
          <p:nvPr/>
        </p:nvSpPr>
        <p:spPr>
          <a:xfrm>
            <a:off x="749808" y="4239158"/>
            <a:ext cx="5212080" cy="217627"/>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bootstrap/prod/</a:t>
            </a:r>
          </a:p>
        </p:txBody>
      </p:sp>
      <p:sp>
        <p:nvSpPr>
          <p:cNvPr id="29" name="TextBox 28"/>
          <p:cNvSpPr txBox="1"/>
          <p:nvPr/>
        </p:nvSpPr>
        <p:spPr>
          <a:xfrm>
            <a:off x="749808" y="4420209"/>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platform-external-secrets.yaml</a:t>
            </a:r>
          </a:p>
        </p:txBody>
      </p:sp>
      <p:sp>
        <p:nvSpPr>
          <p:cNvPr id="30" name="TextBox 29"/>
          <p:cNvSpPr txBox="1"/>
          <p:nvPr/>
        </p:nvSpPr>
        <p:spPr>
          <a:xfrm>
            <a:off x="749808" y="4601260"/>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platform-reloader.yaml</a:t>
            </a:r>
          </a:p>
        </p:txBody>
      </p:sp>
      <p:sp>
        <p:nvSpPr>
          <p:cNvPr id="31" name="TextBox 30"/>
          <p:cNvSpPr txBox="1"/>
          <p:nvPr/>
        </p:nvSpPr>
        <p:spPr>
          <a:xfrm>
            <a:off x="749808" y="4782312"/>
            <a:ext cx="5212080" cy="217627"/>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app-billing.yaml</a:t>
            </a:r>
          </a:p>
        </p:txBody>
      </p:sp>
      <p:sp>
        <p:nvSpPr>
          <p:cNvPr id="32" name="Rounded Rectangle 31"/>
          <p:cNvSpPr/>
          <p:nvPr/>
        </p:nvSpPr>
        <p:spPr>
          <a:xfrm>
            <a:off x="6464808" y="1645920"/>
            <a:ext cx="5251673" cy="113995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464808" y="1645920"/>
            <a:ext cx="5251673"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647688" y="1892808"/>
            <a:ext cx="4885913"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Who owns what</a:t>
            </a:r>
          </a:p>
        </p:txBody>
      </p:sp>
      <p:sp>
        <p:nvSpPr>
          <p:cNvPr id="35" name="TextBox 34"/>
          <p:cNvSpPr txBox="1"/>
          <p:nvPr/>
        </p:nvSpPr>
        <p:spPr>
          <a:xfrm>
            <a:off x="6647688" y="2304288"/>
            <a:ext cx="4885913" cy="362711"/>
          </a:xfrm>
          <a:prstGeom prst="rect">
            <a:avLst/>
          </a:prstGeom>
          <a:noFill/>
        </p:spPr>
        <p:txBody>
          <a:bodyPr wrap="square" lIns="18288" rIns="18288" tIns="0" bIns="0" anchor="t">
            <a:noAutofit/>
          </a:bodyPr>
          <a:lstStyle/>
          <a:p>
            <a:pPr algn="l">
              <a:lnSpc>
                <a:spcPct val="122000"/>
              </a:lnSpc>
              <a:spcAft>
                <a:spcPts val="0"/>
              </a:spcAft>
            </a:pPr>
            <a:r>
              <a:rPr sz="900" b="0" i="0">
                <a:solidFill>
                  <a:srgbClr val="363F4D"/>
                </a:solidFill>
                <a:latin typeface="Calibri"/>
              </a:rPr>
              <a:t>platform/ and bootstrap/ belong to the platform team. apps/billing belongs to the billing team. Argo CD Projects enforce that split.</a:t>
            </a:r>
          </a:p>
        </p:txBody>
      </p:sp>
      <p:sp>
        <p:nvSpPr>
          <p:cNvPr id="36" name="Rounded Rectangle 35"/>
          <p:cNvSpPr/>
          <p:nvPr/>
        </p:nvSpPr>
        <p:spPr>
          <a:xfrm>
            <a:off x="6464808" y="3041904"/>
            <a:ext cx="5251673" cy="113995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464808" y="3041904"/>
            <a:ext cx="5251673"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647688" y="3288792"/>
            <a:ext cx="4885913"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What a developer changes</a:t>
            </a:r>
          </a:p>
        </p:txBody>
      </p:sp>
      <p:sp>
        <p:nvSpPr>
          <p:cNvPr id="39" name="TextBox 38"/>
          <p:cNvSpPr txBox="1"/>
          <p:nvPr/>
        </p:nvSpPr>
        <p:spPr>
          <a:xfrm>
            <a:off x="6647688" y="3700272"/>
            <a:ext cx="4885913" cy="362711"/>
          </a:xfrm>
          <a:prstGeom prst="rect">
            <a:avLst/>
          </a:prstGeom>
          <a:noFill/>
        </p:spPr>
        <p:txBody>
          <a:bodyPr wrap="square" lIns="18288" rIns="18288" tIns="0" bIns="0" anchor="t">
            <a:noAutofit/>
          </a:bodyPr>
          <a:lstStyle/>
          <a:p>
            <a:pPr algn="l">
              <a:lnSpc>
                <a:spcPct val="122000"/>
              </a:lnSpc>
              <a:spcAft>
                <a:spcPts val="0"/>
              </a:spcAft>
            </a:pPr>
            <a:r>
              <a:rPr sz="900" b="0" i="0">
                <a:solidFill>
                  <a:srgbClr val="363F4D"/>
                </a:solidFill>
                <a:latin typeface="Calibri"/>
              </a:rPr>
              <a:t>Almost always only the overlay — an image digest, a replica count, one more key in the ExternalSecret. Never a credential.</a:t>
            </a:r>
          </a:p>
        </p:txBody>
      </p:sp>
      <p:sp>
        <p:nvSpPr>
          <p:cNvPr id="40" name="Rounded Rectangle 39"/>
          <p:cNvSpPr/>
          <p:nvPr/>
        </p:nvSpPr>
        <p:spPr>
          <a:xfrm>
            <a:off x="6464808" y="4437888"/>
            <a:ext cx="5251673" cy="113995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464808" y="4437888"/>
            <a:ext cx="5251673"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647688" y="4684776"/>
            <a:ext cx="4885913"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What a rotation changes</a:t>
            </a:r>
          </a:p>
        </p:txBody>
      </p:sp>
      <p:sp>
        <p:nvSpPr>
          <p:cNvPr id="43" name="TextBox 42"/>
          <p:cNvSpPr txBox="1"/>
          <p:nvPr/>
        </p:nvSpPr>
        <p:spPr>
          <a:xfrm>
            <a:off x="6647688" y="5096256"/>
            <a:ext cx="4885913" cy="362711"/>
          </a:xfrm>
          <a:prstGeom prst="rect">
            <a:avLst/>
          </a:prstGeom>
          <a:noFill/>
        </p:spPr>
        <p:txBody>
          <a:bodyPr wrap="square" lIns="18288" rIns="18288" tIns="0" bIns="0" anchor="t">
            <a:noAutofit/>
          </a:bodyPr>
          <a:lstStyle/>
          <a:p>
            <a:pPr algn="l">
              <a:lnSpc>
                <a:spcPct val="122000"/>
              </a:lnSpc>
              <a:spcAft>
                <a:spcPts val="0"/>
              </a:spcAft>
            </a:pPr>
            <a:r>
              <a:rPr sz="900" b="0" i="0">
                <a:solidFill>
                  <a:srgbClr val="363F4D"/>
                </a:solidFill>
                <a:latin typeface="Calibri"/>
              </a:rPr>
              <a:t>Nothing in this repository at all. The value moves in the secret manager and the cluster follows on its own.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Worked Example — The Three Manifests That Matter</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Read them together. Each one hands off to the next.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Store, instruction, consumer. Every production setup is these three, repeated.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27632"/>
            <a:ext cx="3564117" cy="3986784"/>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27632"/>
            <a:ext cx="64008" cy="39867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55648"/>
            <a:ext cx="3015477"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1 · the store</a:t>
            </a:r>
          </a:p>
        </p:txBody>
      </p:sp>
      <p:sp>
        <p:nvSpPr>
          <p:cNvPr id="16" name="TextBox 15"/>
          <p:cNvSpPr txBox="1"/>
          <p:nvPr/>
        </p:nvSpPr>
        <p:spPr>
          <a:xfrm>
            <a:off x="749808" y="2048255"/>
            <a:ext cx="3015477" cy="197510"/>
          </a:xfrm>
          <a:prstGeom prst="rect">
            <a:avLst/>
          </a:prstGeom>
          <a:noFill/>
        </p:spPr>
        <p:txBody>
          <a:bodyPr wrap="square" lIns="18288" rIns="18288" tIns="0" bIns="0" anchor="t">
            <a:noAutofit/>
          </a:bodyPr>
          <a:lstStyle/>
          <a:p>
            <a:pPr algn="l">
              <a:spcAft>
                <a:spcPts val="0"/>
              </a:spcAft>
            </a:pPr>
            <a:r>
              <a:rPr sz="900" b="0" i="0">
                <a:solidFill>
                  <a:srgbClr val="2BA8D8"/>
                </a:solidFill>
                <a:latin typeface="Consolas"/>
              </a:rPr>
              <a:t>apiVersion: external-secrets.io/v1</a:t>
            </a:r>
          </a:p>
        </p:txBody>
      </p:sp>
      <p:sp>
        <p:nvSpPr>
          <p:cNvPr id="17" name="TextBox 16"/>
          <p:cNvSpPr txBox="1"/>
          <p:nvPr/>
        </p:nvSpPr>
        <p:spPr>
          <a:xfrm>
            <a:off x="749808" y="2209190"/>
            <a:ext cx="3015477" cy="197510"/>
          </a:xfrm>
          <a:prstGeom prst="rect">
            <a:avLst/>
          </a:prstGeom>
          <a:noFill/>
        </p:spPr>
        <p:txBody>
          <a:bodyPr wrap="square" lIns="18288" rIns="18288" tIns="0" bIns="0" anchor="t">
            <a:noAutofit/>
          </a:bodyPr>
          <a:lstStyle/>
          <a:p>
            <a:pPr algn="l">
              <a:spcAft>
                <a:spcPts val="0"/>
              </a:spcAft>
            </a:pPr>
            <a:r>
              <a:rPr sz="900" b="0" i="0">
                <a:solidFill>
                  <a:srgbClr val="2BA8D8"/>
                </a:solidFill>
                <a:latin typeface="Consolas"/>
              </a:rPr>
              <a:t>kind: ClusterSecretStore</a:t>
            </a:r>
          </a:p>
        </p:txBody>
      </p:sp>
      <p:sp>
        <p:nvSpPr>
          <p:cNvPr id="18" name="TextBox 17"/>
          <p:cNvSpPr txBox="1"/>
          <p:nvPr/>
        </p:nvSpPr>
        <p:spPr>
          <a:xfrm>
            <a:off x="749808" y="2370124"/>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metadata:</a:t>
            </a:r>
          </a:p>
        </p:txBody>
      </p:sp>
      <p:sp>
        <p:nvSpPr>
          <p:cNvPr id="19" name="TextBox 18"/>
          <p:cNvSpPr txBox="1"/>
          <p:nvPr/>
        </p:nvSpPr>
        <p:spPr>
          <a:xfrm>
            <a:off x="749808" y="2531059"/>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aws-prod</a:t>
            </a:r>
          </a:p>
        </p:txBody>
      </p:sp>
      <p:sp>
        <p:nvSpPr>
          <p:cNvPr id="20" name="TextBox 19"/>
          <p:cNvSpPr txBox="1"/>
          <p:nvPr/>
        </p:nvSpPr>
        <p:spPr>
          <a:xfrm>
            <a:off x="749808" y="2691993"/>
            <a:ext cx="3015477" cy="197510"/>
          </a:xfrm>
          <a:prstGeom prst="rect">
            <a:avLst/>
          </a:prstGeom>
          <a:noFill/>
        </p:spPr>
        <p:txBody>
          <a:bodyPr wrap="square" lIns="18288" rIns="18288" tIns="0" bIns="0" anchor="t">
            <a:noAutofit/>
          </a:bodyPr>
          <a:lstStyle/>
          <a:p>
            <a:pPr algn="l">
              <a:spcAft>
                <a:spcPts val="0"/>
              </a:spcAft>
            </a:pPr>
            <a:r>
              <a:rPr sz="900" b="0" i="0">
                <a:solidFill>
                  <a:srgbClr val="6B7A8D"/>
                </a:solidFill>
                <a:latin typeface="Consolas"/>
              </a:rPr>
              <a:t>  annotations:</a:t>
            </a:r>
          </a:p>
        </p:txBody>
      </p:sp>
      <p:sp>
        <p:nvSpPr>
          <p:cNvPr id="21" name="TextBox 20"/>
          <p:cNvSpPr txBox="1"/>
          <p:nvPr/>
        </p:nvSpPr>
        <p:spPr>
          <a:xfrm>
            <a:off x="749808" y="2852928"/>
            <a:ext cx="3015477" cy="197510"/>
          </a:xfrm>
          <a:prstGeom prst="rect">
            <a:avLst/>
          </a:prstGeom>
          <a:noFill/>
        </p:spPr>
        <p:txBody>
          <a:bodyPr wrap="square" lIns="18288" rIns="18288" tIns="0" bIns="0" anchor="t">
            <a:noAutofit/>
          </a:bodyPr>
          <a:lstStyle/>
          <a:p>
            <a:pPr algn="l">
              <a:spcAft>
                <a:spcPts val="0"/>
              </a:spcAft>
            </a:pPr>
            <a:r>
              <a:rPr sz="900" b="0" i="0">
                <a:solidFill>
                  <a:srgbClr val="6B7A8D"/>
                </a:solidFill>
                <a:latin typeface="Consolas"/>
              </a:rPr>
              <a:t>    argocd.argoproj.io/</a:t>
            </a:r>
          </a:p>
        </p:txBody>
      </p:sp>
      <p:sp>
        <p:nvSpPr>
          <p:cNvPr id="22" name="TextBox 21"/>
          <p:cNvSpPr txBox="1"/>
          <p:nvPr/>
        </p:nvSpPr>
        <p:spPr>
          <a:xfrm>
            <a:off x="749808" y="3013862"/>
            <a:ext cx="3015477" cy="197510"/>
          </a:xfrm>
          <a:prstGeom prst="rect">
            <a:avLst/>
          </a:prstGeom>
          <a:noFill/>
        </p:spPr>
        <p:txBody>
          <a:bodyPr wrap="square" lIns="18288" rIns="18288" tIns="0" bIns="0" anchor="t">
            <a:noAutofit/>
          </a:bodyPr>
          <a:lstStyle/>
          <a:p>
            <a:pPr algn="l">
              <a:spcAft>
                <a:spcPts val="0"/>
              </a:spcAft>
            </a:pPr>
            <a:r>
              <a:rPr sz="900" b="0" i="0">
                <a:solidFill>
                  <a:srgbClr val="F59E0B"/>
                </a:solidFill>
                <a:latin typeface="Consolas"/>
              </a:rPr>
              <a:t>      sync-wave: "0"</a:t>
            </a:r>
          </a:p>
        </p:txBody>
      </p:sp>
      <p:sp>
        <p:nvSpPr>
          <p:cNvPr id="23" name="TextBox 22"/>
          <p:cNvSpPr txBox="1"/>
          <p:nvPr/>
        </p:nvSpPr>
        <p:spPr>
          <a:xfrm>
            <a:off x="749808" y="3174796"/>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spec:</a:t>
            </a:r>
          </a:p>
        </p:txBody>
      </p:sp>
      <p:sp>
        <p:nvSpPr>
          <p:cNvPr id="24" name="TextBox 23"/>
          <p:cNvSpPr txBox="1"/>
          <p:nvPr/>
        </p:nvSpPr>
        <p:spPr>
          <a:xfrm>
            <a:off x="749808" y="3335731"/>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provider:</a:t>
            </a:r>
          </a:p>
        </p:txBody>
      </p:sp>
      <p:sp>
        <p:nvSpPr>
          <p:cNvPr id="25" name="TextBox 24"/>
          <p:cNvSpPr txBox="1"/>
          <p:nvPr/>
        </p:nvSpPr>
        <p:spPr>
          <a:xfrm>
            <a:off x="749808" y="3496665"/>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aws:</a:t>
            </a:r>
          </a:p>
        </p:txBody>
      </p:sp>
      <p:sp>
        <p:nvSpPr>
          <p:cNvPr id="26" name="TextBox 25"/>
          <p:cNvSpPr txBox="1"/>
          <p:nvPr/>
        </p:nvSpPr>
        <p:spPr>
          <a:xfrm>
            <a:off x="749808" y="3657600"/>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service: SecretsManager</a:t>
            </a:r>
          </a:p>
        </p:txBody>
      </p:sp>
      <p:sp>
        <p:nvSpPr>
          <p:cNvPr id="27" name="TextBox 26"/>
          <p:cNvSpPr txBox="1"/>
          <p:nvPr/>
        </p:nvSpPr>
        <p:spPr>
          <a:xfrm>
            <a:off x="749808" y="3818534"/>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region: us-east-1</a:t>
            </a:r>
          </a:p>
        </p:txBody>
      </p:sp>
      <p:sp>
        <p:nvSpPr>
          <p:cNvPr id="28" name="TextBox 27"/>
          <p:cNvSpPr txBox="1"/>
          <p:nvPr/>
        </p:nvSpPr>
        <p:spPr>
          <a:xfrm>
            <a:off x="749808" y="3979468"/>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auth:</a:t>
            </a:r>
          </a:p>
        </p:txBody>
      </p:sp>
      <p:sp>
        <p:nvSpPr>
          <p:cNvPr id="29" name="TextBox 28"/>
          <p:cNvSpPr txBox="1"/>
          <p:nvPr/>
        </p:nvSpPr>
        <p:spPr>
          <a:xfrm>
            <a:off x="749808" y="4140403"/>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jwt:</a:t>
            </a:r>
          </a:p>
        </p:txBody>
      </p:sp>
      <p:sp>
        <p:nvSpPr>
          <p:cNvPr id="30" name="TextBox 29"/>
          <p:cNvSpPr txBox="1"/>
          <p:nvPr/>
        </p:nvSpPr>
        <p:spPr>
          <a:xfrm>
            <a:off x="749808" y="4301337"/>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serviceAccountRef:</a:t>
            </a:r>
          </a:p>
        </p:txBody>
      </p:sp>
      <p:sp>
        <p:nvSpPr>
          <p:cNvPr id="31" name="TextBox 30"/>
          <p:cNvSpPr txBox="1"/>
          <p:nvPr/>
        </p:nvSpPr>
        <p:spPr>
          <a:xfrm>
            <a:off x="749808" y="4462272"/>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external-secrets</a:t>
            </a:r>
          </a:p>
        </p:txBody>
      </p:sp>
      <p:sp>
        <p:nvSpPr>
          <p:cNvPr id="32" name="TextBox 31"/>
          <p:cNvSpPr txBox="1"/>
          <p:nvPr/>
        </p:nvSpPr>
        <p:spPr>
          <a:xfrm>
            <a:off x="749808" y="4623206"/>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namespace: external-secrets</a:t>
            </a:r>
          </a:p>
        </p:txBody>
      </p:sp>
      <p:sp>
        <p:nvSpPr>
          <p:cNvPr id="33" name="Rounded Rectangle 32"/>
          <p:cNvSpPr/>
          <p:nvPr/>
        </p:nvSpPr>
        <p:spPr>
          <a:xfrm>
            <a:off x="4313925" y="1627632"/>
            <a:ext cx="3564117" cy="3986784"/>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313925" y="1627632"/>
            <a:ext cx="64008" cy="398678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88245" y="1755648"/>
            <a:ext cx="3015477" cy="237744"/>
          </a:xfrm>
          <a:prstGeom prst="rect">
            <a:avLst/>
          </a:prstGeom>
          <a:noFill/>
        </p:spPr>
        <p:txBody>
          <a:bodyPr wrap="square" lIns="18288" rIns="18288" tIns="0" bIns="0" anchor="t">
            <a:noAutofit/>
          </a:bodyPr>
          <a:lstStyle/>
          <a:p>
            <a:pPr algn="l">
              <a:spcAft>
                <a:spcPts val="0"/>
              </a:spcAft>
            </a:pPr>
            <a:r>
              <a:rPr sz="1000" b="1" i="0">
                <a:solidFill>
                  <a:srgbClr val="F26522"/>
                </a:solidFill>
                <a:latin typeface="Consolas"/>
              </a:rPr>
              <a:t>2 · the instruction</a:t>
            </a:r>
          </a:p>
        </p:txBody>
      </p:sp>
      <p:sp>
        <p:nvSpPr>
          <p:cNvPr id="36" name="TextBox 35"/>
          <p:cNvSpPr txBox="1"/>
          <p:nvPr/>
        </p:nvSpPr>
        <p:spPr>
          <a:xfrm>
            <a:off x="4588245" y="2048255"/>
            <a:ext cx="3015477" cy="194517"/>
          </a:xfrm>
          <a:prstGeom prst="rect">
            <a:avLst/>
          </a:prstGeom>
          <a:noFill/>
        </p:spPr>
        <p:txBody>
          <a:bodyPr wrap="square" lIns="18288" rIns="18288" tIns="0" bIns="0" anchor="t">
            <a:noAutofit/>
          </a:bodyPr>
          <a:lstStyle/>
          <a:p>
            <a:pPr algn="l">
              <a:spcAft>
                <a:spcPts val="0"/>
              </a:spcAft>
            </a:pPr>
            <a:r>
              <a:rPr sz="900" b="0" i="0">
                <a:solidFill>
                  <a:srgbClr val="2BA8D8"/>
                </a:solidFill>
                <a:latin typeface="Consolas"/>
              </a:rPr>
              <a:t>apiVersion: external-secrets.io/v1</a:t>
            </a:r>
          </a:p>
        </p:txBody>
      </p:sp>
      <p:sp>
        <p:nvSpPr>
          <p:cNvPr id="37" name="TextBox 36"/>
          <p:cNvSpPr txBox="1"/>
          <p:nvPr/>
        </p:nvSpPr>
        <p:spPr>
          <a:xfrm>
            <a:off x="4588245" y="2206197"/>
            <a:ext cx="3015477" cy="194517"/>
          </a:xfrm>
          <a:prstGeom prst="rect">
            <a:avLst/>
          </a:prstGeom>
          <a:noFill/>
        </p:spPr>
        <p:txBody>
          <a:bodyPr wrap="square" lIns="18288" rIns="18288" tIns="0" bIns="0" anchor="t">
            <a:noAutofit/>
          </a:bodyPr>
          <a:lstStyle/>
          <a:p>
            <a:pPr algn="l">
              <a:spcAft>
                <a:spcPts val="0"/>
              </a:spcAft>
            </a:pPr>
            <a:r>
              <a:rPr sz="900" b="0" i="0">
                <a:solidFill>
                  <a:srgbClr val="2BA8D8"/>
                </a:solidFill>
                <a:latin typeface="Consolas"/>
              </a:rPr>
              <a:t>kind: ExternalSecret</a:t>
            </a:r>
          </a:p>
        </p:txBody>
      </p:sp>
      <p:sp>
        <p:nvSpPr>
          <p:cNvPr id="38" name="TextBox 37"/>
          <p:cNvSpPr txBox="1"/>
          <p:nvPr/>
        </p:nvSpPr>
        <p:spPr>
          <a:xfrm>
            <a:off x="4588245" y="2364139"/>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metadata:</a:t>
            </a:r>
          </a:p>
        </p:txBody>
      </p:sp>
      <p:sp>
        <p:nvSpPr>
          <p:cNvPr id="39" name="TextBox 38"/>
          <p:cNvSpPr txBox="1"/>
          <p:nvPr/>
        </p:nvSpPr>
        <p:spPr>
          <a:xfrm>
            <a:off x="4588245" y="2522081"/>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billing-db</a:t>
            </a:r>
          </a:p>
        </p:txBody>
      </p:sp>
      <p:sp>
        <p:nvSpPr>
          <p:cNvPr id="40" name="TextBox 39"/>
          <p:cNvSpPr txBox="1"/>
          <p:nvPr/>
        </p:nvSpPr>
        <p:spPr>
          <a:xfrm>
            <a:off x="4588245" y="2680023"/>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namespace: payments</a:t>
            </a:r>
          </a:p>
        </p:txBody>
      </p:sp>
      <p:sp>
        <p:nvSpPr>
          <p:cNvPr id="41" name="TextBox 40"/>
          <p:cNvSpPr txBox="1"/>
          <p:nvPr/>
        </p:nvSpPr>
        <p:spPr>
          <a:xfrm>
            <a:off x="4588245" y="2837965"/>
            <a:ext cx="3015477" cy="194517"/>
          </a:xfrm>
          <a:prstGeom prst="rect">
            <a:avLst/>
          </a:prstGeom>
          <a:noFill/>
        </p:spPr>
        <p:txBody>
          <a:bodyPr wrap="square" lIns="18288" rIns="18288" tIns="0" bIns="0" anchor="t">
            <a:noAutofit/>
          </a:bodyPr>
          <a:lstStyle/>
          <a:p>
            <a:pPr algn="l">
              <a:spcAft>
                <a:spcPts val="0"/>
              </a:spcAft>
            </a:pPr>
            <a:r>
              <a:rPr sz="900" b="0" i="0">
                <a:solidFill>
                  <a:srgbClr val="6B7A8D"/>
                </a:solidFill>
                <a:latin typeface="Consolas"/>
              </a:rPr>
              <a:t>  annotations:</a:t>
            </a:r>
          </a:p>
        </p:txBody>
      </p:sp>
      <p:sp>
        <p:nvSpPr>
          <p:cNvPr id="42" name="TextBox 41"/>
          <p:cNvSpPr txBox="1"/>
          <p:nvPr/>
        </p:nvSpPr>
        <p:spPr>
          <a:xfrm>
            <a:off x="4588245" y="2995906"/>
            <a:ext cx="3015477" cy="194517"/>
          </a:xfrm>
          <a:prstGeom prst="rect">
            <a:avLst/>
          </a:prstGeom>
          <a:noFill/>
        </p:spPr>
        <p:txBody>
          <a:bodyPr wrap="square" lIns="18288" rIns="18288" tIns="0" bIns="0" anchor="t">
            <a:noAutofit/>
          </a:bodyPr>
          <a:lstStyle/>
          <a:p>
            <a:pPr algn="l">
              <a:spcAft>
                <a:spcPts val="0"/>
              </a:spcAft>
            </a:pPr>
            <a:r>
              <a:rPr sz="900" b="0" i="0">
                <a:solidFill>
                  <a:srgbClr val="6B7A8D"/>
                </a:solidFill>
                <a:latin typeface="Consolas"/>
              </a:rPr>
              <a:t>    argocd.argoproj.io/</a:t>
            </a:r>
          </a:p>
        </p:txBody>
      </p:sp>
      <p:sp>
        <p:nvSpPr>
          <p:cNvPr id="43" name="TextBox 42"/>
          <p:cNvSpPr txBox="1"/>
          <p:nvPr/>
        </p:nvSpPr>
        <p:spPr>
          <a:xfrm>
            <a:off x="4588245" y="3153848"/>
            <a:ext cx="3015477" cy="194517"/>
          </a:xfrm>
          <a:prstGeom prst="rect">
            <a:avLst/>
          </a:prstGeom>
          <a:noFill/>
        </p:spPr>
        <p:txBody>
          <a:bodyPr wrap="square" lIns="18288" rIns="18288" tIns="0" bIns="0" anchor="t">
            <a:noAutofit/>
          </a:bodyPr>
          <a:lstStyle/>
          <a:p>
            <a:pPr algn="l">
              <a:spcAft>
                <a:spcPts val="0"/>
              </a:spcAft>
            </a:pPr>
            <a:r>
              <a:rPr sz="900" b="0" i="0">
                <a:solidFill>
                  <a:srgbClr val="F26522"/>
                </a:solidFill>
                <a:latin typeface="Consolas"/>
              </a:rPr>
              <a:t>      sync-wave: "1"</a:t>
            </a:r>
          </a:p>
        </p:txBody>
      </p:sp>
      <p:sp>
        <p:nvSpPr>
          <p:cNvPr id="44" name="TextBox 43"/>
          <p:cNvSpPr txBox="1"/>
          <p:nvPr/>
        </p:nvSpPr>
        <p:spPr>
          <a:xfrm>
            <a:off x="4588245" y="3311790"/>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spec:</a:t>
            </a:r>
          </a:p>
        </p:txBody>
      </p:sp>
      <p:sp>
        <p:nvSpPr>
          <p:cNvPr id="45" name="TextBox 44"/>
          <p:cNvSpPr txBox="1"/>
          <p:nvPr/>
        </p:nvSpPr>
        <p:spPr>
          <a:xfrm>
            <a:off x="4588245" y="3469732"/>
            <a:ext cx="3015477" cy="194517"/>
          </a:xfrm>
          <a:prstGeom prst="rect">
            <a:avLst/>
          </a:prstGeom>
          <a:noFill/>
        </p:spPr>
        <p:txBody>
          <a:bodyPr wrap="square" lIns="18288" rIns="18288" tIns="0" bIns="0" anchor="t">
            <a:noAutofit/>
          </a:bodyPr>
          <a:lstStyle/>
          <a:p>
            <a:pPr algn="l">
              <a:spcAft>
                <a:spcPts val="0"/>
              </a:spcAft>
            </a:pPr>
            <a:r>
              <a:rPr sz="900" b="0" i="0">
                <a:solidFill>
                  <a:srgbClr val="F26522"/>
                </a:solidFill>
                <a:latin typeface="Consolas"/>
              </a:rPr>
              <a:t>  refreshInterval: 15m</a:t>
            </a:r>
          </a:p>
        </p:txBody>
      </p:sp>
      <p:sp>
        <p:nvSpPr>
          <p:cNvPr id="46" name="TextBox 45"/>
          <p:cNvSpPr txBox="1"/>
          <p:nvPr/>
        </p:nvSpPr>
        <p:spPr>
          <a:xfrm>
            <a:off x="4588245" y="3627674"/>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secretStoreRef:</a:t>
            </a:r>
          </a:p>
        </p:txBody>
      </p:sp>
      <p:sp>
        <p:nvSpPr>
          <p:cNvPr id="47" name="TextBox 46"/>
          <p:cNvSpPr txBox="1"/>
          <p:nvPr/>
        </p:nvSpPr>
        <p:spPr>
          <a:xfrm>
            <a:off x="4588245" y="3785616"/>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aws-prod</a:t>
            </a:r>
          </a:p>
        </p:txBody>
      </p:sp>
      <p:sp>
        <p:nvSpPr>
          <p:cNvPr id="48" name="TextBox 47"/>
          <p:cNvSpPr txBox="1"/>
          <p:nvPr/>
        </p:nvSpPr>
        <p:spPr>
          <a:xfrm>
            <a:off x="4588245" y="3943557"/>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kind: ClusterSecretStore</a:t>
            </a:r>
          </a:p>
        </p:txBody>
      </p:sp>
      <p:sp>
        <p:nvSpPr>
          <p:cNvPr id="49" name="TextBox 48"/>
          <p:cNvSpPr txBox="1"/>
          <p:nvPr/>
        </p:nvSpPr>
        <p:spPr>
          <a:xfrm>
            <a:off x="4588245" y="4101499"/>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target:</a:t>
            </a:r>
          </a:p>
        </p:txBody>
      </p:sp>
      <p:sp>
        <p:nvSpPr>
          <p:cNvPr id="50" name="TextBox 49"/>
          <p:cNvSpPr txBox="1"/>
          <p:nvPr/>
        </p:nvSpPr>
        <p:spPr>
          <a:xfrm>
            <a:off x="4588245" y="4259441"/>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billing-db</a:t>
            </a:r>
          </a:p>
        </p:txBody>
      </p:sp>
      <p:sp>
        <p:nvSpPr>
          <p:cNvPr id="51" name="TextBox 50"/>
          <p:cNvSpPr txBox="1"/>
          <p:nvPr/>
        </p:nvSpPr>
        <p:spPr>
          <a:xfrm>
            <a:off x="4588245" y="4417383"/>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creationPolicy: Owner</a:t>
            </a:r>
          </a:p>
        </p:txBody>
      </p:sp>
      <p:sp>
        <p:nvSpPr>
          <p:cNvPr id="52" name="TextBox 51"/>
          <p:cNvSpPr txBox="1"/>
          <p:nvPr/>
        </p:nvSpPr>
        <p:spPr>
          <a:xfrm>
            <a:off x="4588245" y="4575325"/>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deletionPolicy: Retain</a:t>
            </a:r>
          </a:p>
        </p:txBody>
      </p:sp>
      <p:sp>
        <p:nvSpPr>
          <p:cNvPr id="53" name="TextBox 52"/>
          <p:cNvSpPr txBox="1"/>
          <p:nvPr/>
        </p:nvSpPr>
        <p:spPr>
          <a:xfrm>
            <a:off x="4588245" y="4733266"/>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data:</a:t>
            </a:r>
          </a:p>
        </p:txBody>
      </p:sp>
      <p:sp>
        <p:nvSpPr>
          <p:cNvPr id="54" name="TextBox 53"/>
          <p:cNvSpPr txBox="1"/>
          <p:nvPr/>
        </p:nvSpPr>
        <p:spPr>
          <a:xfrm>
            <a:off x="4588245" y="4891208"/>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 secretKey: DB_PASSWORD</a:t>
            </a:r>
          </a:p>
        </p:txBody>
      </p:sp>
      <p:sp>
        <p:nvSpPr>
          <p:cNvPr id="55" name="TextBox 54"/>
          <p:cNvSpPr txBox="1"/>
          <p:nvPr/>
        </p:nvSpPr>
        <p:spPr>
          <a:xfrm>
            <a:off x="4588245" y="5049150"/>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remoteRef:</a:t>
            </a:r>
          </a:p>
        </p:txBody>
      </p:sp>
      <p:sp>
        <p:nvSpPr>
          <p:cNvPr id="56" name="TextBox 55"/>
          <p:cNvSpPr txBox="1"/>
          <p:nvPr/>
        </p:nvSpPr>
        <p:spPr>
          <a:xfrm>
            <a:off x="4588245" y="5207092"/>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key: prod/billing/postgres</a:t>
            </a:r>
          </a:p>
        </p:txBody>
      </p:sp>
      <p:sp>
        <p:nvSpPr>
          <p:cNvPr id="57" name="TextBox 56"/>
          <p:cNvSpPr txBox="1"/>
          <p:nvPr/>
        </p:nvSpPr>
        <p:spPr>
          <a:xfrm>
            <a:off x="4588245" y="5365034"/>
            <a:ext cx="3015477" cy="194517"/>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property: password</a:t>
            </a:r>
          </a:p>
        </p:txBody>
      </p:sp>
      <p:sp>
        <p:nvSpPr>
          <p:cNvPr id="58" name="Rounded Rectangle 57"/>
          <p:cNvSpPr/>
          <p:nvPr/>
        </p:nvSpPr>
        <p:spPr>
          <a:xfrm>
            <a:off x="8152363" y="1627632"/>
            <a:ext cx="3564117" cy="3986784"/>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8152363" y="1627632"/>
            <a:ext cx="64008" cy="398678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8426683" y="1755648"/>
            <a:ext cx="3015477"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3 · the consumer</a:t>
            </a:r>
          </a:p>
        </p:txBody>
      </p:sp>
      <p:sp>
        <p:nvSpPr>
          <p:cNvPr id="61" name="TextBox 60"/>
          <p:cNvSpPr txBox="1"/>
          <p:nvPr/>
        </p:nvSpPr>
        <p:spPr>
          <a:xfrm>
            <a:off x="8426683" y="2048255"/>
            <a:ext cx="3015477" cy="197510"/>
          </a:xfrm>
          <a:prstGeom prst="rect">
            <a:avLst/>
          </a:prstGeom>
          <a:noFill/>
        </p:spPr>
        <p:txBody>
          <a:bodyPr wrap="square" lIns="18288" rIns="18288" tIns="0" bIns="0" anchor="t">
            <a:noAutofit/>
          </a:bodyPr>
          <a:lstStyle/>
          <a:p>
            <a:pPr algn="l">
              <a:spcAft>
                <a:spcPts val="0"/>
              </a:spcAft>
            </a:pPr>
            <a:r>
              <a:rPr sz="900" b="0" i="0">
                <a:solidFill>
                  <a:srgbClr val="2BA8D8"/>
                </a:solidFill>
                <a:latin typeface="Consolas"/>
              </a:rPr>
              <a:t>apiVersion: apps/v1</a:t>
            </a:r>
          </a:p>
        </p:txBody>
      </p:sp>
      <p:sp>
        <p:nvSpPr>
          <p:cNvPr id="62" name="TextBox 61"/>
          <p:cNvSpPr txBox="1"/>
          <p:nvPr/>
        </p:nvSpPr>
        <p:spPr>
          <a:xfrm>
            <a:off x="8426683" y="2209190"/>
            <a:ext cx="3015477" cy="197510"/>
          </a:xfrm>
          <a:prstGeom prst="rect">
            <a:avLst/>
          </a:prstGeom>
          <a:noFill/>
        </p:spPr>
        <p:txBody>
          <a:bodyPr wrap="square" lIns="18288" rIns="18288" tIns="0" bIns="0" anchor="t">
            <a:noAutofit/>
          </a:bodyPr>
          <a:lstStyle/>
          <a:p>
            <a:pPr algn="l">
              <a:spcAft>
                <a:spcPts val="0"/>
              </a:spcAft>
            </a:pPr>
            <a:r>
              <a:rPr sz="900" b="0" i="0">
                <a:solidFill>
                  <a:srgbClr val="2BA8D8"/>
                </a:solidFill>
                <a:latin typeface="Consolas"/>
              </a:rPr>
              <a:t>kind: Deployment</a:t>
            </a:r>
          </a:p>
        </p:txBody>
      </p:sp>
      <p:sp>
        <p:nvSpPr>
          <p:cNvPr id="63" name="TextBox 62"/>
          <p:cNvSpPr txBox="1"/>
          <p:nvPr/>
        </p:nvSpPr>
        <p:spPr>
          <a:xfrm>
            <a:off x="8426683" y="2370124"/>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metadata:</a:t>
            </a:r>
          </a:p>
        </p:txBody>
      </p:sp>
      <p:sp>
        <p:nvSpPr>
          <p:cNvPr id="64" name="TextBox 63"/>
          <p:cNvSpPr txBox="1"/>
          <p:nvPr/>
        </p:nvSpPr>
        <p:spPr>
          <a:xfrm>
            <a:off x="8426683" y="2531059"/>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billing</a:t>
            </a:r>
          </a:p>
        </p:txBody>
      </p:sp>
      <p:sp>
        <p:nvSpPr>
          <p:cNvPr id="65" name="TextBox 64"/>
          <p:cNvSpPr txBox="1"/>
          <p:nvPr/>
        </p:nvSpPr>
        <p:spPr>
          <a:xfrm>
            <a:off x="8426683" y="2691993"/>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namespace: payments</a:t>
            </a:r>
          </a:p>
        </p:txBody>
      </p:sp>
      <p:sp>
        <p:nvSpPr>
          <p:cNvPr id="66" name="TextBox 65"/>
          <p:cNvSpPr txBox="1"/>
          <p:nvPr/>
        </p:nvSpPr>
        <p:spPr>
          <a:xfrm>
            <a:off x="8426683" y="2852928"/>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annotations:</a:t>
            </a:r>
          </a:p>
        </p:txBody>
      </p:sp>
      <p:sp>
        <p:nvSpPr>
          <p:cNvPr id="67" name="TextBox 66"/>
          <p:cNvSpPr txBox="1"/>
          <p:nvPr/>
        </p:nvSpPr>
        <p:spPr>
          <a:xfrm>
            <a:off x="8426683" y="3013862"/>
            <a:ext cx="3015477" cy="197510"/>
          </a:xfrm>
          <a:prstGeom prst="rect">
            <a:avLst/>
          </a:prstGeom>
          <a:noFill/>
        </p:spPr>
        <p:txBody>
          <a:bodyPr wrap="square" lIns="18288" rIns="18288" tIns="0" bIns="0" anchor="t">
            <a:noAutofit/>
          </a:bodyPr>
          <a:lstStyle/>
          <a:p>
            <a:pPr algn="l">
              <a:spcAft>
                <a:spcPts val="0"/>
              </a:spcAft>
            </a:pPr>
            <a:r>
              <a:rPr sz="900" b="0" i="0">
                <a:solidFill>
                  <a:srgbClr val="2EB56B"/>
                </a:solidFill>
                <a:latin typeface="Consolas"/>
              </a:rPr>
              <a:t>    reloader.stakater.com/</a:t>
            </a:r>
          </a:p>
        </p:txBody>
      </p:sp>
      <p:sp>
        <p:nvSpPr>
          <p:cNvPr id="68" name="TextBox 67"/>
          <p:cNvSpPr txBox="1"/>
          <p:nvPr/>
        </p:nvSpPr>
        <p:spPr>
          <a:xfrm>
            <a:off x="8426683" y="3174796"/>
            <a:ext cx="3015477" cy="197510"/>
          </a:xfrm>
          <a:prstGeom prst="rect">
            <a:avLst/>
          </a:prstGeom>
          <a:noFill/>
        </p:spPr>
        <p:txBody>
          <a:bodyPr wrap="square" lIns="18288" rIns="18288" tIns="0" bIns="0" anchor="t">
            <a:noAutofit/>
          </a:bodyPr>
          <a:lstStyle/>
          <a:p>
            <a:pPr algn="l">
              <a:spcAft>
                <a:spcPts val="0"/>
              </a:spcAft>
            </a:pPr>
            <a:r>
              <a:rPr sz="900" b="0" i="0">
                <a:solidFill>
                  <a:srgbClr val="2EB56B"/>
                </a:solidFill>
                <a:latin typeface="Consolas"/>
              </a:rPr>
              <a:t>      auto: "true"</a:t>
            </a:r>
          </a:p>
        </p:txBody>
      </p:sp>
      <p:sp>
        <p:nvSpPr>
          <p:cNvPr id="69" name="TextBox 68"/>
          <p:cNvSpPr txBox="1"/>
          <p:nvPr/>
        </p:nvSpPr>
        <p:spPr>
          <a:xfrm>
            <a:off x="8426683" y="3335731"/>
            <a:ext cx="3015477" cy="197510"/>
          </a:xfrm>
          <a:prstGeom prst="rect">
            <a:avLst/>
          </a:prstGeom>
          <a:noFill/>
        </p:spPr>
        <p:txBody>
          <a:bodyPr wrap="square" lIns="18288" rIns="18288" tIns="0" bIns="0" anchor="t">
            <a:noAutofit/>
          </a:bodyPr>
          <a:lstStyle/>
          <a:p>
            <a:pPr algn="l">
              <a:spcAft>
                <a:spcPts val="0"/>
              </a:spcAft>
            </a:pPr>
            <a:r>
              <a:rPr sz="900" b="0" i="0">
                <a:solidFill>
                  <a:srgbClr val="6B7A8D"/>
                </a:solidFill>
                <a:latin typeface="Consolas"/>
              </a:rPr>
              <a:t>    argocd.argoproj.io/</a:t>
            </a:r>
          </a:p>
        </p:txBody>
      </p:sp>
      <p:sp>
        <p:nvSpPr>
          <p:cNvPr id="70" name="TextBox 69"/>
          <p:cNvSpPr txBox="1"/>
          <p:nvPr/>
        </p:nvSpPr>
        <p:spPr>
          <a:xfrm>
            <a:off x="8426683" y="3496665"/>
            <a:ext cx="3015477" cy="197510"/>
          </a:xfrm>
          <a:prstGeom prst="rect">
            <a:avLst/>
          </a:prstGeom>
          <a:noFill/>
        </p:spPr>
        <p:txBody>
          <a:bodyPr wrap="square" lIns="18288" rIns="18288" tIns="0" bIns="0" anchor="t">
            <a:noAutofit/>
          </a:bodyPr>
          <a:lstStyle/>
          <a:p>
            <a:pPr algn="l">
              <a:spcAft>
                <a:spcPts val="0"/>
              </a:spcAft>
            </a:pPr>
            <a:r>
              <a:rPr sz="900" b="0" i="0">
                <a:solidFill>
                  <a:srgbClr val="2E86DE"/>
                </a:solidFill>
                <a:latin typeface="Consolas"/>
              </a:rPr>
              <a:t>      sync-wave: "2"</a:t>
            </a:r>
          </a:p>
        </p:txBody>
      </p:sp>
      <p:sp>
        <p:nvSpPr>
          <p:cNvPr id="71" name="TextBox 70"/>
          <p:cNvSpPr txBox="1"/>
          <p:nvPr/>
        </p:nvSpPr>
        <p:spPr>
          <a:xfrm>
            <a:off x="8426683" y="3657600"/>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spec:</a:t>
            </a:r>
          </a:p>
        </p:txBody>
      </p:sp>
      <p:sp>
        <p:nvSpPr>
          <p:cNvPr id="72" name="TextBox 71"/>
          <p:cNvSpPr txBox="1"/>
          <p:nvPr/>
        </p:nvSpPr>
        <p:spPr>
          <a:xfrm>
            <a:off x="8426683" y="3818534"/>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replicas: 3</a:t>
            </a:r>
          </a:p>
        </p:txBody>
      </p:sp>
      <p:sp>
        <p:nvSpPr>
          <p:cNvPr id="73" name="TextBox 72"/>
          <p:cNvSpPr txBox="1"/>
          <p:nvPr/>
        </p:nvSpPr>
        <p:spPr>
          <a:xfrm>
            <a:off x="8426683" y="3979468"/>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template:</a:t>
            </a:r>
          </a:p>
        </p:txBody>
      </p:sp>
      <p:sp>
        <p:nvSpPr>
          <p:cNvPr id="74" name="TextBox 73"/>
          <p:cNvSpPr txBox="1"/>
          <p:nvPr/>
        </p:nvSpPr>
        <p:spPr>
          <a:xfrm>
            <a:off x="8426683" y="4140403"/>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spec:</a:t>
            </a:r>
          </a:p>
        </p:txBody>
      </p:sp>
      <p:sp>
        <p:nvSpPr>
          <p:cNvPr id="75" name="TextBox 74"/>
          <p:cNvSpPr txBox="1"/>
          <p:nvPr/>
        </p:nvSpPr>
        <p:spPr>
          <a:xfrm>
            <a:off x="8426683" y="4301337"/>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containers:</a:t>
            </a:r>
          </a:p>
        </p:txBody>
      </p:sp>
      <p:sp>
        <p:nvSpPr>
          <p:cNvPr id="76" name="TextBox 75"/>
          <p:cNvSpPr txBox="1"/>
          <p:nvPr/>
        </p:nvSpPr>
        <p:spPr>
          <a:xfrm>
            <a:off x="8426683" y="4462272"/>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 name: api</a:t>
            </a:r>
          </a:p>
        </p:txBody>
      </p:sp>
      <p:sp>
        <p:nvSpPr>
          <p:cNvPr id="77" name="TextBox 76"/>
          <p:cNvSpPr txBox="1"/>
          <p:nvPr/>
        </p:nvSpPr>
        <p:spPr>
          <a:xfrm>
            <a:off x="8426683" y="4623206"/>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image: acme/billing@sha256:...</a:t>
            </a:r>
          </a:p>
        </p:txBody>
      </p:sp>
      <p:sp>
        <p:nvSpPr>
          <p:cNvPr id="78" name="TextBox 77"/>
          <p:cNvSpPr txBox="1"/>
          <p:nvPr/>
        </p:nvSpPr>
        <p:spPr>
          <a:xfrm>
            <a:off x="8426683" y="4784140"/>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envFrom:</a:t>
            </a:r>
          </a:p>
        </p:txBody>
      </p:sp>
      <p:sp>
        <p:nvSpPr>
          <p:cNvPr id="79" name="TextBox 78"/>
          <p:cNvSpPr txBox="1"/>
          <p:nvPr/>
        </p:nvSpPr>
        <p:spPr>
          <a:xfrm>
            <a:off x="8426683" y="4945075"/>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 secretRef:</a:t>
            </a:r>
          </a:p>
        </p:txBody>
      </p:sp>
      <p:sp>
        <p:nvSpPr>
          <p:cNvPr id="80" name="TextBox 79"/>
          <p:cNvSpPr txBox="1"/>
          <p:nvPr/>
        </p:nvSpPr>
        <p:spPr>
          <a:xfrm>
            <a:off x="8426683" y="5106009"/>
            <a:ext cx="3015477" cy="197510"/>
          </a:xfrm>
          <a:prstGeom prst="rect">
            <a:avLst/>
          </a:prstGeom>
          <a:noFill/>
        </p:spPr>
        <p:txBody>
          <a:bodyPr wrap="square" lIns="18288" rIns="18288" tIns="0" bIns="0" anchor="t">
            <a:noAutofit/>
          </a:bodyPr>
          <a:lstStyle/>
          <a:p>
            <a:pPr algn="l">
              <a:spcAft>
                <a:spcPts val="0"/>
              </a:spcAft>
            </a:pPr>
            <a:r>
              <a:rPr sz="900" b="0" i="0">
                <a:solidFill>
                  <a:srgbClr val="D9E2F0"/>
                </a:solidFill>
                <a:latin typeface="Consolas"/>
              </a:rPr>
              <a:t>                name: billing-db</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Where the Chain Breaks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Five links. When a credential is stale, exactly one of them is at fault.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Diagnose in order along the chain. The first link that is wrong explains everything downstream.</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ectangle 12"/>
          <p:cNvSpPr/>
          <p:nvPr/>
        </p:nvSpPr>
        <p:spPr>
          <a:xfrm>
            <a:off x="475488" y="1645920"/>
            <a:ext cx="315468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Link</a:t>
            </a:r>
          </a:p>
        </p:txBody>
      </p:sp>
      <p:sp>
        <p:nvSpPr>
          <p:cNvPr id="14" name="Rectangle 13"/>
          <p:cNvSpPr/>
          <p:nvPr/>
        </p:nvSpPr>
        <p:spPr>
          <a:xfrm>
            <a:off x="3630168" y="1645920"/>
            <a:ext cx="4160520"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How to check it</a:t>
            </a:r>
          </a:p>
        </p:txBody>
      </p:sp>
      <p:sp>
        <p:nvSpPr>
          <p:cNvPr id="15" name="Rectangle 14"/>
          <p:cNvSpPr/>
          <p:nvPr/>
        </p:nvSpPr>
        <p:spPr>
          <a:xfrm>
            <a:off x="7790688" y="1645920"/>
            <a:ext cx="3922776" cy="420624"/>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If this is broken you see</a:t>
            </a:r>
          </a:p>
        </p:txBody>
      </p:sp>
      <p:sp>
        <p:nvSpPr>
          <p:cNvPr id="16" name="Rectangle 15"/>
          <p:cNvSpPr/>
          <p:nvPr/>
        </p:nvSpPr>
        <p:spPr>
          <a:xfrm>
            <a:off x="475488" y="2066544"/>
            <a:ext cx="31546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value in the secret manager</a:t>
            </a:r>
          </a:p>
        </p:txBody>
      </p:sp>
      <p:sp>
        <p:nvSpPr>
          <p:cNvPr id="17" name="Rectangle 16"/>
          <p:cNvSpPr/>
          <p:nvPr/>
        </p:nvSpPr>
        <p:spPr>
          <a:xfrm>
            <a:off x="3630168" y="2066544"/>
            <a:ext cx="41605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Read it directly with the provider's own CLI</a:t>
            </a:r>
          </a:p>
        </p:txBody>
      </p:sp>
      <p:sp>
        <p:nvSpPr>
          <p:cNvPr id="18" name="Rectangle 17"/>
          <p:cNvSpPr/>
          <p:nvPr/>
        </p:nvSpPr>
        <p:spPr>
          <a:xfrm>
            <a:off x="7790688" y="2066544"/>
            <a:ext cx="3922776"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Everything downstream is confidently, consistently wrong</a:t>
            </a:r>
          </a:p>
        </p:txBody>
      </p:sp>
      <p:sp>
        <p:nvSpPr>
          <p:cNvPr id="19" name="Rectangle 18"/>
          <p:cNvSpPr/>
          <p:nvPr/>
        </p:nvSpPr>
        <p:spPr>
          <a:xfrm>
            <a:off x="475488" y="2765145"/>
            <a:ext cx="315468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store can authenticate</a:t>
            </a:r>
          </a:p>
        </p:txBody>
      </p:sp>
      <p:sp>
        <p:nvSpPr>
          <p:cNvPr id="20" name="Rectangle 19"/>
          <p:cNvSpPr/>
          <p:nvPr/>
        </p:nvSpPr>
        <p:spPr>
          <a:xfrm>
            <a:off x="3630168" y="2765145"/>
            <a:ext cx="416052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clustersecretstore — look for Ready</a:t>
            </a:r>
          </a:p>
        </p:txBody>
      </p:sp>
      <p:sp>
        <p:nvSpPr>
          <p:cNvPr id="21" name="Rectangle 20"/>
          <p:cNvSpPr/>
          <p:nvPr/>
        </p:nvSpPr>
        <p:spPr>
          <a:xfrm>
            <a:off x="7790688" y="2765145"/>
            <a:ext cx="3922776"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Every ExternalSecret in the cluster fails at once</a:t>
            </a:r>
          </a:p>
        </p:txBody>
      </p:sp>
      <p:sp>
        <p:nvSpPr>
          <p:cNvPr id="22" name="Rectangle 21"/>
          <p:cNvSpPr/>
          <p:nvPr/>
        </p:nvSpPr>
        <p:spPr>
          <a:xfrm>
            <a:off x="475488" y="3463747"/>
            <a:ext cx="31546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ExternalSecret synced</a:t>
            </a:r>
          </a:p>
        </p:txBody>
      </p:sp>
      <p:sp>
        <p:nvSpPr>
          <p:cNvPr id="23" name="Rectangle 22"/>
          <p:cNvSpPr/>
          <p:nvPr/>
        </p:nvSpPr>
        <p:spPr>
          <a:xfrm>
            <a:off x="3630168" y="3463747"/>
            <a:ext cx="41605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describe externalsecret, read the conditions</a:t>
            </a:r>
          </a:p>
        </p:txBody>
      </p:sp>
      <p:sp>
        <p:nvSpPr>
          <p:cNvPr id="24" name="Rectangle 23"/>
          <p:cNvSpPr/>
          <p:nvPr/>
        </p:nvSpPr>
        <p:spPr>
          <a:xfrm>
            <a:off x="7790688" y="3463747"/>
            <a:ext cx="3922776"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One application is stale, the rest are fine</a:t>
            </a:r>
          </a:p>
        </p:txBody>
      </p:sp>
      <p:sp>
        <p:nvSpPr>
          <p:cNvPr id="25" name="Rectangle 24"/>
          <p:cNvSpPr/>
          <p:nvPr/>
        </p:nvSpPr>
        <p:spPr>
          <a:xfrm>
            <a:off x="475488" y="4162348"/>
            <a:ext cx="315468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Kubernetes Secret is current</a:t>
            </a:r>
          </a:p>
        </p:txBody>
      </p:sp>
      <p:sp>
        <p:nvSpPr>
          <p:cNvPr id="26" name="Rectangle 25"/>
          <p:cNvSpPr/>
          <p:nvPr/>
        </p:nvSpPr>
        <p:spPr>
          <a:xfrm>
            <a:off x="3630168" y="4162348"/>
            <a:ext cx="4160520"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secret -o jsonpath, decode it</a:t>
            </a:r>
          </a:p>
        </p:txBody>
      </p:sp>
      <p:sp>
        <p:nvSpPr>
          <p:cNvPr id="27" name="Rectangle 26"/>
          <p:cNvSpPr/>
          <p:nvPr/>
        </p:nvSpPr>
        <p:spPr>
          <a:xfrm>
            <a:off x="7790688" y="4162348"/>
            <a:ext cx="3922776" cy="698601"/>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ESO thinks it succeeded but the value is not what you expect</a:t>
            </a:r>
          </a:p>
        </p:txBody>
      </p:sp>
      <p:sp>
        <p:nvSpPr>
          <p:cNvPr id="28" name="Rectangle 27"/>
          <p:cNvSpPr/>
          <p:nvPr/>
        </p:nvSpPr>
        <p:spPr>
          <a:xfrm>
            <a:off x="475488" y="4860950"/>
            <a:ext cx="315468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pod was rolled</a:t>
            </a:r>
          </a:p>
        </p:txBody>
      </p:sp>
      <p:sp>
        <p:nvSpPr>
          <p:cNvPr id="29" name="Rectangle 28"/>
          <p:cNvSpPr/>
          <p:nvPr/>
        </p:nvSpPr>
        <p:spPr>
          <a:xfrm>
            <a:off x="3630168" y="4860950"/>
            <a:ext cx="4160520"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kubectl get pods — compare AGE with the Secret's age</a:t>
            </a:r>
          </a:p>
        </p:txBody>
      </p:sp>
      <p:sp>
        <p:nvSpPr>
          <p:cNvPr id="30" name="Rectangle 29"/>
          <p:cNvSpPr/>
          <p:nvPr/>
        </p:nvSpPr>
        <p:spPr>
          <a:xfrm>
            <a:off x="7790688" y="4860950"/>
            <a:ext cx="3922776" cy="698601"/>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Secret is right and the application still uses the old one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Pinning a Secret Version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Most of the time you want the latest value. Occasionally you very much do not.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Pin a version when a bad rotation would be worse than a stale credential — then unpin deliberately.</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5428472" cy="20116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20116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2EB56B"/>
                </a:solidFill>
                <a:latin typeface="Consolas"/>
              </a:rPr>
              <a:t>follow the current version — the default</a:t>
            </a:r>
          </a:p>
        </p:txBody>
      </p:sp>
      <p:sp>
        <p:nvSpPr>
          <p:cNvPr id="16" name="TextBox 15"/>
          <p:cNvSpPr txBox="1"/>
          <p:nvPr/>
        </p:nvSpPr>
        <p:spPr>
          <a:xfrm>
            <a:off x="749808" y="2066543"/>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data:</a:t>
            </a:r>
          </a:p>
        </p:txBody>
      </p:sp>
      <p:sp>
        <p:nvSpPr>
          <p:cNvPr id="17" name="TextBox 16"/>
          <p:cNvSpPr txBox="1"/>
          <p:nvPr/>
        </p:nvSpPr>
        <p:spPr>
          <a:xfrm>
            <a:off x="749808" y="2263139"/>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secretKey: DB_PASSWORD</a:t>
            </a:r>
          </a:p>
        </p:txBody>
      </p:sp>
      <p:sp>
        <p:nvSpPr>
          <p:cNvPr id="18" name="TextBox 17"/>
          <p:cNvSpPr txBox="1"/>
          <p:nvPr/>
        </p:nvSpPr>
        <p:spPr>
          <a:xfrm>
            <a:off x="749808" y="2459735"/>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remoteRef:</a:t>
            </a:r>
          </a:p>
        </p:txBody>
      </p:sp>
      <p:sp>
        <p:nvSpPr>
          <p:cNvPr id="19" name="TextBox 18"/>
          <p:cNvSpPr txBox="1"/>
          <p:nvPr/>
        </p:nvSpPr>
        <p:spPr>
          <a:xfrm>
            <a:off x="749808" y="2656331"/>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key: prod/billing/postgres</a:t>
            </a:r>
          </a:p>
        </p:txBody>
      </p:sp>
      <p:sp>
        <p:nvSpPr>
          <p:cNvPr id="20" name="TextBox 19"/>
          <p:cNvSpPr txBox="1"/>
          <p:nvPr/>
        </p:nvSpPr>
        <p:spPr>
          <a:xfrm>
            <a:off x="749808" y="2852927"/>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property: password</a:t>
            </a:r>
          </a:p>
        </p:txBody>
      </p:sp>
      <p:sp>
        <p:nvSpPr>
          <p:cNvPr id="21" name="TextBox 20"/>
          <p:cNvSpPr txBox="1"/>
          <p:nvPr/>
        </p:nvSpPr>
        <p:spPr>
          <a:xfrm>
            <a:off x="749808" y="3049523"/>
            <a:ext cx="4879832" cy="23317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version: "AWSCURRENT"</a:t>
            </a:r>
          </a:p>
        </p:txBody>
      </p:sp>
      <p:sp>
        <p:nvSpPr>
          <p:cNvPr id="22" name="Rounded Rectangle 21"/>
          <p:cNvSpPr/>
          <p:nvPr/>
        </p:nvSpPr>
        <p:spPr>
          <a:xfrm>
            <a:off x="6288008" y="1645920"/>
            <a:ext cx="5428472" cy="20116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88008" y="1645920"/>
            <a:ext cx="64008" cy="2011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F59E0B"/>
                </a:solidFill>
                <a:latin typeface="Consolas"/>
              </a:rPr>
              <a:t>pinned to one version, in Git, reviewable</a:t>
            </a:r>
          </a:p>
        </p:txBody>
      </p:sp>
      <p:sp>
        <p:nvSpPr>
          <p:cNvPr id="25" name="TextBox 24"/>
          <p:cNvSpPr txBox="1"/>
          <p:nvPr/>
        </p:nvSpPr>
        <p:spPr>
          <a:xfrm>
            <a:off x="6562328" y="2066543"/>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data:</a:t>
            </a:r>
          </a:p>
        </p:txBody>
      </p:sp>
      <p:sp>
        <p:nvSpPr>
          <p:cNvPr id="26" name="TextBox 25"/>
          <p:cNvSpPr txBox="1"/>
          <p:nvPr/>
        </p:nvSpPr>
        <p:spPr>
          <a:xfrm>
            <a:off x="6562328" y="2263139"/>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 secretKey: DB_PASSWORD</a:t>
            </a:r>
          </a:p>
        </p:txBody>
      </p:sp>
      <p:sp>
        <p:nvSpPr>
          <p:cNvPr id="27" name="TextBox 26"/>
          <p:cNvSpPr txBox="1"/>
          <p:nvPr/>
        </p:nvSpPr>
        <p:spPr>
          <a:xfrm>
            <a:off x="6562328" y="2459735"/>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remoteRef:</a:t>
            </a:r>
          </a:p>
        </p:txBody>
      </p:sp>
      <p:sp>
        <p:nvSpPr>
          <p:cNvPr id="28" name="TextBox 27"/>
          <p:cNvSpPr txBox="1"/>
          <p:nvPr/>
        </p:nvSpPr>
        <p:spPr>
          <a:xfrm>
            <a:off x="6562328" y="2656331"/>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key: prod/billing/postgres</a:t>
            </a:r>
          </a:p>
        </p:txBody>
      </p:sp>
      <p:sp>
        <p:nvSpPr>
          <p:cNvPr id="29" name="TextBox 28"/>
          <p:cNvSpPr txBox="1"/>
          <p:nvPr/>
        </p:nvSpPr>
        <p:spPr>
          <a:xfrm>
            <a:off x="6562328" y="2852927"/>
            <a:ext cx="4879832" cy="23317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property: password</a:t>
            </a:r>
          </a:p>
        </p:txBody>
      </p:sp>
      <p:sp>
        <p:nvSpPr>
          <p:cNvPr id="30" name="TextBox 29"/>
          <p:cNvSpPr txBox="1"/>
          <p:nvPr/>
        </p:nvSpPr>
        <p:spPr>
          <a:xfrm>
            <a:off x="6562328" y="3049523"/>
            <a:ext cx="4879832" cy="233172"/>
          </a:xfrm>
          <a:prstGeom prst="rect">
            <a:avLst/>
          </a:prstGeom>
          <a:noFill/>
        </p:spPr>
        <p:txBody>
          <a:bodyPr wrap="square" lIns="18288" rIns="18288" tIns="0" bIns="0" anchor="t">
            <a:noAutofit/>
          </a:bodyPr>
          <a:lstStyle/>
          <a:p>
            <a:pPr algn="l">
              <a:spcAft>
                <a:spcPts val="0"/>
              </a:spcAft>
            </a:pPr>
            <a:r>
              <a:rPr sz="1050" b="0" i="0">
                <a:solidFill>
                  <a:srgbClr val="F59E0B"/>
                </a:solidFill>
                <a:latin typeface="Consolas"/>
              </a:rPr>
              <a:t>      version: "a1b2c3d4-..."</a:t>
            </a:r>
          </a:p>
        </p:txBody>
      </p:sp>
      <p:sp>
        <p:nvSpPr>
          <p:cNvPr id="31" name="Rounded Rectangle 30"/>
          <p:cNvSpPr/>
          <p:nvPr/>
        </p:nvSpPr>
        <p:spPr>
          <a:xfrm>
            <a:off x="475488" y="3877056"/>
            <a:ext cx="3564117" cy="17373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75488" y="3877056"/>
            <a:ext cx="3564117"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4123944"/>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Why pin at all</a:t>
            </a:r>
          </a:p>
        </p:txBody>
      </p:sp>
      <p:sp>
        <p:nvSpPr>
          <p:cNvPr id="34" name="TextBox 33"/>
          <p:cNvSpPr txBox="1"/>
          <p:nvPr/>
        </p:nvSpPr>
        <p:spPr>
          <a:xfrm>
            <a:off x="658368" y="4535424"/>
            <a:ext cx="3198357" cy="9601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rotation is a change to production that never went through review. Pinning puts it back under change control for the few credentials where that matters.</a:t>
            </a:r>
          </a:p>
        </p:txBody>
      </p:sp>
      <p:sp>
        <p:nvSpPr>
          <p:cNvPr id="35" name="Rounded Rectangle 34"/>
          <p:cNvSpPr/>
          <p:nvPr/>
        </p:nvSpPr>
        <p:spPr>
          <a:xfrm>
            <a:off x="4313925" y="3877056"/>
            <a:ext cx="3564117" cy="17373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313925" y="3877056"/>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496805" y="4123944"/>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Why not pin by default</a:t>
            </a:r>
          </a:p>
        </p:txBody>
      </p:sp>
      <p:sp>
        <p:nvSpPr>
          <p:cNvPr id="38" name="TextBox 37"/>
          <p:cNvSpPr txBox="1"/>
          <p:nvPr/>
        </p:nvSpPr>
        <p:spPr>
          <a:xfrm>
            <a:off x="4496805" y="4535424"/>
            <a:ext cx="3198357" cy="9601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You lose the main benefit of the architecture — automatic propagation — and you now have a version identifier to maintain in Git forever.</a:t>
            </a:r>
          </a:p>
        </p:txBody>
      </p:sp>
      <p:sp>
        <p:nvSpPr>
          <p:cNvPr id="39" name="Rounded Rectangle 38"/>
          <p:cNvSpPr/>
          <p:nvPr/>
        </p:nvSpPr>
        <p:spPr>
          <a:xfrm>
            <a:off x="8152363" y="3877056"/>
            <a:ext cx="3564117" cy="1737360"/>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152363" y="3877056"/>
            <a:ext cx="3564117"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335243" y="4123944"/>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The dual-secret pattern</a:t>
            </a:r>
          </a:p>
        </p:txBody>
      </p:sp>
      <p:sp>
        <p:nvSpPr>
          <p:cNvPr id="42" name="TextBox 41"/>
          <p:cNvSpPr txBox="1"/>
          <p:nvPr/>
        </p:nvSpPr>
        <p:spPr>
          <a:xfrm>
            <a:off x="8335243" y="4535424"/>
            <a:ext cx="3198357" cy="96011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Many providers support a pending and a current version. Rotate to pending, verify, then promote — so the cluster never sees a half-rotated credential.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Rollback Means Once You Have All Three</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Three different things can be wrong, and each rolls back differently.</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Revert the commit for a manifest, pin the version for a secret. Never fix production by hand.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ectangle 12"/>
          <p:cNvSpPr/>
          <p:nvPr/>
        </p:nvSpPr>
        <p:spPr>
          <a:xfrm>
            <a:off x="475488" y="1645920"/>
            <a:ext cx="379476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is wrong</a:t>
            </a:r>
          </a:p>
        </p:txBody>
      </p:sp>
      <p:sp>
        <p:nvSpPr>
          <p:cNvPr id="14" name="Rectangle 13"/>
          <p:cNvSpPr/>
          <p:nvPr/>
        </p:nvSpPr>
        <p:spPr>
          <a:xfrm>
            <a:off x="4270248" y="1645920"/>
            <a:ext cx="457200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How you roll it back</a:t>
            </a:r>
          </a:p>
        </p:txBody>
      </p:sp>
      <p:sp>
        <p:nvSpPr>
          <p:cNvPr id="15" name="Rectangle 14"/>
          <p:cNvSpPr/>
          <p:nvPr/>
        </p:nvSpPr>
        <p:spPr>
          <a:xfrm>
            <a:off x="8842248" y="1645920"/>
            <a:ext cx="2871216"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How long it takes</a:t>
            </a:r>
          </a:p>
        </p:txBody>
      </p:sp>
      <p:sp>
        <p:nvSpPr>
          <p:cNvPr id="16" name="Rectangle 15"/>
          <p:cNvSpPr/>
          <p:nvPr/>
        </p:nvSpPr>
        <p:spPr>
          <a:xfrm>
            <a:off x="475488" y="2066544"/>
            <a:ext cx="3794760" cy="477773"/>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 bad manifest — wrong image, bad limits</a:t>
            </a:r>
          </a:p>
        </p:txBody>
      </p:sp>
      <p:sp>
        <p:nvSpPr>
          <p:cNvPr id="17" name="Rectangle 16"/>
          <p:cNvSpPr/>
          <p:nvPr/>
        </p:nvSpPr>
        <p:spPr>
          <a:xfrm>
            <a:off x="4270248" y="2066544"/>
            <a:ext cx="4572000" cy="477773"/>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git revert, push. Argo CD reconciles automatically</a:t>
            </a:r>
          </a:p>
        </p:txBody>
      </p:sp>
      <p:sp>
        <p:nvSpPr>
          <p:cNvPr id="18" name="Rectangle 17"/>
          <p:cNvSpPr/>
          <p:nvPr/>
        </p:nvSpPr>
        <p:spPr>
          <a:xfrm>
            <a:off x="8842248" y="2066544"/>
            <a:ext cx="2871216" cy="477773"/>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One sync cycle, or instant with a webhook</a:t>
            </a:r>
          </a:p>
        </p:txBody>
      </p:sp>
      <p:sp>
        <p:nvSpPr>
          <p:cNvPr id="19" name="Rectangle 18"/>
          <p:cNvSpPr/>
          <p:nvPr/>
        </p:nvSpPr>
        <p:spPr>
          <a:xfrm>
            <a:off x="475488" y="2544318"/>
            <a:ext cx="3794760" cy="477773"/>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 bad secret value in the provider</a:t>
            </a:r>
          </a:p>
        </p:txBody>
      </p:sp>
      <p:sp>
        <p:nvSpPr>
          <p:cNvPr id="20" name="Rectangle 19"/>
          <p:cNvSpPr/>
          <p:nvPr/>
        </p:nvSpPr>
        <p:spPr>
          <a:xfrm>
            <a:off x="4270248" y="2544318"/>
            <a:ext cx="4572000" cy="477773"/>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Restore the previous version in the secret manager itself</a:t>
            </a:r>
          </a:p>
        </p:txBody>
      </p:sp>
      <p:sp>
        <p:nvSpPr>
          <p:cNvPr id="21" name="Rectangle 20"/>
          <p:cNvSpPr/>
          <p:nvPr/>
        </p:nvSpPr>
        <p:spPr>
          <a:xfrm>
            <a:off x="8842248" y="2544318"/>
            <a:ext cx="2871216" cy="477773"/>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Up to refreshInterval, then a Reloader roll</a:t>
            </a:r>
          </a:p>
        </p:txBody>
      </p:sp>
      <p:sp>
        <p:nvSpPr>
          <p:cNvPr id="22" name="Rectangle 21"/>
          <p:cNvSpPr/>
          <p:nvPr/>
        </p:nvSpPr>
        <p:spPr>
          <a:xfrm>
            <a:off x="475488" y="3022092"/>
            <a:ext cx="3794760" cy="477773"/>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 bad Argo CD sync you want undone now</a:t>
            </a:r>
          </a:p>
        </p:txBody>
      </p:sp>
      <p:sp>
        <p:nvSpPr>
          <p:cNvPr id="23" name="Rectangle 22"/>
          <p:cNvSpPr/>
          <p:nvPr/>
        </p:nvSpPr>
        <p:spPr>
          <a:xfrm>
            <a:off x="4270248" y="3022092"/>
            <a:ext cx="4572000" cy="477773"/>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argocd app rollback to an earlier deployed revision</a:t>
            </a:r>
          </a:p>
        </p:txBody>
      </p:sp>
      <p:sp>
        <p:nvSpPr>
          <p:cNvPr id="24" name="Rectangle 23"/>
          <p:cNvSpPr/>
          <p:nvPr/>
        </p:nvSpPr>
        <p:spPr>
          <a:xfrm>
            <a:off x="8842248" y="3022092"/>
            <a:ext cx="2871216" cy="477773"/>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Immediate, but Git and cluster now disagree</a:t>
            </a:r>
          </a:p>
        </p:txBody>
      </p:sp>
      <p:sp>
        <p:nvSpPr>
          <p:cNvPr id="25" name="Rectangle 24"/>
          <p:cNvSpPr/>
          <p:nvPr/>
        </p:nvSpPr>
        <p:spPr>
          <a:xfrm>
            <a:off x="475488" y="3499866"/>
            <a:ext cx="3794760" cy="477773"/>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 workload that will not start at all</a:t>
            </a:r>
          </a:p>
        </p:txBody>
      </p:sp>
      <p:sp>
        <p:nvSpPr>
          <p:cNvPr id="26" name="Rectangle 25"/>
          <p:cNvSpPr/>
          <p:nvPr/>
        </p:nvSpPr>
        <p:spPr>
          <a:xfrm>
            <a:off x="4270248" y="3499866"/>
            <a:ext cx="4572000" cy="477773"/>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Revert the commit. Do not scale it down by hand — selfHeal will undo you</a:t>
            </a:r>
          </a:p>
        </p:txBody>
      </p:sp>
      <p:sp>
        <p:nvSpPr>
          <p:cNvPr id="27" name="Rectangle 26"/>
          <p:cNvSpPr/>
          <p:nvPr/>
        </p:nvSpPr>
        <p:spPr>
          <a:xfrm>
            <a:off x="8842248" y="3499866"/>
            <a:ext cx="2871216" cy="477773"/>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One sync cycle</a:t>
            </a:r>
          </a:p>
        </p:txBody>
      </p:sp>
      <p:sp>
        <p:nvSpPr>
          <p:cNvPr id="28" name="Rounded Rectangle 27"/>
          <p:cNvSpPr/>
          <p:nvPr/>
        </p:nvSpPr>
        <p:spPr>
          <a:xfrm>
            <a:off x="475488" y="4206240"/>
            <a:ext cx="11240993" cy="1408176"/>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75488" y="4206240"/>
            <a:ext cx="77724" cy="14081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1520" y="435254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one that catches people</a:t>
            </a:r>
          </a:p>
        </p:txBody>
      </p:sp>
      <p:sp>
        <p:nvSpPr>
          <p:cNvPr id="31" name="TextBox 30"/>
          <p:cNvSpPr txBox="1"/>
          <p:nvPr/>
        </p:nvSpPr>
        <p:spPr>
          <a:xfrm>
            <a:off x="731520" y="4754879"/>
            <a:ext cx="10783793" cy="731520"/>
          </a:xfrm>
          <a:prstGeom prst="rect">
            <a:avLst/>
          </a:prstGeom>
          <a:noFill/>
        </p:spPr>
        <p:txBody>
          <a:bodyPr wrap="square" lIns="18288" rIns="18288" tIns="0" bIns="0" anchor="t">
            <a:noAutofit/>
          </a:bodyPr>
          <a:lstStyle/>
          <a:p>
            <a:pPr algn="l">
              <a:lnSpc>
                <a:spcPct val="124000"/>
              </a:lnSpc>
              <a:spcAft>
                <a:spcPts val="0"/>
              </a:spcAft>
            </a:pPr>
            <a:r>
              <a:rPr sz="950" b="0" i="0">
                <a:solidFill>
                  <a:srgbClr val="363F4D"/>
                </a:solidFill>
                <a:latin typeface="Calibri"/>
              </a:rPr>
              <a:t>argocd app rollback is genuinely useful in an incident — it re-applies a revision Argo CD deployed earlier. But it leaves the cluster deliberately out of sync with Git, and the next automated sync will undo it.</a:t>
            </a:r>
          </a:p>
          <a:p>
            <a:pPr algn="l">
              <a:lnSpc>
                <a:spcPct val="124000"/>
              </a:lnSpc>
              <a:spcAft>
                <a:spcPts val="0"/>
              </a:spcAft>
            </a:pPr>
            <a:r>
              <a:rPr sz="950" b="0" i="0">
                <a:solidFill>
                  <a:srgbClr val="363F4D"/>
                </a:solidFill>
                <a:latin typeface="Calibri"/>
              </a:rPr>
              <a:t/>
            </a:r>
          </a:p>
          <a:p>
            <a:pPr algn="l">
              <a:lnSpc>
                <a:spcPct val="124000"/>
              </a:lnSpc>
              <a:spcAft>
                <a:spcPts val="0"/>
              </a:spcAft>
            </a:pPr>
            <a:r>
              <a:rPr sz="950" b="0" i="0">
                <a:solidFill>
                  <a:srgbClr val="363F4D"/>
                </a:solidFill>
                <a:latin typeface="Calibri"/>
              </a:rPr>
              <a:t>Treat it as a way to buy ten minutes, and follow it with the revert commit. If you forget the commit, the incident comes back on its own.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The Security Model, Stated Plainly</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What this architecture genuinely improves, and what it leaves exactly as it was.</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You have moved the credential out of Git and made rotation cheap. The Secret object is no safer than before.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5428472" cy="3291840"/>
          </a:xfrm>
          <a:prstGeom prst="roundRect">
            <a:avLst>
              <a:gd name="adj" fmla="val 8000"/>
            </a:avLst>
          </a:prstGeom>
          <a:solidFill>
            <a:srgbClr val="EBF8F1"/>
          </a:solidFill>
          <a:ln w="15875">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86460" y="1656892"/>
            <a:ext cx="5406527" cy="47548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GENUINELY BETTER</a:t>
            </a:r>
          </a:p>
        </p:txBody>
      </p:sp>
      <p:sp>
        <p:nvSpPr>
          <p:cNvPr id="15" name="Oval 14"/>
          <p:cNvSpPr/>
          <p:nvPr/>
        </p:nvSpPr>
        <p:spPr>
          <a:xfrm>
            <a:off x="713232" y="2299716"/>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6" name="TextBox 15"/>
          <p:cNvSpPr txBox="1"/>
          <p:nvPr/>
        </p:nvSpPr>
        <p:spPr>
          <a:xfrm>
            <a:off x="1024128" y="228600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No credential in Git.  </a:t>
            </a:r>
            <a:r>
              <a:rPr sz="1250" b="0" i="0">
                <a:solidFill>
                  <a:srgbClr val="363F4D"/>
                </a:solidFill>
                <a:latin typeface="Calibri"/>
              </a:rPr>
              <a:t>Not in history, not in a fork, not in a CI cache.</a:t>
            </a:r>
          </a:p>
        </p:txBody>
      </p:sp>
      <p:sp>
        <p:nvSpPr>
          <p:cNvPr id="17" name="Oval 16"/>
          <p:cNvSpPr/>
          <p:nvPr/>
        </p:nvSpPr>
        <p:spPr>
          <a:xfrm>
            <a:off x="713232" y="2932176"/>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8" name="TextBox 17"/>
          <p:cNvSpPr txBox="1"/>
          <p:nvPr/>
        </p:nvSpPr>
        <p:spPr>
          <a:xfrm>
            <a:off x="1024128" y="291846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Rotation is cheap.  </a:t>
            </a:r>
            <a:r>
              <a:rPr sz="1250" b="0" i="0">
                <a:solidFill>
                  <a:srgbClr val="363F4D"/>
                </a:solidFill>
                <a:latin typeface="Calibri"/>
              </a:rPr>
              <a:t>It stops being a deploy, so it actually happens.</a:t>
            </a:r>
          </a:p>
        </p:txBody>
      </p:sp>
      <p:sp>
        <p:nvSpPr>
          <p:cNvPr id="19" name="Oval 18"/>
          <p:cNvSpPr/>
          <p:nvPr/>
        </p:nvSpPr>
        <p:spPr>
          <a:xfrm>
            <a:off x="713232" y="3564635"/>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0" name="TextBox 19"/>
          <p:cNvSpPr txBox="1"/>
          <p:nvPr/>
        </p:nvSpPr>
        <p:spPr>
          <a:xfrm>
            <a:off x="1024128" y="355091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Central audit.  </a:t>
            </a:r>
            <a:r>
              <a:rPr sz="1250" b="0" i="0">
                <a:solidFill>
                  <a:srgbClr val="363F4D"/>
                </a:solidFill>
                <a:latin typeface="Calibri"/>
              </a:rPr>
              <a:t>The secret manager logs every read, with an identity attached.</a:t>
            </a:r>
          </a:p>
        </p:txBody>
      </p:sp>
      <p:sp>
        <p:nvSpPr>
          <p:cNvPr id="21" name="Oval 20"/>
          <p:cNvSpPr/>
          <p:nvPr/>
        </p:nvSpPr>
        <p:spPr>
          <a:xfrm>
            <a:off x="713232" y="4197095"/>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2" name="TextBox 21"/>
          <p:cNvSpPr txBox="1"/>
          <p:nvPr/>
        </p:nvSpPr>
        <p:spPr>
          <a:xfrm>
            <a:off x="1024128" y="418337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No static cloud keys.  </a:t>
            </a:r>
            <a:r>
              <a:rPr sz="1250" b="0" i="0">
                <a:solidFill>
                  <a:srgbClr val="363F4D"/>
                </a:solidFill>
                <a:latin typeface="Calibri"/>
              </a:rPr>
              <a:t>Workload identity replaces long-lived access keys.</a:t>
            </a:r>
          </a:p>
        </p:txBody>
      </p:sp>
      <p:sp>
        <p:nvSpPr>
          <p:cNvPr id="23" name="Rounded Rectangle 22"/>
          <p:cNvSpPr/>
          <p:nvPr/>
        </p:nvSpPr>
        <p:spPr>
          <a:xfrm>
            <a:off x="6288008" y="1645920"/>
            <a:ext cx="5428472" cy="3291840"/>
          </a:xfrm>
          <a:prstGeom prst="roundRect">
            <a:avLst>
              <a:gd name="adj" fmla="val 8000"/>
            </a:avLst>
          </a:prstGeom>
          <a:solidFill>
            <a:srgbClr val="FEF6E7"/>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98981" y="1656892"/>
            <a:ext cx="5406527"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500" b="1" i="0">
                <a:solidFill>
                  <a:srgbClr val="FFFFFF"/>
                </a:solidFill>
                <a:latin typeface="Calibri"/>
              </a:rPr>
              <a:t>UNCHANGED — DO NOT OVERSELL</a:t>
            </a:r>
          </a:p>
        </p:txBody>
      </p:sp>
      <p:sp>
        <p:nvSpPr>
          <p:cNvPr id="25" name="Oval 24"/>
          <p:cNvSpPr/>
          <p:nvPr/>
        </p:nvSpPr>
        <p:spPr>
          <a:xfrm>
            <a:off x="6525752" y="2299716"/>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6" name="TextBox 25"/>
          <p:cNvSpPr txBox="1"/>
          <p:nvPr/>
        </p:nvSpPr>
        <p:spPr>
          <a:xfrm>
            <a:off x="6836648" y="228600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The Secret is still base64.  </a:t>
            </a:r>
            <a:r>
              <a:rPr sz="1250" b="0" i="0">
                <a:solidFill>
                  <a:srgbClr val="363F4D"/>
                </a:solidFill>
                <a:latin typeface="Calibri"/>
              </a:rPr>
              <a:t>Anyone with get secrets in the namespace reads it.</a:t>
            </a:r>
          </a:p>
        </p:txBody>
      </p:sp>
      <p:sp>
        <p:nvSpPr>
          <p:cNvPr id="27" name="Oval 26"/>
          <p:cNvSpPr/>
          <p:nvPr/>
        </p:nvSpPr>
        <p:spPr>
          <a:xfrm>
            <a:off x="6525752" y="2932176"/>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8" name="TextBox 27"/>
          <p:cNvSpPr txBox="1"/>
          <p:nvPr/>
        </p:nvSpPr>
        <p:spPr>
          <a:xfrm>
            <a:off x="6836648" y="2918460"/>
            <a:ext cx="4642088" cy="237744"/>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etcd encryption is still yours.  </a:t>
            </a:r>
            <a:r>
              <a:rPr sz="1250" b="0" i="0">
                <a:solidFill>
                  <a:srgbClr val="363F4D"/>
                </a:solidFill>
                <a:latin typeface="Calibri"/>
              </a:rPr>
              <a:t>ESO does not turn it on for you.</a:t>
            </a:r>
          </a:p>
        </p:txBody>
      </p:sp>
      <p:sp>
        <p:nvSpPr>
          <p:cNvPr id="29" name="Oval 28"/>
          <p:cNvSpPr/>
          <p:nvPr/>
        </p:nvSpPr>
        <p:spPr>
          <a:xfrm>
            <a:off x="6525752" y="3339846"/>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0" name="TextBox 29"/>
          <p:cNvSpPr txBox="1"/>
          <p:nvPr/>
        </p:nvSpPr>
        <p:spPr>
          <a:xfrm>
            <a:off x="6836648" y="3326129"/>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A compromised pod still wins.  </a:t>
            </a:r>
            <a:r>
              <a:rPr sz="1250" b="0" i="0">
                <a:solidFill>
                  <a:srgbClr val="363F4D"/>
                </a:solidFill>
                <a:latin typeface="Calibri"/>
              </a:rPr>
              <a:t>It can read its own mounted credential, by design.</a:t>
            </a:r>
          </a:p>
        </p:txBody>
      </p:sp>
      <p:sp>
        <p:nvSpPr>
          <p:cNvPr id="31" name="Oval 30"/>
          <p:cNvSpPr/>
          <p:nvPr/>
        </p:nvSpPr>
        <p:spPr>
          <a:xfrm>
            <a:off x="6525752" y="3972305"/>
            <a:ext cx="219456" cy="21945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2" name="TextBox 31"/>
          <p:cNvSpPr txBox="1"/>
          <p:nvPr/>
        </p:nvSpPr>
        <p:spPr>
          <a:xfrm>
            <a:off x="6836648" y="3958590"/>
            <a:ext cx="4642088" cy="449580"/>
          </a:xfrm>
          <a:prstGeom prst="rect">
            <a:avLst/>
          </a:prstGeom>
          <a:noFill/>
        </p:spPr>
        <p:txBody>
          <a:bodyPr wrap="square" lIns="18288" rIns="18288" tIns="0" bIns="0" anchor="t">
            <a:noAutofit/>
          </a:bodyPr>
          <a:lstStyle/>
          <a:p>
            <a:pPr algn="l">
              <a:lnSpc>
                <a:spcPct val="118000"/>
              </a:lnSpc>
              <a:spcAft>
                <a:spcPts val="0"/>
              </a:spcAft>
            </a:pPr>
            <a:r>
              <a:rPr sz="1250" b="1" i="0">
                <a:solidFill>
                  <a:srgbClr val="1F2B3D"/>
                </a:solidFill>
                <a:latin typeface="Calibri"/>
              </a:rPr>
              <a:t>Blast radius is wider now.  </a:t>
            </a:r>
            <a:r>
              <a:rPr sz="1250" b="0" i="0">
                <a:solidFill>
                  <a:srgbClr val="363F4D"/>
                </a:solidFill>
                <a:latin typeface="Calibri"/>
              </a:rPr>
              <a:t>The ESO ServiceAccount can reach many secrets.</a:t>
            </a:r>
          </a:p>
        </p:txBody>
      </p:sp>
      <p:sp>
        <p:nvSpPr>
          <p:cNvPr id="33" name="Rounded Rectangle 32"/>
          <p:cNvSpPr/>
          <p:nvPr/>
        </p:nvSpPr>
        <p:spPr>
          <a:xfrm>
            <a:off x="475488" y="5138928"/>
            <a:ext cx="11240993" cy="475488"/>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5138928"/>
            <a:ext cx="91440" cy="47548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5230368"/>
            <a:ext cx="10555193" cy="292608"/>
          </a:xfrm>
          <a:prstGeom prst="rect">
            <a:avLst/>
          </a:prstGeom>
          <a:noFill/>
        </p:spPr>
        <p:txBody>
          <a:bodyPr wrap="square" lIns="18288" rIns="18288" tIns="0" bIns="0" anchor="ctr">
            <a:noAutofit/>
          </a:bodyPr>
          <a:lstStyle/>
          <a:p>
            <a:pPr algn="l">
              <a:lnSpc>
                <a:spcPct val="120000"/>
              </a:lnSpc>
              <a:spcAft>
                <a:spcPts val="0"/>
              </a:spcAft>
            </a:pPr>
            <a:r>
              <a:rPr sz="1200" b="0" i="1">
                <a:solidFill>
                  <a:srgbClr val="1F2B3D"/>
                </a:solidFill>
                <a:latin typeface="Calibri Light"/>
              </a:rPr>
              <a:t>Scope each SecretStore as narrowly as the provider allows. One store with read access to every production secret is a single point of compromise.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Who Owns What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Three tools crossing three team boundaries. Say out loud who owns each piece.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Most failures in this architecture are ownership failures, not technical ones.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ectangle 12"/>
          <p:cNvSpPr/>
          <p:nvPr/>
        </p:nvSpPr>
        <p:spPr>
          <a:xfrm>
            <a:off x="475488" y="1645920"/>
            <a:ext cx="48463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Thing</a:t>
            </a:r>
          </a:p>
        </p:txBody>
      </p:sp>
      <p:sp>
        <p:nvSpPr>
          <p:cNvPr id="14" name="Rectangle 13"/>
          <p:cNvSpPr/>
          <p:nvPr/>
        </p:nvSpPr>
        <p:spPr>
          <a:xfrm>
            <a:off x="5321808" y="1645920"/>
            <a:ext cx="2148840" cy="420624"/>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Platform team</a:t>
            </a:r>
          </a:p>
        </p:txBody>
      </p:sp>
      <p:sp>
        <p:nvSpPr>
          <p:cNvPr id="15" name="Rectangle 14"/>
          <p:cNvSpPr/>
          <p:nvPr/>
        </p:nvSpPr>
        <p:spPr>
          <a:xfrm>
            <a:off x="7470648" y="1645920"/>
            <a:ext cx="2148840" cy="420624"/>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Application team</a:t>
            </a:r>
          </a:p>
        </p:txBody>
      </p:sp>
      <p:sp>
        <p:nvSpPr>
          <p:cNvPr id="16" name="Rectangle 15"/>
          <p:cNvSpPr/>
          <p:nvPr/>
        </p:nvSpPr>
        <p:spPr>
          <a:xfrm>
            <a:off x="9619488" y="1645920"/>
            <a:ext cx="2093976"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Security</a:t>
            </a:r>
          </a:p>
        </p:txBody>
      </p:sp>
      <p:sp>
        <p:nvSpPr>
          <p:cNvPr id="17" name="Rectangle 16"/>
          <p:cNvSpPr/>
          <p:nvPr/>
        </p:nvSpPr>
        <p:spPr>
          <a:xfrm>
            <a:off x="475488" y="2066544"/>
            <a:ext cx="484632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Argo CD itself, Projects, RBAC</a:t>
            </a:r>
          </a:p>
        </p:txBody>
      </p:sp>
      <p:sp>
        <p:nvSpPr>
          <p:cNvPr id="18" name="Rectangle 17"/>
          <p:cNvSpPr/>
          <p:nvPr/>
        </p:nvSpPr>
        <p:spPr>
          <a:xfrm>
            <a:off x="5321808" y="2066544"/>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19" name="Rectangle 18"/>
          <p:cNvSpPr/>
          <p:nvPr/>
        </p:nvSpPr>
        <p:spPr>
          <a:xfrm>
            <a:off x="7470648" y="2066544"/>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consumes</a:t>
            </a:r>
          </a:p>
        </p:txBody>
      </p:sp>
      <p:sp>
        <p:nvSpPr>
          <p:cNvPr id="20" name="Rectangle 19"/>
          <p:cNvSpPr/>
          <p:nvPr/>
        </p:nvSpPr>
        <p:spPr>
          <a:xfrm>
            <a:off x="9619488" y="2066544"/>
            <a:ext cx="2093976"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reviews</a:t>
            </a:r>
          </a:p>
        </p:txBody>
      </p:sp>
      <p:sp>
        <p:nvSpPr>
          <p:cNvPr id="21" name="Rectangle 20"/>
          <p:cNvSpPr/>
          <p:nvPr/>
        </p:nvSpPr>
        <p:spPr>
          <a:xfrm>
            <a:off x="475488" y="2391156"/>
            <a:ext cx="484632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Application manifest for a service</a:t>
            </a:r>
          </a:p>
        </p:txBody>
      </p:sp>
      <p:sp>
        <p:nvSpPr>
          <p:cNvPr id="22" name="Rectangle 21"/>
          <p:cNvSpPr/>
          <p:nvPr/>
        </p:nvSpPr>
        <p:spPr>
          <a:xfrm>
            <a:off x="5321808" y="2391156"/>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reviews</a:t>
            </a:r>
          </a:p>
        </p:txBody>
      </p:sp>
      <p:sp>
        <p:nvSpPr>
          <p:cNvPr id="23" name="Rectangle 22"/>
          <p:cNvSpPr/>
          <p:nvPr/>
        </p:nvSpPr>
        <p:spPr>
          <a:xfrm>
            <a:off x="7470648" y="2391156"/>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24" name="Rectangle 23"/>
          <p:cNvSpPr/>
          <p:nvPr/>
        </p:nvSpPr>
        <p:spPr>
          <a:xfrm>
            <a:off x="9619488" y="2391156"/>
            <a:ext cx="2093976"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25" name="Rectangle 24"/>
          <p:cNvSpPr/>
          <p:nvPr/>
        </p:nvSpPr>
        <p:spPr>
          <a:xfrm>
            <a:off x="475488" y="2715768"/>
            <a:ext cx="484632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ESO install and ClusterSecretStore</a:t>
            </a:r>
          </a:p>
        </p:txBody>
      </p:sp>
      <p:sp>
        <p:nvSpPr>
          <p:cNvPr id="26" name="Rectangle 25"/>
          <p:cNvSpPr/>
          <p:nvPr/>
        </p:nvSpPr>
        <p:spPr>
          <a:xfrm>
            <a:off x="5321808" y="2715768"/>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27" name="Rectangle 26"/>
          <p:cNvSpPr/>
          <p:nvPr/>
        </p:nvSpPr>
        <p:spPr>
          <a:xfrm>
            <a:off x="7470648" y="2715768"/>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consumes</a:t>
            </a:r>
          </a:p>
        </p:txBody>
      </p:sp>
      <p:sp>
        <p:nvSpPr>
          <p:cNvPr id="28" name="Rectangle 27"/>
          <p:cNvSpPr/>
          <p:nvPr/>
        </p:nvSpPr>
        <p:spPr>
          <a:xfrm>
            <a:off x="9619488" y="2715768"/>
            <a:ext cx="2093976"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approves the identity</a:t>
            </a:r>
          </a:p>
        </p:txBody>
      </p:sp>
      <p:sp>
        <p:nvSpPr>
          <p:cNvPr id="29" name="Rectangle 28"/>
          <p:cNvSpPr/>
          <p:nvPr/>
        </p:nvSpPr>
        <p:spPr>
          <a:xfrm>
            <a:off x="475488" y="3040380"/>
            <a:ext cx="484632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IAM role or federated identity</a:t>
            </a:r>
          </a:p>
        </p:txBody>
      </p:sp>
      <p:sp>
        <p:nvSpPr>
          <p:cNvPr id="30" name="Rectangle 29"/>
          <p:cNvSpPr/>
          <p:nvPr/>
        </p:nvSpPr>
        <p:spPr>
          <a:xfrm>
            <a:off x="5321808" y="3040380"/>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implements</a:t>
            </a:r>
          </a:p>
        </p:txBody>
      </p:sp>
      <p:sp>
        <p:nvSpPr>
          <p:cNvPr id="31" name="Rectangle 30"/>
          <p:cNvSpPr/>
          <p:nvPr/>
        </p:nvSpPr>
        <p:spPr>
          <a:xfrm>
            <a:off x="7470648" y="3040380"/>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32" name="Rectangle 31"/>
          <p:cNvSpPr/>
          <p:nvPr/>
        </p:nvSpPr>
        <p:spPr>
          <a:xfrm>
            <a:off x="9619488" y="3040380"/>
            <a:ext cx="2093976"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33" name="Rectangle 32"/>
          <p:cNvSpPr/>
          <p:nvPr/>
        </p:nvSpPr>
        <p:spPr>
          <a:xfrm>
            <a:off x="475488" y="3364992"/>
            <a:ext cx="484632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ExternalSecret in an app folder</a:t>
            </a:r>
          </a:p>
        </p:txBody>
      </p:sp>
      <p:sp>
        <p:nvSpPr>
          <p:cNvPr id="34" name="Rectangle 33"/>
          <p:cNvSpPr/>
          <p:nvPr/>
        </p:nvSpPr>
        <p:spPr>
          <a:xfrm>
            <a:off x="5321808" y="3364992"/>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reviews</a:t>
            </a:r>
          </a:p>
        </p:txBody>
      </p:sp>
      <p:sp>
        <p:nvSpPr>
          <p:cNvPr id="35" name="Rectangle 34"/>
          <p:cNvSpPr/>
          <p:nvPr/>
        </p:nvSpPr>
        <p:spPr>
          <a:xfrm>
            <a:off x="7470648" y="3364992"/>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36" name="Rectangle 35"/>
          <p:cNvSpPr/>
          <p:nvPr/>
        </p:nvSpPr>
        <p:spPr>
          <a:xfrm>
            <a:off x="9619488" y="3364992"/>
            <a:ext cx="2093976"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37" name="Rectangle 36"/>
          <p:cNvSpPr/>
          <p:nvPr/>
        </p:nvSpPr>
        <p:spPr>
          <a:xfrm>
            <a:off x="475488" y="3689604"/>
            <a:ext cx="484632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secret value in the provider</a:t>
            </a:r>
          </a:p>
        </p:txBody>
      </p:sp>
      <p:sp>
        <p:nvSpPr>
          <p:cNvPr id="38" name="Rectangle 37"/>
          <p:cNvSpPr/>
          <p:nvPr/>
        </p:nvSpPr>
        <p:spPr>
          <a:xfrm>
            <a:off x="5321808" y="3689604"/>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39" name="Rectangle 38"/>
          <p:cNvSpPr/>
          <p:nvPr/>
        </p:nvSpPr>
        <p:spPr>
          <a:xfrm>
            <a:off x="7470648" y="3689604"/>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requests</a:t>
            </a:r>
          </a:p>
        </p:txBody>
      </p:sp>
      <p:sp>
        <p:nvSpPr>
          <p:cNvPr id="40" name="Rectangle 39"/>
          <p:cNvSpPr/>
          <p:nvPr/>
        </p:nvSpPr>
        <p:spPr>
          <a:xfrm>
            <a:off x="9619488" y="3689604"/>
            <a:ext cx="2093976"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41" name="Rectangle 40"/>
          <p:cNvSpPr/>
          <p:nvPr/>
        </p:nvSpPr>
        <p:spPr>
          <a:xfrm>
            <a:off x="475488" y="4014216"/>
            <a:ext cx="484632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Reloader install and scope</a:t>
            </a:r>
          </a:p>
        </p:txBody>
      </p:sp>
      <p:sp>
        <p:nvSpPr>
          <p:cNvPr id="42" name="Rectangle 41"/>
          <p:cNvSpPr/>
          <p:nvPr/>
        </p:nvSpPr>
        <p:spPr>
          <a:xfrm>
            <a:off x="5321808" y="4014216"/>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43" name="Rectangle 42"/>
          <p:cNvSpPr/>
          <p:nvPr/>
        </p:nvSpPr>
        <p:spPr>
          <a:xfrm>
            <a:off x="7470648" y="4014216"/>
            <a:ext cx="2148840"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44" name="Rectangle 43"/>
          <p:cNvSpPr/>
          <p:nvPr/>
        </p:nvSpPr>
        <p:spPr>
          <a:xfrm>
            <a:off x="9619488" y="4014216"/>
            <a:ext cx="2093976" cy="3246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reviews</a:t>
            </a:r>
          </a:p>
        </p:txBody>
      </p:sp>
      <p:sp>
        <p:nvSpPr>
          <p:cNvPr id="45" name="Rectangle 44"/>
          <p:cNvSpPr/>
          <p:nvPr/>
        </p:nvSpPr>
        <p:spPr>
          <a:xfrm>
            <a:off x="475488" y="4338828"/>
            <a:ext cx="484632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The reloader annotation on a workload</a:t>
            </a:r>
          </a:p>
        </p:txBody>
      </p:sp>
      <p:sp>
        <p:nvSpPr>
          <p:cNvPr id="46" name="Rectangle 45"/>
          <p:cNvSpPr/>
          <p:nvPr/>
        </p:nvSpPr>
        <p:spPr>
          <a:xfrm>
            <a:off x="5321808" y="4338828"/>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47" name="Rectangle 46"/>
          <p:cNvSpPr/>
          <p:nvPr/>
        </p:nvSpPr>
        <p:spPr>
          <a:xfrm>
            <a:off x="7470648" y="4338828"/>
            <a:ext cx="2148840"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owns</a:t>
            </a:r>
          </a:p>
        </p:txBody>
      </p:sp>
      <p:sp>
        <p:nvSpPr>
          <p:cNvPr id="48" name="Rectangle 47"/>
          <p:cNvSpPr/>
          <p:nvPr/>
        </p:nvSpPr>
        <p:spPr>
          <a:xfrm>
            <a:off x="9619488" y="4338828"/>
            <a:ext cx="2093976" cy="3246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t>
            </a:r>
          </a:p>
        </p:txBody>
      </p:sp>
      <p:sp>
        <p:nvSpPr>
          <p:cNvPr id="49" name="Rounded Rectangle 48"/>
          <p:cNvSpPr/>
          <p:nvPr/>
        </p:nvSpPr>
        <p:spPr>
          <a:xfrm>
            <a:off x="475488" y="4882896"/>
            <a:ext cx="11240993" cy="566928"/>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75488" y="4882896"/>
            <a:ext cx="91440" cy="566928"/>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59536" y="4974336"/>
            <a:ext cx="10555193" cy="384048"/>
          </a:xfrm>
          <a:prstGeom prst="rect">
            <a:avLst/>
          </a:prstGeom>
          <a:noFill/>
        </p:spPr>
        <p:txBody>
          <a:bodyPr wrap="square" lIns="18288" rIns="18288" tIns="0" bIns="0" anchor="ctr">
            <a:noAutofit/>
          </a:bodyPr>
          <a:lstStyle/>
          <a:p>
            <a:pPr algn="l">
              <a:lnSpc>
                <a:spcPct val="120000"/>
              </a:lnSpc>
              <a:spcAft>
                <a:spcPts val="0"/>
              </a:spcAft>
            </a:pPr>
            <a:r>
              <a:rPr sz="1450" b="0" i="1">
                <a:solidFill>
                  <a:srgbClr val="1F2B3D"/>
                </a:solidFill>
                <a:latin typeface="Calibri Light"/>
              </a:rPr>
              <a:t>The row people forget is the identity. If nobody owns the IAM role, it is created by hand once and never reviewed again.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Lab 5 — The Whole Loop, End to End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Forty-five minutes. Everything from the previous four labs, joined up and driven from Git.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When this works, you have not deployed anything by hand — and the rotation still reached the process.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Rounded Rectangle 12"/>
          <p:cNvSpPr/>
          <p:nvPr/>
        </p:nvSpPr>
        <p:spPr>
          <a:xfrm>
            <a:off x="475488" y="1645920"/>
            <a:ext cx="5428472" cy="391363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4008" cy="39136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9808" y="1773936"/>
            <a:ext cx="4879832" cy="237744"/>
          </a:xfrm>
          <a:prstGeom prst="rect">
            <a:avLst/>
          </a:prstGeom>
          <a:noFill/>
        </p:spPr>
        <p:txBody>
          <a:bodyPr wrap="square" lIns="18288" rIns="18288" tIns="0" bIns="0" anchor="t">
            <a:noAutofit/>
          </a:bodyPr>
          <a:lstStyle/>
          <a:p>
            <a:pPr algn="l">
              <a:spcAft>
                <a:spcPts val="0"/>
              </a:spcAft>
            </a:pPr>
            <a:r>
              <a:rPr sz="1000" b="1" i="0">
                <a:solidFill>
                  <a:srgbClr val="7C3AED"/>
                </a:solidFill>
                <a:latin typeface="Consolas"/>
              </a:rPr>
              <a:t>deploy from Git</a:t>
            </a:r>
          </a:p>
        </p:txBody>
      </p:sp>
      <p:sp>
        <p:nvSpPr>
          <p:cNvPr id="16" name="TextBox 15"/>
          <p:cNvSpPr txBox="1"/>
          <p:nvPr/>
        </p:nvSpPr>
        <p:spPr>
          <a:xfrm>
            <a:off x="74980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1. commit the three manifests</a:t>
            </a:r>
          </a:p>
        </p:txBody>
      </p:sp>
      <p:sp>
        <p:nvSpPr>
          <p:cNvPr id="17" name="TextBox 16"/>
          <p:cNvSpPr txBox="1"/>
          <p:nvPr/>
        </p:nvSpPr>
        <p:spPr>
          <a:xfrm>
            <a:off x="749808" y="224027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git add apps/billing/overlays/prod</a:t>
            </a:r>
          </a:p>
        </p:txBody>
      </p:sp>
      <p:sp>
        <p:nvSpPr>
          <p:cNvPr id="18" name="TextBox 17"/>
          <p:cNvSpPr txBox="1"/>
          <p:nvPr/>
        </p:nvSpPr>
        <p:spPr>
          <a:xfrm>
            <a:off x="749808" y="241401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git commit -m 'billing: fetch db creds from vault'</a:t>
            </a:r>
          </a:p>
        </p:txBody>
      </p:sp>
      <p:sp>
        <p:nvSpPr>
          <p:cNvPr id="19" name="TextBox 18"/>
          <p:cNvSpPr txBox="1"/>
          <p:nvPr/>
        </p:nvSpPr>
        <p:spPr>
          <a:xfrm>
            <a:off x="74980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git push</a:t>
            </a:r>
          </a:p>
        </p:txBody>
      </p:sp>
      <p:sp>
        <p:nvSpPr>
          <p:cNvPr id="20" name="TextBox 19"/>
          <p:cNvSpPr txBox="1"/>
          <p:nvPr/>
        </p:nvSpPr>
        <p:spPr>
          <a:xfrm>
            <a:off x="74980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1" name="TextBox 20"/>
          <p:cNvSpPr txBox="1"/>
          <p:nvPr/>
        </p:nvSpPr>
        <p:spPr>
          <a:xfrm>
            <a:off x="749808" y="293522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2. let Argo CD do the deploying</a:t>
            </a:r>
          </a:p>
        </p:txBody>
      </p:sp>
      <p:sp>
        <p:nvSpPr>
          <p:cNvPr id="22" name="TextBox 21"/>
          <p:cNvSpPr txBox="1"/>
          <p:nvPr/>
        </p:nvSpPr>
        <p:spPr>
          <a:xfrm>
            <a:off x="749808" y="310895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app sync billing-prod</a:t>
            </a:r>
          </a:p>
        </p:txBody>
      </p:sp>
      <p:sp>
        <p:nvSpPr>
          <p:cNvPr id="23" name="TextBox 22"/>
          <p:cNvSpPr txBox="1"/>
          <p:nvPr/>
        </p:nvSpPr>
        <p:spPr>
          <a:xfrm>
            <a:off x="749808" y="328269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app get billing-prod</a:t>
            </a:r>
          </a:p>
        </p:txBody>
      </p:sp>
      <p:sp>
        <p:nvSpPr>
          <p:cNvPr id="24" name="TextBox 23"/>
          <p:cNvSpPr txBox="1"/>
          <p:nvPr/>
        </p:nvSpPr>
        <p:spPr>
          <a:xfrm>
            <a:off x="749808" y="345643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5" name="TextBox 24"/>
          <p:cNvSpPr txBox="1"/>
          <p:nvPr/>
        </p:nvSpPr>
        <p:spPr>
          <a:xfrm>
            <a:off x="749808" y="3630167"/>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3. confirm the Secret was generated</a:t>
            </a:r>
          </a:p>
        </p:txBody>
      </p:sp>
      <p:sp>
        <p:nvSpPr>
          <p:cNvPr id="26" name="TextBox 25"/>
          <p:cNvSpPr txBox="1"/>
          <p:nvPr/>
        </p:nvSpPr>
        <p:spPr>
          <a:xfrm>
            <a:off x="749808" y="380390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get secret billing-db</a:t>
            </a:r>
          </a:p>
        </p:txBody>
      </p:sp>
      <p:sp>
        <p:nvSpPr>
          <p:cNvPr id="27" name="TextBox 26"/>
          <p:cNvSpPr txBox="1"/>
          <p:nvPr/>
        </p:nvSpPr>
        <p:spPr>
          <a:xfrm>
            <a:off x="749808" y="3977639"/>
            <a:ext cx="4879832" cy="210312"/>
          </a:xfrm>
          <a:prstGeom prst="rect">
            <a:avLst/>
          </a:prstGeom>
          <a:noFill/>
        </p:spPr>
        <p:txBody>
          <a:bodyPr wrap="square" lIns="18288" rIns="18288" tIns="0" bIns="0" anchor="t">
            <a:noAutofit/>
          </a:bodyPr>
          <a:lstStyle/>
          <a:p>
            <a:pPr algn="l">
              <a:spcAft>
                <a:spcPts val="0"/>
              </a:spcAft>
            </a:pPr>
            <a:r>
              <a:rPr sz="1050" b="0" i="0">
                <a:solidFill>
                  <a:srgbClr val="6B7A8D"/>
                </a:solidFill>
                <a:latin typeface="Consolas"/>
              </a:rPr>
              <a:t>#   note: this manifest is NOT in Git</a:t>
            </a:r>
          </a:p>
        </p:txBody>
      </p:sp>
      <p:sp>
        <p:nvSpPr>
          <p:cNvPr id="28" name="TextBox 27"/>
          <p:cNvSpPr txBox="1"/>
          <p:nvPr/>
        </p:nvSpPr>
        <p:spPr>
          <a:xfrm>
            <a:off x="749808" y="4151376"/>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29" name="TextBox 28"/>
          <p:cNvSpPr txBox="1"/>
          <p:nvPr/>
        </p:nvSpPr>
        <p:spPr>
          <a:xfrm>
            <a:off x="749808" y="4325112"/>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4. note the pod age</a:t>
            </a:r>
          </a:p>
        </p:txBody>
      </p:sp>
      <p:sp>
        <p:nvSpPr>
          <p:cNvPr id="30" name="TextBox 29"/>
          <p:cNvSpPr txBox="1"/>
          <p:nvPr/>
        </p:nvSpPr>
        <p:spPr>
          <a:xfrm>
            <a:off x="749808" y="4498848"/>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get pods</a:t>
            </a:r>
          </a:p>
        </p:txBody>
      </p:sp>
      <p:sp>
        <p:nvSpPr>
          <p:cNvPr id="31" name="Rounded Rectangle 30"/>
          <p:cNvSpPr/>
          <p:nvPr/>
        </p:nvSpPr>
        <p:spPr>
          <a:xfrm>
            <a:off x="6288008" y="1645920"/>
            <a:ext cx="5428472" cy="391363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88008" y="1645920"/>
            <a:ext cx="64008" cy="391363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62328" y="1773936"/>
            <a:ext cx="4879832" cy="237744"/>
          </a:xfrm>
          <a:prstGeom prst="rect">
            <a:avLst/>
          </a:prstGeom>
          <a:noFill/>
        </p:spPr>
        <p:txBody>
          <a:bodyPr wrap="square" lIns="18288" rIns="18288" tIns="0" bIns="0" anchor="t">
            <a:noAutofit/>
          </a:bodyPr>
          <a:lstStyle/>
          <a:p>
            <a:pPr algn="l">
              <a:spcAft>
                <a:spcPts val="0"/>
              </a:spcAft>
            </a:pPr>
            <a:r>
              <a:rPr sz="1000" b="1" i="0">
                <a:solidFill>
                  <a:srgbClr val="F26522"/>
                </a:solidFill>
                <a:latin typeface="Consolas"/>
              </a:rPr>
              <a:t>rotate at the source</a:t>
            </a:r>
          </a:p>
        </p:txBody>
      </p:sp>
      <p:sp>
        <p:nvSpPr>
          <p:cNvPr id="34" name="TextBox 33"/>
          <p:cNvSpPr txBox="1"/>
          <p:nvPr/>
        </p:nvSpPr>
        <p:spPr>
          <a:xfrm>
            <a:off x="6562328" y="206654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5. rotate at the source - not in Kubernetes</a:t>
            </a:r>
          </a:p>
        </p:txBody>
      </p:sp>
      <p:sp>
        <p:nvSpPr>
          <p:cNvPr id="35" name="TextBox 34"/>
          <p:cNvSpPr txBox="1"/>
          <p:nvPr/>
        </p:nvSpPr>
        <p:spPr>
          <a:xfrm>
            <a:off x="6562328" y="224027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aws secretsmanager put-secret-value \</a:t>
            </a:r>
          </a:p>
        </p:txBody>
      </p:sp>
      <p:sp>
        <p:nvSpPr>
          <p:cNvPr id="36" name="TextBox 35"/>
          <p:cNvSpPr txBox="1"/>
          <p:nvPr/>
        </p:nvSpPr>
        <p:spPr>
          <a:xfrm>
            <a:off x="6562328" y="241401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--secret-id prod/billing/postgres \</a:t>
            </a:r>
          </a:p>
        </p:txBody>
      </p:sp>
      <p:sp>
        <p:nvSpPr>
          <p:cNvPr id="37" name="TextBox 36"/>
          <p:cNvSpPr txBox="1"/>
          <p:nvPr/>
        </p:nvSpPr>
        <p:spPr>
          <a:xfrm>
            <a:off x="6562328" y="2587751"/>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--secret-string '{"password":"new-value"}'</a:t>
            </a:r>
          </a:p>
        </p:txBody>
      </p:sp>
      <p:sp>
        <p:nvSpPr>
          <p:cNvPr id="38" name="TextBox 37"/>
          <p:cNvSpPr txBox="1"/>
          <p:nvPr/>
        </p:nvSpPr>
        <p:spPr>
          <a:xfrm>
            <a:off x="6562328" y="276148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39" name="TextBox 38"/>
          <p:cNvSpPr txBox="1"/>
          <p:nvPr/>
        </p:nvSpPr>
        <p:spPr>
          <a:xfrm>
            <a:off x="6562328" y="2935223"/>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6. wait for refreshInterval, then watch</a:t>
            </a:r>
          </a:p>
        </p:txBody>
      </p:sp>
      <p:sp>
        <p:nvSpPr>
          <p:cNvPr id="40" name="TextBox 39"/>
          <p:cNvSpPr txBox="1"/>
          <p:nvPr/>
        </p:nvSpPr>
        <p:spPr>
          <a:xfrm>
            <a:off x="6562328" y="310895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get pods -w</a:t>
            </a:r>
          </a:p>
        </p:txBody>
      </p:sp>
      <p:sp>
        <p:nvSpPr>
          <p:cNvPr id="41" name="TextBox 40"/>
          <p:cNvSpPr txBox="1"/>
          <p:nvPr/>
        </p:nvSpPr>
        <p:spPr>
          <a:xfrm>
            <a:off x="6562328" y="3282695"/>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2" name="TextBox 41"/>
          <p:cNvSpPr txBox="1"/>
          <p:nvPr/>
        </p:nvSpPr>
        <p:spPr>
          <a:xfrm>
            <a:off x="6562328" y="3456431"/>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7. confirm the loop closed</a:t>
            </a:r>
          </a:p>
        </p:txBody>
      </p:sp>
      <p:sp>
        <p:nvSpPr>
          <p:cNvPr id="43" name="TextBox 42"/>
          <p:cNvSpPr txBox="1"/>
          <p:nvPr/>
        </p:nvSpPr>
        <p:spPr>
          <a:xfrm>
            <a:off x="6562328" y="3630167"/>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kubectl -n payments exec deploy/billing -- \</a:t>
            </a:r>
          </a:p>
        </p:txBody>
      </p:sp>
      <p:sp>
        <p:nvSpPr>
          <p:cNvPr id="44" name="TextBox 43"/>
          <p:cNvSpPr txBox="1"/>
          <p:nvPr/>
        </p:nvSpPr>
        <p:spPr>
          <a:xfrm>
            <a:off x="6562328" y="3803903"/>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printenv DB_PASSWORD</a:t>
            </a:r>
          </a:p>
        </p:txBody>
      </p:sp>
      <p:sp>
        <p:nvSpPr>
          <p:cNvPr id="45" name="TextBox 44"/>
          <p:cNvSpPr txBox="1"/>
          <p:nvPr/>
        </p:nvSpPr>
        <p:spPr>
          <a:xfrm>
            <a:off x="6562328" y="3977639"/>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
            </a:r>
          </a:p>
        </p:txBody>
      </p:sp>
      <p:sp>
        <p:nvSpPr>
          <p:cNvPr id="46" name="TextBox 45"/>
          <p:cNvSpPr txBox="1"/>
          <p:nvPr/>
        </p:nvSpPr>
        <p:spPr>
          <a:xfrm>
            <a:off x="6562328" y="4151376"/>
            <a:ext cx="4879832" cy="210312"/>
          </a:xfrm>
          <a:prstGeom prst="rect">
            <a:avLst/>
          </a:prstGeom>
          <a:noFill/>
        </p:spPr>
        <p:txBody>
          <a:bodyPr wrap="square" lIns="18288" rIns="18288" tIns="0" bIns="0" anchor="t">
            <a:noAutofit/>
          </a:bodyPr>
          <a:lstStyle/>
          <a:p>
            <a:pPr algn="l">
              <a:spcAft>
                <a:spcPts val="0"/>
              </a:spcAft>
            </a:pPr>
            <a:r>
              <a:rPr sz="1050" b="0" i="0">
                <a:solidFill>
                  <a:srgbClr val="2BA8D8"/>
                </a:solidFill>
                <a:latin typeface="Consolas"/>
              </a:rPr>
              <a:t># 8. and confirm Argo CD is still happy</a:t>
            </a:r>
          </a:p>
        </p:txBody>
      </p:sp>
      <p:sp>
        <p:nvSpPr>
          <p:cNvPr id="47" name="TextBox 46"/>
          <p:cNvSpPr txBox="1"/>
          <p:nvPr/>
        </p:nvSpPr>
        <p:spPr>
          <a:xfrm>
            <a:off x="6562328" y="4325112"/>
            <a:ext cx="4879832" cy="210312"/>
          </a:xfrm>
          <a:prstGeom prst="rect">
            <a:avLst/>
          </a:prstGeom>
          <a:noFill/>
        </p:spPr>
        <p:txBody>
          <a:bodyPr wrap="square" lIns="18288" rIns="18288" tIns="0" bIns="0" anchor="t">
            <a:noAutofit/>
          </a:bodyPr>
          <a:lstStyle/>
          <a:p>
            <a:pPr algn="l">
              <a:spcAft>
                <a:spcPts val="0"/>
              </a:spcAft>
            </a:pPr>
            <a:r>
              <a:rPr sz="1050" b="0" i="0">
                <a:solidFill>
                  <a:srgbClr val="D9E2F0"/>
                </a:solidFill>
                <a:latin typeface="Consolas"/>
              </a:rPr>
              <a:t>argocd app get billing-prod</a:t>
            </a:r>
          </a:p>
        </p:txBody>
      </p:sp>
      <p:sp>
        <p:nvSpPr>
          <p:cNvPr id="48" name="TextBox 47"/>
          <p:cNvSpPr txBox="1"/>
          <p:nvPr/>
        </p:nvSpPr>
        <p:spPr>
          <a:xfrm>
            <a:off x="6562328" y="4498848"/>
            <a:ext cx="4879832" cy="210312"/>
          </a:xfrm>
          <a:prstGeom prst="rect">
            <a:avLst/>
          </a:prstGeom>
          <a:noFill/>
        </p:spPr>
        <p:txBody>
          <a:bodyPr wrap="square" lIns="18288" rIns="18288" tIns="0" bIns="0" anchor="t">
            <a:noAutofit/>
          </a:bodyPr>
          <a:lstStyle/>
          <a:p>
            <a:pPr algn="l">
              <a:spcAft>
                <a:spcPts val="0"/>
              </a:spcAft>
            </a:pPr>
            <a:r>
              <a:rPr sz="1050" b="0" i="0">
                <a:solidFill>
                  <a:srgbClr val="2EB56B"/>
                </a:solidFill>
                <a:latin typeface="Consolas"/>
              </a:rPr>
              <a:t>#   Synced and Healthy - not fighting Reloader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Before You Call It Production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Twelve things to have answered. None of them are optional.</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If you cannot answer the rotation question and the revocation question, you are not finished.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06  The Three Together</a:t>
            </a:r>
          </a:p>
        </p:txBody>
      </p:sp>
      <p:sp>
        <p:nvSpPr>
          <p:cNvPr id="13" name="TextBox 12"/>
          <p:cNvSpPr txBox="1"/>
          <p:nvPr/>
        </p:nvSpPr>
        <p:spPr>
          <a:xfrm>
            <a:off x="475488" y="1645920"/>
            <a:ext cx="5428472" cy="237744"/>
          </a:xfrm>
          <a:prstGeom prst="rect">
            <a:avLst/>
          </a:prstGeom>
          <a:noFill/>
        </p:spPr>
        <p:txBody>
          <a:bodyPr wrap="square" lIns="18288" rIns="18288" tIns="0" bIns="0" anchor="t">
            <a:noAutofit/>
          </a:bodyPr>
          <a:lstStyle/>
          <a:p>
            <a:pPr algn="l">
              <a:spcAft>
                <a:spcPts val="0"/>
              </a:spcAft>
            </a:pPr>
            <a:r>
              <a:rPr sz="1050" b="1" i="0">
                <a:solidFill>
                  <a:srgbClr val="6B7A8D"/>
                </a:solidFill>
                <a:latin typeface="Calibri"/>
              </a:rPr>
              <a:t>PLATFORM AND SECURITY</a:t>
            </a:r>
          </a:p>
        </p:txBody>
      </p:sp>
      <p:sp>
        <p:nvSpPr>
          <p:cNvPr id="14" name="TextBox 13"/>
          <p:cNvSpPr txBox="1"/>
          <p:nvPr/>
        </p:nvSpPr>
        <p:spPr>
          <a:xfrm>
            <a:off x="475488" y="1979676"/>
            <a:ext cx="256032" cy="274320"/>
          </a:xfrm>
          <a:prstGeom prst="rect">
            <a:avLst/>
          </a:prstGeom>
          <a:noFill/>
        </p:spPr>
        <p:txBody>
          <a:bodyPr wrap="square" lIns="18288" rIns="18288" tIns="0" bIns="0" anchor="t">
            <a:noAutofit/>
          </a:bodyPr>
          <a:lstStyle/>
          <a:p>
            <a:pPr algn="l">
              <a:spcAft>
                <a:spcPts val="0"/>
              </a:spcAft>
            </a:pPr>
            <a:r>
              <a:rPr sz="1400" b="1" i="0">
                <a:solidFill>
                  <a:srgbClr val="F59E0B"/>
                </a:solidFill>
                <a:latin typeface="Calibri"/>
              </a:rPr>
              <a:t>▸</a:t>
            </a:r>
          </a:p>
        </p:txBody>
      </p:sp>
      <p:sp>
        <p:nvSpPr>
          <p:cNvPr id="15" name="TextBox 14"/>
          <p:cNvSpPr txBox="1"/>
          <p:nvPr/>
        </p:nvSpPr>
        <p:spPr>
          <a:xfrm>
            <a:off x="786384" y="1993392"/>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Encryption at rest  </a:t>
            </a:r>
            <a:r>
              <a:rPr sz="1200" b="0" i="0">
                <a:solidFill>
                  <a:srgbClr val="363F4D"/>
                </a:solidFill>
                <a:latin typeface="Calibri"/>
              </a:rPr>
              <a:t>is EncryptionConfiguration on, ideally KMS-backed?</a:t>
            </a:r>
          </a:p>
        </p:txBody>
      </p:sp>
      <p:sp>
        <p:nvSpPr>
          <p:cNvPr id="16" name="TextBox 15"/>
          <p:cNvSpPr txBox="1"/>
          <p:nvPr/>
        </p:nvSpPr>
        <p:spPr>
          <a:xfrm>
            <a:off x="475488" y="2546604"/>
            <a:ext cx="256032" cy="274320"/>
          </a:xfrm>
          <a:prstGeom prst="rect">
            <a:avLst/>
          </a:prstGeom>
          <a:noFill/>
        </p:spPr>
        <p:txBody>
          <a:bodyPr wrap="square" lIns="18288" rIns="18288" tIns="0" bIns="0" anchor="t">
            <a:noAutofit/>
          </a:bodyPr>
          <a:lstStyle/>
          <a:p>
            <a:pPr algn="l">
              <a:spcAft>
                <a:spcPts val="0"/>
              </a:spcAft>
            </a:pPr>
            <a:r>
              <a:rPr sz="1400" b="1" i="0">
                <a:solidFill>
                  <a:srgbClr val="F59E0B"/>
                </a:solidFill>
                <a:latin typeface="Calibri"/>
              </a:rPr>
              <a:t>▸</a:t>
            </a:r>
          </a:p>
        </p:txBody>
      </p:sp>
      <p:sp>
        <p:nvSpPr>
          <p:cNvPr id="17" name="TextBox 16"/>
          <p:cNvSpPr txBox="1"/>
          <p:nvPr/>
        </p:nvSpPr>
        <p:spPr>
          <a:xfrm>
            <a:off x="786384" y="2560320"/>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RBAC on Secrets  </a:t>
            </a:r>
            <a:r>
              <a:rPr sz="1200" b="0" i="0">
                <a:solidFill>
                  <a:srgbClr val="363F4D"/>
                </a:solidFill>
                <a:latin typeface="Calibri"/>
              </a:rPr>
              <a:t>who can get and list, and is it audited?</a:t>
            </a:r>
          </a:p>
        </p:txBody>
      </p:sp>
      <p:sp>
        <p:nvSpPr>
          <p:cNvPr id="18" name="TextBox 17"/>
          <p:cNvSpPr txBox="1"/>
          <p:nvPr/>
        </p:nvSpPr>
        <p:spPr>
          <a:xfrm>
            <a:off x="475488" y="3113532"/>
            <a:ext cx="256032" cy="274320"/>
          </a:xfrm>
          <a:prstGeom prst="rect">
            <a:avLst/>
          </a:prstGeom>
          <a:noFill/>
        </p:spPr>
        <p:txBody>
          <a:bodyPr wrap="square" lIns="18288" rIns="18288" tIns="0" bIns="0" anchor="t">
            <a:noAutofit/>
          </a:bodyPr>
          <a:lstStyle/>
          <a:p>
            <a:pPr algn="l">
              <a:spcAft>
                <a:spcPts val="0"/>
              </a:spcAft>
            </a:pPr>
            <a:r>
              <a:rPr sz="1400" b="1" i="0">
                <a:solidFill>
                  <a:srgbClr val="F59E0B"/>
                </a:solidFill>
                <a:latin typeface="Calibri"/>
              </a:rPr>
              <a:t>▸</a:t>
            </a:r>
          </a:p>
        </p:txBody>
      </p:sp>
      <p:sp>
        <p:nvSpPr>
          <p:cNvPr id="19" name="TextBox 18"/>
          <p:cNvSpPr txBox="1"/>
          <p:nvPr/>
        </p:nvSpPr>
        <p:spPr>
          <a:xfrm>
            <a:off x="786384" y="3127248"/>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Store scope  </a:t>
            </a:r>
            <a:r>
              <a:rPr sz="1200" b="0" i="0">
                <a:solidFill>
                  <a:srgbClr val="363F4D"/>
                </a:solidFill>
                <a:latin typeface="Calibri"/>
              </a:rPr>
              <a:t>does each SecretStore reach only the secrets it needs?</a:t>
            </a:r>
          </a:p>
        </p:txBody>
      </p:sp>
      <p:sp>
        <p:nvSpPr>
          <p:cNvPr id="20" name="TextBox 19"/>
          <p:cNvSpPr txBox="1"/>
          <p:nvPr/>
        </p:nvSpPr>
        <p:spPr>
          <a:xfrm>
            <a:off x="475488" y="3680460"/>
            <a:ext cx="256032" cy="274320"/>
          </a:xfrm>
          <a:prstGeom prst="rect">
            <a:avLst/>
          </a:prstGeom>
          <a:noFill/>
        </p:spPr>
        <p:txBody>
          <a:bodyPr wrap="square" lIns="18288" rIns="18288" tIns="0" bIns="0" anchor="t">
            <a:noAutofit/>
          </a:bodyPr>
          <a:lstStyle/>
          <a:p>
            <a:pPr algn="l">
              <a:spcAft>
                <a:spcPts val="0"/>
              </a:spcAft>
            </a:pPr>
            <a:r>
              <a:rPr sz="1400" b="1" i="0">
                <a:solidFill>
                  <a:srgbClr val="F59E0B"/>
                </a:solidFill>
                <a:latin typeface="Calibri"/>
              </a:rPr>
              <a:t>▸</a:t>
            </a:r>
          </a:p>
        </p:txBody>
      </p:sp>
      <p:sp>
        <p:nvSpPr>
          <p:cNvPr id="21" name="TextBox 20"/>
          <p:cNvSpPr txBox="1"/>
          <p:nvPr/>
        </p:nvSpPr>
        <p:spPr>
          <a:xfrm>
            <a:off x="786384" y="3694176"/>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Secret zero  </a:t>
            </a:r>
            <a:r>
              <a:rPr sz="1200" b="0" i="0">
                <a:solidFill>
                  <a:srgbClr val="363F4D"/>
                </a:solidFill>
                <a:latin typeface="Calibri"/>
              </a:rPr>
              <a:t>is it workload identity, not a stored key?</a:t>
            </a:r>
          </a:p>
        </p:txBody>
      </p:sp>
      <p:sp>
        <p:nvSpPr>
          <p:cNvPr id="22" name="TextBox 21"/>
          <p:cNvSpPr txBox="1"/>
          <p:nvPr/>
        </p:nvSpPr>
        <p:spPr>
          <a:xfrm>
            <a:off x="475488" y="4247388"/>
            <a:ext cx="256032" cy="274320"/>
          </a:xfrm>
          <a:prstGeom prst="rect">
            <a:avLst/>
          </a:prstGeom>
          <a:noFill/>
        </p:spPr>
        <p:txBody>
          <a:bodyPr wrap="square" lIns="18288" rIns="18288" tIns="0" bIns="0" anchor="t">
            <a:noAutofit/>
          </a:bodyPr>
          <a:lstStyle/>
          <a:p>
            <a:pPr algn="l">
              <a:spcAft>
                <a:spcPts val="0"/>
              </a:spcAft>
            </a:pPr>
            <a:r>
              <a:rPr sz="1400" b="1" i="0">
                <a:solidFill>
                  <a:srgbClr val="F59E0B"/>
                </a:solidFill>
                <a:latin typeface="Calibri"/>
              </a:rPr>
              <a:t>▸</a:t>
            </a:r>
          </a:p>
        </p:txBody>
      </p:sp>
      <p:sp>
        <p:nvSpPr>
          <p:cNvPr id="23" name="TextBox 22"/>
          <p:cNvSpPr txBox="1"/>
          <p:nvPr/>
        </p:nvSpPr>
        <p:spPr>
          <a:xfrm>
            <a:off x="786384" y="4261104"/>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deletionPolicy  </a:t>
            </a:r>
            <a:r>
              <a:rPr sz="1200" b="0" i="0">
                <a:solidFill>
                  <a:srgbClr val="363F4D"/>
                </a:solidFill>
                <a:latin typeface="Calibri"/>
              </a:rPr>
              <a:t>Retain in production unless you have a reason?</a:t>
            </a:r>
          </a:p>
        </p:txBody>
      </p:sp>
      <p:sp>
        <p:nvSpPr>
          <p:cNvPr id="24" name="TextBox 23"/>
          <p:cNvSpPr txBox="1"/>
          <p:nvPr/>
        </p:nvSpPr>
        <p:spPr>
          <a:xfrm>
            <a:off x="475488" y="4814316"/>
            <a:ext cx="256032" cy="274320"/>
          </a:xfrm>
          <a:prstGeom prst="rect">
            <a:avLst/>
          </a:prstGeom>
          <a:noFill/>
        </p:spPr>
        <p:txBody>
          <a:bodyPr wrap="square" lIns="18288" rIns="18288" tIns="0" bIns="0" anchor="t">
            <a:noAutofit/>
          </a:bodyPr>
          <a:lstStyle/>
          <a:p>
            <a:pPr algn="l">
              <a:spcAft>
                <a:spcPts val="0"/>
              </a:spcAft>
            </a:pPr>
            <a:r>
              <a:rPr sz="1400" b="1" i="0">
                <a:solidFill>
                  <a:srgbClr val="F59E0B"/>
                </a:solidFill>
                <a:latin typeface="Calibri"/>
              </a:rPr>
              <a:t>▸</a:t>
            </a:r>
          </a:p>
        </p:txBody>
      </p:sp>
      <p:sp>
        <p:nvSpPr>
          <p:cNvPr id="25" name="TextBox 24"/>
          <p:cNvSpPr txBox="1"/>
          <p:nvPr/>
        </p:nvSpPr>
        <p:spPr>
          <a:xfrm>
            <a:off x="786384" y="4828032"/>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refreshInterval  </a:t>
            </a:r>
            <a:r>
              <a:rPr sz="1200" b="0" i="0">
                <a:solidFill>
                  <a:srgbClr val="363F4D"/>
                </a:solidFill>
                <a:latin typeface="Calibri"/>
              </a:rPr>
              <a:t>tuned per secret, not globally low?</a:t>
            </a:r>
          </a:p>
        </p:txBody>
      </p:sp>
      <p:sp>
        <p:nvSpPr>
          <p:cNvPr id="26" name="TextBox 25"/>
          <p:cNvSpPr txBox="1"/>
          <p:nvPr/>
        </p:nvSpPr>
        <p:spPr>
          <a:xfrm>
            <a:off x="6288008" y="1645920"/>
            <a:ext cx="5428472" cy="237744"/>
          </a:xfrm>
          <a:prstGeom prst="rect">
            <a:avLst/>
          </a:prstGeom>
          <a:noFill/>
        </p:spPr>
        <p:txBody>
          <a:bodyPr wrap="square" lIns="18288" rIns="18288" tIns="0" bIns="0" anchor="t">
            <a:noAutofit/>
          </a:bodyPr>
          <a:lstStyle/>
          <a:p>
            <a:pPr algn="l">
              <a:spcAft>
                <a:spcPts val="0"/>
              </a:spcAft>
            </a:pPr>
            <a:r>
              <a:rPr sz="1050" b="1" i="0">
                <a:solidFill>
                  <a:srgbClr val="6B7A8D"/>
                </a:solidFill>
                <a:latin typeface="Calibri"/>
              </a:rPr>
              <a:t>DELIVERY AND OPERATIONS</a:t>
            </a:r>
          </a:p>
        </p:txBody>
      </p:sp>
      <p:sp>
        <p:nvSpPr>
          <p:cNvPr id="27" name="TextBox 26"/>
          <p:cNvSpPr txBox="1"/>
          <p:nvPr/>
        </p:nvSpPr>
        <p:spPr>
          <a:xfrm>
            <a:off x="6288008" y="1979676"/>
            <a:ext cx="256032" cy="274320"/>
          </a:xfrm>
          <a:prstGeom prst="rect">
            <a:avLst/>
          </a:prstGeom>
          <a:noFill/>
        </p:spPr>
        <p:txBody>
          <a:bodyPr wrap="square" lIns="18288" rIns="18288" tIns="0" bIns="0" anchor="t">
            <a:noAutofit/>
          </a:bodyPr>
          <a:lstStyle/>
          <a:p>
            <a:pPr algn="l">
              <a:spcAft>
                <a:spcPts val="0"/>
              </a:spcAft>
            </a:pPr>
            <a:r>
              <a:rPr sz="1400" b="1" i="0">
                <a:solidFill>
                  <a:srgbClr val="7C3AED"/>
                </a:solidFill>
                <a:latin typeface="Calibri"/>
              </a:rPr>
              <a:t>▸</a:t>
            </a:r>
          </a:p>
        </p:txBody>
      </p:sp>
      <p:sp>
        <p:nvSpPr>
          <p:cNvPr id="28" name="TextBox 27"/>
          <p:cNvSpPr txBox="1"/>
          <p:nvPr/>
        </p:nvSpPr>
        <p:spPr>
          <a:xfrm>
            <a:off x="6598904" y="1993392"/>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ignoreDifferences  </a:t>
            </a:r>
            <a:r>
              <a:rPr sz="1200" b="0" i="0">
                <a:solidFill>
                  <a:srgbClr val="363F4D"/>
                </a:solidFill>
                <a:latin typeface="Calibri"/>
              </a:rPr>
              <a:t>is Argo CD told not to fight Reloader and ESO?</a:t>
            </a:r>
          </a:p>
        </p:txBody>
      </p:sp>
      <p:sp>
        <p:nvSpPr>
          <p:cNvPr id="29" name="TextBox 28"/>
          <p:cNvSpPr txBox="1"/>
          <p:nvPr/>
        </p:nvSpPr>
        <p:spPr>
          <a:xfrm>
            <a:off x="6288008" y="2546604"/>
            <a:ext cx="256032" cy="274320"/>
          </a:xfrm>
          <a:prstGeom prst="rect">
            <a:avLst/>
          </a:prstGeom>
          <a:noFill/>
        </p:spPr>
        <p:txBody>
          <a:bodyPr wrap="square" lIns="18288" rIns="18288" tIns="0" bIns="0" anchor="t">
            <a:noAutofit/>
          </a:bodyPr>
          <a:lstStyle/>
          <a:p>
            <a:pPr algn="l">
              <a:spcAft>
                <a:spcPts val="0"/>
              </a:spcAft>
            </a:pPr>
            <a:r>
              <a:rPr sz="1400" b="1" i="0">
                <a:solidFill>
                  <a:srgbClr val="7C3AED"/>
                </a:solidFill>
                <a:latin typeface="Calibri"/>
              </a:rPr>
              <a:t>▸</a:t>
            </a:r>
          </a:p>
        </p:txBody>
      </p:sp>
      <p:sp>
        <p:nvSpPr>
          <p:cNvPr id="30" name="TextBox 29"/>
          <p:cNvSpPr txBox="1"/>
          <p:nvPr/>
        </p:nvSpPr>
        <p:spPr>
          <a:xfrm>
            <a:off x="6598904" y="2560320"/>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Sync waves  </a:t>
            </a:r>
            <a:r>
              <a:rPr sz="1200" b="0" i="0">
                <a:solidFill>
                  <a:srgbClr val="363F4D"/>
                </a:solidFill>
                <a:latin typeface="Calibri"/>
              </a:rPr>
              <a:t>store before ExternalSecret before workload?</a:t>
            </a:r>
          </a:p>
        </p:txBody>
      </p:sp>
      <p:sp>
        <p:nvSpPr>
          <p:cNvPr id="31" name="TextBox 30"/>
          <p:cNvSpPr txBox="1"/>
          <p:nvPr/>
        </p:nvSpPr>
        <p:spPr>
          <a:xfrm>
            <a:off x="6288008" y="3113532"/>
            <a:ext cx="256032" cy="274320"/>
          </a:xfrm>
          <a:prstGeom prst="rect">
            <a:avLst/>
          </a:prstGeom>
          <a:noFill/>
        </p:spPr>
        <p:txBody>
          <a:bodyPr wrap="square" lIns="18288" rIns="18288" tIns="0" bIns="0" anchor="t">
            <a:noAutofit/>
          </a:bodyPr>
          <a:lstStyle/>
          <a:p>
            <a:pPr algn="l">
              <a:spcAft>
                <a:spcPts val="0"/>
              </a:spcAft>
            </a:pPr>
            <a:r>
              <a:rPr sz="1400" b="1" i="0">
                <a:solidFill>
                  <a:srgbClr val="7C3AED"/>
                </a:solidFill>
                <a:latin typeface="Calibri"/>
              </a:rPr>
              <a:t>▸</a:t>
            </a:r>
          </a:p>
        </p:txBody>
      </p:sp>
      <p:sp>
        <p:nvSpPr>
          <p:cNvPr id="32" name="TextBox 31"/>
          <p:cNvSpPr txBox="1"/>
          <p:nvPr/>
        </p:nvSpPr>
        <p:spPr>
          <a:xfrm>
            <a:off x="6598904" y="3127248"/>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Reloader scope  </a:t>
            </a:r>
            <a:r>
              <a:rPr sz="1200" b="0" i="0">
                <a:solidFill>
                  <a:srgbClr val="363F4D"/>
                </a:solidFill>
                <a:latin typeface="Calibri"/>
              </a:rPr>
              <a:t>annotated where you meant, and only there?</a:t>
            </a:r>
          </a:p>
        </p:txBody>
      </p:sp>
      <p:sp>
        <p:nvSpPr>
          <p:cNvPr id="33" name="TextBox 32"/>
          <p:cNvSpPr txBox="1"/>
          <p:nvPr/>
        </p:nvSpPr>
        <p:spPr>
          <a:xfrm>
            <a:off x="6288008" y="3680460"/>
            <a:ext cx="256032" cy="274320"/>
          </a:xfrm>
          <a:prstGeom prst="rect">
            <a:avLst/>
          </a:prstGeom>
          <a:noFill/>
        </p:spPr>
        <p:txBody>
          <a:bodyPr wrap="square" lIns="18288" rIns="18288" tIns="0" bIns="0" anchor="t">
            <a:noAutofit/>
          </a:bodyPr>
          <a:lstStyle/>
          <a:p>
            <a:pPr algn="l">
              <a:spcAft>
                <a:spcPts val="0"/>
              </a:spcAft>
            </a:pPr>
            <a:r>
              <a:rPr sz="1400" b="1" i="0">
                <a:solidFill>
                  <a:srgbClr val="7C3AED"/>
                </a:solidFill>
                <a:latin typeface="Calibri"/>
              </a:rPr>
              <a:t>▸</a:t>
            </a:r>
          </a:p>
        </p:txBody>
      </p:sp>
      <p:sp>
        <p:nvSpPr>
          <p:cNvPr id="34" name="TextBox 33"/>
          <p:cNvSpPr txBox="1"/>
          <p:nvPr/>
        </p:nvSpPr>
        <p:spPr>
          <a:xfrm>
            <a:off x="6598904" y="3694176"/>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Rollout safety  </a:t>
            </a:r>
            <a:r>
              <a:rPr sz="1200" b="0" i="0">
                <a:solidFill>
                  <a:srgbClr val="363F4D"/>
                </a:solidFill>
                <a:latin typeface="Calibri"/>
              </a:rPr>
              <a:t>honest readiness probes and a PodDisruptionBudget?</a:t>
            </a:r>
          </a:p>
        </p:txBody>
      </p:sp>
      <p:sp>
        <p:nvSpPr>
          <p:cNvPr id="35" name="TextBox 34"/>
          <p:cNvSpPr txBox="1"/>
          <p:nvPr/>
        </p:nvSpPr>
        <p:spPr>
          <a:xfrm>
            <a:off x="6288008" y="4247388"/>
            <a:ext cx="256032" cy="274320"/>
          </a:xfrm>
          <a:prstGeom prst="rect">
            <a:avLst/>
          </a:prstGeom>
          <a:noFill/>
        </p:spPr>
        <p:txBody>
          <a:bodyPr wrap="square" lIns="18288" rIns="18288" tIns="0" bIns="0" anchor="t">
            <a:noAutofit/>
          </a:bodyPr>
          <a:lstStyle/>
          <a:p>
            <a:pPr algn="l">
              <a:spcAft>
                <a:spcPts val="0"/>
              </a:spcAft>
            </a:pPr>
            <a:r>
              <a:rPr sz="1400" b="1" i="0">
                <a:solidFill>
                  <a:srgbClr val="7C3AED"/>
                </a:solidFill>
                <a:latin typeface="Calibri"/>
              </a:rPr>
              <a:t>▸</a:t>
            </a:r>
          </a:p>
        </p:txBody>
      </p:sp>
      <p:sp>
        <p:nvSpPr>
          <p:cNvPr id="36" name="TextBox 35"/>
          <p:cNvSpPr txBox="1"/>
          <p:nvPr/>
        </p:nvSpPr>
        <p:spPr>
          <a:xfrm>
            <a:off x="6598904" y="4261104"/>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Revocation path  </a:t>
            </a:r>
            <a:r>
              <a:rPr sz="1200" b="0" i="0">
                <a:solidFill>
                  <a:srgbClr val="363F4D"/>
                </a:solidFill>
                <a:latin typeface="Calibri"/>
              </a:rPr>
              <a:t>can you kill a credential without waiting for a roll?</a:t>
            </a:r>
          </a:p>
        </p:txBody>
      </p:sp>
      <p:sp>
        <p:nvSpPr>
          <p:cNvPr id="37" name="TextBox 36"/>
          <p:cNvSpPr txBox="1"/>
          <p:nvPr/>
        </p:nvSpPr>
        <p:spPr>
          <a:xfrm>
            <a:off x="6288008" y="4814316"/>
            <a:ext cx="256032" cy="274320"/>
          </a:xfrm>
          <a:prstGeom prst="rect">
            <a:avLst/>
          </a:prstGeom>
          <a:noFill/>
        </p:spPr>
        <p:txBody>
          <a:bodyPr wrap="square" lIns="18288" rIns="18288" tIns="0" bIns="0" anchor="t">
            <a:noAutofit/>
          </a:bodyPr>
          <a:lstStyle/>
          <a:p>
            <a:pPr algn="l">
              <a:spcAft>
                <a:spcPts val="0"/>
              </a:spcAft>
            </a:pPr>
            <a:r>
              <a:rPr sz="1400" b="1" i="0">
                <a:solidFill>
                  <a:srgbClr val="7C3AED"/>
                </a:solidFill>
                <a:latin typeface="Calibri"/>
              </a:rPr>
              <a:t>▸</a:t>
            </a:r>
          </a:p>
        </p:txBody>
      </p:sp>
      <p:sp>
        <p:nvSpPr>
          <p:cNvPr id="38" name="TextBox 37"/>
          <p:cNvSpPr txBox="1"/>
          <p:nvPr/>
        </p:nvSpPr>
        <p:spPr>
          <a:xfrm>
            <a:off x="6598904" y="4828032"/>
            <a:ext cx="5117576" cy="274320"/>
          </a:xfrm>
          <a:prstGeom prst="rect">
            <a:avLst/>
          </a:prstGeom>
          <a:noFill/>
        </p:spPr>
        <p:txBody>
          <a:bodyPr wrap="square" lIns="18288" rIns="18288" tIns="0" bIns="0" anchor="t">
            <a:noAutofit/>
          </a:bodyPr>
          <a:lstStyle/>
          <a:p>
            <a:pPr algn="l">
              <a:lnSpc>
                <a:spcPct val="120000"/>
              </a:lnSpc>
              <a:spcAft>
                <a:spcPts val="0"/>
              </a:spcAft>
            </a:pPr>
            <a:r>
              <a:rPr sz="1200" b="1" i="0">
                <a:solidFill>
                  <a:srgbClr val="1F2B3D"/>
                </a:solidFill>
                <a:latin typeface="Calibri"/>
              </a:rPr>
              <a:t>Alerting  </a:t>
            </a:r>
            <a:r>
              <a:rPr sz="1200" b="0" i="0">
                <a:solidFill>
                  <a:srgbClr val="363F4D"/>
                </a:solidFill>
                <a:latin typeface="Calibri"/>
              </a:rPr>
              <a:t>does a failing ExternalSecret page anyone?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SECTION 07</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75234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Running It For Real</a:t>
            </a:r>
          </a:p>
        </p:txBody>
      </p:sp>
      <p:sp>
        <p:nvSpPr>
          <p:cNvPr id="7" name="TextBox 6"/>
          <p:cNvSpPr txBox="1"/>
          <p:nvPr/>
        </p:nvSpPr>
        <p:spPr>
          <a:xfrm>
            <a:off x="1325880" y="312978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Multiple clusters, alerting, disaster recovery, and how to adopt any of this.</a:t>
            </a:r>
          </a:p>
        </p:txBody>
      </p:sp>
      <p:sp>
        <p:nvSpPr>
          <p:cNvPr id="8" name="Rectangle 7"/>
          <p:cNvSpPr/>
          <p:nvPr/>
        </p:nvSpPr>
        <p:spPr>
          <a:xfrm>
            <a:off x="1344168" y="3879596"/>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378815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More than one cluster</a:t>
            </a:r>
          </a:p>
        </p:txBody>
      </p:sp>
      <p:sp>
        <p:nvSpPr>
          <p:cNvPr id="10" name="Rectangle 9"/>
          <p:cNvSpPr/>
          <p:nvPr/>
        </p:nvSpPr>
        <p:spPr>
          <a:xfrm>
            <a:off x="1344168" y="4263644"/>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17220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What to watch and what to alert on</a:t>
            </a:r>
          </a:p>
        </p:txBody>
      </p:sp>
      <p:sp>
        <p:nvSpPr>
          <p:cNvPr id="12" name="Rectangle 11"/>
          <p:cNvSpPr/>
          <p:nvPr/>
        </p:nvSpPr>
        <p:spPr>
          <a:xfrm>
            <a:off x="1344168" y="4647692"/>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455625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Rebuilding a cluster from nothing</a:t>
            </a:r>
          </a:p>
        </p:txBody>
      </p:sp>
      <p:sp>
        <p:nvSpPr>
          <p:cNvPr id="14" name="Rectangle 13"/>
          <p:cNvSpPr/>
          <p:nvPr/>
        </p:nvSpPr>
        <p:spPr>
          <a:xfrm>
            <a:off x="1344168" y="5031740"/>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494030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Anti-patterns, and an adoption path that does not need a big bang</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07</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07  Running It For Real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More Than One Cluster</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moment there are three environments, the layout decisions you deferred come due.</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One Argo CD managing many clusters, one store definition per cluster, one manifest set for all of them.</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ounded Rectangle 12"/>
          <p:cNvSpPr/>
          <p:nvPr/>
        </p:nvSpPr>
        <p:spPr>
          <a:xfrm>
            <a:off x="475488" y="1645920"/>
            <a:ext cx="3564117" cy="1874519"/>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3564117"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One Argo CD, many clusters</a:t>
            </a:r>
          </a:p>
        </p:txBody>
      </p:sp>
      <p:sp>
        <p:nvSpPr>
          <p:cNvPr id="16" name="TextBox 15"/>
          <p:cNvSpPr txBox="1"/>
          <p:nvPr/>
        </p:nvSpPr>
        <p:spPr>
          <a:xfrm>
            <a:off x="658368" y="2304288"/>
            <a:ext cx="3198357" cy="109727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single control plane registers dev, staging and prod as destinations. Fewer moving parts, and one place to see everything — but also one blast radius.</a:t>
            </a:r>
          </a:p>
        </p:txBody>
      </p:sp>
      <p:sp>
        <p:nvSpPr>
          <p:cNvPr id="17" name="Rounded Rectangle 16"/>
          <p:cNvSpPr/>
          <p:nvPr/>
        </p:nvSpPr>
        <p:spPr>
          <a:xfrm>
            <a:off x="4313925" y="1645920"/>
            <a:ext cx="3564117" cy="1874519"/>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13925" y="1645920"/>
            <a:ext cx="3564117"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6805"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Argo CD per cluster</a:t>
            </a:r>
          </a:p>
        </p:txBody>
      </p:sp>
      <p:sp>
        <p:nvSpPr>
          <p:cNvPr id="20" name="TextBox 19"/>
          <p:cNvSpPr txBox="1"/>
          <p:nvPr/>
        </p:nvSpPr>
        <p:spPr>
          <a:xfrm>
            <a:off x="4496805" y="2304288"/>
            <a:ext cx="3198357" cy="109727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Stronger isolation and no cross-environment access. More to install, upgrade and watch, and no single view.</a:t>
            </a:r>
          </a:p>
        </p:txBody>
      </p:sp>
      <p:sp>
        <p:nvSpPr>
          <p:cNvPr id="21" name="Rounded Rectangle 20"/>
          <p:cNvSpPr/>
          <p:nvPr/>
        </p:nvSpPr>
        <p:spPr>
          <a:xfrm>
            <a:off x="8152363" y="1645920"/>
            <a:ext cx="3564117" cy="1874519"/>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152363" y="1645920"/>
            <a:ext cx="3564117"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35243"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ApplicationSet does the fan-out</a:t>
            </a:r>
          </a:p>
        </p:txBody>
      </p:sp>
      <p:sp>
        <p:nvSpPr>
          <p:cNvPr id="24" name="TextBox 23"/>
          <p:cNvSpPr txBox="1"/>
          <p:nvPr/>
        </p:nvSpPr>
        <p:spPr>
          <a:xfrm>
            <a:off x="8335243" y="2304288"/>
            <a:ext cx="3198357" cy="109727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Either way, a cluster generator produces one Application per registered cluster, so adding an environment is a label rather than a folder.</a:t>
            </a:r>
          </a:p>
        </p:txBody>
      </p:sp>
      <p:sp>
        <p:nvSpPr>
          <p:cNvPr id="25" name="Rounded Rectangle 24"/>
          <p:cNvSpPr/>
          <p:nvPr/>
        </p:nvSpPr>
        <p:spPr>
          <a:xfrm>
            <a:off x="475488" y="3749039"/>
            <a:ext cx="11240993" cy="1865376"/>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3749039"/>
            <a:ext cx="77724" cy="1865376"/>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31520" y="389534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part that trips people up</a:t>
            </a:r>
          </a:p>
        </p:txBody>
      </p:sp>
      <p:sp>
        <p:nvSpPr>
          <p:cNvPr id="28" name="TextBox 27"/>
          <p:cNvSpPr txBox="1"/>
          <p:nvPr/>
        </p:nvSpPr>
        <p:spPr>
          <a:xfrm>
            <a:off x="731520" y="4297679"/>
            <a:ext cx="10783793" cy="1188720"/>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The ExternalSecret manifest is identical in every environment — but the value behind prod/billing/postgres must not be. Keep the *path* consistent and the *content* separated, either by naming convention (dev/…, prod/…) or by a different store per cluster.</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The failure to avoid is a staging cluster whose ClusterSecretStore can read production secrets. It is easy to do by accident when you copy the store manifest between clusters, and it silently removes the boundary you thought you had.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to Watch, and What to Alert On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All three controllers export Prometheus metrics. Only a few of them matter.</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Alert on a failing sync and a failing secret fetch. Everything else is a dashboard.</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ectangle 12"/>
          <p:cNvSpPr/>
          <p:nvPr/>
        </p:nvSpPr>
        <p:spPr>
          <a:xfrm>
            <a:off x="475488" y="1645920"/>
            <a:ext cx="370332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Signal</a:t>
            </a:r>
          </a:p>
        </p:txBody>
      </p:sp>
      <p:sp>
        <p:nvSpPr>
          <p:cNvPr id="14" name="Rectangle 13"/>
          <p:cNvSpPr/>
          <p:nvPr/>
        </p:nvSpPr>
        <p:spPr>
          <a:xfrm>
            <a:off x="4178808" y="1645920"/>
            <a:ext cx="5120640"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Why it matters</a:t>
            </a:r>
          </a:p>
        </p:txBody>
      </p:sp>
      <p:sp>
        <p:nvSpPr>
          <p:cNvPr id="15" name="Rectangle 14"/>
          <p:cNvSpPr/>
          <p:nvPr/>
        </p:nvSpPr>
        <p:spPr>
          <a:xfrm>
            <a:off x="9299448" y="1645920"/>
            <a:ext cx="2414016" cy="420624"/>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Alert?</a:t>
            </a:r>
          </a:p>
        </p:txBody>
      </p:sp>
      <p:sp>
        <p:nvSpPr>
          <p:cNvPr id="16" name="Rectangle 15"/>
          <p:cNvSpPr/>
          <p:nvPr/>
        </p:nvSpPr>
        <p:spPr>
          <a:xfrm>
            <a:off x="475488" y="2066544"/>
            <a:ext cx="3703320"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ExternalSecret not Ready</a:t>
            </a:r>
          </a:p>
        </p:txBody>
      </p:sp>
      <p:sp>
        <p:nvSpPr>
          <p:cNvPr id="17" name="Rectangle 16"/>
          <p:cNvSpPr/>
          <p:nvPr/>
        </p:nvSpPr>
        <p:spPr>
          <a:xfrm>
            <a:off x="4178808" y="2066544"/>
            <a:ext cx="5120640"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credential in the cluster is now frozen at whatever it last was</a:t>
            </a:r>
          </a:p>
        </p:txBody>
      </p:sp>
      <p:sp>
        <p:nvSpPr>
          <p:cNvPr id="18" name="Rectangle 17"/>
          <p:cNvSpPr/>
          <p:nvPr/>
        </p:nvSpPr>
        <p:spPr>
          <a:xfrm>
            <a:off x="9299448" y="2066544"/>
            <a:ext cx="2414016"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Yes — page</a:t>
            </a:r>
          </a:p>
        </p:txBody>
      </p:sp>
      <p:sp>
        <p:nvSpPr>
          <p:cNvPr id="19" name="Rectangle 18"/>
          <p:cNvSpPr/>
          <p:nvPr/>
        </p:nvSpPr>
        <p:spPr>
          <a:xfrm>
            <a:off x="475488" y="2453640"/>
            <a:ext cx="3703320"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SecretStore not Ready</a:t>
            </a:r>
          </a:p>
        </p:txBody>
      </p:sp>
      <p:sp>
        <p:nvSpPr>
          <p:cNvPr id="20" name="Rectangle 19"/>
          <p:cNvSpPr/>
          <p:nvPr/>
        </p:nvSpPr>
        <p:spPr>
          <a:xfrm>
            <a:off x="4178808" y="2453640"/>
            <a:ext cx="5120640"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Every fetch in scope is failing; usually an expired or misconfigured identity</a:t>
            </a:r>
          </a:p>
        </p:txBody>
      </p:sp>
      <p:sp>
        <p:nvSpPr>
          <p:cNvPr id="21" name="Rectangle 20"/>
          <p:cNvSpPr/>
          <p:nvPr/>
        </p:nvSpPr>
        <p:spPr>
          <a:xfrm>
            <a:off x="9299448" y="2453640"/>
            <a:ext cx="2414016"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Yes — page</a:t>
            </a:r>
          </a:p>
        </p:txBody>
      </p:sp>
      <p:sp>
        <p:nvSpPr>
          <p:cNvPr id="22" name="Rectangle 21"/>
          <p:cNvSpPr/>
          <p:nvPr/>
        </p:nvSpPr>
        <p:spPr>
          <a:xfrm>
            <a:off x="475488" y="2840736"/>
            <a:ext cx="3703320"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Application OutOfSync for over an hour</a:t>
            </a:r>
          </a:p>
        </p:txBody>
      </p:sp>
      <p:sp>
        <p:nvSpPr>
          <p:cNvPr id="23" name="Rectangle 22"/>
          <p:cNvSpPr/>
          <p:nvPr/>
        </p:nvSpPr>
        <p:spPr>
          <a:xfrm>
            <a:off x="4178808" y="2840736"/>
            <a:ext cx="5120640"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Either real drift or an ignoreDifferences you still owe</a:t>
            </a:r>
          </a:p>
        </p:txBody>
      </p:sp>
      <p:sp>
        <p:nvSpPr>
          <p:cNvPr id="24" name="Rectangle 23"/>
          <p:cNvSpPr/>
          <p:nvPr/>
        </p:nvSpPr>
        <p:spPr>
          <a:xfrm>
            <a:off x="9299448" y="2840736"/>
            <a:ext cx="2414016"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Yes — ticket</a:t>
            </a:r>
          </a:p>
        </p:txBody>
      </p:sp>
      <p:sp>
        <p:nvSpPr>
          <p:cNvPr id="25" name="Rectangle 24"/>
          <p:cNvSpPr/>
          <p:nvPr/>
        </p:nvSpPr>
        <p:spPr>
          <a:xfrm>
            <a:off x="475488" y="3227832"/>
            <a:ext cx="3703320"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Application Degraded</a:t>
            </a:r>
          </a:p>
        </p:txBody>
      </p:sp>
      <p:sp>
        <p:nvSpPr>
          <p:cNvPr id="26" name="Rectangle 25"/>
          <p:cNvSpPr/>
          <p:nvPr/>
        </p:nvSpPr>
        <p:spPr>
          <a:xfrm>
            <a:off x="4178808" y="3227832"/>
            <a:ext cx="5120640"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workload is unhealthy; Argo CD is only the messenger</a:t>
            </a:r>
          </a:p>
        </p:txBody>
      </p:sp>
      <p:sp>
        <p:nvSpPr>
          <p:cNvPr id="27" name="Rectangle 26"/>
          <p:cNvSpPr/>
          <p:nvPr/>
        </p:nvSpPr>
        <p:spPr>
          <a:xfrm>
            <a:off x="9299448" y="3227832"/>
            <a:ext cx="2414016"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Yes — page</a:t>
            </a:r>
          </a:p>
        </p:txBody>
      </p:sp>
      <p:sp>
        <p:nvSpPr>
          <p:cNvPr id="28" name="Rectangle 27"/>
          <p:cNvSpPr/>
          <p:nvPr/>
        </p:nvSpPr>
        <p:spPr>
          <a:xfrm>
            <a:off x="475488" y="3614928"/>
            <a:ext cx="3703320"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Reloader reload count</a:t>
            </a:r>
          </a:p>
        </p:txBody>
      </p:sp>
      <p:sp>
        <p:nvSpPr>
          <p:cNvPr id="29" name="Rectangle 28"/>
          <p:cNvSpPr/>
          <p:nvPr/>
        </p:nvSpPr>
        <p:spPr>
          <a:xfrm>
            <a:off x="4178808" y="3614928"/>
            <a:ext cx="5120640"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 sudden spike means something is rewriting a Secret in a loop</a:t>
            </a:r>
          </a:p>
        </p:txBody>
      </p:sp>
      <p:sp>
        <p:nvSpPr>
          <p:cNvPr id="30" name="Rectangle 29"/>
          <p:cNvSpPr/>
          <p:nvPr/>
        </p:nvSpPr>
        <p:spPr>
          <a:xfrm>
            <a:off x="9299448" y="3614928"/>
            <a:ext cx="2414016" cy="387096"/>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Dashboard</a:t>
            </a:r>
          </a:p>
        </p:txBody>
      </p:sp>
      <p:sp>
        <p:nvSpPr>
          <p:cNvPr id="31" name="Rectangle 30"/>
          <p:cNvSpPr/>
          <p:nvPr/>
        </p:nvSpPr>
        <p:spPr>
          <a:xfrm>
            <a:off x="475488" y="4002024"/>
            <a:ext cx="3703320"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Secret manager API call rate</a:t>
            </a:r>
          </a:p>
        </p:txBody>
      </p:sp>
      <p:sp>
        <p:nvSpPr>
          <p:cNvPr id="32" name="Rectangle 31"/>
          <p:cNvSpPr/>
          <p:nvPr/>
        </p:nvSpPr>
        <p:spPr>
          <a:xfrm>
            <a:off x="4178808" y="4002024"/>
            <a:ext cx="5120640"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Your refreshInterval times your ExternalSecret count. Watch the bill</a:t>
            </a:r>
          </a:p>
        </p:txBody>
      </p:sp>
      <p:sp>
        <p:nvSpPr>
          <p:cNvPr id="33" name="Rectangle 32"/>
          <p:cNvSpPr/>
          <p:nvPr/>
        </p:nvSpPr>
        <p:spPr>
          <a:xfrm>
            <a:off x="9299448" y="4002024"/>
            <a:ext cx="2414016" cy="387096"/>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Dashboard</a:t>
            </a:r>
          </a:p>
        </p:txBody>
      </p:sp>
      <p:sp>
        <p:nvSpPr>
          <p:cNvPr id="34" name="Rounded Rectangle 33"/>
          <p:cNvSpPr/>
          <p:nvPr/>
        </p:nvSpPr>
        <p:spPr>
          <a:xfrm>
            <a:off x="475488" y="4608576"/>
            <a:ext cx="11240993" cy="1005840"/>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75488" y="4608576"/>
            <a:ext cx="77724" cy="100584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31520" y="4754880"/>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alert people forget</a:t>
            </a:r>
          </a:p>
        </p:txBody>
      </p:sp>
      <p:sp>
        <p:nvSpPr>
          <p:cNvPr id="37" name="TextBox 36"/>
          <p:cNvSpPr txBox="1"/>
          <p:nvPr/>
        </p:nvSpPr>
        <p:spPr>
          <a:xfrm>
            <a:off x="731520" y="5157216"/>
            <a:ext cx="10783793" cy="329184"/>
          </a:xfrm>
          <a:prstGeom prst="rect">
            <a:avLst/>
          </a:prstGeom>
          <a:noFill/>
        </p:spPr>
        <p:txBody>
          <a:bodyPr wrap="square" lIns="18288" rIns="18288" tIns="0" bIns="0" anchor="t">
            <a:noAutofit/>
          </a:bodyPr>
          <a:lstStyle/>
          <a:p>
            <a:pPr algn="l">
              <a:lnSpc>
                <a:spcPct val="124000"/>
              </a:lnSpc>
              <a:spcAft>
                <a:spcPts val="0"/>
              </a:spcAft>
            </a:pPr>
            <a:r>
              <a:rPr sz="850" b="0" i="0">
                <a:solidFill>
                  <a:srgbClr val="363F4D"/>
                </a:solidFill>
                <a:latin typeface="Calibri"/>
              </a:rPr>
              <a:t>A stale credential is silent. Nothing is failing — the old value still works, right up until the provider revokes it. Alert on the ExternalSecret's last successful sync time, not only on errors, or you will find out from your users.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What This Actually Costs to Run</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Small numbers multiplied by large numbers. Do the arithmetic before the bill does it for you.</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Cost scales with ExternalSecret count divided by refreshInterval. Both are yours to choose.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ounded Rectangle 12"/>
          <p:cNvSpPr/>
          <p:nvPr/>
        </p:nvSpPr>
        <p:spPr>
          <a:xfrm>
            <a:off x="475488" y="1645920"/>
            <a:ext cx="5428472" cy="22128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77724" cy="22128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179222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arithmetic</a:t>
            </a:r>
          </a:p>
        </p:txBody>
      </p:sp>
      <p:sp>
        <p:nvSpPr>
          <p:cNvPr id="16" name="TextBox 15"/>
          <p:cNvSpPr txBox="1"/>
          <p:nvPr/>
        </p:nvSpPr>
        <p:spPr>
          <a:xfrm>
            <a:off x="731520" y="2194560"/>
            <a:ext cx="4971272" cy="1536192"/>
          </a:xfrm>
          <a:prstGeom prst="rect">
            <a:avLst/>
          </a:prstGeom>
          <a:noFill/>
        </p:spPr>
        <p:txBody>
          <a:bodyPr wrap="square" lIns="18288" rIns="18288" tIns="0" bIns="0" anchor="t">
            <a:noAutofit/>
          </a:bodyPr>
          <a:lstStyle/>
          <a:p>
            <a:pPr algn="l">
              <a:lnSpc>
                <a:spcPct val="124000"/>
              </a:lnSpc>
              <a:spcAft>
                <a:spcPts val="0"/>
              </a:spcAft>
            </a:pPr>
            <a:r>
              <a:rPr sz="1000" b="0" i="0">
                <a:solidFill>
                  <a:srgbClr val="363F4D"/>
                </a:solidFill>
                <a:latin typeface="Calibri"/>
              </a:rPr>
              <a:t>Every ExternalSecret makes one provider API call per refreshInterval, per key.</a:t>
            </a:r>
          </a:p>
          <a:p>
            <a:pPr algn="l">
              <a:lnSpc>
                <a:spcPct val="124000"/>
              </a:lnSpc>
              <a:spcAft>
                <a:spcPts val="0"/>
              </a:spcAft>
            </a:pPr>
            <a:r>
              <a:rPr sz="1000" b="0" i="0">
                <a:solidFill>
                  <a:srgbClr val="363F4D"/>
                </a:solidFill>
                <a:latin typeface="Calibri"/>
              </a:rPr>
              <a:t/>
            </a:r>
          </a:p>
          <a:p>
            <a:pPr algn="l">
              <a:lnSpc>
                <a:spcPct val="124000"/>
              </a:lnSpc>
              <a:spcAft>
                <a:spcPts val="0"/>
              </a:spcAft>
            </a:pPr>
            <a:r>
              <a:rPr sz="1000" b="0" i="0">
                <a:solidFill>
                  <a:srgbClr val="363F4D"/>
                </a:solidFill>
                <a:latin typeface="Calibri"/>
              </a:rPr>
              <a:t>400 ExternalSecrets at a one-hour interval is about 9,600 calls a day. The same 400 at one minute is 576,000 — sixty times the cost, and close to provider rate limits.</a:t>
            </a:r>
          </a:p>
          <a:p>
            <a:pPr algn="l">
              <a:lnSpc>
                <a:spcPct val="124000"/>
              </a:lnSpc>
              <a:spcAft>
                <a:spcPts val="0"/>
              </a:spcAft>
            </a:pPr>
            <a:r>
              <a:rPr sz="1000" b="0" i="0">
                <a:solidFill>
                  <a:srgbClr val="363F4D"/>
                </a:solidFill>
                <a:latin typeface="Calibri"/>
              </a:rPr>
              <a:t/>
            </a:r>
          </a:p>
          <a:p>
            <a:pPr algn="l">
              <a:lnSpc>
                <a:spcPct val="124000"/>
              </a:lnSpc>
              <a:spcAft>
                <a:spcPts val="0"/>
              </a:spcAft>
            </a:pPr>
            <a:r>
              <a:rPr sz="1000" b="0" i="0">
                <a:solidFill>
                  <a:srgbClr val="363F4D"/>
                </a:solidFill>
                <a:latin typeface="Calibri"/>
              </a:rPr>
              <a:t>Nothing warns you. It appears as a bill, or as throttling that looks like an ESO bug.</a:t>
            </a:r>
          </a:p>
        </p:txBody>
      </p:sp>
      <p:sp>
        <p:nvSpPr>
          <p:cNvPr id="17" name="Rounded Rectangle 16"/>
          <p:cNvSpPr/>
          <p:nvPr/>
        </p:nvSpPr>
        <p:spPr>
          <a:xfrm>
            <a:off x="6288008" y="1645920"/>
            <a:ext cx="5428472" cy="221284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88008" y="1645920"/>
            <a:ext cx="77724" cy="221284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44040" y="179222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compute is negligible</a:t>
            </a:r>
          </a:p>
        </p:txBody>
      </p:sp>
      <p:sp>
        <p:nvSpPr>
          <p:cNvPr id="20" name="TextBox 19"/>
          <p:cNvSpPr txBox="1"/>
          <p:nvPr/>
        </p:nvSpPr>
        <p:spPr>
          <a:xfrm>
            <a:off x="6544040" y="2194560"/>
            <a:ext cx="4971272" cy="1536192"/>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All three controllers are small. ESO and Reloader are tens of megabytes of memory in most clusters; Argo CD's repo-server is the only component that wants real CPU, and only while rendering.</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If Argo CD feels slow, it is almost always repo-server rendering large Helm charts, not the controllers.</a:t>
            </a:r>
          </a:p>
        </p:txBody>
      </p:sp>
      <p:sp>
        <p:nvSpPr>
          <p:cNvPr id="21" name="Rounded Rectangle 20"/>
          <p:cNvSpPr/>
          <p:nvPr/>
        </p:nvSpPr>
        <p:spPr>
          <a:xfrm>
            <a:off x="475488" y="4078224"/>
            <a:ext cx="3564117"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75488" y="4078224"/>
            <a:ext cx="3564117"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4325112"/>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Tune per secret</a:t>
            </a:r>
          </a:p>
        </p:txBody>
      </p:sp>
      <p:sp>
        <p:nvSpPr>
          <p:cNvPr id="24" name="TextBox 23"/>
          <p:cNvSpPr txBox="1"/>
          <p:nvPr/>
        </p:nvSpPr>
        <p:spPr>
          <a:xfrm>
            <a:off x="658368" y="4736592"/>
            <a:ext cx="3198357" cy="75895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 certificate that rotates every 90 days does not need a one-minute refresh. Set the interval to match how often the value genuinely changes.</a:t>
            </a:r>
          </a:p>
        </p:txBody>
      </p:sp>
      <p:sp>
        <p:nvSpPr>
          <p:cNvPr id="25" name="Rounded Rectangle 24"/>
          <p:cNvSpPr/>
          <p:nvPr/>
        </p:nvSpPr>
        <p:spPr>
          <a:xfrm>
            <a:off x="4313925" y="4078224"/>
            <a:ext cx="3564117"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13925" y="4078224"/>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496805" y="4325112"/>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Watch the call rate</a:t>
            </a:r>
          </a:p>
        </p:txBody>
      </p:sp>
      <p:sp>
        <p:nvSpPr>
          <p:cNvPr id="28" name="TextBox 27"/>
          <p:cNvSpPr txBox="1"/>
          <p:nvPr/>
        </p:nvSpPr>
        <p:spPr>
          <a:xfrm>
            <a:off x="4496805" y="4736592"/>
            <a:ext cx="3198357" cy="75895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Graph provider API calls next to your ExternalSecret count. A step change means somebody lowered an interval.</a:t>
            </a:r>
          </a:p>
        </p:txBody>
      </p:sp>
      <p:sp>
        <p:nvSpPr>
          <p:cNvPr id="29" name="Rounded Rectangle 28"/>
          <p:cNvSpPr/>
          <p:nvPr/>
        </p:nvSpPr>
        <p:spPr>
          <a:xfrm>
            <a:off x="8152363" y="4078224"/>
            <a:ext cx="3564117" cy="1536192"/>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152363" y="4078224"/>
            <a:ext cx="3564117" cy="68580"/>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35243" y="4325112"/>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Cache where you can</a:t>
            </a:r>
          </a:p>
        </p:txBody>
      </p:sp>
      <p:sp>
        <p:nvSpPr>
          <p:cNvPr id="32" name="TextBox 31"/>
          <p:cNvSpPr txBox="1"/>
          <p:nvPr/>
        </p:nvSpPr>
        <p:spPr>
          <a:xfrm>
            <a:off x="8335243" y="4736592"/>
            <a:ext cx="3198357" cy="758952"/>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Fewer, larger secrets cost less than many single-key ones — one call can return a whole JSON document you then template apart.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Rebuilding a Cluster From Nothing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The real test of whether you have GitOps or just a lot of YAML.</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If rebuilding needs a backup of your Secrets, the architecture has not finished the job.</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ounded Rectangle 12"/>
          <p:cNvSpPr/>
          <p:nvPr/>
        </p:nvSpPr>
        <p:spPr>
          <a:xfrm>
            <a:off x="475488" y="1645920"/>
            <a:ext cx="2604508" cy="1051560"/>
          </a:xfrm>
          <a:prstGeom prst="roundRect">
            <a:avLst>
              <a:gd name="adj" fmla="val 12000"/>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New cluster</a:t>
            </a:r>
          </a:p>
          <a:p>
            <a:pPr algn="ctr"/>
            <a:r>
              <a:rPr sz="400" b="1" i="0">
                <a:solidFill>
                  <a:srgbClr val="FFFFFF"/>
                </a:solidFill>
                <a:latin typeface="Calibri"/>
              </a:rPr>
              <a:t/>
            </a:r>
          </a:p>
          <a:p>
            <a:pPr algn="ctr"/>
            <a:r>
              <a:rPr sz="1100" b="0" i="0">
                <a:solidFill>
                  <a:srgbClr val="DCE6F5"/>
                </a:solidFill>
                <a:latin typeface="Calibri"/>
              </a:rPr>
              <a:t>empty, with cloud identity configured</a:t>
            </a:r>
          </a:p>
        </p:txBody>
      </p:sp>
      <p:sp>
        <p:nvSpPr>
          <p:cNvPr id="14" name="Oval 13"/>
          <p:cNvSpPr/>
          <p:nvPr/>
        </p:nvSpPr>
        <p:spPr>
          <a:xfrm>
            <a:off x="1631438"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5" name="Right Arrow 14"/>
          <p:cNvSpPr/>
          <p:nvPr/>
        </p:nvSpPr>
        <p:spPr>
          <a:xfrm>
            <a:off x="3121144" y="208940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54316" y="1645920"/>
            <a:ext cx="2604508" cy="1051560"/>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Install Argo CD</a:t>
            </a:r>
          </a:p>
          <a:p>
            <a:pPr algn="ctr"/>
            <a:r>
              <a:rPr sz="400" b="1" i="0">
                <a:solidFill>
                  <a:srgbClr val="FFFFFF"/>
                </a:solidFill>
                <a:latin typeface="Calibri"/>
              </a:rPr>
              <a:t/>
            </a:r>
          </a:p>
          <a:p>
            <a:pPr algn="ctr"/>
            <a:r>
              <a:rPr sz="1100" b="0" i="0">
                <a:solidFill>
                  <a:srgbClr val="DCE6F5"/>
                </a:solidFill>
                <a:latin typeface="Calibri"/>
              </a:rPr>
              <a:t>the one manual step</a:t>
            </a:r>
          </a:p>
        </p:txBody>
      </p:sp>
      <p:sp>
        <p:nvSpPr>
          <p:cNvPr id="17" name="Oval 16"/>
          <p:cNvSpPr/>
          <p:nvPr/>
        </p:nvSpPr>
        <p:spPr>
          <a:xfrm>
            <a:off x="4510266"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8" name="Right Arrow 17"/>
          <p:cNvSpPr/>
          <p:nvPr/>
        </p:nvSpPr>
        <p:spPr>
          <a:xfrm>
            <a:off x="5999972" y="208940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33144" y="1645920"/>
            <a:ext cx="2604508" cy="1051560"/>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Apply the root Application</a:t>
            </a:r>
          </a:p>
          <a:p>
            <a:pPr algn="ctr"/>
            <a:r>
              <a:rPr sz="400" b="1" i="0">
                <a:solidFill>
                  <a:srgbClr val="FFFFFF"/>
                </a:solidFill>
                <a:latin typeface="Calibri"/>
              </a:rPr>
              <a:t/>
            </a:r>
          </a:p>
          <a:p>
            <a:pPr algn="ctr"/>
            <a:r>
              <a:rPr sz="1100" b="0" i="0">
                <a:solidFill>
                  <a:srgbClr val="DCE6F5"/>
                </a:solidFill>
                <a:latin typeface="Calibri"/>
              </a:rPr>
              <a:t>the second and last</a:t>
            </a:r>
          </a:p>
        </p:txBody>
      </p:sp>
      <p:sp>
        <p:nvSpPr>
          <p:cNvPr id="20" name="Oval 19"/>
          <p:cNvSpPr/>
          <p:nvPr/>
        </p:nvSpPr>
        <p:spPr>
          <a:xfrm>
            <a:off x="7389094"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1" name="Right Arrow 20"/>
          <p:cNvSpPr/>
          <p:nvPr/>
        </p:nvSpPr>
        <p:spPr>
          <a:xfrm>
            <a:off x="8878801" y="2089404"/>
            <a:ext cx="192024" cy="164592"/>
          </a:xfrm>
          <a:prstGeom prst="rightArrow">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11973" y="1645920"/>
            <a:ext cx="2604508" cy="1051560"/>
          </a:xfrm>
          <a:prstGeom prst="roundRect">
            <a:avLst>
              <a:gd name="adj" fmla="val 12000"/>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300" b="1" i="0">
                <a:solidFill>
                  <a:srgbClr val="FFFFFF"/>
                </a:solidFill>
                <a:latin typeface="Calibri"/>
              </a:rPr>
              <a:t>Everything else follows</a:t>
            </a:r>
          </a:p>
          <a:p>
            <a:pPr algn="ctr"/>
            <a:r>
              <a:rPr sz="400" b="1" i="0">
                <a:solidFill>
                  <a:srgbClr val="FFFFFF"/>
                </a:solidFill>
                <a:latin typeface="Calibri"/>
              </a:rPr>
              <a:t/>
            </a:r>
          </a:p>
          <a:p>
            <a:pPr algn="ctr"/>
            <a:r>
              <a:rPr sz="1100" b="0" i="0">
                <a:solidFill>
                  <a:srgbClr val="DCE6F5"/>
                </a:solidFill>
                <a:latin typeface="Calibri"/>
              </a:rPr>
              <a:t>add-ons, apps, stores, secrets</a:t>
            </a:r>
          </a:p>
        </p:txBody>
      </p:sp>
      <p:sp>
        <p:nvSpPr>
          <p:cNvPr id="23" name="Oval 22"/>
          <p:cNvSpPr/>
          <p:nvPr/>
        </p:nvSpPr>
        <p:spPr>
          <a:xfrm>
            <a:off x="10267923" y="1490472"/>
            <a:ext cx="292608" cy="292608"/>
          </a:xfrm>
          <a:prstGeom prst="ellipse">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Rounded Rectangle 23"/>
          <p:cNvSpPr/>
          <p:nvPr/>
        </p:nvSpPr>
        <p:spPr>
          <a:xfrm>
            <a:off x="475488" y="3108960"/>
            <a:ext cx="5428472" cy="248716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108960"/>
            <a:ext cx="77724" cy="248716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325526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Why the secrets take care of themselves</a:t>
            </a:r>
          </a:p>
        </p:txBody>
      </p:sp>
      <p:sp>
        <p:nvSpPr>
          <p:cNvPr id="27" name="TextBox 26"/>
          <p:cNvSpPr txBox="1"/>
          <p:nvPr/>
        </p:nvSpPr>
        <p:spPr>
          <a:xfrm>
            <a:off x="731520" y="3657600"/>
            <a:ext cx="4971272" cy="1810512"/>
          </a:xfrm>
          <a:prstGeom prst="rect">
            <a:avLst/>
          </a:prstGeom>
          <a:noFill/>
        </p:spPr>
        <p:txBody>
          <a:bodyPr wrap="square" lIns="18288" rIns="18288" tIns="0" bIns="0" anchor="t">
            <a:noAutofit/>
          </a:bodyPr>
          <a:lstStyle/>
          <a:p>
            <a:pPr algn="l">
              <a:lnSpc>
                <a:spcPct val="124000"/>
              </a:lnSpc>
              <a:spcAft>
                <a:spcPts val="0"/>
              </a:spcAft>
            </a:pPr>
            <a:r>
              <a:rPr sz="1050" b="0" i="0">
                <a:solidFill>
                  <a:srgbClr val="363F4D"/>
                </a:solidFill>
                <a:latin typeface="Calibri"/>
              </a:rPr>
              <a:t>You never backed them up, because they were never the source of truth. The values live in the secret manager, which is backed up, replicated and audited by the provider.</a:t>
            </a:r>
          </a:p>
          <a:p>
            <a:pPr algn="l">
              <a:lnSpc>
                <a:spcPct val="124000"/>
              </a:lnSpc>
              <a:spcAft>
                <a:spcPts val="0"/>
              </a:spcAft>
            </a:pPr>
            <a:r>
              <a:rPr sz="1050" b="0" i="0">
                <a:solidFill>
                  <a:srgbClr val="363F4D"/>
                </a:solidFill>
                <a:latin typeface="Calibri"/>
              </a:rPr>
              <a:t/>
            </a:r>
          </a:p>
          <a:p>
            <a:pPr algn="l">
              <a:lnSpc>
                <a:spcPct val="124000"/>
              </a:lnSpc>
              <a:spcAft>
                <a:spcPts val="0"/>
              </a:spcAft>
            </a:pPr>
            <a:r>
              <a:rPr sz="1050" b="0" i="0">
                <a:solidFill>
                  <a:srgbClr val="363F4D"/>
                </a:solidFill>
                <a:latin typeface="Calibri"/>
              </a:rPr>
              <a:t>ESO recreates every Kubernetes Secret from scratch on the new cluster, as soon as the store can authenticate.</a:t>
            </a:r>
          </a:p>
          <a:p>
            <a:pPr algn="l">
              <a:lnSpc>
                <a:spcPct val="124000"/>
              </a:lnSpc>
              <a:spcAft>
                <a:spcPts val="0"/>
              </a:spcAft>
            </a:pPr>
            <a:r>
              <a:rPr sz="1050" b="0" i="0">
                <a:solidFill>
                  <a:srgbClr val="363F4D"/>
                </a:solidFill>
                <a:latin typeface="Calibri"/>
              </a:rPr>
              <a:t/>
            </a:r>
          </a:p>
          <a:p>
            <a:pPr algn="l">
              <a:lnSpc>
                <a:spcPct val="124000"/>
              </a:lnSpc>
              <a:spcAft>
                <a:spcPts val="0"/>
              </a:spcAft>
            </a:pPr>
            <a:r>
              <a:rPr sz="1050" b="0" i="0">
                <a:solidFill>
                  <a:srgbClr val="363F4D"/>
                </a:solidFill>
                <a:latin typeface="Calibri"/>
              </a:rPr>
              <a:t>This is the strongest practical argument for the whole architecture, and it is the one that convinces sceptical operations teams.</a:t>
            </a:r>
          </a:p>
        </p:txBody>
      </p:sp>
      <p:sp>
        <p:nvSpPr>
          <p:cNvPr id="28" name="Rounded Rectangle 27"/>
          <p:cNvSpPr/>
          <p:nvPr/>
        </p:nvSpPr>
        <p:spPr>
          <a:xfrm>
            <a:off x="6288008" y="3108960"/>
            <a:ext cx="5428472" cy="2487168"/>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88008" y="3108960"/>
            <a:ext cx="77724" cy="2487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44040" y="325526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What you still have to plan for</a:t>
            </a:r>
          </a:p>
        </p:txBody>
      </p:sp>
      <p:sp>
        <p:nvSpPr>
          <p:cNvPr id="31" name="TextBox 30"/>
          <p:cNvSpPr txBox="1"/>
          <p:nvPr/>
        </p:nvSpPr>
        <p:spPr>
          <a:xfrm>
            <a:off x="6544040" y="3657600"/>
            <a:ext cx="4971272" cy="1810512"/>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 Cloud identity — the IAM role or federated credential must exist before the store can authenticate. That is Terraform's job, not Argo CD's.</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 Anything genuinely generated in-cluster and never stored elsewhere. If something creates its own key at install time, PushSecret it out or you will lose it.</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 Stateful data. None of this backs up a database.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Keeping All Three Current</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Each project has a different support window, and one of them is unusually short.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ESO supports only its latest minor. Treat upgrading it as routine maintenance, not a project.</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ectangle 12"/>
          <p:cNvSpPr/>
          <p:nvPr/>
        </p:nvSpPr>
        <p:spPr>
          <a:xfrm>
            <a:off x="475488" y="1645920"/>
            <a:ext cx="292608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Project</a:t>
            </a:r>
          </a:p>
        </p:txBody>
      </p:sp>
      <p:sp>
        <p:nvSpPr>
          <p:cNvPr id="14" name="Rectangle 13"/>
          <p:cNvSpPr/>
          <p:nvPr/>
        </p:nvSpPr>
        <p:spPr>
          <a:xfrm>
            <a:off x="3401568" y="1645920"/>
            <a:ext cx="3017520" cy="42062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Support window</a:t>
            </a:r>
          </a:p>
        </p:txBody>
      </p:sp>
      <p:sp>
        <p:nvSpPr>
          <p:cNvPr id="15" name="Rectangle 14"/>
          <p:cNvSpPr/>
          <p:nvPr/>
        </p:nvSpPr>
        <p:spPr>
          <a:xfrm>
            <a:off x="6419088" y="1645920"/>
            <a:ext cx="5294376" cy="420624"/>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200" b="1" i="0">
                <a:solidFill>
                  <a:srgbClr val="FFFFFF"/>
                </a:solidFill>
                <a:latin typeface="Calibri"/>
              </a:rPr>
              <a:t>What that means for you</a:t>
            </a:r>
          </a:p>
        </p:txBody>
      </p:sp>
      <p:sp>
        <p:nvSpPr>
          <p:cNvPr id="16" name="Rectangle 15"/>
          <p:cNvSpPr/>
          <p:nvPr/>
        </p:nvSpPr>
        <p:spPr>
          <a:xfrm>
            <a:off x="475488" y="2066544"/>
            <a:ext cx="2926080" cy="5151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Argo CD</a:t>
            </a:r>
          </a:p>
        </p:txBody>
      </p:sp>
      <p:sp>
        <p:nvSpPr>
          <p:cNvPr id="17" name="Rectangle 16"/>
          <p:cNvSpPr/>
          <p:nvPr/>
        </p:nvSpPr>
        <p:spPr>
          <a:xfrm>
            <a:off x="3401568" y="2066544"/>
            <a:ext cx="3017520" cy="5151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three most recent minors, roughly a year</a:t>
            </a:r>
          </a:p>
        </p:txBody>
      </p:sp>
      <p:sp>
        <p:nvSpPr>
          <p:cNvPr id="18" name="Rectangle 17"/>
          <p:cNvSpPr/>
          <p:nvPr/>
        </p:nvSpPr>
        <p:spPr>
          <a:xfrm>
            <a:off x="6419088" y="2066544"/>
            <a:ext cx="5294376" cy="5151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A minor every quarter. Plan an upgrade two or three times a year</a:t>
            </a:r>
          </a:p>
        </p:txBody>
      </p:sp>
      <p:sp>
        <p:nvSpPr>
          <p:cNvPr id="19" name="Rectangle 18"/>
          <p:cNvSpPr/>
          <p:nvPr/>
        </p:nvSpPr>
        <p:spPr>
          <a:xfrm>
            <a:off x="475488" y="2581656"/>
            <a:ext cx="2926080" cy="5151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External Secrets Operator</a:t>
            </a:r>
          </a:p>
        </p:txBody>
      </p:sp>
      <p:sp>
        <p:nvSpPr>
          <p:cNvPr id="20" name="Rectangle 19"/>
          <p:cNvSpPr/>
          <p:nvPr/>
        </p:nvSpPr>
        <p:spPr>
          <a:xfrm>
            <a:off x="3401568" y="2581656"/>
            <a:ext cx="3017520" cy="5151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the current minor only</a:t>
            </a:r>
          </a:p>
        </p:txBody>
      </p:sp>
      <p:sp>
        <p:nvSpPr>
          <p:cNvPr id="21" name="Rectangle 20"/>
          <p:cNvSpPr/>
          <p:nvPr/>
        </p:nvSpPr>
        <p:spPr>
          <a:xfrm>
            <a:off x="6419088" y="2581656"/>
            <a:ext cx="5294376" cy="515112"/>
          </a:xfrm>
          <a:prstGeom prst="rect">
            <a:avLst/>
          </a:prstGeom>
          <a:solidFill>
            <a:srgbClr val="F6F8FB"/>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Upgrade promptly. Falling behind means no security fixes at all</a:t>
            </a:r>
          </a:p>
        </p:txBody>
      </p:sp>
      <p:sp>
        <p:nvSpPr>
          <p:cNvPr id="22" name="Rectangle 21"/>
          <p:cNvSpPr/>
          <p:nvPr/>
        </p:nvSpPr>
        <p:spPr>
          <a:xfrm>
            <a:off x="475488" y="3096768"/>
            <a:ext cx="2926080" cy="5151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l"/>
            <a:r>
              <a:rPr sz="1100" b="1" i="0">
                <a:solidFill>
                  <a:srgbClr val="1F2B3D"/>
                </a:solidFill>
                <a:latin typeface="Calibri"/>
              </a:rPr>
              <a:t>Reloader</a:t>
            </a:r>
          </a:p>
        </p:txBody>
      </p:sp>
      <p:sp>
        <p:nvSpPr>
          <p:cNvPr id="23" name="Rectangle 22"/>
          <p:cNvSpPr/>
          <p:nvPr/>
        </p:nvSpPr>
        <p:spPr>
          <a:xfrm>
            <a:off x="3401568" y="3096768"/>
            <a:ext cx="3017520" cy="5151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current release</a:t>
            </a:r>
          </a:p>
        </p:txBody>
      </p:sp>
      <p:sp>
        <p:nvSpPr>
          <p:cNvPr id="24" name="Rectangle 23"/>
          <p:cNvSpPr/>
          <p:nvPr/>
        </p:nvSpPr>
        <p:spPr>
          <a:xfrm>
            <a:off x="6419088" y="3096768"/>
            <a:ext cx="5294376" cy="515112"/>
          </a:xfrm>
          <a:prstGeom prst="rect">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r>
              <a:rPr sz="1100" b="0" i="0">
                <a:solidFill>
                  <a:srgbClr val="363F4D"/>
                </a:solidFill>
                <a:latin typeface="Calibri"/>
              </a:rPr>
              <a:t>Small, low-risk, and rarely breaking. Upgrade with your other add-ons</a:t>
            </a:r>
          </a:p>
        </p:txBody>
      </p:sp>
      <p:sp>
        <p:nvSpPr>
          <p:cNvPr id="25" name="Rounded Rectangle 24"/>
          <p:cNvSpPr/>
          <p:nvPr/>
        </p:nvSpPr>
        <p:spPr>
          <a:xfrm>
            <a:off x="475488" y="3840480"/>
            <a:ext cx="5428472" cy="1773936"/>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3840480"/>
            <a:ext cx="77724" cy="1773936"/>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31520" y="398678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Upgrade them the same way you deploy everything else</a:t>
            </a:r>
          </a:p>
        </p:txBody>
      </p:sp>
      <p:sp>
        <p:nvSpPr>
          <p:cNvPr id="28" name="TextBox 27"/>
          <p:cNvSpPr txBox="1"/>
          <p:nvPr/>
        </p:nvSpPr>
        <p:spPr>
          <a:xfrm>
            <a:off x="731520" y="4389120"/>
            <a:ext cx="4971272" cy="1097280"/>
          </a:xfrm>
          <a:prstGeom prst="rect">
            <a:avLst/>
          </a:prstGeom>
          <a:noFill/>
        </p:spPr>
        <p:txBody>
          <a:bodyPr wrap="square" lIns="18288" rIns="18288" tIns="0" bIns="0" anchor="t">
            <a:noAutofit/>
          </a:bodyPr>
          <a:lstStyle/>
          <a:p>
            <a:pPr algn="l">
              <a:lnSpc>
                <a:spcPct val="124000"/>
              </a:lnSpc>
              <a:spcAft>
                <a:spcPts val="0"/>
              </a:spcAft>
            </a:pPr>
            <a:r>
              <a:rPr sz="1050" b="0" i="0">
                <a:solidFill>
                  <a:srgbClr val="363F4D"/>
                </a:solidFill>
                <a:latin typeface="Calibri"/>
              </a:rPr>
              <a:t>All three are add-ons managed by Argo CD from the platform/ folder. An upgrade is a version bump in a commit, reviewed and rolled out like any other change.</a:t>
            </a:r>
          </a:p>
          <a:p>
            <a:pPr algn="l">
              <a:lnSpc>
                <a:spcPct val="124000"/>
              </a:lnSpc>
              <a:spcAft>
                <a:spcPts val="0"/>
              </a:spcAft>
            </a:pPr>
            <a:r>
              <a:rPr sz="1050" b="0" i="0">
                <a:solidFill>
                  <a:srgbClr val="363F4D"/>
                </a:solidFill>
                <a:latin typeface="Calibri"/>
              </a:rPr>
              <a:t/>
            </a:r>
          </a:p>
          <a:p>
            <a:pPr algn="l">
              <a:lnSpc>
                <a:spcPct val="124000"/>
              </a:lnSpc>
              <a:spcAft>
                <a:spcPts val="0"/>
              </a:spcAft>
            </a:pPr>
            <a:r>
              <a:rPr sz="1050" b="0" i="0">
                <a:solidFill>
                  <a:srgbClr val="363F4D"/>
                </a:solidFill>
                <a:latin typeface="Calibri"/>
              </a:rPr>
              <a:t>That is the payoff for putting the platform in Git alongside the applications.</a:t>
            </a:r>
          </a:p>
        </p:txBody>
      </p:sp>
      <p:sp>
        <p:nvSpPr>
          <p:cNvPr id="29" name="Rounded Rectangle 28"/>
          <p:cNvSpPr/>
          <p:nvPr/>
        </p:nvSpPr>
        <p:spPr>
          <a:xfrm>
            <a:off x="6288008" y="3840480"/>
            <a:ext cx="5428472" cy="1773936"/>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88008" y="3840480"/>
            <a:ext cx="77724" cy="17739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44040" y="3986784"/>
            <a:ext cx="4971272"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one to read release notes for</a:t>
            </a:r>
          </a:p>
        </p:txBody>
      </p:sp>
      <p:sp>
        <p:nvSpPr>
          <p:cNvPr id="32" name="TextBox 31"/>
          <p:cNvSpPr txBox="1"/>
          <p:nvPr/>
        </p:nvSpPr>
        <p:spPr>
          <a:xfrm>
            <a:off x="6544040" y="4389120"/>
            <a:ext cx="4971272" cy="1097280"/>
          </a:xfrm>
          <a:prstGeom prst="rect">
            <a:avLst/>
          </a:prstGeom>
          <a:noFill/>
        </p:spPr>
        <p:txBody>
          <a:bodyPr wrap="square" lIns="18288" rIns="18288" tIns="0" bIns="0" anchor="t">
            <a:noAutofit/>
          </a:bodyPr>
          <a:lstStyle/>
          <a:p>
            <a:pPr algn="l">
              <a:lnSpc>
                <a:spcPct val="124000"/>
              </a:lnSpc>
              <a:spcAft>
                <a:spcPts val="0"/>
              </a:spcAft>
            </a:pPr>
            <a:r>
              <a:rPr sz="1150" b="0" i="0">
                <a:solidFill>
                  <a:srgbClr val="363F4D"/>
                </a:solidFill>
                <a:latin typeface="Calibri"/>
              </a:rPr>
              <a:t>CRD changes. An API version moving from v1beta1 to v1 needs the CRDs updated before the controller, and manifests updated after.</a:t>
            </a:r>
          </a:p>
          <a:p>
            <a:pPr algn="l">
              <a:lnSpc>
                <a:spcPct val="124000"/>
              </a:lnSpc>
              <a:spcAft>
                <a:spcPts val="0"/>
              </a:spcAft>
            </a:pPr>
            <a:r>
              <a:rPr sz="1150" b="0" i="0">
                <a:solidFill>
                  <a:srgbClr val="363F4D"/>
                </a:solidFill>
                <a:latin typeface="Calibri"/>
              </a:rPr>
              <a:t/>
            </a:r>
          </a:p>
          <a:p>
            <a:pPr algn="l">
              <a:lnSpc>
                <a:spcPct val="124000"/>
              </a:lnSpc>
              <a:spcAft>
                <a:spcPts val="0"/>
              </a:spcAft>
            </a:pPr>
            <a:r>
              <a:rPr sz="1150" b="0" i="0">
                <a:solidFill>
                  <a:srgbClr val="363F4D"/>
                </a:solidFill>
                <a:latin typeface="Calibri"/>
              </a:rPr>
              <a:t>Let Argo CD own the CRDs so the change is visible in a diff rather than applied invisibly by a Helm hook.</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Anti-Patterns to Recognise</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Every one of these is something a real team has shipped.</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Most of these come from adopting one tool and leaving the gap the next one was meant to fill.</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ounded Rectangle 12"/>
          <p:cNvSpPr/>
          <p:nvPr/>
        </p:nvSpPr>
        <p:spPr>
          <a:xfrm>
            <a:off x="475488" y="1645920"/>
            <a:ext cx="5114652" cy="665683"/>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We put the AWS access key in a Secret so ESO can authenticate.</a:t>
            </a:r>
          </a:p>
        </p:txBody>
      </p:sp>
      <p:sp>
        <p:nvSpPr>
          <p:cNvPr id="14" name="Oval 13"/>
          <p:cNvSpPr/>
          <p:nvPr/>
        </p:nvSpPr>
        <p:spPr>
          <a:xfrm>
            <a:off x="603504" y="1869033"/>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5" name="Right Arrow 14"/>
          <p:cNvSpPr/>
          <p:nvPr/>
        </p:nvSpPr>
        <p:spPr>
          <a:xfrm>
            <a:off x="5645004" y="1910181"/>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74188" y="1645920"/>
            <a:ext cx="5742293" cy="665683"/>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You have re-created secret zero. Use IRSA, Pod Identity or Workload Identity — the whole point is to hold no key.</a:t>
            </a:r>
          </a:p>
        </p:txBody>
      </p:sp>
      <p:sp>
        <p:nvSpPr>
          <p:cNvPr id="17" name="Oval 16"/>
          <p:cNvSpPr/>
          <p:nvPr/>
        </p:nvSpPr>
        <p:spPr>
          <a:xfrm>
            <a:off x="6102204" y="1869033"/>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18" name="Rounded Rectangle 17"/>
          <p:cNvSpPr/>
          <p:nvPr/>
        </p:nvSpPr>
        <p:spPr>
          <a:xfrm>
            <a:off x="475488" y="2457907"/>
            <a:ext cx="5114652" cy="665683"/>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We set refreshInterval to 30s everywhere so rotation is fast.</a:t>
            </a:r>
          </a:p>
        </p:txBody>
      </p:sp>
      <p:sp>
        <p:nvSpPr>
          <p:cNvPr id="19" name="Oval 18"/>
          <p:cNvSpPr/>
          <p:nvPr/>
        </p:nvSpPr>
        <p:spPr>
          <a:xfrm>
            <a:off x="603504" y="2681020"/>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0" name="Right Arrow 19"/>
          <p:cNvSpPr/>
          <p:nvPr/>
        </p:nvSpPr>
        <p:spPr>
          <a:xfrm>
            <a:off x="5645004" y="2722168"/>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74188" y="2457907"/>
            <a:ext cx="5742293" cy="665683"/>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You have built a rate-limit incident and a bill. Tune the few secrets that rotate often; leave the rest at an hour.</a:t>
            </a:r>
          </a:p>
        </p:txBody>
      </p:sp>
      <p:sp>
        <p:nvSpPr>
          <p:cNvPr id="22" name="Oval 21"/>
          <p:cNvSpPr/>
          <p:nvPr/>
        </p:nvSpPr>
        <p:spPr>
          <a:xfrm>
            <a:off x="6102204" y="2681020"/>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3" name="Rounded Rectangle 22"/>
          <p:cNvSpPr/>
          <p:nvPr/>
        </p:nvSpPr>
        <p:spPr>
          <a:xfrm>
            <a:off x="475488" y="3269894"/>
            <a:ext cx="5114652" cy="665683"/>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Argo CD has been OutOfSync for weeks, we know it is just Reloader.</a:t>
            </a:r>
          </a:p>
        </p:txBody>
      </p:sp>
      <p:sp>
        <p:nvSpPr>
          <p:cNvPr id="24" name="Oval 23"/>
          <p:cNvSpPr/>
          <p:nvPr/>
        </p:nvSpPr>
        <p:spPr>
          <a:xfrm>
            <a:off x="603504" y="3493008"/>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5" name="Right Arrow 24"/>
          <p:cNvSpPr/>
          <p:nvPr/>
        </p:nvSpPr>
        <p:spPr>
          <a:xfrm>
            <a:off x="5645004" y="3534156"/>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974188" y="3269894"/>
            <a:ext cx="5742293" cy="665683"/>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Then you no longer have drift detection. Add ignoreDifferences and get the signal back.</a:t>
            </a:r>
          </a:p>
        </p:txBody>
      </p:sp>
      <p:sp>
        <p:nvSpPr>
          <p:cNvPr id="27" name="Oval 26"/>
          <p:cNvSpPr/>
          <p:nvPr/>
        </p:nvSpPr>
        <p:spPr>
          <a:xfrm>
            <a:off x="6102204" y="3493008"/>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28" name="Rounded Rectangle 27"/>
          <p:cNvSpPr/>
          <p:nvPr/>
        </p:nvSpPr>
        <p:spPr>
          <a:xfrm>
            <a:off x="475488" y="4081881"/>
            <a:ext cx="5114652" cy="665683"/>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We disabled selfHeal so people can hotfix production.</a:t>
            </a:r>
          </a:p>
        </p:txBody>
      </p:sp>
      <p:sp>
        <p:nvSpPr>
          <p:cNvPr id="29" name="Oval 28"/>
          <p:cNvSpPr/>
          <p:nvPr/>
        </p:nvSpPr>
        <p:spPr>
          <a:xfrm>
            <a:off x="603504" y="4304995"/>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0" name="Right Arrow 29"/>
          <p:cNvSpPr/>
          <p:nvPr/>
        </p:nvSpPr>
        <p:spPr>
          <a:xfrm>
            <a:off x="5645004" y="4346143"/>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974188" y="4081881"/>
            <a:ext cx="5742293" cy="665683"/>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Now the cluster and Git disagree and nothing tells you. If hotfixes are necessary, make committing them fast instead.</a:t>
            </a:r>
          </a:p>
        </p:txBody>
      </p:sp>
      <p:sp>
        <p:nvSpPr>
          <p:cNvPr id="32" name="Oval 31"/>
          <p:cNvSpPr/>
          <p:nvPr/>
        </p:nvSpPr>
        <p:spPr>
          <a:xfrm>
            <a:off x="6102204" y="4304995"/>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3" name="Rounded Rectangle 32"/>
          <p:cNvSpPr/>
          <p:nvPr/>
        </p:nvSpPr>
        <p:spPr>
          <a:xfrm>
            <a:off x="475488" y="4893868"/>
            <a:ext cx="5114652" cy="665683"/>
          </a:xfrm>
          <a:prstGeom prst="roundRect">
            <a:avLst>
              <a:gd name="adj" fmla="val 8000"/>
            </a:avLst>
          </a:prstGeom>
          <a:solidFill>
            <a:srgbClr val="FDF0F0"/>
          </a:solidFill>
          <a:ln w="12700">
            <a:solidFill>
              <a:srgbClr val="D93B3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9B2222"/>
                </a:solidFill>
                <a:latin typeface="Calibri"/>
              </a:rPr>
              <a:t>Secrets are in Git but they are encrypted with SOPS, so it is fine.</a:t>
            </a:r>
          </a:p>
        </p:txBody>
      </p:sp>
      <p:sp>
        <p:nvSpPr>
          <p:cNvPr id="34" name="Oval 33"/>
          <p:cNvSpPr/>
          <p:nvPr/>
        </p:nvSpPr>
        <p:spPr>
          <a:xfrm>
            <a:off x="603504" y="5116982"/>
            <a:ext cx="219456" cy="219456"/>
          </a:xfrm>
          <a:prstGeom prst="ellipse">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
        <p:nvSpPr>
          <p:cNvPr id="35" name="Right Arrow 34"/>
          <p:cNvSpPr/>
          <p:nvPr/>
        </p:nvSpPr>
        <p:spPr>
          <a:xfrm>
            <a:off x="5645004" y="5158130"/>
            <a:ext cx="256032" cy="137160"/>
          </a:xfrm>
          <a:prstGeom prst="rightArrow">
            <a:avLst/>
          </a:prstGeom>
          <a:solidFill>
            <a:srgbClr val="6B7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974188" y="4893868"/>
            <a:ext cx="5742293" cy="665683"/>
          </a:xfrm>
          <a:prstGeom prst="roundRect">
            <a:avLst>
              <a:gd name="adj" fmla="val 8000"/>
            </a:avLst>
          </a:prstGeom>
          <a:solidFill>
            <a:srgbClr val="EBF8F1"/>
          </a:solidFill>
          <a:ln w="12700">
            <a:solidFill>
              <a:srgbClr val="2EB56B"/>
            </a:solidFill>
          </a:ln>
          <a:effectLst/>
        </p:spPr>
        <p:style>
          <a:lnRef idx="1">
            <a:schemeClr val="accent1"/>
          </a:lnRef>
          <a:fillRef idx="3">
            <a:schemeClr val="accent1"/>
          </a:fillRef>
          <a:effectRef idx="2">
            <a:schemeClr val="accent1"/>
          </a:effectRef>
          <a:fontRef idx="minor">
            <a:schemeClr val="lt1"/>
          </a:fontRef>
        </p:style>
        <p:txBody>
          <a:bodyPr rtlCol="0" anchor="ctr" wrap="square" lIns="420624">
            <a:noAutofit/>
          </a:bodyPr>
          <a:lstStyle/>
          <a:p>
            <a:pPr algn="l"/>
            <a:r>
              <a:rPr sz="1250" b="1" i="0">
                <a:solidFill>
                  <a:srgbClr val="146C43"/>
                </a:solidFill>
                <a:latin typeface="Calibri"/>
              </a:rPr>
              <a:t>Defensible, but understand the trade: you still version ciphertext, still deploy to rotate, and still hold a key that opens the history.</a:t>
            </a:r>
          </a:p>
        </p:txBody>
      </p:sp>
      <p:sp>
        <p:nvSpPr>
          <p:cNvPr id="37" name="Oval 36"/>
          <p:cNvSpPr/>
          <p:nvPr/>
        </p:nvSpPr>
        <p:spPr>
          <a:xfrm>
            <a:off x="6102204" y="5116982"/>
            <a:ext cx="219456" cy="219456"/>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When Not to Do Any of This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Being honest about the cases where this architecture is the wrong answer.</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The overhead is real. It is repaid by scale, by rotation frequency, and by audit requirements.</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ounded Rectangle 12"/>
          <p:cNvSpPr/>
          <p:nvPr/>
        </p:nvSpPr>
        <p:spPr>
          <a:xfrm>
            <a:off x="475488" y="1645920"/>
            <a:ext cx="3564117" cy="1874519"/>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3564117" cy="6858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58368"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One cluster, three services, two people</a:t>
            </a:r>
          </a:p>
        </p:txBody>
      </p:sp>
      <p:sp>
        <p:nvSpPr>
          <p:cNvPr id="16" name="TextBox 15"/>
          <p:cNvSpPr txBox="1"/>
          <p:nvPr/>
        </p:nvSpPr>
        <p:spPr>
          <a:xfrm>
            <a:off x="658368" y="2304288"/>
            <a:ext cx="3198357" cy="109727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Argo CD is probably still worth it for the drift visibility alone. ESO usually is not — the operational overhead exceeds the risk it removes.</a:t>
            </a:r>
          </a:p>
        </p:txBody>
      </p:sp>
      <p:sp>
        <p:nvSpPr>
          <p:cNvPr id="17" name="Rounded Rectangle 16"/>
          <p:cNvSpPr/>
          <p:nvPr/>
        </p:nvSpPr>
        <p:spPr>
          <a:xfrm>
            <a:off x="4313925" y="1645920"/>
            <a:ext cx="3564117" cy="1874519"/>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13925" y="1645920"/>
            <a:ext cx="3564117"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496805"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No external secret manager, and none coming</a:t>
            </a:r>
          </a:p>
        </p:txBody>
      </p:sp>
      <p:sp>
        <p:nvSpPr>
          <p:cNvPr id="20" name="TextBox 19"/>
          <p:cNvSpPr txBox="1"/>
          <p:nvPr/>
        </p:nvSpPr>
        <p:spPr>
          <a:xfrm>
            <a:off x="4496805" y="2304288"/>
            <a:ext cx="3198357" cy="109727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ESO has nothing to talk to. Sealed Secrets or SOPS gives you most of the benefit without a vault to run.</a:t>
            </a:r>
          </a:p>
        </p:txBody>
      </p:sp>
      <p:sp>
        <p:nvSpPr>
          <p:cNvPr id="21" name="Rounded Rectangle 20"/>
          <p:cNvSpPr/>
          <p:nvPr/>
        </p:nvSpPr>
        <p:spPr>
          <a:xfrm>
            <a:off x="8152363" y="1645920"/>
            <a:ext cx="3564117" cy="1874519"/>
          </a:xfrm>
          <a:prstGeom prst="roundRect">
            <a:avLst>
              <a:gd name="adj" fmla="val 9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152363" y="1645920"/>
            <a:ext cx="3564117"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35243" y="1892808"/>
            <a:ext cx="3198357" cy="310896"/>
          </a:xfrm>
          <a:prstGeom prst="rect">
            <a:avLst/>
          </a:prstGeom>
          <a:noFill/>
        </p:spPr>
        <p:txBody>
          <a:bodyPr wrap="square" lIns="18288" rIns="18288" tIns="0" bIns="0" anchor="t">
            <a:noAutofit/>
          </a:bodyPr>
          <a:lstStyle/>
          <a:p>
            <a:pPr algn="l">
              <a:spcAft>
                <a:spcPts val="0"/>
              </a:spcAft>
            </a:pPr>
            <a:r>
              <a:rPr sz="1300" b="1" i="0">
                <a:solidFill>
                  <a:srgbClr val="1F2B3D"/>
                </a:solidFill>
                <a:latin typeface="Calibri"/>
              </a:rPr>
              <a:t>Hard requirement that no Secret object ever exists</a:t>
            </a:r>
          </a:p>
        </p:txBody>
      </p:sp>
      <p:sp>
        <p:nvSpPr>
          <p:cNvPr id="24" name="TextBox 23"/>
          <p:cNvSpPr txBox="1"/>
          <p:nvPr/>
        </p:nvSpPr>
        <p:spPr>
          <a:xfrm>
            <a:off x="8335243" y="2304288"/>
            <a:ext cx="3198357" cy="1097279"/>
          </a:xfrm>
          <a:prstGeom prst="rect">
            <a:avLst/>
          </a:prstGeom>
          <a:noFill/>
        </p:spPr>
        <p:txBody>
          <a:bodyPr wrap="square" lIns="18288" rIns="18288" tIns="0" bIns="0" anchor="t">
            <a:noAutofit/>
          </a:bodyPr>
          <a:lstStyle/>
          <a:p>
            <a:pPr algn="l">
              <a:lnSpc>
                <a:spcPct val="122000"/>
              </a:lnSpc>
              <a:spcAft>
                <a:spcPts val="0"/>
              </a:spcAft>
            </a:pPr>
            <a:r>
              <a:rPr sz="1150" b="0" i="0">
                <a:solidFill>
                  <a:srgbClr val="363F4D"/>
                </a:solidFill>
                <a:latin typeface="Calibri"/>
              </a:rPr>
              <a:t>Some compliance regimes say the value must never rest in etcd. That points to the CSI driver, not to ESO.</a:t>
            </a:r>
          </a:p>
        </p:txBody>
      </p:sp>
      <p:sp>
        <p:nvSpPr>
          <p:cNvPr id="25" name="Rounded Rectangle 24"/>
          <p:cNvSpPr/>
          <p:nvPr/>
        </p:nvSpPr>
        <p:spPr>
          <a:xfrm>
            <a:off x="475488" y="3749039"/>
            <a:ext cx="11240993" cy="1865376"/>
          </a:xfrm>
          <a:prstGeom prst="roundRect">
            <a:avLst>
              <a:gd name="adj" fmla="val 8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5488" y="3749039"/>
            <a:ext cx="77724" cy="1865376"/>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31520" y="3895344"/>
            <a:ext cx="10783793" cy="292608"/>
          </a:xfrm>
          <a:prstGeom prst="rect">
            <a:avLst/>
          </a:prstGeom>
          <a:noFill/>
        </p:spPr>
        <p:txBody>
          <a:bodyPr wrap="square" lIns="18288" rIns="18288" tIns="0" bIns="0" anchor="t">
            <a:noAutofit/>
          </a:bodyPr>
          <a:lstStyle/>
          <a:p>
            <a:pPr algn="l">
              <a:spcAft>
                <a:spcPts val="0"/>
              </a:spcAft>
            </a:pPr>
            <a:r>
              <a:rPr sz="1500" b="1" i="0">
                <a:solidFill>
                  <a:srgbClr val="1F2B3D"/>
                </a:solidFill>
                <a:latin typeface="Calibri"/>
              </a:rPr>
              <a:t>The honest summary</a:t>
            </a:r>
          </a:p>
        </p:txBody>
      </p:sp>
      <p:sp>
        <p:nvSpPr>
          <p:cNvPr id="28" name="TextBox 27"/>
          <p:cNvSpPr txBox="1"/>
          <p:nvPr/>
        </p:nvSpPr>
        <p:spPr>
          <a:xfrm>
            <a:off x="731520" y="4297679"/>
            <a:ext cx="10783793" cy="1188720"/>
          </a:xfrm>
          <a:prstGeom prst="rect">
            <a:avLst/>
          </a:prstGeom>
          <a:noFill/>
        </p:spPr>
        <p:txBody>
          <a:bodyPr wrap="square" lIns="18288" rIns="18288" tIns="0" bIns="0" anchor="t">
            <a:noAutofit/>
          </a:bodyPr>
          <a:lstStyle/>
          <a:p>
            <a:pPr algn="l">
              <a:lnSpc>
                <a:spcPct val="124000"/>
              </a:lnSpc>
              <a:spcAft>
                <a:spcPts val="0"/>
              </a:spcAft>
            </a:pPr>
            <a:r>
              <a:rPr sz="1250" b="0" i="0">
                <a:solidFill>
                  <a:srgbClr val="363F4D"/>
                </a:solidFill>
                <a:latin typeface="Calibri"/>
              </a:rPr>
              <a:t>This architecture pays for itself when you have more than a handful of services, more than one environment, credentials that genuinely rotate, and somebody who will ask you to prove who could read what.</a:t>
            </a:r>
          </a:p>
          <a:p>
            <a:pPr algn="l">
              <a:lnSpc>
                <a:spcPct val="124000"/>
              </a:lnSpc>
              <a:spcAft>
                <a:spcPts val="0"/>
              </a:spcAft>
            </a:pPr>
            <a:r>
              <a:rPr sz="1250" b="0" i="0">
                <a:solidFill>
                  <a:srgbClr val="363F4D"/>
                </a:solidFill>
                <a:latin typeface="Calibri"/>
              </a:rPr>
              <a:t/>
            </a:r>
          </a:p>
          <a:p>
            <a:pPr algn="l">
              <a:lnSpc>
                <a:spcPct val="124000"/>
              </a:lnSpc>
              <a:spcAft>
                <a:spcPts val="0"/>
              </a:spcAft>
            </a:pPr>
            <a:r>
              <a:rPr sz="1250" b="0" i="0">
                <a:solidFill>
                  <a:srgbClr val="363F4D"/>
                </a:solidFill>
                <a:latin typeface="Calibri"/>
              </a:rPr>
              <a:t>Below that, a smaller team moving faster with fewer moving parts is a legitimate engineering choice — and saying so is more useful to your students than pretending every cluster needs all three.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How to Adopt This Without a Big Bang</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Four steps, each one useful on its own, in the order that produces value soonest.</a:t>
            </a:r>
          </a:p>
        </p:txBody>
      </p:sp>
      <p:sp>
        <p:nvSpPr>
          <p:cNvPr id="8" name="Rounded Rectangle 7"/>
          <p:cNvSpPr/>
          <p:nvPr/>
        </p:nvSpPr>
        <p:spPr>
          <a:xfrm>
            <a:off x="475488" y="5998464"/>
            <a:ext cx="11240993" cy="530352"/>
          </a:xfrm>
          <a:prstGeom prst="roundRect">
            <a:avLst>
              <a:gd name="adj" fmla="val 1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84632" y="6007607"/>
            <a:ext cx="68580" cy="512064"/>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13232" y="6048755"/>
            <a:ext cx="1234440" cy="274320"/>
          </a:xfrm>
          <a:prstGeom prst="rect">
            <a:avLst/>
          </a:prstGeom>
          <a:noFill/>
        </p:spPr>
        <p:txBody>
          <a:bodyPr wrap="square" lIns="18288" rIns="18288" tIns="0" bIns="0" anchor="t">
            <a:noAutofit/>
          </a:bodyPr>
          <a:lstStyle/>
          <a:p>
            <a:pPr algn="l">
              <a:spcAft>
                <a:spcPts val="0"/>
              </a:spcAft>
            </a:pPr>
            <a:r>
              <a:rPr sz="1050" b="1" i="0">
                <a:solidFill>
                  <a:srgbClr val="F26522"/>
                </a:solidFill>
                <a:latin typeface="Calibri"/>
              </a:rPr>
              <a:t>REMEMBER</a:t>
            </a:r>
          </a:p>
        </p:txBody>
      </p:sp>
      <p:sp>
        <p:nvSpPr>
          <p:cNvPr id="11" name="TextBox 10"/>
          <p:cNvSpPr txBox="1"/>
          <p:nvPr/>
        </p:nvSpPr>
        <p:spPr>
          <a:xfrm>
            <a:off x="713232" y="6236207"/>
            <a:ext cx="107837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Argo CD first, then Reloader, then ESO. Never all three in the same change.</a:t>
            </a:r>
          </a:p>
        </p:txBody>
      </p:sp>
      <p:sp>
        <p:nvSpPr>
          <p:cNvPr id="12"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13" name="Rounded Rectangle 12"/>
          <p:cNvSpPr/>
          <p:nvPr/>
        </p:nvSpPr>
        <p:spPr>
          <a:xfrm>
            <a:off x="475488" y="1645920"/>
            <a:ext cx="11240993" cy="6400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75488" y="1645920"/>
            <a:ext cx="68580" cy="640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13232"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1</a:t>
            </a:r>
          </a:p>
        </p:txBody>
      </p:sp>
      <p:sp>
        <p:nvSpPr>
          <p:cNvPr id="16" name="TextBox 15"/>
          <p:cNvSpPr txBox="1"/>
          <p:nvPr/>
        </p:nvSpPr>
        <p:spPr>
          <a:xfrm>
            <a:off x="1152144" y="176479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1  ·  Argo CD, in read-only mode</a:t>
            </a:r>
          </a:p>
        </p:txBody>
      </p:sp>
      <p:sp>
        <p:nvSpPr>
          <p:cNvPr id="17" name="TextBox 16"/>
          <p:cNvSpPr txBox="1"/>
          <p:nvPr/>
        </p:nvSpPr>
        <p:spPr>
          <a:xfrm>
            <a:off x="1152144" y="2029968"/>
            <a:ext cx="10326593" cy="228600"/>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Install it, point it at your existing manifests, and turn nothing on. Let it show you how far the cluster has already drifted. That report alone justifies the work.</a:t>
            </a:r>
          </a:p>
        </p:txBody>
      </p:sp>
      <p:sp>
        <p:nvSpPr>
          <p:cNvPr id="18" name="Rounded Rectangle 17"/>
          <p:cNvSpPr/>
          <p:nvPr/>
        </p:nvSpPr>
        <p:spPr>
          <a:xfrm>
            <a:off x="475488" y="2377440"/>
            <a:ext cx="11240993" cy="6400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75488" y="2377440"/>
            <a:ext cx="68580" cy="640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13232" y="254203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2</a:t>
            </a:r>
          </a:p>
        </p:txBody>
      </p:sp>
      <p:sp>
        <p:nvSpPr>
          <p:cNvPr id="21" name="TextBox 20"/>
          <p:cNvSpPr txBox="1"/>
          <p:nvPr/>
        </p:nvSpPr>
        <p:spPr>
          <a:xfrm>
            <a:off x="1152144" y="249631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2  ·  Turn on automated sync for one non-critical app</a:t>
            </a:r>
          </a:p>
        </p:txBody>
      </p:sp>
      <p:sp>
        <p:nvSpPr>
          <p:cNvPr id="22" name="TextBox 21"/>
          <p:cNvSpPr txBox="1"/>
          <p:nvPr/>
        </p:nvSpPr>
        <p:spPr>
          <a:xfrm>
            <a:off x="1152144" y="2761488"/>
            <a:ext cx="10326593" cy="228600"/>
          </a:xfrm>
          <a:prstGeom prst="rect">
            <a:avLst/>
          </a:prstGeom>
          <a:noFill/>
        </p:spPr>
        <p:txBody>
          <a:bodyPr wrap="square" lIns="18288" rIns="18288" tIns="0" bIns="0" anchor="t">
            <a:noAutofit/>
          </a:bodyPr>
          <a:lstStyle/>
          <a:p>
            <a:pPr algn="l">
              <a:lnSpc>
                <a:spcPct val="120000"/>
              </a:lnSpc>
              <a:spcAft>
                <a:spcPts val="0"/>
              </a:spcAft>
            </a:pPr>
            <a:r>
              <a:rPr sz="1100" b="0" i="0">
                <a:solidFill>
                  <a:srgbClr val="363F4D"/>
                </a:solidFill>
                <a:latin typeface="Calibri"/>
              </a:rPr>
              <a:t>Then prune. Then selfHeal. Wait a fortnight between each. Trust is earned, and the first time selfHeal reverts someone's hotfix you want it to be low stakes.</a:t>
            </a:r>
          </a:p>
        </p:txBody>
      </p:sp>
      <p:sp>
        <p:nvSpPr>
          <p:cNvPr id="23" name="Rounded Rectangle 22"/>
          <p:cNvSpPr/>
          <p:nvPr/>
        </p:nvSpPr>
        <p:spPr>
          <a:xfrm>
            <a:off x="475488" y="3108960"/>
            <a:ext cx="11240993" cy="6400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75488" y="3108960"/>
            <a:ext cx="68580" cy="64008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13232" y="3273552"/>
            <a:ext cx="310896" cy="310896"/>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3</a:t>
            </a:r>
          </a:p>
        </p:txBody>
      </p:sp>
      <p:sp>
        <p:nvSpPr>
          <p:cNvPr id="26" name="TextBox 25"/>
          <p:cNvSpPr txBox="1"/>
          <p:nvPr/>
        </p:nvSpPr>
        <p:spPr>
          <a:xfrm>
            <a:off x="1152144" y="322783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3  ·  Reloader, on the workloads that already read mounted config</a:t>
            </a:r>
          </a:p>
        </p:txBody>
      </p:sp>
      <p:sp>
        <p:nvSpPr>
          <p:cNvPr id="27" name="TextBox 26"/>
          <p:cNvSpPr txBox="1"/>
          <p:nvPr/>
        </p:nvSpPr>
        <p:spPr>
          <a:xfrm>
            <a:off x="1152144" y="3493008"/>
            <a:ext cx="10326593" cy="228600"/>
          </a:xfrm>
          <a:prstGeom prst="rect">
            <a:avLst/>
          </a:prstGeom>
          <a:noFill/>
        </p:spPr>
        <p:txBody>
          <a:bodyPr wrap="square" lIns="18288" rIns="18288" tIns="0" bIns="0" anchor="t">
            <a:noAutofit/>
          </a:bodyPr>
          <a:lstStyle/>
          <a:p>
            <a:pPr algn="l">
              <a:lnSpc>
                <a:spcPct val="120000"/>
              </a:lnSpc>
              <a:spcAft>
                <a:spcPts val="0"/>
              </a:spcAft>
            </a:pPr>
            <a:r>
              <a:rPr sz="1100" b="0" i="0">
                <a:solidFill>
                  <a:srgbClr val="363F4D"/>
                </a:solidFill>
                <a:latin typeface="Calibri"/>
              </a:rPr>
              <a:t>Immediate benefit, no dependency on the rest, and it teaches the team what a config-triggered rollout feels like before secrets are involved.</a:t>
            </a:r>
          </a:p>
        </p:txBody>
      </p:sp>
      <p:sp>
        <p:nvSpPr>
          <p:cNvPr id="28" name="Rounded Rectangle 27"/>
          <p:cNvSpPr/>
          <p:nvPr/>
        </p:nvSpPr>
        <p:spPr>
          <a:xfrm>
            <a:off x="475488" y="3840480"/>
            <a:ext cx="11240993" cy="640080"/>
          </a:xfrm>
          <a:prstGeom prst="roundRect">
            <a:avLst>
              <a:gd name="adj" fmla="val 7000"/>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75488" y="3840480"/>
            <a:ext cx="68580" cy="64008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13232" y="4005072"/>
            <a:ext cx="310896" cy="310896"/>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200" b="1" i="0">
                <a:solidFill>
                  <a:srgbClr val="FFFFFF"/>
                </a:solidFill>
                <a:latin typeface="Calibri"/>
              </a:rPr>
              <a:t>4</a:t>
            </a:r>
          </a:p>
        </p:txBody>
      </p:sp>
      <p:sp>
        <p:nvSpPr>
          <p:cNvPr id="31" name="TextBox 30"/>
          <p:cNvSpPr txBox="1"/>
          <p:nvPr/>
        </p:nvSpPr>
        <p:spPr>
          <a:xfrm>
            <a:off x="1152144" y="3959352"/>
            <a:ext cx="10326593" cy="274320"/>
          </a:xfrm>
          <a:prstGeom prst="rect">
            <a:avLst/>
          </a:prstGeom>
          <a:noFill/>
        </p:spPr>
        <p:txBody>
          <a:bodyPr wrap="square" lIns="18288" rIns="18288" tIns="0" bIns="0" anchor="t">
            <a:noAutofit/>
          </a:bodyPr>
          <a:lstStyle/>
          <a:p>
            <a:pPr algn="l">
              <a:spcAft>
                <a:spcPts val="0"/>
              </a:spcAft>
            </a:pPr>
            <a:r>
              <a:rPr sz="1350" b="1" i="0">
                <a:solidFill>
                  <a:srgbClr val="1F2B3D"/>
                </a:solidFill>
                <a:latin typeface="Calibri"/>
              </a:rPr>
              <a:t>4  ·  External Secrets, one namespace at a time</a:t>
            </a:r>
          </a:p>
        </p:txBody>
      </p:sp>
      <p:sp>
        <p:nvSpPr>
          <p:cNvPr id="32" name="TextBox 31"/>
          <p:cNvSpPr txBox="1"/>
          <p:nvPr/>
        </p:nvSpPr>
        <p:spPr>
          <a:xfrm>
            <a:off x="1152144" y="4224528"/>
            <a:ext cx="10326593" cy="228600"/>
          </a:xfrm>
          <a:prstGeom prst="rect">
            <a:avLst/>
          </a:prstGeom>
          <a:noFill/>
        </p:spPr>
        <p:txBody>
          <a:bodyPr wrap="square" lIns="18288" rIns="18288" tIns="0" bIns="0" anchor="t">
            <a:noAutofit/>
          </a:bodyPr>
          <a:lstStyle/>
          <a:p>
            <a:pPr algn="l">
              <a:lnSpc>
                <a:spcPct val="120000"/>
              </a:lnSpc>
              <a:spcAft>
                <a:spcPts val="0"/>
              </a:spcAft>
            </a:pPr>
            <a:r>
              <a:rPr sz="1000" b="0" i="0">
                <a:solidFill>
                  <a:srgbClr val="363F4D"/>
                </a:solidFill>
                <a:latin typeface="Calibri"/>
              </a:rPr>
              <a:t>Start with a service whose credentials you are about to rotate anyway. Solve secret zero properly on day one — retro-fitting identity is far harder than starting with it.</a:t>
            </a:r>
          </a:p>
        </p:txBody>
      </p:sp>
      <p:sp>
        <p:nvSpPr>
          <p:cNvPr id="33" name="Rounded Rectangle 32"/>
          <p:cNvSpPr/>
          <p:nvPr/>
        </p:nvSpPr>
        <p:spPr>
          <a:xfrm>
            <a:off x="475488" y="4791456"/>
            <a:ext cx="11240993" cy="566928"/>
          </a:xfrm>
          <a:prstGeom prst="roundRect">
            <a:avLst>
              <a:gd name="adj" fmla="val 7000"/>
            </a:avLst>
          </a:prstGeom>
          <a:solidFill>
            <a:srgbClr val="E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4791456"/>
            <a:ext cx="91440" cy="566928"/>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4882896"/>
            <a:ext cx="10555193" cy="384048"/>
          </a:xfrm>
          <a:prstGeom prst="rect">
            <a:avLst/>
          </a:prstGeom>
          <a:noFill/>
        </p:spPr>
        <p:txBody>
          <a:bodyPr wrap="square" lIns="18288" rIns="18288" tIns="0" bIns="0" anchor="ctr">
            <a:noAutofit/>
          </a:bodyPr>
          <a:lstStyle/>
          <a:p>
            <a:pPr algn="l">
              <a:lnSpc>
                <a:spcPct val="120000"/>
              </a:lnSpc>
              <a:spcAft>
                <a:spcPts val="0"/>
              </a:spcAft>
            </a:pPr>
            <a:r>
              <a:rPr sz="1500" b="0" i="1">
                <a:solidFill>
                  <a:srgbClr val="1F2B3D"/>
                </a:solidFill>
                <a:latin typeface="Calibri Light"/>
              </a:rPr>
              <a:t>The order is deliberate: each step leaves the cluster better even if you stop there.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58368" y="475488"/>
            <a:ext cx="10058400" cy="658368"/>
          </a:xfrm>
          <a:prstGeom prst="rect">
            <a:avLst/>
          </a:prstGeom>
          <a:noFill/>
        </p:spPr>
        <p:txBody>
          <a:bodyPr wrap="square" lIns="18288" rIns="18288" tIns="0" bIns="0" anchor="t">
            <a:noAutofit/>
          </a:bodyPr>
          <a:lstStyle/>
          <a:p>
            <a:pPr algn="l">
              <a:spcAft>
                <a:spcPts val="0"/>
              </a:spcAft>
            </a:pPr>
            <a:r>
              <a:rPr sz="3200" b="1" i="0">
                <a:solidFill>
                  <a:srgbClr val="FFFFFF"/>
                </a:solidFill>
                <a:latin typeface="Calibri Light"/>
              </a:rPr>
              <a:t>Three Controllers, One Loop</a:t>
            </a:r>
          </a:p>
        </p:txBody>
      </p:sp>
      <p:sp>
        <p:nvSpPr>
          <p:cNvPr id="5" name="TextBox 4"/>
          <p:cNvSpPr txBox="1"/>
          <p:nvPr/>
        </p:nvSpPr>
        <p:spPr>
          <a:xfrm>
            <a:off x="676656" y="1188720"/>
            <a:ext cx="9692640" cy="365760"/>
          </a:xfrm>
          <a:prstGeom prst="rect">
            <a:avLst/>
          </a:prstGeom>
          <a:noFill/>
        </p:spPr>
        <p:txBody>
          <a:bodyPr wrap="square" lIns="18288" rIns="18288" tIns="0" bIns="0" anchor="t">
            <a:noAutofit/>
          </a:bodyPr>
          <a:lstStyle/>
          <a:p>
            <a:pPr algn="l">
              <a:spcAft>
                <a:spcPts val="0"/>
              </a:spcAft>
            </a:pPr>
            <a:r>
              <a:rPr sz="1500" b="0" i="0">
                <a:solidFill>
                  <a:srgbClr val="2BA8D8"/>
                </a:solidFill>
                <a:latin typeface="Calibri"/>
              </a:rPr>
              <a:t>What to remember when everything else has faded.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332720" y="384048"/>
            <a:ext cx="1463040" cy="731520"/>
          </a:xfrm>
          <a:prstGeom prst="rect">
            <a:avLst/>
          </a:prstGeom>
        </p:spPr>
      </p:pic>
      <p:sp>
        <p:nvSpPr>
          <p:cNvPr id="7"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07  Running It For Real</a:t>
            </a:r>
          </a:p>
        </p:txBody>
      </p:sp>
      <p:sp>
        <p:nvSpPr>
          <p:cNvPr id="8" name="Oval 7"/>
          <p:cNvSpPr/>
          <p:nvPr/>
        </p:nvSpPr>
        <p:spPr>
          <a:xfrm>
            <a:off x="658368" y="1883664"/>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libri"/>
              </a:rPr>
              <a:t>1</a:t>
            </a:r>
          </a:p>
        </p:txBody>
      </p:sp>
      <p:sp>
        <p:nvSpPr>
          <p:cNvPr id="9" name="TextBox 8"/>
          <p:cNvSpPr txBox="1"/>
          <p:nvPr/>
        </p:nvSpPr>
        <p:spPr>
          <a:xfrm>
            <a:off x="1261872" y="1828800"/>
            <a:ext cx="4663440" cy="329184"/>
          </a:xfrm>
          <a:prstGeom prst="rect">
            <a:avLst/>
          </a:prstGeom>
          <a:noFill/>
        </p:spPr>
        <p:txBody>
          <a:bodyPr wrap="square" lIns="18288" rIns="18288" tIns="0" bIns="0" anchor="t">
            <a:noAutofit/>
          </a:bodyPr>
          <a:lstStyle/>
          <a:p>
            <a:pPr algn="l">
              <a:spcAft>
                <a:spcPts val="0"/>
              </a:spcAft>
            </a:pPr>
            <a:r>
              <a:rPr sz="1700" b="1" i="0">
                <a:solidFill>
                  <a:srgbClr val="FFFFFF"/>
                </a:solidFill>
                <a:latin typeface="Calibri"/>
              </a:rPr>
              <a:t>Git holds intent.</a:t>
            </a:r>
          </a:p>
        </p:txBody>
      </p:sp>
      <p:sp>
        <p:nvSpPr>
          <p:cNvPr id="10" name="TextBox 9"/>
          <p:cNvSpPr txBox="1"/>
          <p:nvPr/>
        </p:nvSpPr>
        <p:spPr>
          <a:xfrm>
            <a:off x="1261872" y="2194560"/>
            <a:ext cx="9966960" cy="475488"/>
          </a:xfrm>
          <a:prstGeom prst="rect">
            <a:avLst/>
          </a:prstGeom>
          <a:noFill/>
        </p:spPr>
        <p:txBody>
          <a:bodyPr wrap="square" lIns="18288" rIns="18288" tIns="0" bIns="0" anchor="t">
            <a:noAutofit/>
          </a:bodyPr>
          <a:lstStyle/>
          <a:p>
            <a:pPr algn="l">
              <a:lnSpc>
                <a:spcPct val="120000"/>
              </a:lnSpc>
              <a:spcAft>
                <a:spcPts val="0"/>
              </a:spcAft>
            </a:pPr>
            <a:r>
              <a:rPr sz="1300" b="0" i="0">
                <a:solidFill>
                  <a:srgbClr val="D9E2F0"/>
                </a:solidFill>
                <a:latin typeface="Calibri Light"/>
              </a:rPr>
              <a:t>Argo CD makes the cluster match it, continuously, and tells you when it does not.</a:t>
            </a:r>
          </a:p>
        </p:txBody>
      </p:sp>
      <p:sp>
        <p:nvSpPr>
          <p:cNvPr id="11" name="Oval 10"/>
          <p:cNvSpPr/>
          <p:nvPr/>
        </p:nvSpPr>
        <p:spPr>
          <a:xfrm>
            <a:off x="658368" y="2816352"/>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libri"/>
              </a:rPr>
              <a:t>2</a:t>
            </a:r>
          </a:p>
        </p:txBody>
      </p:sp>
      <p:sp>
        <p:nvSpPr>
          <p:cNvPr id="12" name="TextBox 11"/>
          <p:cNvSpPr txBox="1"/>
          <p:nvPr/>
        </p:nvSpPr>
        <p:spPr>
          <a:xfrm>
            <a:off x="1261872" y="2761488"/>
            <a:ext cx="4663440" cy="329184"/>
          </a:xfrm>
          <a:prstGeom prst="rect">
            <a:avLst/>
          </a:prstGeom>
          <a:noFill/>
        </p:spPr>
        <p:txBody>
          <a:bodyPr wrap="square" lIns="18288" rIns="18288" tIns="0" bIns="0" anchor="t">
            <a:noAutofit/>
          </a:bodyPr>
          <a:lstStyle/>
          <a:p>
            <a:pPr algn="l">
              <a:spcAft>
                <a:spcPts val="0"/>
              </a:spcAft>
            </a:pPr>
            <a:r>
              <a:rPr sz="1700" b="1" i="0">
                <a:solidFill>
                  <a:srgbClr val="FFFFFF"/>
                </a:solidFill>
                <a:latin typeface="Calibri"/>
              </a:rPr>
              <a:t>The vault holds truth.</a:t>
            </a:r>
          </a:p>
        </p:txBody>
      </p:sp>
      <p:sp>
        <p:nvSpPr>
          <p:cNvPr id="13" name="TextBox 12"/>
          <p:cNvSpPr txBox="1"/>
          <p:nvPr/>
        </p:nvSpPr>
        <p:spPr>
          <a:xfrm>
            <a:off x="1261872" y="3127248"/>
            <a:ext cx="9966960" cy="475488"/>
          </a:xfrm>
          <a:prstGeom prst="rect">
            <a:avLst/>
          </a:prstGeom>
          <a:noFill/>
        </p:spPr>
        <p:txBody>
          <a:bodyPr wrap="square" lIns="18288" rIns="18288" tIns="0" bIns="0" anchor="t">
            <a:noAutofit/>
          </a:bodyPr>
          <a:lstStyle/>
          <a:p>
            <a:pPr algn="l">
              <a:lnSpc>
                <a:spcPct val="120000"/>
              </a:lnSpc>
              <a:spcAft>
                <a:spcPts val="0"/>
              </a:spcAft>
            </a:pPr>
            <a:r>
              <a:rPr sz="1300" b="0" i="0">
                <a:solidFill>
                  <a:srgbClr val="D9E2F0"/>
                </a:solidFill>
                <a:latin typeface="Calibri Light"/>
              </a:rPr>
              <a:t>External Secrets mirrors it into the cluster so the value never touches a commit.</a:t>
            </a:r>
          </a:p>
        </p:txBody>
      </p:sp>
      <p:sp>
        <p:nvSpPr>
          <p:cNvPr id="14" name="Oval 13"/>
          <p:cNvSpPr/>
          <p:nvPr/>
        </p:nvSpPr>
        <p:spPr>
          <a:xfrm>
            <a:off x="658368" y="3749039"/>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libri"/>
              </a:rPr>
              <a:t>3</a:t>
            </a:r>
          </a:p>
        </p:txBody>
      </p:sp>
      <p:sp>
        <p:nvSpPr>
          <p:cNvPr id="15" name="TextBox 14"/>
          <p:cNvSpPr txBox="1"/>
          <p:nvPr/>
        </p:nvSpPr>
        <p:spPr>
          <a:xfrm>
            <a:off x="1261872" y="3694176"/>
            <a:ext cx="4663440" cy="329184"/>
          </a:xfrm>
          <a:prstGeom prst="rect">
            <a:avLst/>
          </a:prstGeom>
          <a:noFill/>
        </p:spPr>
        <p:txBody>
          <a:bodyPr wrap="square" lIns="18288" rIns="18288" tIns="0" bIns="0" anchor="t">
            <a:noAutofit/>
          </a:bodyPr>
          <a:lstStyle/>
          <a:p>
            <a:pPr algn="l">
              <a:spcAft>
                <a:spcPts val="0"/>
              </a:spcAft>
            </a:pPr>
            <a:r>
              <a:rPr sz="1700" b="1" i="0">
                <a:solidFill>
                  <a:srgbClr val="FFFFFF"/>
                </a:solidFill>
                <a:latin typeface="Calibri"/>
              </a:rPr>
              <a:t>The process must be replaced.</a:t>
            </a:r>
          </a:p>
        </p:txBody>
      </p:sp>
      <p:sp>
        <p:nvSpPr>
          <p:cNvPr id="16" name="TextBox 15"/>
          <p:cNvSpPr txBox="1"/>
          <p:nvPr/>
        </p:nvSpPr>
        <p:spPr>
          <a:xfrm>
            <a:off x="1261872" y="4059936"/>
            <a:ext cx="9966960" cy="475488"/>
          </a:xfrm>
          <a:prstGeom prst="rect">
            <a:avLst/>
          </a:prstGeom>
          <a:noFill/>
        </p:spPr>
        <p:txBody>
          <a:bodyPr wrap="square" lIns="18288" rIns="18288" tIns="0" bIns="0" anchor="t">
            <a:noAutofit/>
          </a:bodyPr>
          <a:lstStyle/>
          <a:p>
            <a:pPr algn="l">
              <a:lnSpc>
                <a:spcPct val="120000"/>
              </a:lnSpc>
              <a:spcAft>
                <a:spcPts val="0"/>
              </a:spcAft>
            </a:pPr>
            <a:r>
              <a:rPr sz="1300" b="0" i="0">
                <a:solidFill>
                  <a:srgbClr val="D9E2F0"/>
                </a:solidFill>
                <a:latin typeface="Calibri Light"/>
              </a:rPr>
              <a:t>Reloader rolls the workload, because nothing can change a credential a running process already read.</a:t>
            </a:r>
          </a:p>
        </p:txBody>
      </p:sp>
      <p:sp>
        <p:nvSpPr>
          <p:cNvPr id="17" name="Oval 16"/>
          <p:cNvSpPr/>
          <p:nvPr/>
        </p:nvSpPr>
        <p:spPr>
          <a:xfrm>
            <a:off x="658368" y="4681728"/>
            <a:ext cx="384048" cy="384048"/>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libri"/>
              </a:rPr>
              <a:t>4</a:t>
            </a:r>
          </a:p>
        </p:txBody>
      </p:sp>
      <p:sp>
        <p:nvSpPr>
          <p:cNvPr id="18" name="TextBox 17"/>
          <p:cNvSpPr txBox="1"/>
          <p:nvPr/>
        </p:nvSpPr>
        <p:spPr>
          <a:xfrm>
            <a:off x="1261872" y="4626864"/>
            <a:ext cx="4663440" cy="329184"/>
          </a:xfrm>
          <a:prstGeom prst="rect">
            <a:avLst/>
          </a:prstGeom>
          <a:noFill/>
        </p:spPr>
        <p:txBody>
          <a:bodyPr wrap="square" lIns="18288" rIns="18288" tIns="0" bIns="0" anchor="t">
            <a:noAutofit/>
          </a:bodyPr>
          <a:lstStyle/>
          <a:p>
            <a:pPr algn="l">
              <a:spcAft>
                <a:spcPts val="0"/>
              </a:spcAft>
            </a:pPr>
            <a:r>
              <a:rPr sz="1700" b="1" i="0">
                <a:solidFill>
                  <a:srgbClr val="FFFFFF"/>
                </a:solidFill>
                <a:latin typeface="Calibri"/>
              </a:rPr>
              <a:t>Each refuses the others' job.</a:t>
            </a:r>
          </a:p>
        </p:txBody>
      </p:sp>
      <p:sp>
        <p:nvSpPr>
          <p:cNvPr id="19" name="TextBox 18"/>
          <p:cNvSpPr txBox="1"/>
          <p:nvPr/>
        </p:nvSpPr>
        <p:spPr>
          <a:xfrm>
            <a:off x="1261872" y="4992624"/>
            <a:ext cx="9966960" cy="475488"/>
          </a:xfrm>
          <a:prstGeom prst="rect">
            <a:avLst/>
          </a:prstGeom>
          <a:noFill/>
        </p:spPr>
        <p:txBody>
          <a:bodyPr wrap="square" lIns="18288" rIns="18288" tIns="0" bIns="0" anchor="t">
            <a:noAutofit/>
          </a:bodyPr>
          <a:lstStyle/>
          <a:p>
            <a:pPr algn="l">
              <a:lnSpc>
                <a:spcPct val="120000"/>
              </a:lnSpc>
              <a:spcAft>
                <a:spcPts val="0"/>
              </a:spcAft>
            </a:pPr>
            <a:r>
              <a:rPr sz="1300" b="0" i="0">
                <a:solidFill>
                  <a:srgbClr val="D9E2F0"/>
                </a:solidFill>
                <a:latin typeface="Calibri Light"/>
              </a:rPr>
              <a:t>That is why you need all three — and why you can adopt them one at a time.</a:t>
            </a:r>
          </a:p>
        </p:txBody>
      </p:sp>
      <p:sp>
        <p:nvSpPr>
          <p:cNvPr id="20" name="TextBox 19"/>
          <p:cNvSpPr txBox="1"/>
          <p:nvPr/>
        </p:nvSpPr>
        <p:spPr>
          <a:xfrm>
            <a:off x="658368" y="5870448"/>
            <a:ext cx="10515600" cy="329184"/>
          </a:xfrm>
          <a:prstGeom prst="rect">
            <a:avLst/>
          </a:prstGeom>
          <a:noFill/>
        </p:spPr>
        <p:txBody>
          <a:bodyPr wrap="square" lIns="18288" rIns="18288" tIns="0" bIns="0" anchor="t">
            <a:noAutofit/>
          </a:bodyPr>
          <a:lstStyle/>
          <a:p>
            <a:pPr algn="l">
              <a:spcAft>
                <a:spcPts val="0"/>
              </a:spcAft>
            </a:pPr>
            <a:r>
              <a:rPr sz="1200" b="1" i="0">
                <a:solidFill>
                  <a:srgbClr val="2BA8D8"/>
                </a:solidFill>
                <a:latin typeface="Calibri"/>
              </a:rPr>
              <a:t>DevOps Easy Learning  ·  Kubernetes Masterclass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Final Review</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Twelve questions across the whole course. Answers in the appendix.</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07  Running It For Real</a:t>
            </a:r>
          </a:p>
        </p:txBody>
      </p:sp>
      <p:sp>
        <p:nvSpPr>
          <p:cNvPr id="9" name="Rounded Rectangle 8"/>
          <p:cNvSpPr/>
          <p:nvPr/>
        </p:nvSpPr>
        <p:spPr>
          <a:xfrm>
            <a:off x="475488" y="1645920"/>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87325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58368" y="1954529"/>
            <a:ext cx="256032" cy="256032"/>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a:t>
            </a:r>
          </a:p>
        </p:txBody>
      </p:sp>
      <p:sp>
        <p:nvSpPr>
          <p:cNvPr id="12" name="TextBox 11"/>
          <p:cNvSpPr txBox="1"/>
          <p:nvPr/>
        </p:nvSpPr>
        <p:spPr>
          <a:xfrm>
            <a:off x="1024128" y="1664208"/>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does changing a Secret's contents not roll a Deployment?</a:t>
            </a:r>
          </a:p>
        </p:txBody>
      </p:sp>
      <p:sp>
        <p:nvSpPr>
          <p:cNvPr id="13" name="Rounded Rectangle 12"/>
          <p:cNvSpPr/>
          <p:nvPr/>
        </p:nvSpPr>
        <p:spPr>
          <a:xfrm>
            <a:off x="4320021" y="1645920"/>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20021" y="1645920"/>
            <a:ext cx="64008" cy="873252"/>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502901" y="1954529"/>
            <a:ext cx="256032" cy="256032"/>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2</a:t>
            </a:r>
          </a:p>
        </p:txBody>
      </p:sp>
      <p:sp>
        <p:nvSpPr>
          <p:cNvPr id="16" name="TextBox 15"/>
          <p:cNvSpPr txBox="1"/>
          <p:nvPr/>
        </p:nvSpPr>
        <p:spPr>
          <a:xfrm>
            <a:off x="4868661" y="1664208"/>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What does a mounted Secret give you that envFrom does not — and what does it still not give you?</a:t>
            </a:r>
          </a:p>
        </p:txBody>
      </p:sp>
      <p:sp>
        <p:nvSpPr>
          <p:cNvPr id="17" name="Rounded Rectangle 16"/>
          <p:cNvSpPr/>
          <p:nvPr/>
        </p:nvSpPr>
        <p:spPr>
          <a:xfrm>
            <a:off x="8164555" y="1645920"/>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164555" y="1645920"/>
            <a:ext cx="64008" cy="8732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347435" y="1954529"/>
            <a:ext cx="256032" cy="25603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3</a:t>
            </a:r>
          </a:p>
        </p:txBody>
      </p:sp>
      <p:sp>
        <p:nvSpPr>
          <p:cNvPr id="20" name="TextBox 19"/>
          <p:cNvSpPr txBox="1"/>
          <p:nvPr/>
        </p:nvSpPr>
        <p:spPr>
          <a:xfrm>
            <a:off x="8713195" y="1664208"/>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Explain secret zero and name two correct solutions.</a:t>
            </a:r>
          </a:p>
        </p:txBody>
      </p:sp>
      <p:sp>
        <p:nvSpPr>
          <p:cNvPr id="21" name="Rounded Rectangle 20"/>
          <p:cNvSpPr/>
          <p:nvPr/>
        </p:nvSpPr>
        <p:spPr>
          <a:xfrm>
            <a:off x="475488" y="2665476"/>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75488" y="2665476"/>
            <a:ext cx="64008" cy="8732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58368" y="2974086"/>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4</a:t>
            </a:r>
          </a:p>
        </p:txBody>
      </p:sp>
      <p:sp>
        <p:nvSpPr>
          <p:cNvPr id="24" name="TextBox 23"/>
          <p:cNvSpPr txBox="1"/>
          <p:nvPr/>
        </p:nvSpPr>
        <p:spPr>
          <a:xfrm>
            <a:off x="1024128" y="2683764"/>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Which Argo CD setting makes manual kubectl edits impossible, and what is the operational cost?</a:t>
            </a:r>
          </a:p>
        </p:txBody>
      </p:sp>
      <p:sp>
        <p:nvSpPr>
          <p:cNvPr id="25" name="Rounded Rectangle 24"/>
          <p:cNvSpPr/>
          <p:nvPr/>
        </p:nvSpPr>
        <p:spPr>
          <a:xfrm>
            <a:off x="4320021" y="2665476"/>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20021" y="2665476"/>
            <a:ext cx="64008" cy="8732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502901" y="2974086"/>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5</a:t>
            </a:r>
          </a:p>
        </p:txBody>
      </p:sp>
      <p:sp>
        <p:nvSpPr>
          <p:cNvPr id="28" name="TextBox 27"/>
          <p:cNvSpPr txBox="1"/>
          <p:nvPr/>
        </p:nvSpPr>
        <p:spPr>
          <a:xfrm>
            <a:off x="4868661" y="2683764"/>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You see Synced and Degraded. Whose problem is it?</a:t>
            </a:r>
          </a:p>
        </p:txBody>
      </p:sp>
      <p:sp>
        <p:nvSpPr>
          <p:cNvPr id="29" name="Rounded Rectangle 28"/>
          <p:cNvSpPr/>
          <p:nvPr/>
        </p:nvSpPr>
        <p:spPr>
          <a:xfrm>
            <a:off x="8164555" y="2665476"/>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164555" y="2665476"/>
            <a:ext cx="64008" cy="8732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8347435" y="2974086"/>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6</a:t>
            </a:r>
          </a:p>
        </p:txBody>
      </p:sp>
      <p:sp>
        <p:nvSpPr>
          <p:cNvPr id="32" name="TextBox 31"/>
          <p:cNvSpPr txBox="1"/>
          <p:nvPr/>
        </p:nvSpPr>
        <p:spPr>
          <a:xfrm>
            <a:off x="8713195" y="2683764"/>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must Argo CD be told to ignore differences on a Deployment that Reloader manages?</a:t>
            </a:r>
          </a:p>
        </p:txBody>
      </p:sp>
      <p:sp>
        <p:nvSpPr>
          <p:cNvPr id="33" name="Rounded Rectangle 32"/>
          <p:cNvSpPr/>
          <p:nvPr/>
        </p:nvSpPr>
        <p:spPr>
          <a:xfrm>
            <a:off x="475488" y="3685032"/>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75488" y="3685032"/>
            <a:ext cx="64008" cy="873252"/>
          </a:xfrm>
          <a:prstGeom prst="rect">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658368" y="3993642"/>
            <a:ext cx="256032" cy="256032"/>
          </a:xfrm>
          <a:prstGeom prst="ellipse">
            <a:avLst/>
          </a:prstGeom>
          <a:solidFill>
            <a:srgbClr val="2EB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7</a:t>
            </a:r>
          </a:p>
        </p:txBody>
      </p:sp>
      <p:sp>
        <p:nvSpPr>
          <p:cNvPr id="36" name="TextBox 35"/>
          <p:cNvSpPr txBox="1"/>
          <p:nvPr/>
        </p:nvSpPr>
        <p:spPr>
          <a:xfrm>
            <a:off x="1024128" y="3703320"/>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Put these in sync-wave order: Deployment, ClusterSecretStore, Namespace, ExternalSecret.</a:t>
            </a:r>
          </a:p>
        </p:txBody>
      </p:sp>
      <p:sp>
        <p:nvSpPr>
          <p:cNvPr id="37" name="Rounded Rectangle 36"/>
          <p:cNvSpPr/>
          <p:nvPr/>
        </p:nvSpPr>
        <p:spPr>
          <a:xfrm>
            <a:off x="4320021" y="3685032"/>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4320021" y="3685032"/>
            <a:ext cx="64008" cy="873252"/>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502901" y="3993642"/>
            <a:ext cx="256032" cy="256032"/>
          </a:xfrm>
          <a:prstGeom prst="ellipse">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8</a:t>
            </a:r>
          </a:p>
        </p:txBody>
      </p:sp>
      <p:sp>
        <p:nvSpPr>
          <p:cNvPr id="40" name="TextBox 39"/>
          <p:cNvSpPr txBox="1"/>
          <p:nvPr/>
        </p:nvSpPr>
        <p:spPr>
          <a:xfrm>
            <a:off x="4868661" y="3703320"/>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A rotation happened four hours ago and the pod is still using the old value. Name three places to look, in order.</a:t>
            </a:r>
          </a:p>
        </p:txBody>
      </p:sp>
      <p:sp>
        <p:nvSpPr>
          <p:cNvPr id="41" name="Rounded Rectangle 40"/>
          <p:cNvSpPr/>
          <p:nvPr/>
        </p:nvSpPr>
        <p:spPr>
          <a:xfrm>
            <a:off x="8164555" y="3685032"/>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8164555" y="3685032"/>
            <a:ext cx="64008" cy="87325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8347435" y="3993642"/>
            <a:ext cx="256032" cy="256032"/>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9</a:t>
            </a:r>
          </a:p>
        </p:txBody>
      </p:sp>
      <p:sp>
        <p:nvSpPr>
          <p:cNvPr id="44" name="TextBox 43"/>
          <p:cNvSpPr txBox="1"/>
          <p:nvPr/>
        </p:nvSpPr>
        <p:spPr>
          <a:xfrm>
            <a:off x="8713195" y="3703320"/>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What does deletionPolicy: Retain protect you from?</a:t>
            </a:r>
          </a:p>
        </p:txBody>
      </p:sp>
      <p:sp>
        <p:nvSpPr>
          <p:cNvPr id="45" name="Rounded Rectangle 44"/>
          <p:cNvSpPr/>
          <p:nvPr/>
        </p:nvSpPr>
        <p:spPr>
          <a:xfrm>
            <a:off x="475488" y="4704588"/>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75488" y="4704588"/>
            <a:ext cx="64008" cy="873252"/>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658368" y="5013198"/>
            <a:ext cx="256032" cy="256032"/>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10</a:t>
            </a:r>
          </a:p>
        </p:txBody>
      </p:sp>
      <p:sp>
        <p:nvSpPr>
          <p:cNvPr id="48" name="TextBox 47"/>
          <p:cNvSpPr txBox="1"/>
          <p:nvPr/>
        </p:nvSpPr>
        <p:spPr>
          <a:xfrm>
            <a:off x="1024128" y="4722875"/>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Why can you rebuild a cluster without ever backing up a Kubernetes Secret?</a:t>
            </a:r>
          </a:p>
        </p:txBody>
      </p:sp>
      <p:sp>
        <p:nvSpPr>
          <p:cNvPr id="49" name="Rounded Rectangle 48"/>
          <p:cNvSpPr/>
          <p:nvPr/>
        </p:nvSpPr>
        <p:spPr>
          <a:xfrm>
            <a:off x="4320021" y="4704588"/>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320021" y="4704588"/>
            <a:ext cx="64008" cy="8732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4502901" y="5013198"/>
            <a:ext cx="256032" cy="256032"/>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11</a:t>
            </a:r>
          </a:p>
        </p:txBody>
      </p:sp>
      <p:sp>
        <p:nvSpPr>
          <p:cNvPr id="52" name="TextBox 51"/>
          <p:cNvSpPr txBox="1"/>
          <p:nvPr/>
        </p:nvSpPr>
        <p:spPr>
          <a:xfrm>
            <a:off x="4868661" y="4722875"/>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Name one thing each tool refuses to do that the other two cover.</a:t>
            </a:r>
          </a:p>
        </p:txBody>
      </p:sp>
      <p:sp>
        <p:nvSpPr>
          <p:cNvPr id="53" name="Rounded Rectangle 52"/>
          <p:cNvSpPr/>
          <p:nvPr/>
        </p:nvSpPr>
        <p:spPr>
          <a:xfrm>
            <a:off x="8164555" y="4704588"/>
            <a:ext cx="3551925" cy="873252"/>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8164555" y="4704588"/>
            <a:ext cx="64008" cy="87325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8347435" y="5013198"/>
            <a:ext cx="256032" cy="256032"/>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100" b="1" i="0">
                <a:solidFill>
                  <a:srgbClr val="FFFFFF"/>
                </a:solidFill>
                <a:latin typeface="Calibri"/>
              </a:rPr>
              <a:t>12</a:t>
            </a:r>
          </a:p>
        </p:txBody>
      </p:sp>
      <p:sp>
        <p:nvSpPr>
          <p:cNvPr id="56" name="TextBox 55"/>
          <p:cNvSpPr txBox="1"/>
          <p:nvPr/>
        </p:nvSpPr>
        <p:spPr>
          <a:xfrm>
            <a:off x="8713195" y="4722875"/>
            <a:ext cx="2866125" cy="836675"/>
          </a:xfrm>
          <a:prstGeom prst="rect">
            <a:avLst/>
          </a:prstGeom>
          <a:noFill/>
        </p:spPr>
        <p:txBody>
          <a:bodyPr wrap="square" lIns="18288" rIns="18288" tIns="0" bIns="0" anchor="ctr">
            <a:noAutofit/>
          </a:bodyPr>
          <a:lstStyle/>
          <a:p>
            <a:pPr algn="l">
              <a:lnSpc>
                <a:spcPct val="115000"/>
              </a:lnSpc>
              <a:spcAft>
                <a:spcPts val="0"/>
              </a:spcAft>
            </a:pPr>
            <a:r>
              <a:rPr sz="1250" b="1" i="0">
                <a:solidFill>
                  <a:srgbClr val="1F2B3D"/>
                </a:solidFill>
                <a:latin typeface="Calibri"/>
              </a:rPr>
              <a:t>Which tool would you install first in a team with none of them, and why?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6793992"/>
            <a:ext cx="12191969" cy="6400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25880" y="1417320"/>
            <a:ext cx="2743200" cy="329184"/>
          </a:xfrm>
          <a:prstGeom prst="rect">
            <a:avLst/>
          </a:prstGeom>
          <a:noFill/>
        </p:spPr>
        <p:txBody>
          <a:bodyPr wrap="square" lIns="18288" rIns="18288" tIns="0" bIns="0" anchor="t">
            <a:noAutofit/>
          </a:bodyPr>
          <a:lstStyle/>
          <a:p>
            <a:pPr algn="l">
              <a:spcAft>
                <a:spcPts val="0"/>
              </a:spcAft>
            </a:pPr>
            <a:r>
              <a:rPr sz="1400" b="1" i="0">
                <a:solidFill>
                  <a:srgbClr val="2BA8D8"/>
                </a:solidFill>
                <a:latin typeface="Calibri"/>
              </a:rPr>
              <a:t>APPENDIX</a:t>
            </a:r>
          </a:p>
        </p:txBody>
      </p:sp>
      <p:sp>
        <p:nvSpPr>
          <p:cNvPr id="5" name="Rectangle 4"/>
          <p:cNvSpPr/>
          <p:nvPr/>
        </p:nvSpPr>
        <p:spPr>
          <a:xfrm>
            <a:off x="1353312" y="1847088"/>
            <a:ext cx="1234440" cy="50292"/>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325880" y="2212848"/>
            <a:ext cx="8046720" cy="752348"/>
          </a:xfrm>
          <a:prstGeom prst="rect">
            <a:avLst/>
          </a:prstGeom>
          <a:noFill/>
        </p:spPr>
        <p:txBody>
          <a:bodyPr wrap="square" lIns="18288" rIns="18288" tIns="0" bIns="0" anchor="t">
            <a:noAutofit/>
          </a:bodyPr>
          <a:lstStyle/>
          <a:p>
            <a:pPr algn="l">
              <a:lnSpc>
                <a:spcPct val="110000"/>
              </a:lnSpc>
              <a:spcAft>
                <a:spcPts val="0"/>
              </a:spcAft>
            </a:pPr>
            <a:r>
              <a:rPr sz="4600" b="1" i="0">
                <a:solidFill>
                  <a:srgbClr val="FFFFFF"/>
                </a:solidFill>
                <a:latin typeface="Calibri Light"/>
              </a:rPr>
              <a:t>Answers</a:t>
            </a:r>
          </a:p>
        </p:txBody>
      </p:sp>
      <p:sp>
        <p:nvSpPr>
          <p:cNvPr id="7" name="TextBox 6"/>
          <p:cNvSpPr txBox="1"/>
          <p:nvPr/>
        </p:nvSpPr>
        <p:spPr>
          <a:xfrm>
            <a:off x="1325880" y="3129788"/>
            <a:ext cx="7680960" cy="457200"/>
          </a:xfrm>
          <a:prstGeom prst="rect">
            <a:avLst/>
          </a:prstGeom>
          <a:noFill/>
        </p:spPr>
        <p:txBody>
          <a:bodyPr wrap="square" lIns="18288" rIns="18288" tIns="0" bIns="0" anchor="t">
            <a:noAutofit/>
          </a:bodyPr>
          <a:lstStyle/>
          <a:p>
            <a:pPr algn="l">
              <a:spcAft>
                <a:spcPts val="0"/>
              </a:spcAft>
            </a:pPr>
            <a:r>
              <a:rPr sz="1700" b="0" i="0">
                <a:solidFill>
                  <a:srgbClr val="D9E2F0"/>
                </a:solidFill>
                <a:latin typeface="Calibri Light"/>
              </a:rPr>
              <a:t>Every quick check and the final review, for revising on your own.</a:t>
            </a:r>
          </a:p>
        </p:txBody>
      </p:sp>
      <p:sp>
        <p:nvSpPr>
          <p:cNvPr id="8" name="Rectangle 7"/>
          <p:cNvSpPr/>
          <p:nvPr/>
        </p:nvSpPr>
        <p:spPr>
          <a:xfrm>
            <a:off x="1344168" y="3879596"/>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600200" y="3788156"/>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Quick checks from sections 01 and 02</a:t>
            </a:r>
          </a:p>
        </p:txBody>
      </p:sp>
      <p:sp>
        <p:nvSpPr>
          <p:cNvPr id="10" name="Rectangle 9"/>
          <p:cNvSpPr/>
          <p:nvPr/>
        </p:nvSpPr>
        <p:spPr>
          <a:xfrm>
            <a:off x="1344168" y="4263644"/>
            <a:ext cx="91440" cy="9144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600200" y="4172204"/>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Quick checks from sections 03 and 04</a:t>
            </a:r>
          </a:p>
        </p:txBody>
      </p:sp>
      <p:sp>
        <p:nvSpPr>
          <p:cNvPr id="12" name="Rectangle 11"/>
          <p:cNvSpPr/>
          <p:nvPr/>
        </p:nvSpPr>
        <p:spPr>
          <a:xfrm>
            <a:off x="1344168" y="4647692"/>
            <a:ext cx="91440" cy="914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600200" y="4556252"/>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Both halves of the twelve-question final review</a:t>
            </a:r>
          </a:p>
        </p:txBody>
      </p:sp>
      <p:sp>
        <p:nvSpPr>
          <p:cNvPr id="14" name="Rectangle 13"/>
          <p:cNvSpPr/>
          <p:nvPr/>
        </p:nvSpPr>
        <p:spPr>
          <a:xfrm>
            <a:off x="1344168" y="5031740"/>
            <a:ext cx="91440" cy="9144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00200" y="4940300"/>
            <a:ext cx="6949440" cy="310896"/>
          </a:xfrm>
          <a:prstGeom prst="rect">
            <a:avLst/>
          </a:prstGeom>
          <a:noFill/>
        </p:spPr>
        <p:txBody>
          <a:bodyPr wrap="square" lIns="18288" rIns="18288" tIns="0" bIns="0" anchor="t">
            <a:noAutofit/>
          </a:bodyPr>
          <a:lstStyle/>
          <a:p>
            <a:pPr algn="l">
              <a:spcAft>
                <a:spcPts val="0"/>
              </a:spcAft>
            </a:pPr>
            <a:r>
              <a:rPr sz="1350" b="0" i="0">
                <a:solidFill>
                  <a:srgbClr val="A9B6C9"/>
                </a:solidFill>
                <a:latin typeface="Calibri"/>
              </a:rPr>
              <a:t>Attempt the questions before turning here</a:t>
            </a:r>
          </a:p>
        </p:txBody>
      </p:sp>
      <p:sp>
        <p:nvSpPr>
          <p:cNvPr id="16" name="Oval 15"/>
          <p:cNvSpPr/>
          <p:nvPr/>
        </p:nvSpPr>
        <p:spPr>
          <a:xfrm>
            <a:off x="10378440" y="1325880"/>
            <a:ext cx="960120" cy="960120"/>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3000" b="1" i="0">
                <a:solidFill>
                  <a:srgbClr val="F26522"/>
                </a:solidFill>
                <a:latin typeface="Calibri"/>
              </a:rPr>
              <a:t>08</a:t>
            </a:r>
          </a:p>
        </p:txBody>
      </p:sp>
      <p:sp>
        <p:nvSpPr>
          <p:cNvPr id="17" name="Rectangle 16"/>
          <p:cNvSpPr/>
          <p:nvPr/>
        </p:nvSpPr>
        <p:spPr>
          <a:xfrm>
            <a:off x="10378440" y="2395728"/>
            <a:ext cx="960120" cy="41148"/>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9646920" y="4892040"/>
            <a:ext cx="1965960" cy="982980"/>
          </a:xfrm>
          <a:prstGeom prst="rect">
            <a:avLst/>
          </a:prstGeom>
        </p:spPr>
      </p:pic>
      <p:sp>
        <p:nvSpPr>
          <p:cNvPr id="19"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7E8B9E"/>
                </a:solidFill>
                <a:latin typeface="Calibri Light"/>
              </a:rPr>
              <a:t>DevOps Easy Learning   |   Appendix  ·  Answers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Answers — Configuration and Secrets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Section 01 quick check.</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Appendix  ·  Answers</a:t>
            </a:r>
          </a:p>
        </p:txBody>
      </p:sp>
      <p:sp>
        <p:nvSpPr>
          <p:cNvPr id="9" name="Rounded Rectangle 8"/>
          <p:cNvSpPr/>
          <p:nvPr/>
        </p:nvSpPr>
        <p:spPr>
          <a:xfrm>
            <a:off x="475488"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874519"/>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0080" y="1773936"/>
            <a:ext cx="237744" cy="237744"/>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1</a:t>
            </a:r>
          </a:p>
        </p:txBody>
      </p:sp>
      <p:sp>
        <p:nvSpPr>
          <p:cNvPr id="12" name="TextBox 11"/>
          <p:cNvSpPr txBox="1"/>
          <p:nvPr/>
        </p:nvSpPr>
        <p:spPr>
          <a:xfrm>
            <a:off x="969264"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Are Kubernetes Secrets encrypted?</a:t>
            </a:r>
          </a:p>
        </p:txBody>
      </p:sp>
      <p:sp>
        <p:nvSpPr>
          <p:cNvPr id="13" name="TextBox 12"/>
          <p:cNvSpPr txBox="1"/>
          <p:nvPr/>
        </p:nvSpPr>
        <p:spPr>
          <a:xfrm>
            <a:off x="969264"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No — they are base64-encoded in etcd. To make them encrypted at rest you must enable EncryptionConfiguration on the API server, ideally backed by a KMS provider.</a:t>
            </a:r>
          </a:p>
        </p:txBody>
      </p:sp>
      <p:sp>
        <p:nvSpPr>
          <p:cNvPr id="14" name="Rounded Rectangle 13"/>
          <p:cNvSpPr/>
          <p:nvPr/>
        </p:nvSpPr>
        <p:spPr>
          <a:xfrm>
            <a:off x="4320021"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0021" y="1645920"/>
            <a:ext cx="64008" cy="1874519"/>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84613" y="1773936"/>
            <a:ext cx="237744" cy="237744"/>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2</a:t>
            </a:r>
          </a:p>
        </p:txBody>
      </p:sp>
      <p:sp>
        <p:nvSpPr>
          <p:cNvPr id="17" name="TextBox 16"/>
          <p:cNvSpPr txBox="1"/>
          <p:nvPr/>
        </p:nvSpPr>
        <p:spPr>
          <a:xfrm>
            <a:off x="4813797"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Rotation with envFrom — how long?</a:t>
            </a:r>
          </a:p>
        </p:txBody>
      </p:sp>
      <p:sp>
        <p:nvSpPr>
          <p:cNvPr id="18" name="TextBox 17"/>
          <p:cNvSpPr txBox="1"/>
          <p:nvPr/>
        </p:nvSpPr>
        <p:spPr>
          <a:xfrm>
            <a:off x="4813797"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Forever. An environment variable is copied into the process at container start and never re-read. Only a new pod picks up the change.</a:t>
            </a:r>
          </a:p>
        </p:txBody>
      </p:sp>
      <p:sp>
        <p:nvSpPr>
          <p:cNvPr id="19" name="Rounded Rectangle 18"/>
          <p:cNvSpPr/>
          <p:nvPr/>
        </p:nvSpPr>
        <p:spPr>
          <a:xfrm>
            <a:off x="8164555"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64555" y="1645920"/>
            <a:ext cx="64008" cy="1874519"/>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329147" y="1773936"/>
            <a:ext cx="237744" cy="23774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3</a:t>
            </a:r>
          </a:p>
        </p:txBody>
      </p:sp>
      <p:sp>
        <p:nvSpPr>
          <p:cNvPr id="22" name="TextBox 21"/>
          <p:cNvSpPr txBox="1"/>
          <p:nvPr/>
        </p:nvSpPr>
        <p:spPr>
          <a:xfrm>
            <a:off x="8658331"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Which mount style stays current?</a:t>
            </a:r>
          </a:p>
        </p:txBody>
      </p:sp>
      <p:sp>
        <p:nvSpPr>
          <p:cNvPr id="23" name="TextBox 22"/>
          <p:cNvSpPr txBox="1"/>
          <p:nvPr/>
        </p:nvSpPr>
        <p:spPr>
          <a:xfrm>
            <a:off x="8658331"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 whole-volume mount — the kubelet refreshes it. A subPath mount copies the file once at start-up and never updates.</a:t>
            </a:r>
          </a:p>
        </p:txBody>
      </p:sp>
      <p:sp>
        <p:nvSpPr>
          <p:cNvPr id="24" name="Rounded Rectangle 23"/>
          <p:cNvSpPr/>
          <p:nvPr/>
        </p:nvSpPr>
        <p:spPr>
          <a:xfrm>
            <a:off x="475488"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703320"/>
            <a:ext cx="6400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40080" y="3831335"/>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4</a:t>
            </a:r>
          </a:p>
        </p:txBody>
      </p:sp>
      <p:sp>
        <p:nvSpPr>
          <p:cNvPr id="27" name="TextBox 26"/>
          <p:cNvSpPr txBox="1"/>
          <p:nvPr/>
        </p:nvSpPr>
        <p:spPr>
          <a:xfrm>
            <a:off x="969264"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stringData?</a:t>
            </a:r>
          </a:p>
        </p:txBody>
      </p:sp>
      <p:sp>
        <p:nvSpPr>
          <p:cNvPr id="28" name="TextBox 27"/>
          <p:cNvSpPr txBox="1"/>
          <p:nvPr/>
        </p:nvSpPr>
        <p:spPr>
          <a:xfrm>
            <a:off x="969264"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It takes the plain value and lets the API server base64 it for you. The data field requires you to encode it yourself, which is where hand-written manifests go wrong.</a:t>
            </a:r>
          </a:p>
        </p:txBody>
      </p:sp>
      <p:sp>
        <p:nvSpPr>
          <p:cNvPr id="29" name="Rounded Rectangle 28"/>
          <p:cNvSpPr/>
          <p:nvPr/>
        </p:nvSpPr>
        <p:spPr>
          <a:xfrm>
            <a:off x="4320021"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20021" y="3703320"/>
            <a:ext cx="64008"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84613" y="3831335"/>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5</a:t>
            </a:r>
          </a:p>
        </p:txBody>
      </p:sp>
      <p:sp>
        <p:nvSpPr>
          <p:cNvPr id="32" name="TextBox 31"/>
          <p:cNvSpPr txBox="1"/>
          <p:nvPr/>
        </p:nvSpPr>
        <p:spPr>
          <a:xfrm>
            <a:off x="4813797" y="3794759"/>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The kubelet updates the file. Does behaviour change?</a:t>
            </a:r>
          </a:p>
        </p:txBody>
      </p:sp>
      <p:sp>
        <p:nvSpPr>
          <p:cNvPr id="33" name="TextBox 32"/>
          <p:cNvSpPr txBox="1"/>
          <p:nvPr/>
        </p:nvSpPr>
        <p:spPr>
          <a:xfrm>
            <a:off x="4813797" y="4182618"/>
            <a:ext cx="2893557" cy="1267205"/>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No. The file on disk is current, but a process that read it at start-up is still using the old value in memory.</a:t>
            </a:r>
          </a:p>
        </p:txBody>
      </p:sp>
      <p:sp>
        <p:nvSpPr>
          <p:cNvPr id="34" name="Rounded Rectangle 33"/>
          <p:cNvSpPr/>
          <p:nvPr/>
        </p:nvSpPr>
        <p:spPr>
          <a:xfrm>
            <a:off x="8164555"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64555" y="3703320"/>
            <a:ext cx="64008"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29147" y="3831335"/>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6</a:t>
            </a:r>
          </a:p>
        </p:txBody>
      </p:sp>
      <p:sp>
        <p:nvSpPr>
          <p:cNvPr id="37" name="TextBox 36"/>
          <p:cNvSpPr txBox="1"/>
          <p:nvPr/>
        </p:nvSpPr>
        <p:spPr>
          <a:xfrm>
            <a:off x="8658331"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not grant get on secrets?</a:t>
            </a:r>
          </a:p>
        </p:txBody>
      </p:sp>
      <p:sp>
        <p:nvSpPr>
          <p:cNvPr id="38" name="TextBox 37"/>
          <p:cNvSpPr txBox="1"/>
          <p:nvPr/>
        </p:nvSpPr>
        <p:spPr>
          <a:xfrm>
            <a:off x="8658331"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The workload does not need it — the kubelet projects the Secret into the pod. Granting it widens the blast radius of any compromise for no benefit.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Answers — The Three Problems</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Section 02 quick check.</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Appendix  ·  Answers</a:t>
            </a:r>
          </a:p>
        </p:txBody>
      </p:sp>
      <p:sp>
        <p:nvSpPr>
          <p:cNvPr id="9" name="Rounded Rectangle 8"/>
          <p:cNvSpPr/>
          <p:nvPr/>
        </p:nvSpPr>
        <p:spPr>
          <a:xfrm>
            <a:off x="475488"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874519"/>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0080" y="1773936"/>
            <a:ext cx="237744" cy="237744"/>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1</a:t>
            </a:r>
          </a:p>
        </p:txBody>
      </p:sp>
      <p:sp>
        <p:nvSpPr>
          <p:cNvPr id="12" name="TextBox 11"/>
          <p:cNvSpPr txBox="1"/>
          <p:nvPr/>
        </p:nvSpPr>
        <p:spPr>
          <a:xfrm>
            <a:off x="969264" y="1737360"/>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is deleting a committed password not a fix?</a:t>
            </a:r>
          </a:p>
        </p:txBody>
      </p:sp>
      <p:sp>
        <p:nvSpPr>
          <p:cNvPr id="13" name="TextBox 12"/>
          <p:cNvSpPr txBox="1"/>
          <p:nvPr/>
        </p:nvSpPr>
        <p:spPr>
          <a:xfrm>
            <a:off x="969264" y="2125218"/>
            <a:ext cx="2893557" cy="1267206"/>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It stays in the history, in every clone and fork, and in CI caches. The only real remedy is to rotate the credential itself.</a:t>
            </a:r>
          </a:p>
        </p:txBody>
      </p:sp>
      <p:sp>
        <p:nvSpPr>
          <p:cNvPr id="14" name="Rounded Rectangle 13"/>
          <p:cNvSpPr/>
          <p:nvPr/>
        </p:nvSpPr>
        <p:spPr>
          <a:xfrm>
            <a:off x="4320021"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0021" y="1645920"/>
            <a:ext cx="64008" cy="1874519"/>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84613" y="1773936"/>
            <a:ext cx="237744" cy="237744"/>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2</a:t>
            </a:r>
          </a:p>
        </p:txBody>
      </p:sp>
      <p:sp>
        <p:nvSpPr>
          <p:cNvPr id="17" name="TextBox 16"/>
          <p:cNvSpPr txBox="1"/>
          <p:nvPr/>
        </p:nvSpPr>
        <p:spPr>
          <a:xfrm>
            <a:off x="4813797" y="1737360"/>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What fills the gap between Secret updated and value used?</a:t>
            </a:r>
          </a:p>
        </p:txBody>
      </p:sp>
      <p:sp>
        <p:nvSpPr>
          <p:cNvPr id="18" name="TextBox 17"/>
          <p:cNvSpPr txBox="1"/>
          <p:nvPr/>
        </p:nvSpPr>
        <p:spPr>
          <a:xfrm>
            <a:off x="4813797" y="2125218"/>
            <a:ext cx="2893557" cy="1267206"/>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 pod restart. Reloader automates it by patching the pod template so Kubernetes performs an ordinary rolling update.</a:t>
            </a:r>
          </a:p>
        </p:txBody>
      </p:sp>
      <p:sp>
        <p:nvSpPr>
          <p:cNvPr id="19" name="Rounded Rectangle 18"/>
          <p:cNvSpPr/>
          <p:nvPr/>
        </p:nvSpPr>
        <p:spPr>
          <a:xfrm>
            <a:off x="8164555"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64555" y="1645920"/>
            <a:ext cx="64008" cy="1874519"/>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329147" y="1773936"/>
            <a:ext cx="237744" cy="23774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3</a:t>
            </a:r>
          </a:p>
        </p:txBody>
      </p:sp>
      <p:sp>
        <p:nvSpPr>
          <p:cNvPr id="22" name="TextBox 21"/>
          <p:cNvSpPr txBox="1"/>
          <p:nvPr/>
        </p:nvSpPr>
        <p:spPr>
          <a:xfrm>
            <a:off x="8658331" y="1737360"/>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What does kubectl apply from CI fail to tell you?</a:t>
            </a:r>
          </a:p>
        </p:txBody>
      </p:sp>
      <p:sp>
        <p:nvSpPr>
          <p:cNvPr id="23" name="TextBox 22"/>
          <p:cNvSpPr txBox="1"/>
          <p:nvPr/>
        </p:nvSpPr>
        <p:spPr>
          <a:xfrm>
            <a:off x="8658331" y="2125218"/>
            <a:ext cx="2893557" cy="1267206"/>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Whether the cluster still matches Git afterwards. It reports that an apply ran, not that the state has held.</a:t>
            </a:r>
          </a:p>
        </p:txBody>
      </p:sp>
      <p:sp>
        <p:nvSpPr>
          <p:cNvPr id="24" name="Rounded Rectangle 23"/>
          <p:cNvSpPr/>
          <p:nvPr/>
        </p:nvSpPr>
        <p:spPr>
          <a:xfrm>
            <a:off x="475488"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703320"/>
            <a:ext cx="6400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40080" y="3831335"/>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4</a:t>
            </a:r>
          </a:p>
        </p:txBody>
      </p:sp>
      <p:sp>
        <p:nvSpPr>
          <p:cNvPr id="27" name="TextBox 26"/>
          <p:cNvSpPr txBox="1"/>
          <p:nvPr/>
        </p:nvSpPr>
        <p:spPr>
          <a:xfrm>
            <a:off x="969264"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Sealed Secrets versus ESO?</a:t>
            </a:r>
          </a:p>
        </p:txBody>
      </p:sp>
      <p:sp>
        <p:nvSpPr>
          <p:cNvPr id="28" name="TextBox 27"/>
          <p:cNvSpPr txBox="1"/>
          <p:nvPr/>
        </p:nvSpPr>
        <p:spPr>
          <a:xfrm>
            <a:off x="969264"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Sealed Secrets needs no external vault and works offline. But you version ciphertext, redeploy to rotate, and hold a key that unlocks the whole history.</a:t>
            </a:r>
          </a:p>
        </p:txBody>
      </p:sp>
      <p:sp>
        <p:nvSpPr>
          <p:cNvPr id="29" name="Rounded Rectangle 28"/>
          <p:cNvSpPr/>
          <p:nvPr/>
        </p:nvSpPr>
        <p:spPr>
          <a:xfrm>
            <a:off x="4320021"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20021" y="3703320"/>
            <a:ext cx="64008"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84613" y="3831335"/>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5</a:t>
            </a:r>
          </a:p>
        </p:txBody>
      </p:sp>
      <p:sp>
        <p:nvSpPr>
          <p:cNvPr id="32" name="TextBox 31"/>
          <p:cNvSpPr txBox="1"/>
          <p:nvPr/>
        </p:nvSpPr>
        <p:spPr>
          <a:xfrm>
            <a:off x="4813797"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Which tool first, with no GitOps at all?</a:t>
            </a:r>
          </a:p>
        </p:txBody>
      </p:sp>
      <p:sp>
        <p:nvSpPr>
          <p:cNvPr id="33" name="TextBox 32"/>
          <p:cNvSpPr txBox="1"/>
          <p:nvPr/>
        </p:nvSpPr>
        <p:spPr>
          <a:xfrm>
            <a:off x="4813797"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Argo CD. It gives you delivery and drift visibility immediately, and it becomes the mechanism by which the other two are installed.</a:t>
            </a:r>
          </a:p>
        </p:txBody>
      </p:sp>
      <p:sp>
        <p:nvSpPr>
          <p:cNvPr id="34" name="Rounded Rectangle 33"/>
          <p:cNvSpPr/>
          <p:nvPr/>
        </p:nvSpPr>
        <p:spPr>
          <a:xfrm>
            <a:off x="8164555"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64555" y="3703320"/>
            <a:ext cx="64008"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29147" y="3831335"/>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6</a:t>
            </a:r>
          </a:p>
        </p:txBody>
      </p:sp>
      <p:sp>
        <p:nvSpPr>
          <p:cNvPr id="37" name="TextBox 36"/>
          <p:cNvSpPr txBox="1"/>
          <p:nvPr/>
        </p:nvSpPr>
        <p:spPr>
          <a:xfrm>
            <a:off x="8658331" y="3794759"/>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Can Argo CD restart pods when a Secret changes?</a:t>
            </a:r>
          </a:p>
        </p:txBody>
      </p:sp>
      <p:sp>
        <p:nvSpPr>
          <p:cNvPr id="38" name="TextBox 37"/>
          <p:cNvSpPr txBox="1"/>
          <p:nvPr/>
        </p:nvSpPr>
        <p:spPr>
          <a:xfrm>
            <a:off x="8658331" y="4182618"/>
            <a:ext cx="2893557" cy="1267205"/>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No. A change to a Secret's data is not a manifest change, so there is nothing for Argo CD to reconcile.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Answers — Argo CD</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Section 03 quick check.</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Appendix  ·  Answers</a:t>
            </a:r>
          </a:p>
        </p:txBody>
      </p:sp>
      <p:sp>
        <p:nvSpPr>
          <p:cNvPr id="9" name="Rounded Rectangle 8"/>
          <p:cNvSpPr/>
          <p:nvPr/>
        </p:nvSpPr>
        <p:spPr>
          <a:xfrm>
            <a:off x="475488"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874519"/>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0080" y="1773936"/>
            <a:ext cx="237744" cy="237744"/>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1</a:t>
            </a:r>
          </a:p>
        </p:txBody>
      </p:sp>
      <p:sp>
        <p:nvSpPr>
          <p:cNvPr id="12" name="TextBox 11"/>
          <p:cNvSpPr txBox="1"/>
          <p:nvPr/>
        </p:nvSpPr>
        <p:spPr>
          <a:xfrm>
            <a:off x="969264"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Synced and Degraded — whose problem?</a:t>
            </a:r>
          </a:p>
        </p:txBody>
      </p:sp>
      <p:sp>
        <p:nvSpPr>
          <p:cNvPr id="13" name="TextBox 12"/>
          <p:cNvSpPr txBox="1"/>
          <p:nvPr/>
        </p:nvSpPr>
        <p:spPr>
          <a:xfrm>
            <a:off x="969264"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Yours. Argo CD delivered exactly what Git asked for; what Git asked for is broken. Debug the pod, not Argo CD.</a:t>
            </a:r>
          </a:p>
        </p:txBody>
      </p:sp>
      <p:sp>
        <p:nvSpPr>
          <p:cNvPr id="14" name="Rounded Rectangle 13"/>
          <p:cNvSpPr/>
          <p:nvPr/>
        </p:nvSpPr>
        <p:spPr>
          <a:xfrm>
            <a:off x="4320021"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0021" y="1645920"/>
            <a:ext cx="64008" cy="1874519"/>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84613" y="1773936"/>
            <a:ext cx="237744" cy="237744"/>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2</a:t>
            </a:r>
          </a:p>
        </p:txBody>
      </p:sp>
      <p:sp>
        <p:nvSpPr>
          <p:cNvPr id="17" name="TextBox 16"/>
          <p:cNvSpPr txBox="1"/>
          <p:nvPr/>
        </p:nvSpPr>
        <p:spPr>
          <a:xfrm>
            <a:off x="4813797"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What does prune add?</a:t>
            </a:r>
          </a:p>
        </p:txBody>
      </p:sp>
      <p:sp>
        <p:nvSpPr>
          <p:cNvPr id="18" name="TextBox 17"/>
          <p:cNvSpPr txBox="1"/>
          <p:nvPr/>
        </p:nvSpPr>
        <p:spPr>
          <a:xfrm>
            <a:off x="4813797"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Deletion. Without it, removing a manifest from Git leaves the live object running indefinitely. With it, Argo CD removes what Git no longer describes.</a:t>
            </a:r>
          </a:p>
        </p:txBody>
      </p:sp>
      <p:sp>
        <p:nvSpPr>
          <p:cNvPr id="19" name="Rounded Rectangle 18"/>
          <p:cNvSpPr/>
          <p:nvPr/>
        </p:nvSpPr>
        <p:spPr>
          <a:xfrm>
            <a:off x="8164555"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64555" y="1645920"/>
            <a:ext cx="64008" cy="1874519"/>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329147" y="1773936"/>
            <a:ext cx="237744" cy="23774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3</a:t>
            </a:r>
          </a:p>
        </p:txBody>
      </p:sp>
      <p:sp>
        <p:nvSpPr>
          <p:cNvPr id="22" name="TextBox 21"/>
          <p:cNvSpPr txBox="1"/>
          <p:nvPr/>
        </p:nvSpPr>
        <p:spPr>
          <a:xfrm>
            <a:off x="8658331"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is SecretStore in an earlier wave?</a:t>
            </a:r>
          </a:p>
        </p:txBody>
      </p:sp>
      <p:sp>
        <p:nvSpPr>
          <p:cNvPr id="23" name="TextBox 22"/>
          <p:cNvSpPr txBox="1"/>
          <p:nvPr/>
        </p:nvSpPr>
        <p:spPr>
          <a:xfrm>
            <a:off x="8658331"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An ExternalSecret cannot fetch anything until its store exists and can authenticate. Waves make that dependency explicit.</a:t>
            </a:r>
          </a:p>
        </p:txBody>
      </p:sp>
      <p:sp>
        <p:nvSpPr>
          <p:cNvPr id="24" name="Rounded Rectangle 23"/>
          <p:cNvSpPr/>
          <p:nvPr/>
        </p:nvSpPr>
        <p:spPr>
          <a:xfrm>
            <a:off x="475488"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703320"/>
            <a:ext cx="6400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40080" y="3831335"/>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4</a:t>
            </a:r>
          </a:p>
        </p:txBody>
      </p:sp>
      <p:sp>
        <p:nvSpPr>
          <p:cNvPr id="27" name="TextBox 26"/>
          <p:cNvSpPr txBox="1"/>
          <p:nvPr/>
        </p:nvSpPr>
        <p:spPr>
          <a:xfrm>
            <a:off x="969264"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The kubectl edit vanished. Why?</a:t>
            </a:r>
          </a:p>
        </p:txBody>
      </p:sp>
      <p:sp>
        <p:nvSpPr>
          <p:cNvPr id="28" name="TextBox 27"/>
          <p:cNvSpPr txBox="1"/>
          <p:nvPr/>
        </p:nvSpPr>
        <p:spPr>
          <a:xfrm>
            <a:off x="969264"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selfHeal reverted it. Argo CD saw live state diverge from Git and corrected it. That is the feature working, not a fault.</a:t>
            </a:r>
          </a:p>
        </p:txBody>
      </p:sp>
      <p:sp>
        <p:nvSpPr>
          <p:cNvPr id="29" name="Rounded Rectangle 28"/>
          <p:cNvSpPr/>
          <p:nvPr/>
        </p:nvSpPr>
        <p:spPr>
          <a:xfrm>
            <a:off x="4320021"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20021" y="3703320"/>
            <a:ext cx="64008"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84613" y="3831335"/>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5</a:t>
            </a:r>
          </a:p>
        </p:txBody>
      </p:sp>
      <p:sp>
        <p:nvSpPr>
          <p:cNvPr id="32" name="TextBox 31"/>
          <p:cNvSpPr txBox="1"/>
          <p:nvPr/>
        </p:nvSpPr>
        <p:spPr>
          <a:xfrm>
            <a:off x="4813797"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Name two ApplicationSet generators.</a:t>
            </a:r>
          </a:p>
        </p:txBody>
      </p:sp>
      <p:sp>
        <p:nvSpPr>
          <p:cNvPr id="33" name="TextBox 32"/>
          <p:cNvSpPr txBox="1"/>
          <p:nvPr/>
        </p:nvSpPr>
        <p:spPr>
          <a:xfrm>
            <a:off x="4813797"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list produces one Application per hand-written element; git produces one per directory or file in a repo; cluster produces one per registered cluster.</a:t>
            </a:r>
          </a:p>
        </p:txBody>
      </p:sp>
      <p:sp>
        <p:nvSpPr>
          <p:cNvPr id="34" name="Rounded Rectangle 33"/>
          <p:cNvSpPr/>
          <p:nvPr/>
        </p:nvSpPr>
        <p:spPr>
          <a:xfrm>
            <a:off x="8164555"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64555" y="3703320"/>
            <a:ext cx="64008"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29147" y="3831335"/>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6</a:t>
            </a:r>
          </a:p>
        </p:txBody>
      </p:sp>
      <p:sp>
        <p:nvSpPr>
          <p:cNvPr id="37" name="TextBox 36"/>
          <p:cNvSpPr txBox="1"/>
          <p:nvPr/>
        </p:nvSpPr>
        <p:spPr>
          <a:xfrm>
            <a:off x="8658331"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Security argument for pull?</a:t>
            </a:r>
          </a:p>
        </p:txBody>
      </p:sp>
      <p:sp>
        <p:nvSpPr>
          <p:cNvPr id="38" name="TextBox 37"/>
          <p:cNvSpPr txBox="1"/>
          <p:nvPr/>
        </p:nvSpPr>
        <p:spPr>
          <a:xfrm>
            <a:off x="8658331"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Nothing outside the cluster needs write access to it. The agent runs inside and only needs read access to Git, so no CI runner holds production credentials.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Answers — External Secrets Operator</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Section 04 quick check.</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Appendix  ·  Answers</a:t>
            </a:r>
          </a:p>
        </p:txBody>
      </p:sp>
      <p:sp>
        <p:nvSpPr>
          <p:cNvPr id="9" name="Rounded Rectangle 8"/>
          <p:cNvSpPr/>
          <p:nvPr/>
        </p:nvSpPr>
        <p:spPr>
          <a:xfrm>
            <a:off x="475488"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874519"/>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0080" y="1773936"/>
            <a:ext cx="237744" cy="237744"/>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1</a:t>
            </a:r>
          </a:p>
        </p:txBody>
      </p:sp>
      <p:sp>
        <p:nvSpPr>
          <p:cNvPr id="12" name="TextBox 11"/>
          <p:cNvSpPr txBox="1"/>
          <p:nvPr/>
        </p:nvSpPr>
        <p:spPr>
          <a:xfrm>
            <a:off x="969264"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What is secret zero?</a:t>
            </a:r>
          </a:p>
        </p:txBody>
      </p:sp>
      <p:sp>
        <p:nvSpPr>
          <p:cNvPr id="13" name="TextBox 12"/>
          <p:cNvSpPr txBox="1"/>
          <p:nvPr/>
        </p:nvSpPr>
        <p:spPr>
          <a:xfrm>
            <a:off x="969264"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The credential needed to reach the credential store. Solve it with workload identity — IRSA or EKS Pod Identity on AWS, Workload Identity on Azure and GCP.</a:t>
            </a:r>
          </a:p>
        </p:txBody>
      </p:sp>
      <p:sp>
        <p:nvSpPr>
          <p:cNvPr id="14" name="Rounded Rectangle 13"/>
          <p:cNvSpPr/>
          <p:nvPr/>
        </p:nvSpPr>
        <p:spPr>
          <a:xfrm>
            <a:off x="4320021"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0021" y="1645920"/>
            <a:ext cx="64008" cy="1874519"/>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84613" y="1773936"/>
            <a:ext cx="237744" cy="237744"/>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2</a:t>
            </a:r>
          </a:p>
        </p:txBody>
      </p:sp>
      <p:sp>
        <p:nvSpPr>
          <p:cNvPr id="17" name="TextBox 16"/>
          <p:cNvSpPr txBox="1"/>
          <p:nvPr/>
        </p:nvSpPr>
        <p:spPr>
          <a:xfrm>
            <a:off x="4813797"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is an ExternalSecret safe to commit?</a:t>
            </a:r>
          </a:p>
        </p:txBody>
      </p:sp>
      <p:sp>
        <p:nvSpPr>
          <p:cNvPr id="18" name="TextBox 17"/>
          <p:cNvSpPr txBox="1"/>
          <p:nvPr/>
        </p:nvSpPr>
        <p:spPr>
          <a:xfrm>
            <a:off x="4813797"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It contains only references — which store, which remote key, which property. The value itself never appears in the manifest.</a:t>
            </a:r>
          </a:p>
        </p:txBody>
      </p:sp>
      <p:sp>
        <p:nvSpPr>
          <p:cNvPr id="19" name="Rounded Rectangle 18"/>
          <p:cNvSpPr/>
          <p:nvPr/>
        </p:nvSpPr>
        <p:spPr>
          <a:xfrm>
            <a:off x="8164555"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64555" y="1645920"/>
            <a:ext cx="64008" cy="1874519"/>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329147" y="1773936"/>
            <a:ext cx="237744" cy="23774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3</a:t>
            </a:r>
          </a:p>
        </p:txBody>
      </p:sp>
      <p:sp>
        <p:nvSpPr>
          <p:cNvPr id="22" name="TextBox 21"/>
          <p:cNvSpPr txBox="1"/>
          <p:nvPr/>
        </p:nvSpPr>
        <p:spPr>
          <a:xfrm>
            <a:off x="8658331"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ClusterSecretStore over SecretStore?</a:t>
            </a:r>
          </a:p>
        </p:txBody>
      </p:sp>
      <p:sp>
        <p:nvSpPr>
          <p:cNvPr id="23" name="TextBox 22"/>
          <p:cNvSpPr txBox="1"/>
          <p:nvPr/>
        </p:nvSpPr>
        <p:spPr>
          <a:xfrm>
            <a:off x="8658331"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When one backend serves many namespaces. Define the connection and its identity once, and let every team reference it rather than duplicating credentials.</a:t>
            </a:r>
          </a:p>
        </p:txBody>
      </p:sp>
      <p:sp>
        <p:nvSpPr>
          <p:cNvPr id="24" name="Rounded Rectangle 23"/>
          <p:cNvSpPr/>
          <p:nvPr/>
        </p:nvSpPr>
        <p:spPr>
          <a:xfrm>
            <a:off x="475488"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703320"/>
            <a:ext cx="6400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40080" y="3831335"/>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4</a:t>
            </a:r>
          </a:p>
        </p:txBody>
      </p:sp>
      <p:sp>
        <p:nvSpPr>
          <p:cNvPr id="27" name="TextBox 26"/>
          <p:cNvSpPr txBox="1"/>
          <p:nvPr/>
        </p:nvSpPr>
        <p:spPr>
          <a:xfrm>
            <a:off x="969264" y="3794759"/>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deletionPolicy: Delete and a renamed key?</a:t>
            </a:r>
          </a:p>
        </p:txBody>
      </p:sp>
      <p:sp>
        <p:nvSpPr>
          <p:cNvPr id="28" name="TextBox 27"/>
          <p:cNvSpPr txBox="1"/>
          <p:nvPr/>
        </p:nvSpPr>
        <p:spPr>
          <a:xfrm>
            <a:off x="969264" y="4182618"/>
            <a:ext cx="2893557" cy="1267205"/>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ESO deletes the Kubernetes Secret. Pods that mount it fail to start and pods already running keep working until they restart — a confusing, delayed outage.</a:t>
            </a:r>
          </a:p>
        </p:txBody>
      </p:sp>
      <p:sp>
        <p:nvSpPr>
          <p:cNvPr id="29" name="Rounded Rectangle 28"/>
          <p:cNvSpPr/>
          <p:nvPr/>
        </p:nvSpPr>
        <p:spPr>
          <a:xfrm>
            <a:off x="4320021"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20021" y="3703320"/>
            <a:ext cx="64008"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84613" y="3831335"/>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5</a:t>
            </a:r>
          </a:p>
        </p:txBody>
      </p:sp>
      <p:sp>
        <p:nvSpPr>
          <p:cNvPr id="32" name="TextBox 31"/>
          <p:cNvSpPr txBox="1"/>
          <p:nvPr/>
        </p:nvSpPr>
        <p:spPr>
          <a:xfrm>
            <a:off x="4813797"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Ready=True but the Secret is empty?</a:t>
            </a:r>
          </a:p>
        </p:txBody>
      </p:sp>
      <p:sp>
        <p:nvSpPr>
          <p:cNvPr id="33" name="TextBox 32"/>
          <p:cNvSpPr txBox="1"/>
          <p:nvPr/>
        </p:nvSpPr>
        <p:spPr>
          <a:xfrm>
            <a:off x="4813797"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The remote key exists but the property name inside it does not match. Fetch the raw secret from the provider and compare the field names.</a:t>
            </a:r>
          </a:p>
        </p:txBody>
      </p:sp>
      <p:sp>
        <p:nvSpPr>
          <p:cNvPr id="34" name="Rounded Rectangle 33"/>
          <p:cNvSpPr/>
          <p:nvPr/>
        </p:nvSpPr>
        <p:spPr>
          <a:xfrm>
            <a:off x="8164555"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64555" y="3703320"/>
            <a:ext cx="64008"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29147" y="3831335"/>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6</a:t>
            </a:r>
          </a:p>
        </p:txBody>
      </p:sp>
      <p:sp>
        <p:nvSpPr>
          <p:cNvPr id="37" name="TextBox 36"/>
          <p:cNvSpPr txBox="1"/>
          <p:nvPr/>
        </p:nvSpPr>
        <p:spPr>
          <a:xfrm>
            <a:off x="8658331" y="3794759"/>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After ESO updates a Secret, what still must happen?</a:t>
            </a:r>
          </a:p>
        </p:txBody>
      </p:sp>
      <p:sp>
        <p:nvSpPr>
          <p:cNvPr id="38" name="TextBox 37"/>
          <p:cNvSpPr txBox="1"/>
          <p:nvPr/>
        </p:nvSpPr>
        <p:spPr>
          <a:xfrm>
            <a:off x="8658331" y="4182618"/>
            <a:ext cx="2893557" cy="1267205"/>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The pods have to be replaced. Until then the running processes keep using the credential they read at start-up.</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Answers — Final Review</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Questions 1 to 6.</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Appendix  ·  Answers</a:t>
            </a:r>
          </a:p>
        </p:txBody>
      </p:sp>
      <p:sp>
        <p:nvSpPr>
          <p:cNvPr id="9" name="Rounded Rectangle 8"/>
          <p:cNvSpPr/>
          <p:nvPr/>
        </p:nvSpPr>
        <p:spPr>
          <a:xfrm>
            <a:off x="475488"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874519"/>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0080" y="1773936"/>
            <a:ext cx="237744" cy="237744"/>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1</a:t>
            </a:r>
          </a:p>
        </p:txBody>
      </p:sp>
      <p:sp>
        <p:nvSpPr>
          <p:cNvPr id="12" name="TextBox 11"/>
          <p:cNvSpPr txBox="1"/>
          <p:nvPr/>
        </p:nvSpPr>
        <p:spPr>
          <a:xfrm>
            <a:off x="969264" y="1737360"/>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does a Secret change not roll a Deployment?</a:t>
            </a:r>
          </a:p>
        </p:txBody>
      </p:sp>
      <p:sp>
        <p:nvSpPr>
          <p:cNvPr id="13" name="TextBox 12"/>
          <p:cNvSpPr txBox="1"/>
          <p:nvPr/>
        </p:nvSpPr>
        <p:spPr>
          <a:xfrm>
            <a:off x="969264" y="2125218"/>
            <a:ext cx="2893557" cy="1267206"/>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Because the pod template is unchanged. It still says 'mount the Secret named X' before and after, so no new ReplicaSet is created.</a:t>
            </a:r>
          </a:p>
        </p:txBody>
      </p:sp>
      <p:sp>
        <p:nvSpPr>
          <p:cNvPr id="14" name="Rounded Rectangle 13"/>
          <p:cNvSpPr/>
          <p:nvPr/>
        </p:nvSpPr>
        <p:spPr>
          <a:xfrm>
            <a:off x="4320021"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0021" y="1645920"/>
            <a:ext cx="64008" cy="1874519"/>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84613" y="1773936"/>
            <a:ext cx="237744" cy="237744"/>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2</a:t>
            </a:r>
          </a:p>
        </p:txBody>
      </p:sp>
      <p:sp>
        <p:nvSpPr>
          <p:cNvPr id="17" name="TextBox 16"/>
          <p:cNvSpPr txBox="1"/>
          <p:nvPr/>
        </p:nvSpPr>
        <p:spPr>
          <a:xfrm>
            <a:off x="4813797"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Mounted Secret versus envFrom?</a:t>
            </a:r>
          </a:p>
        </p:txBody>
      </p:sp>
      <p:sp>
        <p:nvSpPr>
          <p:cNvPr id="18" name="TextBox 17"/>
          <p:cNvSpPr txBox="1"/>
          <p:nvPr/>
        </p:nvSpPr>
        <p:spPr>
          <a:xfrm>
            <a:off x="4813797"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The mounted file is refreshed by the kubelet; the env var is frozen at start. Neither makes the running process re-read the value.</a:t>
            </a:r>
          </a:p>
        </p:txBody>
      </p:sp>
      <p:sp>
        <p:nvSpPr>
          <p:cNvPr id="19" name="Rounded Rectangle 18"/>
          <p:cNvSpPr/>
          <p:nvPr/>
        </p:nvSpPr>
        <p:spPr>
          <a:xfrm>
            <a:off x="8164555"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64555" y="1645920"/>
            <a:ext cx="64008" cy="1874519"/>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329147" y="1773936"/>
            <a:ext cx="237744" cy="23774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3</a:t>
            </a:r>
          </a:p>
        </p:txBody>
      </p:sp>
      <p:sp>
        <p:nvSpPr>
          <p:cNvPr id="22" name="TextBox 21"/>
          <p:cNvSpPr txBox="1"/>
          <p:nvPr/>
        </p:nvSpPr>
        <p:spPr>
          <a:xfrm>
            <a:off x="8658331"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Secret zero, and two solutions?</a:t>
            </a:r>
          </a:p>
        </p:txBody>
      </p:sp>
      <p:sp>
        <p:nvSpPr>
          <p:cNvPr id="23" name="TextBox 22"/>
          <p:cNvSpPr txBox="1"/>
          <p:nvPr/>
        </p:nvSpPr>
        <p:spPr>
          <a:xfrm>
            <a:off x="8658331"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The credential needed to reach the secret store. Solve it with IRSA or EKS Pod Identity on AWS, Workload Identity on Azure or GCP, or Vault's Kubernetes auth.</a:t>
            </a:r>
          </a:p>
        </p:txBody>
      </p:sp>
      <p:sp>
        <p:nvSpPr>
          <p:cNvPr id="24" name="Rounded Rectangle 23"/>
          <p:cNvSpPr/>
          <p:nvPr/>
        </p:nvSpPr>
        <p:spPr>
          <a:xfrm>
            <a:off x="475488"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703320"/>
            <a:ext cx="6400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40080" y="3831335"/>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4</a:t>
            </a:r>
          </a:p>
        </p:txBody>
      </p:sp>
      <p:sp>
        <p:nvSpPr>
          <p:cNvPr id="27" name="TextBox 26"/>
          <p:cNvSpPr txBox="1"/>
          <p:nvPr/>
        </p:nvSpPr>
        <p:spPr>
          <a:xfrm>
            <a:off x="969264"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Which setting blocks manual edits?</a:t>
            </a:r>
          </a:p>
        </p:txBody>
      </p:sp>
      <p:sp>
        <p:nvSpPr>
          <p:cNvPr id="28" name="TextBox 27"/>
          <p:cNvSpPr txBox="1"/>
          <p:nvPr/>
        </p:nvSpPr>
        <p:spPr>
          <a:xfrm>
            <a:off x="969264"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selfHeal. The cost is that emergency changes must go through Git, so your commit-to-deploy path has to be fast enough to use under pressure.</a:t>
            </a:r>
          </a:p>
        </p:txBody>
      </p:sp>
      <p:sp>
        <p:nvSpPr>
          <p:cNvPr id="29" name="Rounded Rectangle 28"/>
          <p:cNvSpPr/>
          <p:nvPr/>
        </p:nvSpPr>
        <p:spPr>
          <a:xfrm>
            <a:off x="4320021"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20021" y="3703320"/>
            <a:ext cx="64008"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84613" y="3831335"/>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5</a:t>
            </a:r>
          </a:p>
        </p:txBody>
      </p:sp>
      <p:sp>
        <p:nvSpPr>
          <p:cNvPr id="32" name="TextBox 31"/>
          <p:cNvSpPr txBox="1"/>
          <p:nvPr/>
        </p:nvSpPr>
        <p:spPr>
          <a:xfrm>
            <a:off x="4813797"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Synced and Degraded?</a:t>
            </a:r>
          </a:p>
        </p:txBody>
      </p:sp>
      <p:sp>
        <p:nvSpPr>
          <p:cNvPr id="33" name="TextBox 32"/>
          <p:cNvSpPr txBox="1"/>
          <p:nvPr/>
        </p:nvSpPr>
        <p:spPr>
          <a:xfrm>
            <a:off x="4813797"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Yours. The delivery worked; the workload is broken. Argo CD is reporting accurately.</a:t>
            </a:r>
          </a:p>
        </p:txBody>
      </p:sp>
      <p:sp>
        <p:nvSpPr>
          <p:cNvPr id="34" name="Rounded Rectangle 33"/>
          <p:cNvSpPr/>
          <p:nvPr/>
        </p:nvSpPr>
        <p:spPr>
          <a:xfrm>
            <a:off x="8164555"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64555" y="3703320"/>
            <a:ext cx="64008"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29147" y="3831335"/>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6</a:t>
            </a:r>
          </a:p>
        </p:txBody>
      </p:sp>
      <p:sp>
        <p:nvSpPr>
          <p:cNvPr id="37" name="TextBox 36"/>
          <p:cNvSpPr txBox="1"/>
          <p:nvPr/>
        </p:nvSpPr>
        <p:spPr>
          <a:xfrm>
            <a:off x="8658331" y="3794759"/>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Why ignoreDifferences on a Reloader-managed Deployment?</a:t>
            </a:r>
          </a:p>
        </p:txBody>
      </p:sp>
      <p:sp>
        <p:nvSpPr>
          <p:cNvPr id="38" name="TextBox 37"/>
          <p:cNvSpPr txBox="1"/>
          <p:nvPr/>
        </p:nvSpPr>
        <p:spPr>
          <a:xfrm>
            <a:off x="8658331" y="4182618"/>
            <a:ext cx="2893557" cy="1267205"/>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Reloader patches the live pod template. Git does not contain that patch, so Argo CD reports OutOfSync and selfHeal would revert it — undoing the reload.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96012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960120"/>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960120"/>
            <a:ext cx="12191969" cy="45720"/>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75488" y="109728"/>
            <a:ext cx="9098280" cy="749808"/>
          </a:xfrm>
          <a:prstGeom prst="rect">
            <a:avLst/>
          </a:prstGeom>
          <a:noFill/>
        </p:spPr>
        <p:txBody>
          <a:bodyPr wrap="square" lIns="18288" rIns="18288" tIns="0" bIns="0" anchor="ctr">
            <a:noAutofit/>
          </a:bodyPr>
          <a:lstStyle/>
          <a:p>
            <a:pPr algn="l">
              <a:lnSpc>
                <a:spcPct val="114000"/>
              </a:lnSpc>
              <a:spcAft>
                <a:spcPts val="0"/>
              </a:spcAft>
            </a:pPr>
            <a:r>
              <a:rPr sz="2700" b="1" i="0">
                <a:solidFill>
                  <a:srgbClr val="FFFFFF"/>
                </a:solidFill>
                <a:latin typeface="Calibri"/>
              </a:rPr>
              <a:t>Answers — Final Review</a:t>
            </a:r>
          </a:p>
        </p:txBody>
      </p:sp>
      <p:pic>
        <p:nvPicPr>
          <p:cNvPr id="6" name="DevOps Easy Learning — logo (locked)" descr="logo.png"/>
          <p:cNvPicPr>
            <a:picLocks noChangeAspect="1" noGrp="1" noSelect="1" noRot="1" noMove="1" noResize="1" noEditPoints="1" noAdjustHandles="1" noChangeShapeType="1" noCrop="1"/>
          </p:cNvPicPr>
          <p:nvPr/>
        </p:nvPicPr>
        <p:blipFill>
          <a:blip r:embed="rId2"/>
          <a:stretch>
            <a:fillRect/>
          </a:stretch>
        </p:blipFill>
        <p:spPr>
          <a:xfrm>
            <a:off x="10625328" y="146304"/>
            <a:ext cx="1298448" cy="649224"/>
          </a:xfrm>
          <a:prstGeom prst="rect">
            <a:avLst/>
          </a:prstGeom>
        </p:spPr>
      </p:pic>
      <p:sp>
        <p:nvSpPr>
          <p:cNvPr id="7" name="TextBox 6"/>
          <p:cNvSpPr txBox="1"/>
          <p:nvPr/>
        </p:nvSpPr>
        <p:spPr>
          <a:xfrm>
            <a:off x="475488" y="1152144"/>
            <a:ext cx="10972800" cy="384048"/>
          </a:xfrm>
          <a:prstGeom prst="rect">
            <a:avLst/>
          </a:prstGeom>
          <a:noFill/>
        </p:spPr>
        <p:txBody>
          <a:bodyPr wrap="square" lIns="18288" rIns="18288" tIns="0" bIns="0" anchor="t">
            <a:noAutofit/>
          </a:bodyPr>
          <a:lstStyle/>
          <a:p>
            <a:pPr algn="l">
              <a:spcAft>
                <a:spcPts val="0"/>
              </a:spcAft>
            </a:pPr>
            <a:r>
              <a:rPr sz="1400" b="0" i="1">
                <a:solidFill>
                  <a:srgbClr val="6B7A8D"/>
                </a:solidFill>
                <a:latin typeface="Calibri Light"/>
              </a:rPr>
              <a:t>Questions 7 to 12.</a:t>
            </a:r>
          </a:p>
        </p:txBody>
      </p:sp>
      <p:sp>
        <p:nvSpPr>
          <p:cNvPr id="8" name="DevOps Easy Learning — attribution (locked)"/>
          <p:cNvSpPr txBox="1">
            <a:spLocks noGrp="1" noSelect="1" noRot="1" noChangeAspect="1" noMove="1" noResize="1" noEditPoints="1" noAdjustHandles="1" noChangeShapeType="1" noTextEdit="1"/>
          </p:cNvSpPr>
          <p:nvPr/>
        </p:nvSpPr>
        <p:spPr>
          <a:xfrm>
            <a:off x="475488" y="6556248"/>
            <a:ext cx="7315200" cy="256032"/>
          </a:xfrm>
          <a:prstGeom prst="rect">
            <a:avLst/>
          </a:prstGeom>
          <a:noFill/>
        </p:spPr>
        <p:txBody>
          <a:bodyPr wrap="square" lIns="18288" rIns="18288" tIns="0" bIns="0" anchor="t">
            <a:noAutofit/>
          </a:bodyPr>
          <a:lstStyle/>
          <a:p>
            <a:pPr algn="l">
              <a:spcAft>
                <a:spcPts val="0"/>
              </a:spcAft>
            </a:pPr>
            <a:r>
              <a:rPr sz="950" b="0" i="0">
                <a:solidFill>
                  <a:srgbClr val="6B7A8D"/>
                </a:solidFill>
                <a:latin typeface="Calibri Light"/>
              </a:rPr>
              <a:t>DevOps Easy Learning   |   Appendix  ·  Answers</a:t>
            </a:r>
          </a:p>
        </p:txBody>
      </p:sp>
      <p:sp>
        <p:nvSpPr>
          <p:cNvPr id="9" name="Rounded Rectangle 8"/>
          <p:cNvSpPr/>
          <p:nvPr/>
        </p:nvSpPr>
        <p:spPr>
          <a:xfrm>
            <a:off x="475488"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75488" y="1645920"/>
            <a:ext cx="64008" cy="1874519"/>
          </a:xfrm>
          <a:prstGeom prst="rect">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0080" y="1773936"/>
            <a:ext cx="237744" cy="237744"/>
          </a:xfrm>
          <a:prstGeom prst="ellipse">
            <a:avLst/>
          </a:prstGeom>
          <a:solidFill>
            <a:srgbClr val="F2652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1</a:t>
            </a:r>
          </a:p>
        </p:txBody>
      </p:sp>
      <p:sp>
        <p:nvSpPr>
          <p:cNvPr id="12" name="TextBox 11"/>
          <p:cNvSpPr txBox="1"/>
          <p:nvPr/>
        </p:nvSpPr>
        <p:spPr>
          <a:xfrm>
            <a:off x="969264" y="1737360"/>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Sync-wave order?</a:t>
            </a:r>
          </a:p>
        </p:txBody>
      </p:sp>
      <p:sp>
        <p:nvSpPr>
          <p:cNvPr id="13" name="TextBox 12"/>
          <p:cNvSpPr txBox="1"/>
          <p:nvPr/>
        </p:nvSpPr>
        <p:spPr>
          <a:xfrm>
            <a:off x="969264" y="1958721"/>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Namespace, ClusterSecretStore, ExternalSecret, Deployment. Each one needs the previous to exist and be healthy.</a:t>
            </a:r>
          </a:p>
        </p:txBody>
      </p:sp>
      <p:sp>
        <p:nvSpPr>
          <p:cNvPr id="14" name="Rounded Rectangle 13"/>
          <p:cNvSpPr/>
          <p:nvPr/>
        </p:nvSpPr>
        <p:spPr>
          <a:xfrm>
            <a:off x="4320021"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20021" y="1645920"/>
            <a:ext cx="64008" cy="1874519"/>
          </a:xfrm>
          <a:prstGeom prst="rect">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84613" y="1773936"/>
            <a:ext cx="237744" cy="237744"/>
          </a:xfrm>
          <a:prstGeom prst="ellipse">
            <a:avLst/>
          </a:prstGeom>
          <a:solidFill>
            <a:srgbClr val="2BA8D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2</a:t>
            </a:r>
          </a:p>
        </p:txBody>
      </p:sp>
      <p:sp>
        <p:nvSpPr>
          <p:cNvPr id="17" name="TextBox 16"/>
          <p:cNvSpPr txBox="1"/>
          <p:nvPr/>
        </p:nvSpPr>
        <p:spPr>
          <a:xfrm>
            <a:off x="4813797" y="1737360"/>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Rotation four hours old, pod still stale — where to look?</a:t>
            </a:r>
          </a:p>
        </p:txBody>
      </p:sp>
      <p:sp>
        <p:nvSpPr>
          <p:cNvPr id="18" name="TextBox 17"/>
          <p:cNvSpPr txBox="1"/>
          <p:nvPr/>
        </p:nvSpPr>
        <p:spPr>
          <a:xfrm>
            <a:off x="4813797" y="2125218"/>
            <a:ext cx="2893557" cy="1267206"/>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First the ExternalSecret status and its refreshInterval; then the Kubernetes Secret's actual contents; then the pod age against the Secret age, to see whether Reloader rolled it.</a:t>
            </a:r>
          </a:p>
        </p:txBody>
      </p:sp>
      <p:sp>
        <p:nvSpPr>
          <p:cNvPr id="19" name="Rounded Rectangle 18"/>
          <p:cNvSpPr/>
          <p:nvPr/>
        </p:nvSpPr>
        <p:spPr>
          <a:xfrm>
            <a:off x="8164555" y="16459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164555" y="1645920"/>
            <a:ext cx="64008" cy="1874519"/>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329147" y="1773936"/>
            <a:ext cx="237744" cy="237744"/>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3</a:t>
            </a:r>
          </a:p>
        </p:txBody>
      </p:sp>
      <p:sp>
        <p:nvSpPr>
          <p:cNvPr id="22" name="TextBox 21"/>
          <p:cNvSpPr txBox="1"/>
          <p:nvPr/>
        </p:nvSpPr>
        <p:spPr>
          <a:xfrm>
            <a:off x="8658331" y="1737360"/>
            <a:ext cx="2893557" cy="406146"/>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What does deletionPolicy: Retain protect you from?</a:t>
            </a:r>
          </a:p>
        </p:txBody>
      </p:sp>
      <p:sp>
        <p:nvSpPr>
          <p:cNvPr id="23" name="TextBox 22"/>
          <p:cNvSpPr txBox="1"/>
          <p:nvPr/>
        </p:nvSpPr>
        <p:spPr>
          <a:xfrm>
            <a:off x="8658331" y="2125218"/>
            <a:ext cx="2893557" cy="1267206"/>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 remote key that is renamed, moved or deleted. The existing Secret stays as it was rather than disappearing and taking your workload with it.</a:t>
            </a:r>
          </a:p>
        </p:txBody>
      </p:sp>
      <p:sp>
        <p:nvSpPr>
          <p:cNvPr id="24" name="Rounded Rectangle 23"/>
          <p:cNvSpPr/>
          <p:nvPr/>
        </p:nvSpPr>
        <p:spPr>
          <a:xfrm>
            <a:off x="475488"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5488" y="3703320"/>
            <a:ext cx="64008" cy="1874519"/>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40080" y="3831335"/>
            <a:ext cx="237744" cy="237744"/>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4</a:t>
            </a:r>
          </a:p>
        </p:txBody>
      </p:sp>
      <p:sp>
        <p:nvSpPr>
          <p:cNvPr id="27" name="TextBox 26"/>
          <p:cNvSpPr txBox="1"/>
          <p:nvPr/>
        </p:nvSpPr>
        <p:spPr>
          <a:xfrm>
            <a:off x="969264"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Rebuild without backing up Secrets?</a:t>
            </a:r>
          </a:p>
        </p:txBody>
      </p:sp>
      <p:sp>
        <p:nvSpPr>
          <p:cNvPr id="28" name="TextBox 27"/>
          <p:cNvSpPr txBox="1"/>
          <p:nvPr/>
        </p:nvSpPr>
        <p:spPr>
          <a:xfrm>
            <a:off x="969264"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Because the values were never held in Kubernetes as the source of truth. ESO recreates every Secret from the secret manager once the store can authenticate.</a:t>
            </a:r>
          </a:p>
        </p:txBody>
      </p:sp>
      <p:sp>
        <p:nvSpPr>
          <p:cNvPr id="29" name="Rounded Rectangle 28"/>
          <p:cNvSpPr/>
          <p:nvPr/>
        </p:nvSpPr>
        <p:spPr>
          <a:xfrm>
            <a:off x="4320021"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20021" y="3703320"/>
            <a:ext cx="64008"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84613" y="3831335"/>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5</a:t>
            </a:r>
          </a:p>
        </p:txBody>
      </p:sp>
      <p:sp>
        <p:nvSpPr>
          <p:cNvPr id="32" name="TextBox 31"/>
          <p:cNvSpPr txBox="1"/>
          <p:nvPr/>
        </p:nvSpPr>
        <p:spPr>
          <a:xfrm>
            <a:off x="4813797"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One thing each tool refuses to do?</a:t>
            </a:r>
          </a:p>
        </p:txBody>
      </p:sp>
      <p:sp>
        <p:nvSpPr>
          <p:cNvPr id="33" name="TextBox 32"/>
          <p:cNvSpPr txBox="1"/>
          <p:nvPr/>
        </p:nvSpPr>
        <p:spPr>
          <a:xfrm>
            <a:off x="4813797"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Argo CD will not hold a secret value or restart on data changes. ESO will not restart pods. Reloader will not fetch a secret or know about Git.</a:t>
            </a:r>
          </a:p>
        </p:txBody>
      </p:sp>
      <p:sp>
        <p:nvSpPr>
          <p:cNvPr id="34" name="Rounded Rectangle 33"/>
          <p:cNvSpPr/>
          <p:nvPr/>
        </p:nvSpPr>
        <p:spPr>
          <a:xfrm>
            <a:off x="8164555" y="3703320"/>
            <a:ext cx="3551925" cy="1874519"/>
          </a:xfrm>
          <a:prstGeom prst="roundRect">
            <a:avLst>
              <a:gd name="adj" fmla="val 7000"/>
            </a:avLst>
          </a:prstGeom>
          <a:solidFill>
            <a:srgbClr val="FFFFFF"/>
          </a:solidFill>
          <a:ln w="12700">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64555" y="3703320"/>
            <a:ext cx="64008"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29147" y="3831335"/>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000" b="1" i="0">
                <a:solidFill>
                  <a:srgbClr val="FFFFFF"/>
                </a:solidFill>
                <a:latin typeface="Calibri"/>
              </a:rPr>
              <a:t>6</a:t>
            </a:r>
          </a:p>
        </p:txBody>
      </p:sp>
      <p:sp>
        <p:nvSpPr>
          <p:cNvPr id="37" name="TextBox 36"/>
          <p:cNvSpPr txBox="1"/>
          <p:nvPr/>
        </p:nvSpPr>
        <p:spPr>
          <a:xfrm>
            <a:off x="8658331" y="3794759"/>
            <a:ext cx="2893557" cy="239649"/>
          </a:xfrm>
          <a:prstGeom prst="rect">
            <a:avLst/>
          </a:prstGeom>
          <a:noFill/>
        </p:spPr>
        <p:txBody>
          <a:bodyPr wrap="square" lIns="18288" rIns="18288" tIns="0" bIns="0" anchor="t">
            <a:noAutofit/>
          </a:bodyPr>
          <a:lstStyle/>
          <a:p>
            <a:pPr algn="l">
              <a:lnSpc>
                <a:spcPct val="114000"/>
              </a:lnSpc>
              <a:spcAft>
                <a:spcPts val="0"/>
              </a:spcAft>
            </a:pPr>
            <a:r>
              <a:rPr sz="1150" b="1" i="0">
                <a:solidFill>
                  <a:srgbClr val="1F2B3D"/>
                </a:solidFill>
                <a:latin typeface="Calibri"/>
              </a:rPr>
              <a:t>Which tool first, and why?</a:t>
            </a:r>
          </a:p>
        </p:txBody>
      </p:sp>
      <p:sp>
        <p:nvSpPr>
          <p:cNvPr id="38" name="TextBox 37"/>
          <p:cNvSpPr txBox="1"/>
          <p:nvPr/>
        </p:nvSpPr>
        <p:spPr>
          <a:xfrm>
            <a:off x="8658331" y="4016120"/>
            <a:ext cx="2893557" cy="1433703"/>
          </a:xfrm>
          <a:prstGeom prst="rect">
            <a:avLst/>
          </a:prstGeom>
          <a:noFill/>
        </p:spPr>
        <p:txBody>
          <a:bodyPr wrap="square" lIns="18288" rIns="18288" tIns="0" bIns="0" anchor="t">
            <a:noAutofit/>
          </a:bodyPr>
          <a:lstStyle/>
          <a:p>
            <a:pPr algn="l">
              <a:lnSpc>
                <a:spcPct val="120000"/>
              </a:lnSpc>
              <a:spcAft>
                <a:spcPts val="0"/>
              </a:spcAft>
            </a:pPr>
            <a:r>
              <a:rPr sz="1050" b="0" i="0">
                <a:solidFill>
                  <a:srgbClr val="363F4D"/>
                </a:solidFill>
                <a:latin typeface="Calibri"/>
              </a:rPr>
              <a:t>Argo CD — it delivers everything else, and its drift report has value on day one even before you turn on automated sync.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Masterclass — Azure, AWS and Self-Hosted</dc:title>
  <dc:subject>Retrieval-Augmented Generation: architecture, cloud and self-hosted implementations</dc:subject>
  <dc:creator>DevOps Easy Learning</dc:creator>
  <cp:keywords>RAG; Azure; AWS; self-hosted; DevOps Easy Learning</cp:keywords>
  <dc:description>© DevOps Easy Learning. All rights reserved. The DevOps Easy Learning attribution and logo are locked on every slide and must not be removed or altered.</dc:description>
  <cp:lastModifiedBy>DevOps Easy Learning</cp:lastModifiedBy>
  <cp:revision>1</cp:revision>
  <dcterms:created xsi:type="dcterms:W3CDTF">2013-01-27T09:14:16Z</dcterms:created>
  <dcterms:modified xsi:type="dcterms:W3CDTF">2013-01-27T09:15:58Z</dcterms:modified>
  <cp:category>Technical training courseware</cp:category>
</cp:coreProperties>
</file>