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4"/>
    <p:sldId id="273" r:id="rId5"/>
    <p:sldId id="277" r:id="rId6"/>
    <p:sldId id="282" r:id="rId7"/>
    <p:sldId id="283" r:id="rId8"/>
    <p:sldId id="290" r:id="rId9"/>
    <p:sldId id="296" r:id="rId10"/>
    <p:sldId id="297" r:id="rId11"/>
    <p:sldId id="306" r:id="rId12"/>
    <p:sldId id="307" r:id="rId13"/>
    <p:sldId id="312" r:id="rId14"/>
    <p:sldId id="313" r:id="rId15"/>
    <p:sldId id="315" r:id="rId16"/>
    <p:sldId id="319" r:id="rId17"/>
    <p:sldId id="32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6"/>
    <p:restoredTop sz="94700"/>
  </p:normalViewPr>
  <p:slideViewPr>
    <p:cSldViewPr snapToGrid="0" snapToObjects="1">
      <p:cViewPr varScale="1">
        <p:scale>
          <a:sx n="194" d="100"/>
          <a:sy n="194" d="100"/>
        </p:scale>
        <p:origin x="18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91969" cy="64008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868680"/>
            <a:ext cx="7315200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BA8D8"/>
                </a:solidFill>
                <a:latin typeface="Calibri"/>
              </a:rPr>
              <a:t>DEVOPS EASY LEARNING  ·  KUBERNETES MASTERCLASS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298448"/>
            <a:ext cx="8778240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53312" y="1353312"/>
            <a:ext cx="1234440" cy="5029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1691640"/>
            <a:ext cx="8961120" cy="18288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 Light"/>
              </a:rPr>
              <a:t>Secrets, Config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 Light"/>
              </a:rPr>
              <a:t>and GitOps in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310128"/>
            <a:ext cx="877824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2BA8D8"/>
                </a:solidFill>
                <a:latin typeface="Calibri"/>
              </a:rPr>
              <a:t>External Secrets Operator  ·  Reloader  ·  Argo 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785615"/>
            <a:ext cx="859536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 i="0">
                <a:solidFill>
                  <a:srgbClr val="D9E2F0"/>
                </a:solidFill>
                <a:latin typeface="Calibri Light"/>
              </a:rPr>
              <a:t>Three tools that turn a cluster you deploy to by hand into one that delivers itself from Git, pulls its own secrets from a vault, and restarts the right pods when those secrets rotate.</a:t>
            </a:r>
          </a:p>
        </p:txBody>
      </p:sp>
      <p:pic>
        <p:nvPicPr>
          <p:cNvPr id="10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685800"/>
            <a:ext cx="2148840" cy="1074420"/>
          </a:xfrm>
          <a:prstGeom prst="rect">
            <a:avLst/>
          </a:prstGeom>
        </p:spPr>
      </p:pic>
      <p:sp>
        <p:nvSpPr>
          <p:cNvPr id="11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7E8B9E"/>
                </a:solidFill>
                <a:latin typeface="Calibri Light"/>
              </a:rPr>
              <a:t>DevOps Easy Learning   |   Masterclass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Learning Journey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Seven sections. Each one earns the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Feel the gaps first; the tools then have somewhere to live.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Masterclass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31940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2631940" cy="685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1828800"/>
            <a:ext cx="2302756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2E86DE"/>
                </a:solidFill>
                <a:latin typeface="Calibri"/>
              </a:rPr>
              <a:t>WHAT KUBERNETES GIVES YOU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487168"/>
            <a:ext cx="310896" cy="310896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2468880"/>
            <a:ext cx="1900420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Kubernetes Config and 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3090672"/>
            <a:ext cx="1900420" cy="42062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What the platform gives you, and exactly where it stops.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767328"/>
            <a:ext cx="310896" cy="310896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4904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Three Problems to 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4187952"/>
            <a:ext cx="1900420" cy="42062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Each one has a tool. Each tool solves exactly one of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45172" y="1645920"/>
            <a:ext cx="2631940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45172" y="1645920"/>
            <a:ext cx="2631940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09764" y="1828800"/>
            <a:ext cx="2302756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7C3AED"/>
                </a:solidFill>
                <a:latin typeface="Calibri"/>
              </a:rPr>
              <a:t>THE DELIVERY ENGINE</a:t>
            </a:r>
          </a:p>
        </p:txBody>
      </p:sp>
      <p:sp>
        <p:nvSpPr>
          <p:cNvPr id="25" name="Oval 24"/>
          <p:cNvSpPr/>
          <p:nvPr/>
        </p:nvSpPr>
        <p:spPr>
          <a:xfrm>
            <a:off x="3509764" y="248716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2100" y="246888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GitOps and Argo 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2100" y="2907792"/>
            <a:ext cx="1900420" cy="603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The delivery engine. Everything else in this course is installed by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4856" y="1645920"/>
            <a:ext cx="2631940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4856" y="1645920"/>
            <a:ext cx="2631940" cy="685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79448" y="1828800"/>
            <a:ext cx="2302756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THE TWO SECRET TOOLS</a:t>
            </a:r>
          </a:p>
        </p:txBody>
      </p:sp>
      <p:sp>
        <p:nvSpPr>
          <p:cNvPr id="31" name="Oval 30"/>
          <p:cNvSpPr/>
          <p:nvPr/>
        </p:nvSpPr>
        <p:spPr>
          <a:xfrm>
            <a:off x="6379448" y="2487168"/>
            <a:ext cx="310896" cy="310896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1784" y="246888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External Secrets Operator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784" y="2907792"/>
            <a:ext cx="1900420" cy="603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Getting the real value out of Git and into the cluster, safely.</a:t>
            </a:r>
          </a:p>
        </p:txBody>
      </p:sp>
      <p:sp>
        <p:nvSpPr>
          <p:cNvPr id="34" name="Oval 33"/>
          <p:cNvSpPr/>
          <p:nvPr/>
        </p:nvSpPr>
        <p:spPr>
          <a:xfrm>
            <a:off x="6379448" y="3767328"/>
            <a:ext cx="310896" cy="310896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784" y="374904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Reloader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784" y="4187952"/>
            <a:ext cx="1900420" cy="603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Closing the last gap: making the running process pick the new value up.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84541" y="1645920"/>
            <a:ext cx="2631940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084541" y="1645920"/>
            <a:ext cx="2631940" cy="68580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49133" y="1828800"/>
            <a:ext cx="2302756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2EB56B"/>
                </a:solidFill>
                <a:latin typeface="Calibri"/>
              </a:rPr>
              <a:t>PUTTING IT TO WORK</a:t>
            </a:r>
          </a:p>
        </p:txBody>
      </p:sp>
      <p:sp>
        <p:nvSpPr>
          <p:cNvPr id="40" name="Oval 39"/>
          <p:cNvSpPr/>
          <p:nvPr/>
        </p:nvSpPr>
        <p:spPr>
          <a:xfrm>
            <a:off x="9249133" y="2487168"/>
            <a:ext cx="310896" cy="310896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1469" y="246888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The Three Together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1469" y="2907792"/>
            <a:ext cx="1900420" cy="603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One credential, from the vault to a running process, with nobody in the path.</a:t>
            </a:r>
          </a:p>
        </p:txBody>
      </p:sp>
      <p:sp>
        <p:nvSpPr>
          <p:cNvPr id="43" name="Oval 42"/>
          <p:cNvSpPr/>
          <p:nvPr/>
        </p:nvSpPr>
        <p:spPr>
          <a:xfrm>
            <a:off x="9249133" y="3767328"/>
            <a:ext cx="310896" cy="310896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51469" y="3749040"/>
            <a:ext cx="190042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Running It For Real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1469" y="4187952"/>
            <a:ext cx="1900420" cy="603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Multiple clusters, alerting, disaster recovery, and how to adopt any of this.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Three Problems, Three Tools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Each tool solves exactly one of them. None of them solves another one's problem.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Learn what each tool refuses to do — that is what tells you when you still need the others.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02  Three Problems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1645920"/>
            <a:ext cx="2788920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64408" y="1645920"/>
            <a:ext cx="2240280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04688" y="1645920"/>
            <a:ext cx="3291840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96528" y="1645920"/>
            <a:ext cx="2916936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What it will not 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2066544"/>
            <a:ext cx="278892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100" b="1" i="0">
                <a:solidFill>
                  <a:srgbClr val="1F2B3D"/>
                </a:solidFill>
                <a:latin typeface="Calibri"/>
              </a:rPr>
              <a:t>Secrets cannot live in Git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066544"/>
            <a:ext cx="224028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External Secrets Operator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2066544"/>
            <a:ext cx="329184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Pulls the value from a real secret manager into a Kubernetes Secret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96528" y="2066544"/>
            <a:ext cx="2916936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Restart anything that is using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627376"/>
            <a:ext cx="2788920" cy="560832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100" b="1" i="0">
                <a:solidFill>
                  <a:srgbClr val="1F2B3D"/>
                </a:solidFill>
                <a:latin typeface="Calibri"/>
              </a:rPr>
              <a:t>A rotated secret never reaches the process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2627376"/>
            <a:ext cx="2240280" cy="560832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Reloader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04688" y="2627376"/>
            <a:ext cx="3291840" cy="560832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Watches Secrets and ConfigMaps and rolls the workloads that use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96528" y="2627376"/>
            <a:ext cx="2916936" cy="560832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Fetch a secret, or know where it came from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3188208"/>
            <a:ext cx="278892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100" b="1" i="0">
                <a:solidFill>
                  <a:srgbClr val="1F2B3D"/>
                </a:solidFill>
                <a:latin typeface="Calibri"/>
              </a:rPr>
              <a:t>The cluster drifts from the repository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4408" y="3188208"/>
            <a:ext cx="224028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Argo 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4688" y="3188208"/>
            <a:ext cx="3291840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Continuously reconciles live state against Git and reports the difference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96528" y="3188208"/>
            <a:ext cx="2916936" cy="56083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0" i="0">
                <a:solidFill>
                  <a:srgbClr val="363F4D"/>
                </a:solidFill>
                <a:latin typeface="Calibri"/>
              </a:rPr>
              <a:t>Hold a secret value, or restart a pod on a data change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3986784"/>
            <a:ext cx="3564117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3986784"/>
            <a:ext cx="3564117" cy="685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4233672"/>
            <a:ext cx="3198357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They are independent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645152"/>
            <a:ext cx="3198357" cy="8503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Each one is useful on its own and none of them requires the other two. You can adopt them in any order.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13925" y="3986784"/>
            <a:ext cx="3564117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13925" y="3986784"/>
            <a:ext cx="3564117" cy="68580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96805" y="4233672"/>
            <a:ext cx="3198357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They are complementary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6805" y="4645152"/>
            <a:ext cx="3198357" cy="8503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Used together they close the loop: Git holds the intent, the vault holds the value, and the workload restarts when the value moves.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2363" y="3986784"/>
            <a:ext cx="3564117" cy="1627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52363" y="3986784"/>
            <a:ext cx="3564117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35243" y="4233672"/>
            <a:ext cx="3198357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They overlap nowhere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5243" y="4645152"/>
            <a:ext cx="3198357" cy="8503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There is no feature you have to choose between. If you find yourself picking one over another, you have mis-stated the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Where We Are Going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The finished picture. Every section from here adds one piece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Git holds intent. The vault holds truth. The operators do the joining up.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02  Three Problems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ECF4FE"/>
          </a:solidFill>
          <a:ln w="1778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1792224"/>
            <a:ext cx="203911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Git 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121408"/>
            <a:ext cx="2039112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6B7A8D"/>
                </a:solidFill>
                <a:latin typeface="Calibri"/>
              </a:rPr>
              <a:t>manifests, no secret values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01752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EF6E7"/>
          </a:solidFill>
          <a:ln w="1778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163824"/>
            <a:ext cx="203911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Secret 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2039112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6B7A8D"/>
                </a:solidFill>
                <a:latin typeface="Calibri"/>
              </a:rPr>
              <a:t>AWS · Azure · GCP · Vault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1536192"/>
            <a:ext cx="8177753" cy="393192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1587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39896" y="1609344"/>
            <a:ext cx="2743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6B7A8D"/>
                </a:solidFill>
                <a:latin typeface="Calibri"/>
              </a:rPr>
              <a:t>KUBERNETES CLUSTER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71216" y="2084832"/>
            <a:ext cx="603504" cy="16459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ight Arrow 21"/>
          <p:cNvSpPr/>
          <p:nvPr/>
        </p:nvSpPr>
        <p:spPr>
          <a:xfrm>
            <a:off x="2871216" y="3456432"/>
            <a:ext cx="603504" cy="164592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813048" y="1901952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813048" y="1901952"/>
            <a:ext cx="233172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41063" y="2048256"/>
            <a:ext cx="207568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Argo CD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2322576"/>
            <a:ext cx="214883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reconciles Git → cluster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3048" y="312724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13048" y="3127248"/>
            <a:ext cx="233172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941063" y="3273552"/>
            <a:ext cx="207568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External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3547872"/>
            <a:ext cx="214883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vault → Kubernetes Secret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3048" y="4352544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813048" y="4352544"/>
            <a:ext cx="2331720" cy="54864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41063" y="4498848"/>
            <a:ext cx="207568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Reloader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04487" y="4773168"/>
            <a:ext cx="214883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Secret change → rolling restart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1968" y="2468880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3408" y="2670048"/>
            <a:ext cx="1783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Secret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2980944"/>
            <a:ext cx="178308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generated, not committed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1968" y="3977639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93408" y="4206240"/>
            <a:ext cx="1783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Your workload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93408" y="4517136"/>
            <a:ext cx="1783080" cy="40233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restarted with the</a:t>
            </a:r>
          </a:p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00" b="0" i="0">
                <a:solidFill>
                  <a:srgbClr val="6B7A8D"/>
                </a:solidFill>
                <a:latin typeface="Calibri"/>
              </a:rPr>
              <a:t>new credential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208776" y="3520439"/>
            <a:ext cx="329184" cy="14630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Down Arrow 41"/>
          <p:cNvSpPr/>
          <p:nvPr/>
        </p:nvSpPr>
        <p:spPr>
          <a:xfrm>
            <a:off x="7516367" y="3493008"/>
            <a:ext cx="164592" cy="420624"/>
          </a:xfrm>
          <a:prstGeom prst="downArrow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ight Arrow 42"/>
          <p:cNvSpPr/>
          <p:nvPr/>
        </p:nvSpPr>
        <p:spPr>
          <a:xfrm>
            <a:off x="6208776" y="4736592"/>
            <a:ext cx="329184" cy="146304"/>
          </a:xfrm>
          <a:prstGeom prst="rightArrow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own Arrow 43"/>
          <p:cNvSpPr/>
          <p:nvPr/>
        </p:nvSpPr>
        <p:spPr>
          <a:xfrm>
            <a:off x="4956048" y="2852928"/>
            <a:ext cx="164592" cy="256032"/>
          </a:xfrm>
          <a:prstGeom prst="downArrow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Down Arrow 44"/>
          <p:cNvSpPr/>
          <p:nvPr/>
        </p:nvSpPr>
        <p:spPr>
          <a:xfrm>
            <a:off x="4956048" y="4078224"/>
            <a:ext cx="164592" cy="256032"/>
          </a:xfrm>
          <a:prstGeom prst="downArrow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Push and Pull — Why the Direction Matters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This is a security argument as much as an operational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Push means your CI system holds cluster-admin. Pull means it holds nothing.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03  GitOps and Argo CD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5391896" cy="2697480"/>
          </a:xfrm>
          <a:prstGeom prst="roundRect">
            <a:avLst>
              <a:gd name="adj" fmla="val 8000"/>
            </a:avLst>
          </a:prstGeom>
          <a:solidFill>
            <a:srgbClr val="FDF0F0"/>
          </a:solidFill>
          <a:ln w="15875">
            <a:solidFill>
              <a:srgbClr val="D9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6460" y="1656892"/>
            <a:ext cx="5369951" cy="45720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PUSH  ·  CI DEPLOYS INTO THE CLUSTER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50" b="1" i="0">
                <a:solidFill>
                  <a:srgbClr val="1F2B3D"/>
                </a:solidFill>
                <a:latin typeface="Calibri"/>
              </a:rPr>
              <a:t>Git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222494" y="2555748"/>
            <a:ext cx="173736" cy="137160"/>
          </a:xfrm>
          <a:prstGeom prst="rightArrow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428234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50" b="1" i="0">
                <a:solidFill>
                  <a:srgbClr val="1F2B3D"/>
                </a:solidFill>
                <a:latin typeface="Calibri"/>
              </a:rPr>
              <a:t>CI runner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946641" y="2555748"/>
            <a:ext cx="173736" cy="137160"/>
          </a:xfrm>
          <a:prstGeom prst="rightArrow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52381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50" b="1" i="0">
                <a:solidFill>
                  <a:srgbClr val="1F2B3D"/>
                </a:solidFill>
                <a:latin typeface="Calibri"/>
              </a:rPr>
              <a:t>Cluster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13532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3B3B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3127248"/>
            <a:ext cx="4568936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1F2B3D"/>
                </a:solidFill>
                <a:latin typeface="Calibri"/>
              </a:rPr>
              <a:t>Credentials point inward.  </a:t>
            </a:r>
            <a:r>
              <a:rPr sz="900" b="0" i="0">
                <a:solidFill>
                  <a:srgbClr val="363F4D"/>
                </a:solidFill>
                <a:latin typeface="Calibri"/>
              </a:rPr>
              <a:t>The runner holds a kubeconfig with write access to production.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387851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3B3B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" y="3401568"/>
            <a:ext cx="4568936" cy="28575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1F2B3D"/>
                </a:solidFill>
                <a:latin typeface="Calibri"/>
              </a:rPr>
              <a:t>The cluster must be reachable.  </a:t>
            </a:r>
            <a:r>
              <a:rPr sz="900" b="0" i="0">
                <a:solidFill>
                  <a:srgbClr val="363F4D"/>
                </a:solidFill>
                <a:latin typeface="Calibri"/>
              </a:rPr>
              <a:t>From your CI network, which usually means exposing the API server.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01618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3B3B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3815333"/>
            <a:ext cx="4568936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1F2B3D"/>
                </a:solidFill>
                <a:latin typeface="Calibri"/>
              </a:rPr>
              <a:t>It is a one-shot.  </a:t>
            </a:r>
            <a:r>
              <a:rPr sz="900" b="0" i="0">
                <a:solidFill>
                  <a:srgbClr val="363F4D"/>
                </a:solidFill>
                <a:latin typeface="Calibri"/>
              </a:rPr>
              <a:t>After the job finishes nothing is watching.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4584" y="1645920"/>
            <a:ext cx="5391896" cy="2697480"/>
          </a:xfrm>
          <a:prstGeom prst="roundRect">
            <a:avLst>
              <a:gd name="adj" fmla="val 8000"/>
            </a:avLst>
          </a:prstGeom>
          <a:solidFill>
            <a:srgbClr val="EBF8F1"/>
          </a:solidFill>
          <a:ln w="15875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35557" y="1656892"/>
            <a:ext cx="5369951" cy="457200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PULL  ·  THE CLUSTER FETCHES FOR ITSELF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3184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1" i="0">
                <a:solidFill>
                  <a:srgbClr val="1F2B3D"/>
                </a:solidFill>
                <a:latin typeface="Calibri"/>
              </a:rPr>
              <a:t>Git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071591" y="2555748"/>
            <a:ext cx="173736" cy="137160"/>
          </a:xfrm>
          <a:prstGeom prst="rightArrow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277331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1" i="0">
                <a:solidFill>
                  <a:srgbClr val="1F2B3D"/>
                </a:solidFill>
                <a:latin typeface="Calibri"/>
              </a:rPr>
              <a:t>Argo CD in cluster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95738" y="2555748"/>
            <a:ext cx="173736" cy="137160"/>
          </a:xfrm>
          <a:prstGeom prst="rightArrow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001478" y="2340864"/>
            <a:ext cx="148640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100" b="1" i="0">
                <a:solidFill>
                  <a:srgbClr val="1F2B3D"/>
                </a:solidFill>
                <a:latin typeface="Calibri"/>
              </a:rPr>
              <a:t>Cluster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0616" y="3113532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EB56B"/>
                </a:solidFill>
                <a:latin typeface="Calibri"/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1512" y="3127248"/>
            <a:ext cx="4568936" cy="301625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F2B3D"/>
                </a:solidFill>
                <a:latin typeface="Calibri"/>
              </a:rPr>
              <a:t>Credentials point outward.  </a:t>
            </a:r>
            <a:r>
              <a:rPr sz="950" b="0" i="0">
                <a:solidFill>
                  <a:srgbClr val="363F4D"/>
                </a:solidFill>
                <a:latin typeface="Calibri"/>
              </a:rPr>
              <a:t>Argo CD needs read access to Git. Nothing needs write access to the cluster.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0616" y="3535045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EB56B"/>
                </a:solidFill>
                <a:latin typeface="Calibri"/>
              </a:rPr>
              <a:t>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1512" y="3548761"/>
            <a:ext cx="4568936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F2B3D"/>
                </a:solidFill>
                <a:latin typeface="Calibri"/>
              </a:rPr>
              <a:t>No inbound path required.  </a:t>
            </a:r>
            <a:r>
              <a:rPr sz="950" b="0" i="0">
                <a:solidFill>
                  <a:srgbClr val="363F4D"/>
                </a:solidFill>
                <a:latin typeface="Calibri"/>
              </a:rPr>
              <a:t>A private cluster with no exposed API server still works.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0616" y="3809365"/>
            <a:ext cx="256032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EB56B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91512" y="3823081"/>
            <a:ext cx="4568936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F2B3D"/>
                </a:solidFill>
                <a:latin typeface="Calibri"/>
              </a:rPr>
              <a:t>It never stops watching.  </a:t>
            </a:r>
            <a:r>
              <a:rPr sz="950" b="0" i="0">
                <a:solidFill>
                  <a:srgbClr val="363F4D"/>
                </a:solidFill>
                <a:latin typeface="Calibri"/>
              </a:rPr>
              <a:t>Reconciliation continues after the deploy.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" y="4572000"/>
            <a:ext cx="11240993" cy="566928"/>
          </a:xfrm>
          <a:prstGeom prst="roundRect">
            <a:avLst>
              <a:gd name="adj" fmla="val 7000"/>
            </a:avLst>
          </a:prstGeom>
          <a:solidFill>
            <a:srgbClr val="EC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5488" y="4572000"/>
            <a:ext cx="91440" cy="566928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9536" y="4663440"/>
            <a:ext cx="10555193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1">
                <a:solidFill>
                  <a:srgbClr val="1F2B3D"/>
                </a:solidFill>
                <a:latin typeface="Calibri Light"/>
              </a:rPr>
              <a:t>Ask your security team which they would rather sign off: a build runner with production write access, or a read-only Git token.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Sync Waves — Making Things Happen in Order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Argo CD applies everything at once unless you tell it otherwise. Often you must.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Lower waves finish and become healthy before higher waves start. Negative numbers are allowed.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03  GitOps and Argo CD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028742" cy="1005840"/>
          </a:xfrm>
          <a:prstGeom prst="roundRect">
            <a:avLst>
              <a:gd name="adj" fmla="val 12000"/>
            </a:avLst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Wave -1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namespace, CRDs</a:t>
            </a:r>
          </a:p>
        </p:txBody>
      </p:sp>
      <p:sp>
        <p:nvSpPr>
          <p:cNvPr id="14" name="Oval 13"/>
          <p:cNvSpPr/>
          <p:nvPr/>
        </p:nvSpPr>
        <p:spPr>
          <a:xfrm>
            <a:off x="1343555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45378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78550" y="1645920"/>
            <a:ext cx="2028742" cy="100584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Wave 0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SecretStore, RBAC</a:t>
            </a:r>
          </a:p>
        </p:txBody>
      </p:sp>
      <p:sp>
        <p:nvSpPr>
          <p:cNvPr id="17" name="Oval 16"/>
          <p:cNvSpPr/>
          <p:nvPr/>
        </p:nvSpPr>
        <p:spPr>
          <a:xfrm>
            <a:off x="3646618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48441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81613" y="1645920"/>
            <a:ext cx="2028742" cy="1005840"/>
          </a:xfrm>
          <a:prstGeom prst="roundRect">
            <a:avLst>
              <a:gd name="adj" fmla="val 12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Wave 1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ExternalSecret</a:t>
            </a:r>
          </a:p>
        </p:txBody>
      </p:sp>
      <p:sp>
        <p:nvSpPr>
          <p:cNvPr id="20" name="Oval 19"/>
          <p:cNvSpPr/>
          <p:nvPr/>
        </p:nvSpPr>
        <p:spPr>
          <a:xfrm>
            <a:off x="5949680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51504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84676" y="1645920"/>
            <a:ext cx="2028742" cy="1005840"/>
          </a:xfrm>
          <a:prstGeom prst="roundRect">
            <a:avLst>
              <a:gd name="adj" fmla="val 12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Wave 2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Deployment, Service</a:t>
            </a:r>
          </a:p>
        </p:txBody>
      </p:sp>
      <p:sp>
        <p:nvSpPr>
          <p:cNvPr id="23" name="Oval 22"/>
          <p:cNvSpPr/>
          <p:nvPr/>
        </p:nvSpPr>
        <p:spPr>
          <a:xfrm>
            <a:off x="8252743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54566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87738" y="1645920"/>
            <a:ext cx="2028742" cy="100584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Wave 3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Ingress, jobs</a:t>
            </a:r>
          </a:p>
        </p:txBody>
      </p:sp>
      <p:sp>
        <p:nvSpPr>
          <p:cNvPr id="26" name="Oval 25"/>
          <p:cNvSpPr/>
          <p:nvPr/>
        </p:nvSpPr>
        <p:spPr>
          <a:xfrm>
            <a:off x="10555806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035808"/>
            <a:ext cx="5428472" cy="148132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75488" y="3035808"/>
            <a:ext cx="64008" cy="1481328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3163824"/>
            <a:ext cx="4879832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BA8D8"/>
                </a:solidFill>
                <a:latin typeface="Consolas"/>
              </a:rPr>
              <a:t>one annotation, on any resource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456432"/>
            <a:ext cx="4879832" cy="2331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9E2F0"/>
                </a:solidFill>
                <a:latin typeface="Consolas"/>
              </a:rPr>
              <a:t>metadata: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3653028"/>
            <a:ext cx="4879832" cy="2331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9E2F0"/>
                </a:solidFill>
                <a:latin typeface="Consolas"/>
              </a:rPr>
              <a:t>  annotations: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849624"/>
            <a:ext cx="4879832" cy="2331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BA8D8"/>
                </a:solidFill>
                <a:latin typeface="Consolas"/>
              </a:rPr>
              <a:t>    argocd.argoproj.io/sync-wave: "1"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8008" y="3035808"/>
            <a:ext cx="542847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88008" y="3035808"/>
            <a:ext cx="77724" cy="14813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44040" y="3182112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Why this matters here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4040" y="3584448"/>
            <a:ext cx="4971272" cy="8046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363F4D"/>
                </a:solidFill>
                <a:latin typeface="Calibri"/>
              </a:rPr>
              <a:t>An ExternalSecret cannot produce a Secret until its SecretStore exists and can authenticate. A Deployment that mounts that Secret will crash-loop if it starts first.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754880"/>
            <a:ext cx="11240993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" y="4754880"/>
            <a:ext cx="77724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901184"/>
            <a:ext cx="10783793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Waves are not a scheduler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303520"/>
            <a:ext cx="10783793" cy="40233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0" i="0">
                <a:solidFill>
                  <a:srgbClr val="363F4D"/>
                </a:solidFill>
                <a:latin typeface="Calibri"/>
              </a:rPr>
              <a:t>Argo CD waits for the resources in a wave to report Healthy before it starts the next one. It does not wait for your application to be *ready in the business sense*, and it does not retry a wave indefinitely — a resource stuck Progressing will stall the whole sync until it times out. Use waves for ordering, and readiness probes for readiness.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Hooks — For Work That Is Not a Manifest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Waves order resources. Hooks run jobs at defined points in the sync.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Use a wave to order things that exist. Use a hook to run something that has to happen.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03  GitOps and Argo CD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04508" cy="100584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PreSync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database migration, backup</a:t>
            </a:r>
          </a:p>
        </p:txBody>
      </p:sp>
      <p:sp>
        <p:nvSpPr>
          <p:cNvPr id="14" name="Oval 13"/>
          <p:cNvSpPr/>
          <p:nvPr/>
        </p:nvSpPr>
        <p:spPr>
          <a:xfrm>
            <a:off x="1631438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21144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54316" y="1645920"/>
            <a:ext cx="2604508" cy="1005840"/>
          </a:xfrm>
          <a:prstGeom prst="roundRect">
            <a:avLst>
              <a:gd name="adj" fmla="val 12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Sync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the main apply</a:t>
            </a:r>
          </a:p>
        </p:txBody>
      </p:sp>
      <p:sp>
        <p:nvSpPr>
          <p:cNvPr id="17" name="Oval 16"/>
          <p:cNvSpPr/>
          <p:nvPr/>
        </p:nvSpPr>
        <p:spPr>
          <a:xfrm>
            <a:off x="4510266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9972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33144" y="1645920"/>
            <a:ext cx="2604508" cy="1005840"/>
          </a:xfrm>
          <a:prstGeom prst="roundRect">
            <a:avLst>
              <a:gd name="adj" fmla="val 12000"/>
            </a:avLst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PostSync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smoke test, cache warm</a:t>
            </a:r>
          </a:p>
        </p:txBody>
      </p:sp>
      <p:sp>
        <p:nvSpPr>
          <p:cNvPr id="20" name="Oval 19"/>
          <p:cNvSpPr/>
          <p:nvPr/>
        </p:nvSpPr>
        <p:spPr>
          <a:xfrm>
            <a:off x="7389094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8801" y="2066544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11973" y="1645920"/>
            <a:ext cx="2604508" cy="1005840"/>
          </a:xfrm>
          <a:prstGeom prst="roundRect">
            <a:avLst>
              <a:gd name="adj" fmla="val 12000"/>
            </a:avLst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SyncFail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alert, clean up</a:t>
            </a:r>
          </a:p>
        </p:txBody>
      </p:sp>
      <p:sp>
        <p:nvSpPr>
          <p:cNvPr id="23" name="Oval 22"/>
          <p:cNvSpPr/>
          <p:nvPr/>
        </p:nvSpPr>
        <p:spPr>
          <a:xfrm>
            <a:off x="10267923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63240"/>
            <a:ext cx="5428472" cy="20116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3063240"/>
            <a:ext cx="64008" cy="2011680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191256"/>
            <a:ext cx="4879832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EB56B"/>
                </a:solidFill>
                <a:latin typeface="Consolas"/>
              </a:rPr>
              <a:t>a migration that must finish before the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483864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BA8D8"/>
                </a:solidFill>
                <a:latin typeface="Consolas"/>
              </a:rPr>
              <a:t>apiVersion: batch/v1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671315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BA8D8"/>
                </a:solidFill>
                <a:latin typeface="Consolas"/>
              </a:rPr>
              <a:t>kind: Job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858768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D9E2F0"/>
                </a:solidFill>
                <a:latin typeface="Consolas"/>
              </a:rPr>
              <a:t>metadata: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046220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D9E2F0"/>
                </a:solidFill>
                <a:latin typeface="Consolas"/>
              </a:rPr>
              <a:t>  name: db-migrate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233672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D9E2F0"/>
                </a:solidFill>
                <a:latin typeface="Consolas"/>
              </a:rPr>
              <a:t>  annotations: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421124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EB56B"/>
                </a:solidFill>
                <a:latin typeface="Consolas"/>
              </a:rPr>
              <a:t>    argocd.argoproj.io/hook: PreSync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608576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EB56B"/>
                </a:solidFill>
                <a:latin typeface="Consolas"/>
              </a:rPr>
              <a:t>    argocd.argoproj.io/hook-delete-policy: \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4796028"/>
            <a:ext cx="4879832" cy="22402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EB56B"/>
                </a:solidFill>
                <a:latin typeface="Consolas"/>
              </a:rPr>
              <a:t>      HookSucceeded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8008" y="3063240"/>
            <a:ext cx="5428472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88008" y="3063240"/>
            <a:ext cx="77724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44040" y="3209544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Set a delete policy, always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4040" y="3611880"/>
            <a:ext cx="4971272" cy="133502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0" i="0">
                <a:solidFill>
                  <a:srgbClr val="363F4D"/>
                </a:solidFill>
                <a:latin typeface="Calibri"/>
              </a:rPr>
              <a:t>Without hook-delete-policy the Job objects accumulate on every single sync, and a busy application ends up with hundreds of completed Jobs cluttering the namespace.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0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0" i="0">
                <a:solidFill>
                  <a:srgbClr val="363F4D"/>
                </a:solidFill>
                <a:latin typeface="Calibri"/>
              </a:rPr>
              <a:t>HookSucceeded deletes it once it worked. BeforeHookCreation deletes the previous one as the next starts — useful when you want to inspect the last failure.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" y="5276088"/>
            <a:ext cx="11240993" cy="420624"/>
          </a:xfrm>
          <a:prstGeom prst="roundRect">
            <a:avLst>
              <a:gd name="adj" fmla="val 7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5488" y="5276088"/>
            <a:ext cx="91440" cy="420624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9536" y="5367527"/>
            <a:ext cx="10555193" cy="23774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1">
                <a:solidFill>
                  <a:srgbClr val="1F2B3D"/>
                </a:solidFill>
                <a:latin typeface="Calibri Light"/>
              </a:rPr>
              <a:t>A PreSync hook that never succeeds blocks the entire sync. Give it a deadline.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Argo CD Will Not Do For You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Being precise about the boundary is what makes the next two sections necessary.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Argo CD delivers manifests. It does not hold secrets and it does not restart pods on data changes.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03  GitOps and Argo CD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11240993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11240993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" y="1883664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1920240"/>
            <a:ext cx="9960833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2B3D"/>
                </a:solidFill>
                <a:latin typeface="Calibri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21992"/>
            <a:ext cx="996083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6B7A8D"/>
                </a:solidFill>
                <a:latin typeface="Calibri"/>
              </a:rPr>
              <a:t>Declarative GitOps continuous delivery for Kubernetes  ·  CNCF Graduated  ·  3.x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2615184"/>
            <a:ext cx="10728929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B56B"/>
                </a:solidFill>
                <a:latin typeface="Calibri"/>
              </a:rPr>
              <a:t>WHAT IT DOES HERE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3063240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35808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Reconciles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continuously compares Git with live cluster state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386328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358896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Reports drift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shows a real diff, per resource, in the UI and CLI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3709416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681984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Corrects drift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reverts manual changes when selfHeal is on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032504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005072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Orders work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sync waves and hooks give you deterministic sequencing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4355592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328160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Scales out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ApplicationSets and multi-cluster from one control plane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984" y="2724912"/>
            <a:ext cx="0" cy="2139696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2016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93B3B"/>
                </a:solidFill>
                <a:latin typeface="Calibri"/>
              </a:rPr>
              <a:t>WHAT IT DOES NOT DO</a:t>
            </a:r>
          </a:p>
        </p:txBody>
      </p:sp>
      <p:sp>
        <p:nvSpPr>
          <p:cNvPr id="32" name="Oval 31"/>
          <p:cNvSpPr/>
          <p:nvPr/>
        </p:nvSpPr>
        <p:spPr>
          <a:xfrm>
            <a:off x="6352016" y="3063240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624" y="3035808"/>
            <a:ext cx="4907264" cy="4084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Store secret values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putting them in Git is the problem, not the solution</a:t>
            </a:r>
          </a:p>
        </p:txBody>
      </p:sp>
      <p:sp>
        <p:nvSpPr>
          <p:cNvPr id="34" name="Oval 33"/>
          <p:cNvSpPr/>
          <p:nvPr/>
        </p:nvSpPr>
        <p:spPr>
          <a:xfrm>
            <a:off x="6352016" y="3572256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624" y="3544824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Fetch from a vault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it has no idea AWS Secrets Manager exists</a:t>
            </a:r>
          </a:p>
        </p:txBody>
      </p:sp>
      <p:sp>
        <p:nvSpPr>
          <p:cNvPr id="36" name="Oval 35"/>
          <p:cNvSpPr/>
          <p:nvPr/>
        </p:nvSpPr>
        <p:spPr>
          <a:xfrm>
            <a:off x="6352016" y="3895344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4624" y="3867912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Restart on data change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a changed Secret is not a manifest change</a:t>
            </a:r>
          </a:p>
        </p:txBody>
      </p:sp>
      <p:sp>
        <p:nvSpPr>
          <p:cNvPr id="38" name="Oval 37"/>
          <p:cNvSpPr/>
          <p:nvPr/>
        </p:nvSpPr>
        <p:spPr>
          <a:xfrm>
            <a:off x="6352016" y="4218432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4624" y="4191000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Build images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that is still your CI system's job</a:t>
            </a:r>
          </a:p>
        </p:txBody>
      </p:sp>
      <p:sp>
        <p:nvSpPr>
          <p:cNvPr id="40" name="Oval 39"/>
          <p:cNvSpPr/>
          <p:nvPr/>
        </p:nvSpPr>
        <p:spPr>
          <a:xfrm>
            <a:off x="6352016" y="4541520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4624" y="4514088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Test anything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Healthy means the resource reports ready, not correct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5010912"/>
            <a:ext cx="11204417" cy="530352"/>
          </a:xfrm>
          <a:prstGeom prst="rect">
            <a:avLst/>
          </a:prstGeom>
          <a:solidFill>
            <a:srgbClr val="EFE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102351"/>
            <a:ext cx="1072892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alibri"/>
              </a:rPr>
              <a:t>In our handbook example: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it deploys the ExternalSecret manifest, but the credential inside never passes through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External Secrets Operator Is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A controller that turns a reference into a real Kubernetes Secret, and keeps doing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You commit a manifest that names a secret. ESO produces the Secret that holds it.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04  External Secrets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ExternalSecret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a manifest in Git — safe to commit</a:t>
            </a:r>
          </a:p>
        </p:txBody>
      </p:sp>
      <p:sp>
        <p:nvSpPr>
          <p:cNvPr id="14" name="Oval 13"/>
          <p:cNvSpPr/>
          <p:nvPr/>
        </p:nvSpPr>
        <p:spPr>
          <a:xfrm>
            <a:off x="1631438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21144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54316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ESO controller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reads it, authenticates, fetches</a:t>
            </a:r>
          </a:p>
        </p:txBody>
      </p:sp>
      <p:sp>
        <p:nvSpPr>
          <p:cNvPr id="17" name="Oval 16"/>
          <p:cNvSpPr/>
          <p:nvPr/>
        </p:nvSpPr>
        <p:spPr>
          <a:xfrm>
            <a:off x="4510266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9972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33144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Secret manager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AWS · Azure · GCP · Vault</a:t>
            </a:r>
          </a:p>
        </p:txBody>
      </p:sp>
      <p:sp>
        <p:nvSpPr>
          <p:cNvPr id="20" name="Oval 19"/>
          <p:cNvSpPr/>
          <p:nvPr/>
        </p:nvSpPr>
        <p:spPr>
          <a:xfrm>
            <a:off x="7389094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8801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11973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Kubernetes Secret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created and refreshed for you</a:t>
            </a:r>
          </a:p>
        </p:txBody>
      </p:sp>
      <p:sp>
        <p:nvSpPr>
          <p:cNvPr id="23" name="Oval 22"/>
          <p:cNvSpPr/>
          <p:nvPr/>
        </p:nvSpPr>
        <p:spPr>
          <a:xfrm>
            <a:off x="10267923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127248"/>
            <a:ext cx="54284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3127248"/>
            <a:ext cx="77724" cy="2212848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3273552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What you gain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75887"/>
            <a:ext cx="4971272" cy="15361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363F4D"/>
                </a:solidFill>
                <a:latin typeface="Calibri"/>
              </a:rPr>
              <a:t>The value never appears in Git, in a pull request, in CI output or in a code review.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0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363F4D"/>
                </a:solidFill>
                <a:latin typeface="Calibri"/>
              </a:rPr>
              <a:t>Rotation happens in the secret manager, where it belongs — and ESO propagates it into the cluster without a deploy.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0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363F4D"/>
                </a:solidFill>
                <a:latin typeface="Calibri"/>
              </a:rPr>
              <a:t>Your existing workloads do not change: they still consume an ordinary Kubernetes Secret.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8008" y="3127248"/>
            <a:ext cx="54284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88008" y="3127248"/>
            <a:ext cx="77724" cy="22128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44040" y="3273552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What it still is at the 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4040" y="3675887"/>
            <a:ext cx="4971272" cy="15361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An ordinary Kubernetes Secret — base64 in etcd, readable by anyone with RBAC to get it.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1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ESO improves where the value comes from and how it is rotated. It does not make the Secret object itself any more secret.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1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Everything from section 01 still applies.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Objects ESO Gives You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Four custom resources. You will use the first two constantly and the others occasionally.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A Store says where and how to authenticate. An ExternalSecret says what to fetch and where to put it.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04  External Secrets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2604508" cy="685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SecretStore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363F4D"/>
                </a:solidFill>
                <a:latin typeface="Calibri"/>
              </a:rPr>
              <a:t>Namespaced. Describes one backend — provider, region, and how to authenticate. Belongs to the team that owns the namespace.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4316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54316" y="1645920"/>
            <a:ext cx="2604508" cy="685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37196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ClusterSecretStore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196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363F4D"/>
                </a:solidFill>
                <a:latin typeface="Calibri"/>
              </a:rPr>
              <a:t>The same thing, cluster-wide. Define the connection once and let every namespace reference it. This is what platform teams normally ship.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144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33144" y="1645920"/>
            <a:ext cx="2604508" cy="685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6024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ExternalSecret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6024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363F4D"/>
                </a:solidFill>
                <a:latin typeface="Calibri"/>
              </a:rPr>
              <a:t>Namespaced. The instruction: read these keys from that store, and write them into a Secret called this, refreshing on this interval.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11973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11973" y="1645920"/>
            <a:ext cx="2604508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4853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PushSecret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4853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363F4D"/>
                </a:solidFill>
                <a:latin typeface="Calibri"/>
              </a:rPr>
              <a:t>The reverse direction. Takes a Kubernetes Secret and writes it back out to the provider. Useful when something in-cluster generates the credential.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041648"/>
            <a:ext cx="11240993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4041648"/>
            <a:ext cx="77724" cy="1572768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187952"/>
            <a:ext cx="10783793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Also worth knowing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590288"/>
            <a:ext cx="10783793" cy="89611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363F4D"/>
                </a:solidFill>
                <a:latin typeface="Calibri"/>
              </a:rPr>
              <a:t>ClusterExternalSecret creates the same ExternalSecret across many namespaces at once, selected by label — how you get a shared registry credential into every team's namespace without writing it out fifty times.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9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363F4D"/>
                </a:solidFill>
                <a:latin typeface="Calibri"/>
              </a:rPr>
              <a:t>The API group is external-secrets.io. Current examples use v1; older material you find online will show v1beta1. Check what your installed CRDs accept before copying anything from a blog post.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Providers — One Operator, Many Backends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The manifest shape stays the same. Only spec.provider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Your ExternalSecret manifests barely change if you move clouds. That is most of the portability argument.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04  External Secrets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260450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AWS Secrets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Also SSM Parameter Store. Authenticate with IRSA or EKS Pod Identity — never a static access key.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4316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54316" y="1645920"/>
            <a:ext cx="2604508" cy="685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37196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Azure Key Vault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196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Secrets, keys and certificates. Authenticate with Workload Identity federated to the ServiceAccount.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144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33144" y="1645920"/>
            <a:ext cx="2604508" cy="68580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6024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Google Secret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6024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Authenticate with Workload Identity. Versions are addressable, so you can pin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11973" y="1645920"/>
            <a:ext cx="2604508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11973" y="1645920"/>
            <a:ext cx="2604508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4853" y="1892808"/>
            <a:ext cx="223874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HashiCorp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4853" y="2304288"/>
            <a:ext cx="2238748" cy="13716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KV v1 and v2, plus dynamic engines. Kubernetes auth is the usual method.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023360"/>
            <a:ext cx="11240993" cy="1591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4023360"/>
            <a:ext cx="77724" cy="1591056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169664"/>
            <a:ext cx="10783793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Choosing between them is not really an ESO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572000"/>
            <a:ext cx="10783793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363F4D"/>
                </a:solidFill>
                <a:latin typeface="Calibri"/>
              </a:rPr>
              <a:t>Use whatever your organisation already audits, rotates and pays for. ESO's value is that the choice stops leaking into your manifests — the ExternalSecret in apps/billing/base looks the same whichever backend is behind the ClusterSecretStore.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9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363F4D"/>
                </a:solidFill>
                <a:latin typeface="Calibri"/>
              </a:rPr>
              <a:t>There are many more providers than the four above, including 1Password, Doppler, Akeyless, IBM, Oracle and Kubernetes itself as a source. Check the project's provider list rather than assuming — the set moves.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External Secrets Operator Will Not Do For You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It ends at the Secret object. Everything after that is somebody else's job.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ESO gets the value into the cluster. It has no opinion about the pods using it.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04  External Secrets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11240993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11240993" cy="685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" y="1883664"/>
            <a:ext cx="566928" cy="56692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1920240"/>
            <a:ext cx="9960833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2B3D"/>
                </a:solidFill>
                <a:latin typeface="Calibri"/>
              </a:rPr>
              <a:t>External Secrets 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21992"/>
            <a:ext cx="996083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6B7A8D"/>
                </a:solidFill>
                <a:latin typeface="Calibri"/>
              </a:rPr>
              <a:t>Sync secrets from an external manager into Kubernetes  ·  CNCF Sandbox since July 2022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2615184"/>
            <a:ext cx="10728929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B56B"/>
                </a:solidFill>
                <a:latin typeface="Calibri"/>
              </a:rPr>
              <a:t>WHAT IT DOES HERE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3063240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35808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Fetches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reads named keys from your secret manager on a schedule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386328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358896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Creates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produces an ordinary Kubernetes Secret you can mount as usual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3709416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681984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Refreshes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re-reads on refreshInterval and updates the Secret in place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032504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005072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Templates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reshapes values into files, config formats or pull secrets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4355592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328160"/>
            <a:ext cx="4907264" cy="22250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F2B3D"/>
                </a:solidFill>
                <a:latin typeface="Calibri"/>
              </a:rPr>
              <a:t>Reports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surfaces auth and fetch failures on the ExternalSecret status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984" y="2724912"/>
            <a:ext cx="0" cy="2139696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2016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93B3B"/>
                </a:solidFill>
                <a:latin typeface="Calibri"/>
              </a:rPr>
              <a:t>WHAT IT DOES NOT DO</a:t>
            </a:r>
          </a:p>
        </p:txBody>
      </p:sp>
      <p:sp>
        <p:nvSpPr>
          <p:cNvPr id="32" name="Oval 31"/>
          <p:cNvSpPr/>
          <p:nvPr/>
        </p:nvSpPr>
        <p:spPr>
          <a:xfrm>
            <a:off x="6352016" y="3063240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624" y="3035808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Restart pods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the Secret changes; the running process does not notice</a:t>
            </a:r>
          </a:p>
        </p:txBody>
      </p:sp>
      <p:sp>
        <p:nvSpPr>
          <p:cNvPr id="34" name="Oval 33"/>
          <p:cNvSpPr/>
          <p:nvPr/>
        </p:nvSpPr>
        <p:spPr>
          <a:xfrm>
            <a:off x="6352016" y="3363087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624" y="3335655"/>
            <a:ext cx="4907264" cy="36195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Encrypt the Secret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it is still base64 in etcd — RBAC and encryption at rest are yours</a:t>
            </a:r>
          </a:p>
        </p:txBody>
      </p:sp>
      <p:sp>
        <p:nvSpPr>
          <p:cNvPr id="36" name="Oval 35"/>
          <p:cNvSpPr/>
          <p:nvPr/>
        </p:nvSpPr>
        <p:spPr>
          <a:xfrm>
            <a:off x="6352016" y="3825621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4624" y="3798189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Rotate the credential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rotation happens in the secret manager, not here</a:t>
            </a:r>
          </a:p>
        </p:txBody>
      </p:sp>
      <p:sp>
        <p:nvSpPr>
          <p:cNvPr id="38" name="Oval 37"/>
          <p:cNvSpPr/>
          <p:nvPr/>
        </p:nvSpPr>
        <p:spPr>
          <a:xfrm>
            <a:off x="6352016" y="4125468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4624" y="4098036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Deploy anything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the ExternalSecret manifest still has to reach the cluster</a:t>
            </a:r>
          </a:p>
        </p:txBody>
      </p:sp>
      <p:sp>
        <p:nvSpPr>
          <p:cNvPr id="40" name="Oval 39"/>
          <p:cNvSpPr/>
          <p:nvPr/>
        </p:nvSpPr>
        <p:spPr>
          <a:xfrm>
            <a:off x="6352016" y="4425315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4624" y="4397883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Fix secret zero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it needs an identity to authenticate with — design that first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5010912"/>
            <a:ext cx="11204417" cy="530352"/>
          </a:xfrm>
          <a:prstGeom prst="rect">
            <a:avLst/>
          </a:prstGeom>
          <a:solidFill>
            <a:srgbClr val="F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102351"/>
            <a:ext cx="1072892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26522"/>
                </a:solidFill>
                <a:latin typeface="Calibri"/>
              </a:rPr>
              <a:t>In our handbook example: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it will happily update billing-db every hour while the billing pods keep using the credential they read at start-up.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Kubernetes Does Not Restart Your Pod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It is not an oversight. It is a deliberate design decision, and it is the right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Kubernetes restarts pods when the pod spec changes. Secret data is not part of the pod spec.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05  Reloader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11240993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77724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792224"/>
            <a:ext cx="10783793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The rule that explains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94560"/>
            <a:ext cx="10783793" cy="51206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A Deployment creates a new ReplicaSet — and therefore new pods — when its pod template changes. Changing the *contents* of a Secret or ConfigMap does not change the template: the template still says 'mount the Secret named billing-db'. That sentence is identical before and after the rotation, so nothing rolls.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072384"/>
            <a:ext cx="5428472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" y="3072384"/>
            <a:ext cx="77724" cy="2542032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218688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Why this is correct behaviour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21024"/>
            <a:ext cx="4971272" cy="1865375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Imagine the alternative. A single ConfigMap shared by forty Deployments; one careless edit and the entire cluster restarts at once.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2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Kubernetes refuses to guess. It gives you the primitive and lets you decide which workloads should react and when.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2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Reloader is that decision, expressed as an annotation.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8008" y="3072384"/>
            <a:ext cx="5428472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88008" y="3072384"/>
            <a:ext cx="77724" cy="25420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44040" y="3218688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The workarounds people invent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4040" y="3621024"/>
            <a:ext cx="4971272" cy="1865375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· A checksum annotation on the pod template, computed by Helm at render time. Works, but only when Helm re-renders — so not for a rotation ESO made.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2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· kubectl rollout restart from a cron job. Restarts whether or not anything changed.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20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00" b="0" i="0">
                <a:solidFill>
                  <a:srgbClr val="363F4D"/>
                </a:solidFill>
                <a:latin typeface="Calibri"/>
              </a:rPr>
              <a:t>· Writing your own controller. This is what Reloader already 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Reloader Does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One small controller with one job: notice, then roll.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It watches ConfigMaps and Secrets, and rolls the workloads you told it to care about.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05  Reloader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Watch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the API server, for ConfigMap and Secret changes</a:t>
            </a:r>
          </a:p>
        </p:txBody>
      </p:sp>
      <p:sp>
        <p:nvSpPr>
          <p:cNvPr id="14" name="Oval 13"/>
          <p:cNvSpPr/>
          <p:nvPr/>
        </p:nvSpPr>
        <p:spPr>
          <a:xfrm>
            <a:off x="1631438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21144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54316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which workloads reference the changed object</a:t>
            </a:r>
          </a:p>
        </p:txBody>
      </p:sp>
      <p:sp>
        <p:nvSpPr>
          <p:cNvPr id="17" name="Oval 16"/>
          <p:cNvSpPr/>
          <p:nvPr/>
        </p:nvSpPr>
        <p:spPr>
          <a:xfrm>
            <a:off x="4510266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9972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33144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Patch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the pod template — a dummy env var or an annotation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7389094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8801" y="2103120"/>
            <a:ext cx="192024" cy="164592"/>
          </a:xfrm>
          <a:prstGeom prst="rightArrow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11973" y="1645920"/>
            <a:ext cx="2604508" cy="1078992"/>
          </a:xfrm>
          <a:prstGeom prst="roundRect">
            <a:avLst>
              <a:gd name="adj" fmla="val 12000"/>
            </a:avLst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Roll</a:t>
            </a:r>
          </a:p>
          <a:p>
            <a:pPr algn="ctr"/>
            <a:endParaRPr sz="1300" b="1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100" b="0" i="0">
                <a:solidFill>
                  <a:srgbClr val="DCE6F5"/>
                </a:solidFill>
                <a:latin typeface="Calibri"/>
              </a:rPr>
              <a:t>Kubernetes performs an ordinary rolling update</a:t>
            </a:r>
          </a:p>
        </p:txBody>
      </p:sp>
      <p:sp>
        <p:nvSpPr>
          <p:cNvPr id="23" name="Oval 22"/>
          <p:cNvSpPr/>
          <p:nvPr/>
        </p:nvSpPr>
        <p:spPr>
          <a:xfrm>
            <a:off x="10267923" y="1490472"/>
            <a:ext cx="292608" cy="292608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127248"/>
            <a:ext cx="54284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3127248"/>
            <a:ext cx="77724" cy="2212848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3273552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The trick, in one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75887"/>
            <a:ext cx="4971272" cy="15361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Reloader does not have a special restart power. It edits the pod template so that Kubernetes' own rules take over.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1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Because the template genuinely changed, the Deployment controller creates a new ReplicaSet and rolls it out — respecting your maxSurge, maxUnavailable, readiness probes and PodDisruptionBudget exactly as any other deploy would.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8008" y="3127248"/>
            <a:ext cx="54284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88008" y="3127248"/>
            <a:ext cx="77724" cy="2212848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44040" y="3273552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Which means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4040" y="3675887"/>
            <a:ext cx="4971272" cy="15361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It is a normal rolling update. Not a kill, not a restart storm.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1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Zero downtime if your probes are honest, and the usual downtime if they are not.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endParaRPr sz="1150" b="0" i="0">
              <a:solidFill>
                <a:srgbClr val="363F4D"/>
              </a:solidFill>
              <a:latin typeface="Calibri"/>
            </a:endParaRP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363F4D"/>
                </a:solidFill>
                <a:latin typeface="Calibri"/>
              </a:rPr>
              <a:t>It also means everything you already know about safe rollouts still applies — Reloader does not need its own safety 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Annotations — Four Ways to Opt In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All of them go on the workload, except match, which goes on the ConfigMap or Secret.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Start with auto. Move to a named reload when a workload references more objects than it cares about.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05  Reloader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1645920"/>
            <a:ext cx="4572000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Annotation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47488" y="1645920"/>
            <a:ext cx="2148840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Goes 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96327" y="1645920"/>
            <a:ext cx="4507992" cy="420624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Effect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2066544"/>
            <a:ext cx="45720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reloader.stakater.com/auto: "true"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7488" y="2066544"/>
            <a:ext cx="21488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workload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96327" y="2066544"/>
            <a:ext cx="450799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Roll when any ConfigMap or Secret this workload references 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468880"/>
            <a:ext cx="457200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secret.reloader.stakater.com/auto: "true"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7488" y="2468880"/>
            <a:ext cx="214884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workload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96327" y="2468880"/>
            <a:ext cx="4507992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same, but Secrets only — ignore ConfigMap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871216"/>
            <a:ext cx="45720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configmap.reloader.stakater.com/auto: "true"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488" y="2871216"/>
            <a:ext cx="21488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workload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96327" y="2871216"/>
            <a:ext cx="450799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same, but ConfigMaps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3273552"/>
            <a:ext cx="457200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secret.reloader.stakater.com/reload: "billing-db"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47488" y="3273552"/>
            <a:ext cx="214884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workload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96327" y="3273552"/>
            <a:ext cx="4507992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Roll only for these named Secrets, referenced or not. Comma-separated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675888"/>
            <a:ext cx="45720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reloader.stakater.com/search: "true"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7488" y="3675888"/>
            <a:ext cx="21488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workload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96327" y="3675888"/>
            <a:ext cx="450799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Opt in to the search/match pairing below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4078224"/>
            <a:ext cx="457200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r>
              <a:rPr sz="1050" b="1" i="0">
                <a:solidFill>
                  <a:srgbClr val="1F2B3D"/>
                </a:solidFill>
                <a:latin typeface="Calibri"/>
              </a:rPr>
              <a:t>reloader.stakater.com/match: "true"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47488" y="4078224"/>
            <a:ext cx="2148840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the ConfigMap or Secret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96327" y="4078224"/>
            <a:ext cx="4507992" cy="402336"/>
          </a:xfrm>
          <a:prstGeom prst="rect">
            <a:avLst/>
          </a:prstGeom>
          <a:solidFill>
            <a:srgbClr val="F6F8FB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sz="1050" b="0" i="0">
                <a:solidFill>
                  <a:srgbClr val="363F4D"/>
                </a:solidFill>
                <a:latin typeface="Calibri"/>
              </a:rPr>
              <a:t>This object may trigger workloads that have search enabled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4700016"/>
            <a:ext cx="542847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" y="4700016"/>
            <a:ext cx="77724" cy="1024128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auto versus reload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248655"/>
            <a:ext cx="4971272" cy="3474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0" i="0">
                <a:solidFill>
                  <a:srgbClr val="363F4D"/>
                </a:solidFill>
                <a:latin typeface="Calibri"/>
              </a:rPr>
              <a:t>auto follows real references — env, envFrom, volumes. reload is an explicit list and will fire even for an object the workload never mounts.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8008" y="4700016"/>
            <a:ext cx="542847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88008" y="4700016"/>
            <a:ext cx="77724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44040" y="4846320"/>
            <a:ext cx="4971272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2B3D"/>
                </a:solidFill>
                <a:latin typeface="Calibri"/>
              </a:rPr>
              <a:t>search and match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4040" y="5248655"/>
            <a:ext cx="4971272" cy="3474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0" i="0">
                <a:solidFill>
                  <a:srgbClr val="363F4D"/>
                </a:solidFill>
                <a:latin typeface="Calibri"/>
              </a:rPr>
              <a:t>Inverts control: the owner of the Secret decides which objects are allowed to trigger anything. Useful for shared platform secrets.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Reloader Will Not Do For You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It is deliberately tiny. Knowing its edges keeps you from asking it for the wrong thing.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Reloader reacts to changes. It does not make them, fetch them, or judge them.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05  Reloader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45920"/>
            <a:ext cx="11240993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645920"/>
            <a:ext cx="11240993" cy="6858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" y="1883664"/>
            <a:ext cx="566928" cy="566928"/>
          </a:xfrm>
          <a:prstGeom prst="ellipse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1920240"/>
            <a:ext cx="9960833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2B3D"/>
                </a:solidFill>
                <a:latin typeface="Calibri"/>
              </a:rPr>
              <a:t>Reloader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21992"/>
            <a:ext cx="996083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6B7A8D"/>
                </a:solidFill>
                <a:latin typeface="Calibri"/>
              </a:rPr>
              <a:t>Stakater  ·  a controller that rolls workloads when their config changes  ·  Apache 2.0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2615184"/>
            <a:ext cx="10728929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B56B"/>
                </a:solidFill>
                <a:latin typeface="Calibri"/>
              </a:rPr>
              <a:t>WHAT IT DOES HERE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3063240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35808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Watches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ConfigMaps and Secrets across the cluster or a namespace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363087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335655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Matches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workloads by real reference, by name, or by search and match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3662934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635502"/>
            <a:ext cx="4907264" cy="36195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Rolls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Deployment, StatefulSet, DaemonSet, DeploymentConfig, Argo Rollout, CronJob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125468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098036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Respects rollout rules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your surge, probes and PodDisruptionBudget still apply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4425315"/>
            <a:ext cx="182880" cy="182880"/>
          </a:xfrm>
          <a:prstGeom prst="ellipse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397883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Can be paused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a pause-period annotation suppresses reloads for a window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984" y="2724912"/>
            <a:ext cx="0" cy="2139696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2016" y="2724912"/>
            <a:ext cx="5236448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93B3B"/>
                </a:solidFill>
                <a:latin typeface="Calibri"/>
              </a:rPr>
              <a:t>WHAT IT DOES NOT DO</a:t>
            </a:r>
          </a:p>
        </p:txBody>
      </p:sp>
      <p:sp>
        <p:nvSpPr>
          <p:cNvPr id="32" name="Oval 31"/>
          <p:cNvSpPr/>
          <p:nvPr/>
        </p:nvSpPr>
        <p:spPr>
          <a:xfrm>
            <a:off x="6352016" y="3063240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624" y="3035808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Fetch secrets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it has no idea where the value came from</a:t>
            </a:r>
          </a:p>
        </p:txBody>
      </p:sp>
      <p:sp>
        <p:nvSpPr>
          <p:cNvPr id="34" name="Oval 33"/>
          <p:cNvSpPr/>
          <p:nvPr/>
        </p:nvSpPr>
        <p:spPr>
          <a:xfrm>
            <a:off x="6352016" y="3363087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624" y="3335655"/>
            <a:ext cx="4907264" cy="36195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Validate the new value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a broken credential rolls out just as happily as a good one</a:t>
            </a:r>
          </a:p>
        </p:txBody>
      </p:sp>
      <p:sp>
        <p:nvSpPr>
          <p:cNvPr id="36" name="Oval 35"/>
          <p:cNvSpPr/>
          <p:nvPr/>
        </p:nvSpPr>
        <p:spPr>
          <a:xfrm>
            <a:off x="6352016" y="3825621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4624" y="3798189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Roll bare pods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a pod with no controller has no template to change</a:t>
            </a:r>
          </a:p>
        </p:txBody>
      </p:sp>
      <p:sp>
        <p:nvSpPr>
          <p:cNvPr id="38" name="Oval 37"/>
          <p:cNvSpPr/>
          <p:nvPr/>
        </p:nvSpPr>
        <p:spPr>
          <a:xfrm>
            <a:off x="6352016" y="4125468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4624" y="4098036"/>
            <a:ext cx="4907264" cy="36195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Update env vars in place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it replaces the pod — nothing can edit a running process</a:t>
            </a:r>
          </a:p>
        </p:txBody>
      </p:sp>
      <p:sp>
        <p:nvSpPr>
          <p:cNvPr id="40" name="Oval 39"/>
          <p:cNvSpPr/>
          <p:nvPr/>
        </p:nvSpPr>
        <p:spPr>
          <a:xfrm>
            <a:off x="6352016" y="4588002"/>
            <a:ext cx="182880" cy="182880"/>
          </a:xfrm>
          <a:prstGeom prst="ellipse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4624" y="4560570"/>
            <a:ext cx="4907264" cy="19926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 i="0">
                <a:solidFill>
                  <a:srgbClr val="1F2B3D"/>
                </a:solidFill>
                <a:latin typeface="Calibri"/>
              </a:rPr>
              <a:t>Know about Git  </a:t>
            </a:r>
            <a:r>
              <a:rPr sz="1050" b="0" i="0">
                <a:solidFill>
                  <a:srgbClr val="363F4D"/>
                </a:solidFill>
                <a:latin typeface="Calibri"/>
              </a:rPr>
              <a:t>it reacts to cluster state, never to a commit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5010912"/>
            <a:ext cx="11204417" cy="530352"/>
          </a:xfrm>
          <a:prstGeom prst="rect">
            <a:avLst/>
          </a:prstGeom>
          <a:solidFill>
            <a:srgbClr val="EC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102351"/>
            <a:ext cx="1072892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2BA8D8"/>
                </a:solidFill>
                <a:latin typeface="Calibri"/>
              </a:rPr>
              <a:t>In our handbook example:  </a:t>
            </a:r>
            <a:r>
              <a:rPr sz="1200" b="0" i="0">
                <a:solidFill>
                  <a:srgbClr val="363F4D"/>
                </a:solidFill>
                <a:latin typeface="Calibri"/>
              </a:rPr>
              <a:t>ESO updates billing-db, Reloader notices within seconds and rolls the billing Deployment.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60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969" cy="45720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09728"/>
            <a:ext cx="9098280" cy="74980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Whole System, One Diagram</a:t>
            </a:r>
          </a:p>
        </p:txBody>
      </p:sp>
      <p:pic>
        <p:nvPicPr>
          <p:cNvPr id="6" name="DevOps Easy Learning — logo (locked)" descr="logo.png"/>
          <p:cNvPicPr>
            <a:picLocks noGrp="1" noSelect="1" noRot="1" noChangeAspect="1" noMove="1" noResize="1" noEditPoints="1" noAdjustHandle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146304"/>
            <a:ext cx="1298448" cy="649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1152144"/>
            <a:ext cx="10972800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6B7A8D"/>
                </a:solidFill>
                <a:latin typeface="Calibri Light"/>
              </a:rPr>
              <a:t>Follow a single credential from the vault to a running process.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5998464"/>
            <a:ext cx="11240993" cy="530352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" y="6007607"/>
            <a:ext cx="68580" cy="51206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6048755"/>
            <a:ext cx="123444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26522"/>
                </a:solidFill>
                <a:latin typeface="Calibri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236207"/>
            <a:ext cx="10783793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F2B3D"/>
                </a:solidFill>
                <a:latin typeface="Calibri"/>
              </a:rPr>
              <a:t>Three controllers, each doing one job, and no human in the path after the commit.</a:t>
            </a:r>
          </a:p>
        </p:txBody>
      </p:sp>
      <p:sp>
        <p:nvSpPr>
          <p:cNvPr id="12" name="DevOps Easy Learning — attribution (locked)"/>
          <p:cNvSpPr txBox="1">
            <a:spLocks noGrp="1" noSelect="1" noRot="1" noChangeAspect="1" noMove="1" noResize="1" noEditPoints="1" noAdjustHandles="1" noChangeShapeType="1" noTextEdit="1"/>
          </p:cNvSpPr>
          <p:nvPr/>
        </p:nvSpPr>
        <p:spPr>
          <a:xfrm>
            <a:off x="475488" y="6556248"/>
            <a:ext cx="731520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B7A8D"/>
                </a:solidFill>
                <a:latin typeface="Calibri Light"/>
              </a:rPr>
              <a:t>DevOps Easy Learning   |   06  The Three Together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993392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ECF4FE"/>
          </a:solidFill>
          <a:ln w="1778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" y="2176272"/>
            <a:ext cx="1847088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505456"/>
            <a:ext cx="184708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manifests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300984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EF6E7"/>
          </a:solidFill>
          <a:ln w="1778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" y="3483864"/>
            <a:ext cx="1847088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2B3D"/>
                </a:solidFill>
                <a:latin typeface="Calibri"/>
              </a:rPr>
              <a:t>Secret 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3813048"/>
            <a:ext cx="1847088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the real value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64408" y="1563624"/>
            <a:ext cx="8452073" cy="3977639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1587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47288" y="1627632"/>
            <a:ext cx="2926080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B7A8D"/>
                </a:solidFill>
                <a:latin typeface="Calibri"/>
              </a:rPr>
              <a:t>KUBERNETES CLUSTER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39" y="1993392"/>
            <a:ext cx="231138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520439" y="1993392"/>
            <a:ext cx="2311389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48456" y="2139696"/>
            <a:ext cx="205535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Argo CD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2414016"/>
            <a:ext cx="212850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applies the manifests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39" y="3300984"/>
            <a:ext cx="231138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520439" y="3300984"/>
            <a:ext cx="2311389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48456" y="3447288"/>
            <a:ext cx="205535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External Secrets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79" y="3721608"/>
            <a:ext cx="212850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fetches, then writes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4749" y="3300984"/>
            <a:ext cx="231138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B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34749" y="3300984"/>
            <a:ext cx="2311389" cy="54864"/>
          </a:xfrm>
          <a:prstGeom prst="rect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2765" y="3447288"/>
            <a:ext cx="205535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Secret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6189" y="3721608"/>
            <a:ext cx="212850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billing-db  ·  generated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9059" y="3300984"/>
            <a:ext cx="231138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149059" y="3300984"/>
            <a:ext cx="2311389" cy="54864"/>
          </a:xfrm>
          <a:prstGeom prst="rect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77075" y="3447288"/>
            <a:ext cx="205535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Reloader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40499" y="3721608"/>
            <a:ext cx="212850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sees the change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9059" y="4608576"/>
            <a:ext cx="231138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149059" y="4608576"/>
            <a:ext cx="2311389" cy="54864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77075" y="4754880"/>
            <a:ext cx="2055357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F2B3D"/>
                </a:solidFill>
                <a:latin typeface="Calibri"/>
              </a:rPr>
              <a:t>billing pods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0499" y="5029200"/>
            <a:ext cx="2128509" cy="420623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6B7A8D"/>
                </a:solidFill>
                <a:latin typeface="Calibri"/>
              </a:rPr>
              <a:t>rolled with the new value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2651760" y="2368296"/>
            <a:ext cx="786384" cy="16459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ight Arrow 41"/>
          <p:cNvSpPr/>
          <p:nvPr/>
        </p:nvSpPr>
        <p:spPr>
          <a:xfrm>
            <a:off x="2651760" y="3675888"/>
            <a:ext cx="786384" cy="164592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Down Arrow 42"/>
          <p:cNvSpPr/>
          <p:nvPr/>
        </p:nvSpPr>
        <p:spPr>
          <a:xfrm>
            <a:off x="4593838" y="2907792"/>
            <a:ext cx="164592" cy="393192"/>
          </a:xfrm>
          <a:prstGeom prst="downArrow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ight Arrow 43"/>
          <p:cNvSpPr/>
          <p:nvPr/>
        </p:nvSpPr>
        <p:spPr>
          <a:xfrm>
            <a:off x="5868405" y="3675888"/>
            <a:ext cx="429768" cy="164592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ight Arrow 44"/>
          <p:cNvSpPr/>
          <p:nvPr/>
        </p:nvSpPr>
        <p:spPr>
          <a:xfrm>
            <a:off x="8682715" y="3675888"/>
            <a:ext cx="429768" cy="164592"/>
          </a:xfrm>
          <a:prstGeom prst="rightArrow">
            <a:avLst/>
          </a:prstGeom>
          <a:solidFill>
            <a:srgbClr val="2EB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Down Arrow 45"/>
          <p:cNvSpPr/>
          <p:nvPr/>
        </p:nvSpPr>
        <p:spPr>
          <a:xfrm>
            <a:off x="10222458" y="4215384"/>
            <a:ext cx="164592" cy="393191"/>
          </a:xfrm>
          <a:prstGeom prst="downArrow">
            <a:avLst/>
          </a:prstGeom>
          <a:solidFill>
            <a:srgbClr val="2B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20439" y="4754880"/>
            <a:ext cx="4622779" cy="62179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6B7A8D"/>
                </a:solidFill>
                <a:latin typeface="Calibri"/>
              </a:rPr>
              <a:t>1  commit the manifest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6B7A8D"/>
                </a:solidFill>
                <a:latin typeface="Calibri"/>
              </a:rPr>
              <a:t>2  ESO fetches and writes the Secret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6B7A8D"/>
                </a:solidFill>
                <a:latin typeface="Calibri"/>
              </a:rPr>
              <a:t>3  Reloader notices and rolls the pods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3277</Words>
  <Application>Microsoft Macintosh PowerPoint</Application>
  <PresentationFormat>Widescreen</PresentationFormat>
  <Paragraphs>441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Masterclass — Azure, AWS and Self-Hosted</dc:title>
  <dc:subject>Retrieval-Augmented Generation: architecture, cloud and self-hosted implementations</dc:subject>
  <dc:creator>DevOps Easy Learning</dc:creator>
  <cp:keywords>RAG; Azure; AWS; self-hosted; DevOps Easy Learning</cp:keywords>
  <dc:description>© DevOps Easy Learning. All rights reserved. The DevOps Easy Learning attribution and logo are locked on every slide and must not be removed or altered.</dc:description>
  <cp:lastModifiedBy>Merluise Tia</cp:lastModifiedBy>
  <cp:revision>2</cp:revision>
  <dcterms:created xsi:type="dcterms:W3CDTF">2013-01-27T09:14:16Z</dcterms:created>
  <dcterms:modified xsi:type="dcterms:W3CDTF">2026-08-30T20:27:01Z</dcterms:modified>
  <cp:category>Technical training courseware</cp:category>
</cp:coreProperties>
</file>